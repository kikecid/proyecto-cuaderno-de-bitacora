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1.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2.xml" ContentType="application/vnd.openxmlformats-officedocument.drawingml.chartshape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3.xml" ContentType="application/vnd.openxmlformats-officedocument.drawingml.chartshap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6" r:id="rId5"/>
  </p:sldMasterIdLst>
  <p:notesMasterIdLst>
    <p:notesMasterId r:id="rId28"/>
  </p:notesMasterIdLst>
  <p:handoutMasterIdLst>
    <p:handoutMasterId r:id="rId29"/>
  </p:handoutMasterIdLst>
  <p:sldIdLst>
    <p:sldId id="523" r:id="rId6"/>
    <p:sldId id="612" r:id="rId7"/>
    <p:sldId id="613" r:id="rId8"/>
    <p:sldId id="594" r:id="rId9"/>
    <p:sldId id="597" r:id="rId10"/>
    <p:sldId id="614" r:id="rId11"/>
    <p:sldId id="603" r:id="rId12"/>
    <p:sldId id="599" r:id="rId13"/>
    <p:sldId id="615" r:id="rId14"/>
    <p:sldId id="601" r:id="rId15"/>
    <p:sldId id="600" r:id="rId16"/>
    <p:sldId id="602" r:id="rId17"/>
    <p:sldId id="607" r:id="rId18"/>
    <p:sldId id="604" r:id="rId19"/>
    <p:sldId id="616" r:id="rId20"/>
    <p:sldId id="617" r:id="rId21"/>
    <p:sldId id="609" r:id="rId22"/>
    <p:sldId id="610" r:id="rId23"/>
    <p:sldId id="611" r:id="rId24"/>
    <p:sldId id="618" r:id="rId25"/>
    <p:sldId id="592" r:id="rId26"/>
    <p:sldId id="619" r:id="rId2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B8B"/>
    <a:srgbClr val="FFB7B7"/>
    <a:srgbClr val="FF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9943AA-0875-4404-A10E-ADC4396116F0}" v="1" dt="2025-10-24T10:47:18.6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UARDO CASTRO FERNANDEZ" userId="148d4078-749a-4237-9bf2-df66836e32aa" providerId="ADAL" clId="{D82D9FE5-075D-4F5C-A074-0C1CF09868CB}"/>
    <pc:docChg chg="undo redo custSel addSld delSld modSld">
      <pc:chgData name="EDUARDO CASTRO FERNANDEZ" userId="148d4078-749a-4237-9bf2-df66836e32aa" providerId="ADAL" clId="{D82D9FE5-075D-4F5C-A074-0C1CF09868CB}" dt="2025-06-30T07:48:56.267" v="2729" actId="20577"/>
      <pc:docMkLst>
        <pc:docMk/>
      </pc:docMkLst>
      <pc:sldChg chg="modSp mod">
        <pc:chgData name="EDUARDO CASTRO FERNANDEZ" userId="148d4078-749a-4237-9bf2-df66836e32aa" providerId="ADAL" clId="{D82D9FE5-075D-4F5C-A074-0C1CF09868CB}" dt="2025-06-06T12:17:43.269" v="1018" actId="113"/>
        <pc:sldMkLst>
          <pc:docMk/>
          <pc:sldMk cId="3341645118" sldId="561"/>
        </pc:sldMkLst>
      </pc:sldChg>
      <pc:sldChg chg="addSp delSp modSp del mod">
        <pc:chgData name="EDUARDO CASTRO FERNANDEZ" userId="148d4078-749a-4237-9bf2-df66836e32aa" providerId="ADAL" clId="{D82D9FE5-075D-4F5C-A074-0C1CF09868CB}" dt="2025-06-30T07:46:30.537" v="2614" actId="47"/>
        <pc:sldMkLst>
          <pc:docMk/>
          <pc:sldMk cId="2182021421" sldId="565"/>
        </pc:sldMkLst>
      </pc:sldChg>
      <pc:sldChg chg="addSp modSp add mod">
        <pc:chgData name="EDUARDO CASTRO FERNANDEZ" userId="148d4078-749a-4237-9bf2-df66836e32aa" providerId="ADAL" clId="{D82D9FE5-075D-4F5C-A074-0C1CF09868CB}" dt="2025-06-30T07:48:56.267" v="2729" actId="20577"/>
        <pc:sldMkLst>
          <pc:docMk/>
          <pc:sldMk cId="3773876621" sldId="592"/>
        </pc:sldMkLst>
      </pc:sldChg>
      <pc:sldChg chg="addSp delSp modSp mod">
        <pc:chgData name="EDUARDO CASTRO FERNANDEZ" userId="148d4078-749a-4237-9bf2-df66836e32aa" providerId="ADAL" clId="{D82D9FE5-075D-4F5C-A074-0C1CF09868CB}" dt="2025-06-05T14:25:54.891" v="869"/>
        <pc:sldMkLst>
          <pc:docMk/>
          <pc:sldMk cId="830435724" sldId="594"/>
        </pc:sldMkLst>
      </pc:sldChg>
      <pc:sldChg chg="addSp delSp modSp mod">
        <pc:chgData name="EDUARDO CASTRO FERNANDEZ" userId="148d4078-749a-4237-9bf2-df66836e32aa" providerId="ADAL" clId="{D82D9FE5-075D-4F5C-A074-0C1CF09868CB}" dt="2025-06-04T13:55:11.309" v="16" actId="1076"/>
        <pc:sldMkLst>
          <pc:docMk/>
          <pc:sldMk cId="2100165612" sldId="595"/>
        </pc:sldMkLst>
      </pc:sldChg>
      <pc:sldChg chg="addSp delSp modSp mod">
        <pc:chgData name="EDUARDO CASTRO FERNANDEZ" userId="148d4078-749a-4237-9bf2-df66836e32aa" providerId="ADAL" clId="{D82D9FE5-075D-4F5C-A074-0C1CF09868CB}" dt="2025-06-05T09:46:49.853" v="551" actId="27918"/>
        <pc:sldMkLst>
          <pc:docMk/>
          <pc:sldMk cId="3797529826" sldId="597"/>
        </pc:sldMkLst>
      </pc:sldChg>
      <pc:sldChg chg="addSp delSp modSp mod">
        <pc:chgData name="EDUARDO CASTRO FERNANDEZ" userId="148d4078-749a-4237-9bf2-df66836e32aa" providerId="ADAL" clId="{D82D9FE5-075D-4F5C-A074-0C1CF09868CB}" dt="2025-06-05T08:53:56.981" v="316"/>
        <pc:sldMkLst>
          <pc:docMk/>
          <pc:sldMk cId="1954524506" sldId="599"/>
        </pc:sldMkLst>
      </pc:sldChg>
      <pc:sldChg chg="addSp delSp modSp mod">
        <pc:chgData name="EDUARDO CASTRO FERNANDEZ" userId="148d4078-749a-4237-9bf2-df66836e32aa" providerId="ADAL" clId="{D82D9FE5-075D-4F5C-A074-0C1CF09868CB}" dt="2025-06-05T14:26:07.066" v="871"/>
        <pc:sldMkLst>
          <pc:docMk/>
          <pc:sldMk cId="3026612716" sldId="600"/>
        </pc:sldMkLst>
      </pc:sldChg>
      <pc:sldChg chg="addSp delSp modSp mod">
        <pc:chgData name="EDUARDO CASTRO FERNANDEZ" userId="148d4078-749a-4237-9bf2-df66836e32aa" providerId="ADAL" clId="{D82D9FE5-075D-4F5C-A074-0C1CF09868CB}" dt="2025-06-04T13:57:46.501" v="38" actId="1038"/>
        <pc:sldMkLst>
          <pc:docMk/>
          <pc:sldMk cId="2127837713" sldId="601"/>
        </pc:sldMkLst>
      </pc:sldChg>
      <pc:sldChg chg="addSp delSp modSp mod">
        <pc:chgData name="EDUARDO CASTRO FERNANDEZ" userId="148d4078-749a-4237-9bf2-df66836e32aa" providerId="ADAL" clId="{D82D9FE5-075D-4F5C-A074-0C1CF09868CB}" dt="2025-06-05T10:06:21.312" v="862" actId="1076"/>
        <pc:sldMkLst>
          <pc:docMk/>
          <pc:sldMk cId="3990248765" sldId="602"/>
        </pc:sldMkLst>
      </pc:sldChg>
      <pc:sldChg chg="addSp delSp modSp">
        <pc:chgData name="EDUARDO CASTRO FERNANDEZ" userId="148d4078-749a-4237-9bf2-df66836e32aa" providerId="ADAL" clId="{D82D9FE5-075D-4F5C-A074-0C1CF09868CB}" dt="2025-06-05T14:25:46.027" v="867"/>
        <pc:sldMkLst>
          <pc:docMk/>
          <pc:sldMk cId="3388341731" sldId="603"/>
        </pc:sldMkLst>
      </pc:sldChg>
      <pc:sldChg chg="addSp delSp modSp mod">
        <pc:chgData name="EDUARDO CASTRO FERNANDEZ" userId="148d4078-749a-4237-9bf2-df66836e32aa" providerId="ADAL" clId="{D82D9FE5-075D-4F5C-A074-0C1CF09868CB}" dt="2025-06-05T14:26:32.627" v="882"/>
        <pc:sldMkLst>
          <pc:docMk/>
          <pc:sldMk cId="4264199727" sldId="604"/>
        </pc:sldMkLst>
      </pc:sldChg>
      <pc:sldChg chg="addSp delSp modSp add mod">
        <pc:chgData name="EDUARDO CASTRO FERNANDEZ" userId="148d4078-749a-4237-9bf2-df66836e32aa" providerId="ADAL" clId="{D82D9FE5-075D-4F5C-A074-0C1CF09868CB}" dt="2025-06-11T16:09:40.042" v="2575" actId="1076"/>
        <pc:sldMkLst>
          <pc:docMk/>
          <pc:sldMk cId="61822508" sldId="610"/>
        </pc:sldMkLst>
      </pc:sldChg>
      <pc:sldChg chg="add">
        <pc:chgData name="EDUARDO CASTRO FERNANDEZ" userId="148d4078-749a-4237-9bf2-df66836e32aa" providerId="ADAL" clId="{D82D9FE5-075D-4F5C-A074-0C1CF09868CB}" dt="2025-06-30T07:44:12.613" v="2576"/>
        <pc:sldMkLst>
          <pc:docMk/>
          <pc:sldMk cId="618688654" sldId="619"/>
        </pc:sldMkLst>
      </pc:sldChg>
    </pc:docChg>
  </pc:docChgLst>
  <pc:docChgLst>
    <pc:chgData name="EDUARDO CASTRO FERNANDEZ" userId="148d4078-749a-4237-9bf2-df66836e32aa" providerId="ADAL" clId="{1F9943AA-0875-4404-A10E-ADC4396116F0}"/>
    <pc:docChg chg="modSld">
      <pc:chgData name="EDUARDO CASTRO FERNANDEZ" userId="148d4078-749a-4237-9bf2-df66836e32aa" providerId="ADAL" clId="{1F9943AA-0875-4404-A10E-ADC4396116F0}" dt="2025-10-24T10:47:18.665" v="15"/>
      <pc:docMkLst>
        <pc:docMk/>
      </pc:docMkLst>
      <pc:sldChg chg="modSp mod">
        <pc:chgData name="EDUARDO CASTRO FERNANDEZ" userId="148d4078-749a-4237-9bf2-df66836e32aa" providerId="ADAL" clId="{1F9943AA-0875-4404-A10E-ADC4396116F0}" dt="2025-10-24T10:47:18.665" v="15"/>
        <pc:sldMkLst>
          <pc:docMk/>
          <pc:sldMk cId="4264199727" sldId="604"/>
        </pc:sldMkLst>
        <pc:spChg chg="mod">
          <ac:chgData name="EDUARDO CASTRO FERNANDEZ" userId="148d4078-749a-4237-9bf2-df66836e32aa" providerId="ADAL" clId="{1F9943AA-0875-4404-A10E-ADC4396116F0}" dt="2025-10-24T10:47:15.665" v="14" actId="20577"/>
          <ac:spMkLst>
            <pc:docMk/>
            <pc:sldMk cId="4264199727" sldId="604"/>
            <ac:spMk id="37" creationId="{1E1BDB59-B42B-09DA-9335-61DB4003A82E}"/>
          </ac:spMkLst>
        </pc:spChg>
        <pc:spChg chg="mod">
          <ac:chgData name="EDUARDO CASTRO FERNANDEZ" userId="148d4078-749a-4237-9bf2-df66836e32aa" providerId="ADAL" clId="{1F9943AA-0875-4404-A10E-ADC4396116F0}" dt="2025-10-24T10:47:18.665" v="15"/>
          <ac:spMkLst>
            <pc:docMk/>
            <pc:sldMk cId="4264199727" sldId="604"/>
            <ac:spMk id="46" creationId="{25A9C445-BBE1-D283-E88F-400362333006}"/>
          </ac:spMkLst>
        </pc:spChg>
      </pc:sldChg>
    </pc:docChg>
  </pc:docChgLst>
  <pc:docChgLst>
    <pc:chgData name="ENRIQUE CID CALERO" userId="250a809f-86cf-4f81-8627-213fad841b73" providerId="ADAL" clId="{79100BCA-4626-400A-86ED-BBBE68F95A49}"/>
    <pc:docChg chg="undo redo custSel addSld delSld modSld sldOrd addMainMaster modMainMaster">
      <pc:chgData name="ENRIQUE CID CALERO" userId="250a809f-86cf-4f81-8627-213fad841b73" providerId="ADAL" clId="{79100BCA-4626-400A-86ED-BBBE68F95A49}" dt="2025-06-13T09:40:37.390" v="9317" actId="114"/>
      <pc:docMkLst>
        <pc:docMk/>
      </pc:docMkLst>
      <pc:sldChg chg="delSp new del mod">
        <pc:chgData name="ENRIQUE CID CALERO" userId="250a809f-86cf-4f81-8627-213fad841b73" providerId="ADAL" clId="{79100BCA-4626-400A-86ED-BBBE68F95A49}" dt="2025-06-04T09:52:15.506" v="4" actId="47"/>
        <pc:sldMkLst>
          <pc:docMk/>
          <pc:sldMk cId="2557468225" sldId="256"/>
        </pc:sldMkLst>
      </pc:sldChg>
      <pc:sldChg chg="modSp add mod modNotesTx">
        <pc:chgData name="ENRIQUE CID CALERO" userId="250a809f-86cf-4f81-8627-213fad841b73" providerId="ADAL" clId="{79100BCA-4626-400A-86ED-BBBE68F95A49}" dt="2025-06-09T15:45:22.909" v="5876" actId="34807"/>
        <pc:sldMkLst>
          <pc:docMk/>
          <pc:sldMk cId="1935812511" sldId="523"/>
        </pc:sldMkLst>
      </pc:sldChg>
      <pc:sldChg chg="modSp add del mod">
        <pc:chgData name="ENRIQUE CID CALERO" userId="250a809f-86cf-4f81-8627-213fad841b73" providerId="ADAL" clId="{79100BCA-4626-400A-86ED-BBBE68F95A49}" dt="2025-06-09T10:15:52.339" v="5417" actId="47"/>
        <pc:sldMkLst>
          <pc:docMk/>
          <pc:sldMk cId="982871604" sldId="539"/>
        </pc:sldMkLst>
      </pc:sldChg>
      <pc:sldChg chg="modSp add del mod">
        <pc:chgData name="ENRIQUE CID CALERO" userId="250a809f-86cf-4f81-8627-213fad841b73" providerId="ADAL" clId="{79100BCA-4626-400A-86ED-BBBE68F95A49}" dt="2025-06-04T11:12:58.334" v="362" actId="47"/>
        <pc:sldMkLst>
          <pc:docMk/>
          <pc:sldMk cId="479939013" sldId="557"/>
        </pc:sldMkLst>
      </pc:sldChg>
      <pc:sldChg chg="add del">
        <pc:chgData name="ENRIQUE CID CALERO" userId="250a809f-86cf-4f81-8627-213fad841b73" providerId="ADAL" clId="{79100BCA-4626-400A-86ED-BBBE68F95A49}" dt="2025-06-04T11:12:56.558" v="361" actId="47"/>
        <pc:sldMkLst>
          <pc:docMk/>
          <pc:sldMk cId="364256577" sldId="560"/>
        </pc:sldMkLst>
      </pc:sldChg>
      <pc:sldChg chg="addSp delSp modSp add del mod ord modShow">
        <pc:chgData name="ENRIQUE CID CALERO" userId="250a809f-86cf-4f81-8627-213fad841b73" providerId="ADAL" clId="{79100BCA-4626-400A-86ED-BBBE68F95A49}" dt="2025-06-09T10:22:53.618" v="5543" actId="47"/>
        <pc:sldMkLst>
          <pc:docMk/>
          <pc:sldMk cId="3341645118" sldId="561"/>
        </pc:sldMkLst>
      </pc:sldChg>
      <pc:sldChg chg="modSp add mod modNotesTx">
        <pc:chgData name="ENRIQUE CID CALERO" userId="250a809f-86cf-4f81-8627-213fad841b73" providerId="ADAL" clId="{79100BCA-4626-400A-86ED-BBBE68F95A49}" dt="2025-06-09T15:45:22.909" v="5876" actId="34807"/>
        <pc:sldMkLst>
          <pc:docMk/>
          <pc:sldMk cId="2182021421" sldId="565"/>
        </pc:sldMkLst>
      </pc:sldChg>
      <pc:sldChg chg="modSp add del mod">
        <pc:chgData name="ENRIQUE CID CALERO" userId="250a809f-86cf-4f81-8627-213fad841b73" providerId="ADAL" clId="{79100BCA-4626-400A-86ED-BBBE68F95A49}" dt="2025-06-06T09:42:41.180" v="3268" actId="47"/>
        <pc:sldMkLst>
          <pc:docMk/>
          <pc:sldMk cId="2886765054" sldId="593"/>
        </pc:sldMkLst>
      </pc:sldChg>
      <pc:sldChg chg="addSp delSp modSp add mod modShow modNotesTx">
        <pc:chgData name="ENRIQUE CID CALERO" userId="250a809f-86cf-4f81-8627-213fad841b73" providerId="ADAL" clId="{79100BCA-4626-400A-86ED-BBBE68F95A49}" dt="2025-06-13T06:53:27.382" v="7248" actId="729"/>
        <pc:sldMkLst>
          <pc:docMk/>
          <pc:sldMk cId="830435724" sldId="594"/>
        </pc:sldMkLst>
      </pc:sldChg>
      <pc:sldChg chg="delSp new del mod modClrScheme chgLayout">
        <pc:chgData name="ENRIQUE CID CALERO" userId="250a809f-86cf-4f81-8627-213fad841b73" providerId="ADAL" clId="{79100BCA-4626-400A-86ED-BBBE68F95A49}" dt="2025-06-04T11:07:56.895" v="270" actId="47"/>
        <pc:sldMkLst>
          <pc:docMk/>
          <pc:sldMk cId="1307994034" sldId="594"/>
        </pc:sldMkLst>
      </pc:sldChg>
      <pc:sldChg chg="new del">
        <pc:chgData name="ENRIQUE CID CALERO" userId="250a809f-86cf-4f81-8627-213fad841b73" providerId="ADAL" clId="{79100BCA-4626-400A-86ED-BBBE68F95A49}" dt="2025-06-04T11:07:27.170" v="267" actId="47"/>
        <pc:sldMkLst>
          <pc:docMk/>
          <pc:sldMk cId="2288226067" sldId="594"/>
        </pc:sldMkLst>
      </pc:sldChg>
      <pc:sldChg chg="modSp add del mod">
        <pc:chgData name="ENRIQUE CID CALERO" userId="250a809f-86cf-4f81-8627-213fad841b73" providerId="ADAL" clId="{79100BCA-4626-400A-86ED-BBBE68F95A49}" dt="2025-06-04T14:45:31.940" v="2526" actId="47"/>
        <pc:sldMkLst>
          <pc:docMk/>
          <pc:sldMk cId="2100165612" sldId="595"/>
        </pc:sldMkLst>
      </pc:sldChg>
      <pc:sldChg chg="addSp delSp modSp add del mod">
        <pc:chgData name="ENRIQUE CID CALERO" userId="250a809f-86cf-4f81-8627-213fad841b73" providerId="ADAL" clId="{79100BCA-4626-400A-86ED-BBBE68F95A49}" dt="2025-06-04T13:56:40.914" v="2002" actId="47"/>
        <pc:sldMkLst>
          <pc:docMk/>
          <pc:sldMk cId="3894957219" sldId="596"/>
        </pc:sldMkLst>
      </pc:sldChg>
      <pc:sldChg chg="addSp delSp modSp add mod ord modNotesTx">
        <pc:chgData name="ENRIQUE CID CALERO" userId="250a809f-86cf-4f81-8627-213fad841b73" providerId="ADAL" clId="{79100BCA-4626-400A-86ED-BBBE68F95A49}" dt="2025-06-09T15:45:22.909" v="5876" actId="34807"/>
        <pc:sldMkLst>
          <pc:docMk/>
          <pc:sldMk cId="3797529826" sldId="597"/>
        </pc:sldMkLst>
      </pc:sldChg>
      <pc:sldChg chg="modSp add del mod">
        <pc:chgData name="ENRIQUE CID CALERO" userId="250a809f-86cf-4f81-8627-213fad841b73" providerId="ADAL" clId="{79100BCA-4626-400A-86ED-BBBE68F95A49}" dt="2025-06-04T11:48:51.871" v="1700" actId="47"/>
        <pc:sldMkLst>
          <pc:docMk/>
          <pc:sldMk cId="2850800909" sldId="598"/>
        </pc:sldMkLst>
      </pc:sldChg>
      <pc:sldChg chg="addSp delSp modSp add mod modNotesTx">
        <pc:chgData name="ENRIQUE CID CALERO" userId="250a809f-86cf-4f81-8627-213fad841b73" providerId="ADAL" clId="{79100BCA-4626-400A-86ED-BBBE68F95A49}" dt="2025-06-09T15:45:22.909" v="5876" actId="34807"/>
        <pc:sldMkLst>
          <pc:docMk/>
          <pc:sldMk cId="1954524506" sldId="599"/>
        </pc:sldMkLst>
      </pc:sldChg>
      <pc:sldChg chg="addSp delSp modSp add mod modNotesTx">
        <pc:chgData name="ENRIQUE CID CALERO" userId="250a809f-86cf-4f81-8627-213fad841b73" providerId="ADAL" clId="{79100BCA-4626-400A-86ED-BBBE68F95A49}" dt="2025-06-09T15:45:22.909" v="5876" actId="34807"/>
        <pc:sldMkLst>
          <pc:docMk/>
          <pc:sldMk cId="3026612716" sldId="600"/>
        </pc:sldMkLst>
      </pc:sldChg>
      <pc:sldChg chg="addSp delSp modSp add mod modShow modNotesTx">
        <pc:chgData name="ENRIQUE CID CALERO" userId="250a809f-86cf-4f81-8627-213fad841b73" providerId="ADAL" clId="{79100BCA-4626-400A-86ED-BBBE68F95A49}" dt="2025-06-13T06:53:46.336" v="7251" actId="729"/>
        <pc:sldMkLst>
          <pc:docMk/>
          <pc:sldMk cId="2127837713" sldId="601"/>
        </pc:sldMkLst>
      </pc:sldChg>
      <pc:sldChg chg="addSp delSp modSp add mod modNotesTx">
        <pc:chgData name="ENRIQUE CID CALERO" userId="250a809f-86cf-4f81-8627-213fad841b73" providerId="ADAL" clId="{79100BCA-4626-400A-86ED-BBBE68F95A49}" dt="2025-06-09T15:45:22.909" v="5876" actId="34807"/>
        <pc:sldMkLst>
          <pc:docMk/>
          <pc:sldMk cId="3990248765" sldId="602"/>
        </pc:sldMkLst>
      </pc:sldChg>
      <pc:sldChg chg="delSp modSp add mod modShow modNotesTx">
        <pc:chgData name="ENRIQUE CID CALERO" userId="250a809f-86cf-4f81-8627-213fad841b73" providerId="ADAL" clId="{79100BCA-4626-400A-86ED-BBBE68F95A49}" dt="2025-06-13T06:53:36.263" v="7249" actId="729"/>
        <pc:sldMkLst>
          <pc:docMk/>
          <pc:sldMk cId="3388341731" sldId="603"/>
        </pc:sldMkLst>
      </pc:sldChg>
      <pc:sldChg chg="addSp delSp modSp add mod modNotesTx">
        <pc:chgData name="ENRIQUE CID CALERO" userId="250a809f-86cf-4f81-8627-213fad841b73" providerId="ADAL" clId="{79100BCA-4626-400A-86ED-BBBE68F95A49}" dt="2025-06-09T15:45:22.909" v="5876" actId="34807"/>
        <pc:sldMkLst>
          <pc:docMk/>
          <pc:sldMk cId="4264199727" sldId="604"/>
        </pc:sldMkLst>
      </pc:sldChg>
      <pc:sldChg chg="add del mod ord modShow">
        <pc:chgData name="ENRIQUE CID CALERO" userId="250a809f-86cf-4f81-8627-213fad841b73" providerId="ADAL" clId="{79100BCA-4626-400A-86ED-BBBE68F95A49}" dt="2025-06-09T10:22:52.591" v="5542" actId="47"/>
        <pc:sldMkLst>
          <pc:docMk/>
          <pc:sldMk cId="259792606" sldId="605"/>
        </pc:sldMkLst>
      </pc:sldChg>
      <pc:sldChg chg="new del">
        <pc:chgData name="ENRIQUE CID CALERO" userId="250a809f-86cf-4f81-8627-213fad841b73" providerId="ADAL" clId="{79100BCA-4626-400A-86ED-BBBE68F95A49}" dt="2025-06-09T10:00:59.545" v="5384" actId="47"/>
        <pc:sldMkLst>
          <pc:docMk/>
          <pc:sldMk cId="2252799106" sldId="606"/>
        </pc:sldMkLst>
      </pc:sldChg>
      <pc:sldChg chg="addSp modSp add mod ord modNotesTx">
        <pc:chgData name="ENRIQUE CID CALERO" userId="250a809f-86cf-4f81-8627-213fad841b73" providerId="ADAL" clId="{79100BCA-4626-400A-86ED-BBBE68F95A49}" dt="2025-06-09T15:45:22.909" v="5876" actId="34807"/>
        <pc:sldMkLst>
          <pc:docMk/>
          <pc:sldMk cId="2067431717" sldId="607"/>
        </pc:sldMkLst>
      </pc:sldChg>
      <pc:sldChg chg="new del">
        <pc:chgData name="ENRIQUE CID CALERO" userId="250a809f-86cf-4f81-8627-213fad841b73" providerId="ADAL" clId="{79100BCA-4626-400A-86ED-BBBE68F95A49}" dt="2025-06-09T09:52:06.322" v="5253" actId="47"/>
        <pc:sldMkLst>
          <pc:docMk/>
          <pc:sldMk cId="3299981078" sldId="608"/>
        </pc:sldMkLst>
      </pc:sldChg>
      <pc:sldChg chg="addSp delSp modSp add mod modNotesTx">
        <pc:chgData name="ENRIQUE CID CALERO" userId="250a809f-86cf-4f81-8627-213fad841b73" providerId="ADAL" clId="{79100BCA-4626-400A-86ED-BBBE68F95A49}" dt="2025-06-13T06:59:06.452" v="7302" actId="1076"/>
        <pc:sldMkLst>
          <pc:docMk/>
          <pc:sldMk cId="3828755581" sldId="609"/>
        </pc:sldMkLst>
      </pc:sldChg>
      <pc:sldChg chg="addSp delSp modSp mod">
        <pc:chgData name="ENRIQUE CID CALERO" userId="250a809f-86cf-4f81-8627-213fad841b73" providerId="ADAL" clId="{79100BCA-4626-400A-86ED-BBBE68F95A49}" dt="2025-06-13T06:55:19.189" v="7259" actId="255"/>
        <pc:sldMkLst>
          <pc:docMk/>
          <pc:sldMk cId="61822508" sldId="610"/>
        </pc:sldMkLst>
      </pc:sldChg>
      <pc:sldChg chg="addSp delSp modSp add mod">
        <pc:chgData name="ENRIQUE CID CALERO" userId="250a809f-86cf-4f81-8627-213fad841b73" providerId="ADAL" clId="{79100BCA-4626-400A-86ED-BBBE68F95A49}" dt="2025-06-13T09:40:37.390" v="9317" actId="114"/>
        <pc:sldMkLst>
          <pc:docMk/>
          <pc:sldMk cId="2580385334" sldId="611"/>
        </pc:sldMkLst>
      </pc:sldChg>
      <pc:sldChg chg="add">
        <pc:chgData name="ENRIQUE CID CALERO" userId="250a809f-86cf-4f81-8627-213fad841b73" providerId="ADAL" clId="{79100BCA-4626-400A-86ED-BBBE68F95A49}" dt="2025-06-13T06:53:13.252" v="7246"/>
        <pc:sldMkLst>
          <pc:docMk/>
          <pc:sldMk cId="2549225264" sldId="612"/>
        </pc:sldMkLst>
      </pc:sldChg>
      <pc:sldChg chg="add">
        <pc:chgData name="ENRIQUE CID CALERO" userId="250a809f-86cf-4f81-8627-213fad841b73" providerId="ADAL" clId="{79100BCA-4626-400A-86ED-BBBE68F95A49}" dt="2025-06-13T06:53:23.309" v="7247"/>
        <pc:sldMkLst>
          <pc:docMk/>
          <pc:sldMk cId="1612254331" sldId="613"/>
        </pc:sldMkLst>
      </pc:sldChg>
      <pc:sldChg chg="add">
        <pc:chgData name="ENRIQUE CID CALERO" userId="250a809f-86cf-4f81-8627-213fad841b73" providerId="ADAL" clId="{79100BCA-4626-400A-86ED-BBBE68F95A49}" dt="2025-06-13T06:53:41.949" v="7250"/>
        <pc:sldMkLst>
          <pc:docMk/>
          <pc:sldMk cId="428723561" sldId="614"/>
        </pc:sldMkLst>
      </pc:sldChg>
      <pc:sldChg chg="add ord">
        <pc:chgData name="ENRIQUE CID CALERO" userId="250a809f-86cf-4f81-8627-213fad841b73" providerId="ADAL" clId="{79100BCA-4626-400A-86ED-BBBE68F95A49}" dt="2025-06-13T06:54:08.350" v="7254"/>
        <pc:sldMkLst>
          <pc:docMk/>
          <pc:sldMk cId="3215803653" sldId="615"/>
        </pc:sldMkLst>
      </pc:sldChg>
      <pc:sldChg chg="add del">
        <pc:chgData name="ENRIQUE CID CALERO" userId="250a809f-86cf-4f81-8627-213fad841b73" providerId="ADAL" clId="{79100BCA-4626-400A-86ED-BBBE68F95A49}" dt="2025-06-13T06:54:37.386" v="7256"/>
        <pc:sldMkLst>
          <pc:docMk/>
          <pc:sldMk cId="87077724" sldId="616"/>
        </pc:sldMkLst>
      </pc:sldChg>
      <pc:sldChg chg="add">
        <pc:chgData name="ENRIQUE CID CALERO" userId="250a809f-86cf-4f81-8627-213fad841b73" providerId="ADAL" clId="{79100BCA-4626-400A-86ED-BBBE68F95A49}" dt="2025-06-13T06:54:45.120" v="7257"/>
        <pc:sldMkLst>
          <pc:docMk/>
          <pc:sldMk cId="2645954693" sldId="616"/>
        </pc:sldMkLst>
      </pc:sldChg>
      <pc:sldChg chg="add del">
        <pc:chgData name="ENRIQUE CID CALERO" userId="250a809f-86cf-4f81-8627-213fad841b73" providerId="ADAL" clId="{79100BCA-4626-400A-86ED-BBBE68F95A49}" dt="2025-06-13T06:54:37.386" v="7256"/>
        <pc:sldMkLst>
          <pc:docMk/>
          <pc:sldMk cId="1190867803" sldId="617"/>
        </pc:sldMkLst>
      </pc:sldChg>
      <pc:sldChg chg="add">
        <pc:chgData name="ENRIQUE CID CALERO" userId="250a809f-86cf-4f81-8627-213fad841b73" providerId="ADAL" clId="{79100BCA-4626-400A-86ED-BBBE68F95A49}" dt="2025-06-13T06:54:45.120" v="7257"/>
        <pc:sldMkLst>
          <pc:docMk/>
          <pc:sldMk cId="3366144706" sldId="617"/>
        </pc:sldMkLst>
      </pc:sldChg>
      <pc:sldChg chg="delSp modSp add mod">
        <pc:chgData name="ENRIQUE CID CALERO" userId="250a809f-86cf-4f81-8627-213fad841b73" providerId="ADAL" clId="{79100BCA-4626-400A-86ED-BBBE68F95A49}" dt="2025-06-13T09:39:00.454" v="9295" actId="20577"/>
        <pc:sldMkLst>
          <pc:docMk/>
          <pc:sldMk cId="1620478897" sldId="618"/>
        </pc:sldMkLst>
      </pc:sldChg>
      <pc:sldChg chg="add del">
        <pc:chgData name="ENRIQUE CID CALERO" userId="250a809f-86cf-4f81-8627-213fad841b73" providerId="ADAL" clId="{79100BCA-4626-400A-86ED-BBBE68F95A49}" dt="2025-06-13T06:54:37.386" v="7256"/>
        <pc:sldMkLst>
          <pc:docMk/>
          <pc:sldMk cId="2466143453" sldId="618"/>
        </pc:sldMkLst>
      </pc:sldChg>
      <pc:sldChg chg="add del">
        <pc:chgData name="ENRIQUE CID CALERO" userId="250a809f-86cf-4f81-8627-213fad841b73" providerId="ADAL" clId="{79100BCA-4626-400A-86ED-BBBE68F95A49}" dt="2025-06-13T06:54:37.386" v="7256"/>
        <pc:sldMkLst>
          <pc:docMk/>
          <pc:sldMk cId="2645954693" sldId="619"/>
        </pc:sldMkLst>
      </pc:sldChg>
      <pc:sldChg chg="add del">
        <pc:chgData name="ENRIQUE CID CALERO" userId="250a809f-86cf-4f81-8627-213fad841b73" providerId="ADAL" clId="{79100BCA-4626-400A-86ED-BBBE68F95A49}" dt="2025-06-13T06:54:37.386" v="7256"/>
        <pc:sldMkLst>
          <pc:docMk/>
          <pc:sldMk cId="3366144706" sldId="620"/>
        </pc:sldMkLst>
      </pc:sldChg>
      <pc:sldMasterChg chg="delSldLayout">
        <pc:chgData name="ENRIQUE CID CALERO" userId="250a809f-86cf-4f81-8627-213fad841b73" providerId="ADAL" clId="{79100BCA-4626-400A-86ED-BBBE68F95A49}" dt="2025-06-09T10:22:53.618" v="5543" actId="47"/>
        <pc:sldMasterMkLst>
          <pc:docMk/>
          <pc:sldMasterMk cId="1637402651" sldId="2147483648"/>
        </pc:sldMasterMkLst>
        <pc:sldLayoutChg chg="del">
          <pc:chgData name="ENRIQUE CID CALERO" userId="250a809f-86cf-4f81-8627-213fad841b73" providerId="ADAL" clId="{79100BCA-4626-400A-86ED-BBBE68F95A49}" dt="2025-06-06T09:42:41.180" v="3268" actId="47"/>
          <pc:sldLayoutMkLst>
            <pc:docMk/>
            <pc:sldMasterMk cId="1637402651" sldId="2147483648"/>
            <pc:sldLayoutMk cId="891395219" sldId="2147483662"/>
          </pc:sldLayoutMkLst>
        </pc:sldLayoutChg>
        <pc:sldLayoutChg chg="del">
          <pc:chgData name="ENRIQUE CID CALERO" userId="250a809f-86cf-4f81-8627-213fad841b73" providerId="ADAL" clId="{79100BCA-4626-400A-86ED-BBBE68F95A49}" dt="2025-06-04T11:12:58.334" v="362" actId="47"/>
          <pc:sldLayoutMkLst>
            <pc:docMk/>
            <pc:sldMasterMk cId="1637402651" sldId="2147483648"/>
            <pc:sldLayoutMk cId="1260546709" sldId="2147483663"/>
          </pc:sldLayoutMkLst>
        </pc:sldLayoutChg>
        <pc:sldLayoutChg chg="del">
          <pc:chgData name="ENRIQUE CID CALERO" userId="250a809f-86cf-4f81-8627-213fad841b73" providerId="ADAL" clId="{79100BCA-4626-400A-86ED-BBBE68F95A49}" dt="2025-06-09T10:22:53.618" v="5543" actId="47"/>
          <pc:sldLayoutMkLst>
            <pc:docMk/>
            <pc:sldMasterMk cId="1637402651" sldId="2147483648"/>
            <pc:sldLayoutMk cId="102297071" sldId="2147483665"/>
          </pc:sldLayoutMkLst>
        </pc:sldLayoutChg>
        <pc:sldLayoutChg chg="del">
          <pc:chgData name="ENRIQUE CID CALERO" userId="250a809f-86cf-4f81-8627-213fad841b73" providerId="ADAL" clId="{79100BCA-4626-400A-86ED-BBBE68F95A49}" dt="2025-06-04T11:12:56.558" v="361" actId="47"/>
          <pc:sldLayoutMkLst>
            <pc:docMk/>
            <pc:sldMasterMk cId="1637402651" sldId="2147483648"/>
            <pc:sldLayoutMk cId="1991410198" sldId="2147483665"/>
          </pc:sldLayoutMkLst>
        </pc:sldLayoutChg>
      </pc:sldMasterChg>
      <pc:sldMasterChg chg="new mod addSldLayout">
        <pc:chgData name="ENRIQUE CID CALERO" userId="250a809f-86cf-4f81-8627-213fad841b73" providerId="ADAL" clId="{79100BCA-4626-400A-86ED-BBBE68F95A49}" dt="2025-06-09T09:51:53.784" v="5251" actId="6938"/>
        <pc:sldMasterMkLst>
          <pc:docMk/>
          <pc:sldMasterMk cId="2827489003" sldId="2147483666"/>
        </pc:sldMasterMkLst>
        <pc:sldLayoutChg chg="new replId">
          <pc:chgData name="ENRIQUE CID CALERO" userId="250a809f-86cf-4f81-8627-213fad841b73" providerId="ADAL" clId="{79100BCA-4626-400A-86ED-BBBE68F95A49}" dt="2025-06-09T09:51:53.784" v="5251" actId="6938"/>
          <pc:sldLayoutMkLst>
            <pc:docMk/>
            <pc:sldMasterMk cId="2827489003" sldId="2147483666"/>
            <pc:sldLayoutMk cId="1014817617" sldId="2147483667"/>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1845958494" sldId="2147483668"/>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4050908202" sldId="2147483669"/>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561456501" sldId="2147483670"/>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3947250056" sldId="2147483671"/>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1992557200" sldId="2147483672"/>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4240977561" sldId="2147483673"/>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267894193" sldId="2147483674"/>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657768373" sldId="2147483675"/>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3467360503" sldId="2147483676"/>
          </pc:sldLayoutMkLst>
        </pc:sldLayoutChg>
        <pc:sldLayoutChg chg="new replId">
          <pc:chgData name="ENRIQUE CID CALERO" userId="250a809f-86cf-4f81-8627-213fad841b73" providerId="ADAL" clId="{79100BCA-4626-400A-86ED-BBBE68F95A49}" dt="2025-06-09T09:51:53.784" v="5251" actId="6938"/>
          <pc:sldLayoutMkLst>
            <pc:docMk/>
            <pc:sldMasterMk cId="2827489003" sldId="2147483666"/>
            <pc:sldLayoutMk cId="3446189801" sldId="2147483677"/>
          </pc:sldLayoutMkLst>
        </pc:sldLayoutChg>
      </pc:sldMasterChg>
    </pc:docChg>
  </pc:docChgLst>
  <pc:docChgLst>
    <pc:chgData name="ENRIQUE CID CALERO" userId="250a809f-86cf-4f81-8627-213fad841b73" providerId="ADAL" clId="{277A5A57-21A3-4FC5-93CB-C0C988E9D0A0}"/>
    <pc:docChg chg="modSld">
      <pc:chgData name="ENRIQUE CID CALERO" userId="250a809f-86cf-4f81-8627-213fad841b73" providerId="ADAL" clId="{277A5A57-21A3-4FC5-93CB-C0C988E9D0A0}" dt="2025-07-15T09:53:49.447" v="57" actId="20577"/>
      <pc:docMkLst>
        <pc:docMk/>
      </pc:docMkLst>
      <pc:sldChg chg="modSp mod">
        <pc:chgData name="ENRIQUE CID CALERO" userId="250a809f-86cf-4f81-8627-213fad841b73" providerId="ADAL" clId="{277A5A57-21A3-4FC5-93CB-C0C988E9D0A0}" dt="2025-07-15T09:53:18.885" v="31" actId="20577"/>
        <pc:sldMkLst>
          <pc:docMk/>
          <pc:sldMk cId="2645954693" sldId="616"/>
        </pc:sldMkLst>
      </pc:sldChg>
      <pc:sldChg chg="modSp mod">
        <pc:chgData name="ENRIQUE CID CALERO" userId="250a809f-86cf-4f81-8627-213fad841b73" providerId="ADAL" clId="{277A5A57-21A3-4FC5-93CB-C0C988E9D0A0}" dt="2025-07-15T09:53:49.447" v="57" actId="20577"/>
        <pc:sldMkLst>
          <pc:docMk/>
          <pc:sldMk cId="3366144706" sldId="617"/>
        </pc:sldMkLst>
      </pc:sldChg>
    </pc:docChg>
  </pc:docChgLst>
  <pc:docChgLst>
    <pc:chgData name="ARANCHA FERNANDEZ MARTINEZ" userId="d719cdf0-6bf9-43d2-b3d1-8d0ca47be253" providerId="ADAL" clId="{8BCEAB90-F74F-4B61-85E6-119675CDFBAE}"/>
    <pc:docChg chg="modSld">
      <pc:chgData name="ARANCHA FERNANDEZ MARTINEZ" userId="d719cdf0-6bf9-43d2-b3d1-8d0ca47be253" providerId="ADAL" clId="{8BCEAB90-F74F-4B61-85E6-119675CDFBAE}" dt="2025-06-09T13:57:52.489" v="6" actId="1076"/>
      <pc:docMkLst>
        <pc:docMk/>
      </pc:docMkLst>
      <pc:sldChg chg="modSp mod">
        <pc:chgData name="ARANCHA FERNANDEZ MARTINEZ" userId="d719cdf0-6bf9-43d2-b3d1-8d0ca47be253" providerId="ADAL" clId="{8BCEAB90-F74F-4B61-85E6-119675CDFBAE}" dt="2025-06-09T13:57:52.489" v="6" actId="1076"/>
        <pc:sldMkLst>
          <pc:docMk/>
          <pc:sldMk cId="2182021421" sldId="565"/>
        </pc:sldMkLst>
      </pc:sldChg>
      <pc:sldChg chg="modSp mod">
        <pc:chgData name="ARANCHA FERNANDEZ MARTINEZ" userId="d719cdf0-6bf9-43d2-b3d1-8d0ca47be253" providerId="ADAL" clId="{8BCEAB90-F74F-4B61-85E6-119675CDFBAE}" dt="2025-06-09T13:53:01.868" v="5" actId="20577"/>
        <pc:sldMkLst>
          <pc:docMk/>
          <pc:sldMk cId="3388341731" sldId="60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1.xml"/></Relationships>
</file>

<file path=ppt/charts/_rels/chart8.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2.xml"/></Relationships>
</file>

<file path=ppt/charts/_rels/chart9.xml.rels><?xml version="1.0" encoding="UTF-8" standalone="yes"?>
<Relationships xmlns="http://schemas.openxmlformats.org/package/2006/relationships"><Relationship Id="rId3" Type="http://schemas.openxmlformats.org/officeDocument/2006/relationships/oleObject" Target="https://lineadirectaes.sharepoint.com/sites/EquipodeProcesosPersCom-ProyectomigracinHCM/Documentos%20compartidos/RFI/Conclusiones%20RFI/Coberturas_modulos_proveedores.xlsx" TargetMode="Externa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
              <a:t>Cobertura Oracle (con módulos valorables)</a:t>
            </a:r>
          </a:p>
        </c:rich>
      </c:tx>
      <c:layout>
        <c:manualLayout>
          <c:xMode val="edge"/>
          <c:yMode val="edge"/>
          <c:x val="0.29850908484747457"/>
          <c:y val="2.592136509831663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ES"/>
        </a:p>
      </c:txPr>
    </c:title>
    <c:autoTitleDeleted val="0"/>
    <c:plotArea>
      <c:layout/>
      <c:barChart>
        <c:barDir val="bar"/>
        <c:grouping val="percentStacked"/>
        <c:varyColors val="0"/>
        <c:ser>
          <c:idx val="0"/>
          <c:order val="0"/>
          <c:tx>
            <c:strRef>
              <c:f>Oracle!$B$1</c:f>
              <c:strCache>
                <c:ptCount val="1"/>
                <c:pt idx="0">
                  <c:v>COBERTURA</c:v>
                </c:pt>
              </c:strCache>
            </c:strRef>
          </c:tx>
          <c:spPr>
            <a:solidFill>
              <a:srgbClr val="326C1E"/>
            </a:solidFill>
            <a:ln w="63500" cap="rnd">
              <a:solidFill>
                <a:srgbClr val="326C1E"/>
              </a:solidFill>
            </a:ln>
            <a:effectLst/>
            <a:scene3d>
              <a:camera prst="orthographicFront"/>
              <a:lightRig rig="threePt" dir="t">
                <a:rot lat="0" lon="0" rev="0"/>
              </a:lightRig>
            </a:scene3d>
            <a:sp3d>
              <a:bevelT w="0"/>
            </a:sp3d>
          </c:spPr>
          <c:invertIfNegative val="0"/>
          <c:dLbls>
            <c:dLbl>
              <c:idx val="8"/>
              <c:layout>
                <c:manualLayout>
                  <c:x val="7.3937148636826683E-2"/>
                  <c:y val="-1.0021518622113635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3AB-471D-9391-4D4ECD448FF8}"/>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s-E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Oracle!$A$2:$A$14</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Oracle!$B$2:$B$14</c:f>
              <c:numCache>
                <c:formatCode>0%</c:formatCode>
                <c:ptCount val="13"/>
                <c:pt idx="0">
                  <c:v>1</c:v>
                </c:pt>
                <c:pt idx="1">
                  <c:v>1</c:v>
                </c:pt>
                <c:pt idx="2">
                  <c:v>1</c:v>
                </c:pt>
                <c:pt idx="3">
                  <c:v>1</c:v>
                </c:pt>
                <c:pt idx="4">
                  <c:v>1</c:v>
                </c:pt>
                <c:pt idx="5">
                  <c:v>1</c:v>
                </c:pt>
                <c:pt idx="6">
                  <c:v>1</c:v>
                </c:pt>
                <c:pt idx="7">
                  <c:v>1</c:v>
                </c:pt>
                <c:pt idx="8">
                  <c:v>0.8</c:v>
                </c:pt>
                <c:pt idx="9">
                  <c:v>1</c:v>
                </c:pt>
                <c:pt idx="10">
                  <c:v>1</c:v>
                </c:pt>
                <c:pt idx="11">
                  <c:v>1</c:v>
                </c:pt>
                <c:pt idx="12">
                  <c:v>1</c:v>
                </c:pt>
              </c:numCache>
            </c:numRef>
          </c:val>
          <c:extLst>
            <c:ext xmlns:c16="http://schemas.microsoft.com/office/drawing/2014/chart" uri="{C3380CC4-5D6E-409C-BE32-E72D297353CC}">
              <c16:uniqueId val="{00000001-63AB-471D-9391-4D4ECD448FF8}"/>
            </c:ext>
          </c:extLst>
        </c:ser>
        <c:ser>
          <c:idx val="1"/>
          <c:order val="1"/>
          <c:tx>
            <c:strRef>
              <c:f>Oracle!$C$1</c:f>
              <c:strCache>
                <c:ptCount val="1"/>
                <c:pt idx="0">
                  <c:v>REM</c:v>
                </c:pt>
              </c:strCache>
            </c:strRef>
          </c:tx>
          <c:spPr>
            <a:solidFill>
              <a:schemeClr val="accent6">
                <a:lumMod val="40000"/>
                <a:lumOff val="60000"/>
              </a:schemeClr>
            </a:solidFill>
            <a:ln w="63500">
              <a:solidFill>
                <a:schemeClr val="accent6">
                  <a:lumMod val="40000"/>
                  <a:lumOff val="60000"/>
                </a:schemeClr>
              </a:solidFill>
              <a:miter lim="800000"/>
            </a:ln>
            <a:effectLst/>
          </c:spPr>
          <c:invertIfNegative val="0"/>
          <c:dLbls>
            <c:delete val="1"/>
          </c:dLbls>
          <c:cat>
            <c:strRef>
              <c:f>Oracle!$A$2:$A$14</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Oracle!$C$2:$C$14</c:f>
              <c:numCache>
                <c:formatCode>General</c:formatCode>
                <c:ptCount val="13"/>
                <c:pt idx="0">
                  <c:v>0</c:v>
                </c:pt>
                <c:pt idx="1">
                  <c:v>0</c:v>
                </c:pt>
                <c:pt idx="2">
                  <c:v>0</c:v>
                </c:pt>
                <c:pt idx="3">
                  <c:v>0</c:v>
                </c:pt>
                <c:pt idx="4">
                  <c:v>0</c:v>
                </c:pt>
                <c:pt idx="5">
                  <c:v>0</c:v>
                </c:pt>
                <c:pt idx="6">
                  <c:v>0</c:v>
                </c:pt>
                <c:pt idx="7">
                  <c:v>0</c:v>
                </c:pt>
                <c:pt idx="8" formatCode="0%">
                  <c:v>0.2</c:v>
                </c:pt>
                <c:pt idx="9">
                  <c:v>0</c:v>
                </c:pt>
                <c:pt idx="10">
                  <c:v>0</c:v>
                </c:pt>
                <c:pt idx="11">
                  <c:v>0</c:v>
                </c:pt>
                <c:pt idx="12">
                  <c:v>0</c:v>
                </c:pt>
              </c:numCache>
            </c:numRef>
          </c:val>
          <c:extLst>
            <c:ext xmlns:c16="http://schemas.microsoft.com/office/drawing/2014/chart" uri="{C3380CC4-5D6E-409C-BE32-E72D297353CC}">
              <c16:uniqueId val="{00000002-63AB-471D-9391-4D4ECD448FF8}"/>
            </c:ext>
          </c:extLst>
        </c:ser>
        <c:dLbls>
          <c:dLblPos val="ctr"/>
          <c:showLegendKey val="0"/>
          <c:showVal val="1"/>
          <c:showCatName val="0"/>
          <c:showSerName val="0"/>
          <c:showPercent val="0"/>
          <c:showBubbleSize val="0"/>
        </c:dLbls>
        <c:gapWidth val="150"/>
        <c:overlap val="100"/>
        <c:axId val="1624549824"/>
        <c:axId val="1624547424"/>
      </c:barChart>
      <c:catAx>
        <c:axId val="16245498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1624547424"/>
        <c:crosses val="autoZero"/>
        <c:auto val="1"/>
        <c:lblAlgn val="ctr"/>
        <c:lblOffset val="100"/>
        <c:noMultiLvlLbl val="0"/>
      </c:catAx>
      <c:valAx>
        <c:axId val="1624547424"/>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62454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
              <a:t>Cobertura Oracle (con módulos imprescindibles)</a:t>
            </a:r>
          </a:p>
        </c:rich>
      </c:tx>
      <c:layout>
        <c:manualLayout>
          <c:xMode val="edge"/>
          <c:yMode val="edge"/>
          <c:x val="0.29206185579059452"/>
          <c:y val="3.239143355310045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ES"/>
        </a:p>
      </c:txPr>
    </c:title>
    <c:autoTitleDeleted val="0"/>
    <c:plotArea>
      <c:layout/>
      <c:barChart>
        <c:barDir val="bar"/>
        <c:grouping val="percentStacked"/>
        <c:varyColors val="0"/>
        <c:ser>
          <c:idx val="0"/>
          <c:order val="0"/>
          <c:tx>
            <c:strRef>
              <c:f>Oracle!$B$28</c:f>
              <c:strCache>
                <c:ptCount val="1"/>
                <c:pt idx="0">
                  <c:v>COBERTURA</c:v>
                </c:pt>
              </c:strCache>
            </c:strRef>
          </c:tx>
          <c:spPr>
            <a:solidFill>
              <a:srgbClr val="326C1E"/>
            </a:solidFill>
            <a:ln w="63500">
              <a:solidFill>
                <a:srgbClr val="326C1E"/>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s-E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Oracle!$A$29:$A$41</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Oracle!$B$29:$B$41</c:f>
              <c:numCache>
                <c:formatCode>0%</c:formatCode>
                <c:ptCount val="13"/>
                <c:pt idx="0">
                  <c:v>1</c:v>
                </c:pt>
                <c:pt idx="1">
                  <c:v>1</c:v>
                </c:pt>
                <c:pt idx="2">
                  <c:v>1</c:v>
                </c:pt>
                <c:pt idx="3">
                  <c:v>1</c:v>
                </c:pt>
                <c:pt idx="4">
                  <c:v>1</c:v>
                </c:pt>
                <c:pt idx="5">
                  <c:v>1</c:v>
                </c:pt>
                <c:pt idx="6">
                  <c:v>1</c:v>
                </c:pt>
                <c:pt idx="7">
                  <c:v>1</c:v>
                </c:pt>
                <c:pt idx="8">
                  <c:v>1</c:v>
                </c:pt>
                <c:pt idx="9">
                  <c:v>1</c:v>
                </c:pt>
                <c:pt idx="10">
                  <c:v>1</c:v>
                </c:pt>
                <c:pt idx="11">
                  <c:v>1</c:v>
                </c:pt>
                <c:pt idx="12">
                  <c:v>1</c:v>
                </c:pt>
              </c:numCache>
            </c:numRef>
          </c:val>
          <c:extLst>
            <c:ext xmlns:c16="http://schemas.microsoft.com/office/drawing/2014/chart" uri="{C3380CC4-5D6E-409C-BE32-E72D297353CC}">
              <c16:uniqueId val="{00000000-CC75-4DEF-814B-9361E1724AC9}"/>
            </c:ext>
          </c:extLst>
        </c:ser>
        <c:ser>
          <c:idx val="1"/>
          <c:order val="1"/>
          <c:tx>
            <c:strRef>
              <c:f>Oracle!$C$28</c:f>
              <c:strCache>
                <c:ptCount val="1"/>
                <c:pt idx="0">
                  <c:v>REM</c:v>
                </c:pt>
              </c:strCache>
            </c:strRef>
          </c:tx>
          <c:spPr>
            <a:solidFill>
              <a:schemeClr val="accent2"/>
            </a:solidFill>
            <a:ln>
              <a:noFill/>
            </a:ln>
            <a:effectLst/>
          </c:spPr>
          <c:invertIfNegative val="0"/>
          <c:dLbls>
            <c:delete val="1"/>
          </c:dLbls>
          <c:cat>
            <c:strRef>
              <c:f>Oracle!$A$29:$A$41</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Oracle!$C$29:$C$41</c:f>
              <c:numCache>
                <c:formatCode>General</c:formatCode>
                <c:ptCount val="13"/>
                <c:pt idx="0">
                  <c:v>0</c:v>
                </c:pt>
                <c:pt idx="1">
                  <c:v>0</c:v>
                </c:pt>
                <c:pt idx="2">
                  <c:v>0</c:v>
                </c:pt>
                <c:pt idx="3">
                  <c:v>0</c:v>
                </c:pt>
                <c:pt idx="4">
                  <c:v>0</c:v>
                </c:pt>
                <c:pt idx="5">
                  <c:v>0</c:v>
                </c:pt>
                <c:pt idx="6">
                  <c:v>0</c:v>
                </c:pt>
                <c:pt idx="7">
                  <c:v>0</c:v>
                </c:pt>
                <c:pt idx="8" formatCode="0%">
                  <c:v>0</c:v>
                </c:pt>
                <c:pt idx="9">
                  <c:v>0</c:v>
                </c:pt>
                <c:pt idx="10">
                  <c:v>0</c:v>
                </c:pt>
                <c:pt idx="11">
                  <c:v>0</c:v>
                </c:pt>
                <c:pt idx="12">
                  <c:v>0</c:v>
                </c:pt>
              </c:numCache>
            </c:numRef>
          </c:val>
          <c:extLst>
            <c:ext xmlns:c16="http://schemas.microsoft.com/office/drawing/2014/chart" uri="{C3380CC4-5D6E-409C-BE32-E72D297353CC}">
              <c16:uniqueId val="{00000001-CC75-4DEF-814B-9361E1724AC9}"/>
            </c:ext>
          </c:extLst>
        </c:ser>
        <c:dLbls>
          <c:dLblPos val="ctr"/>
          <c:showLegendKey val="0"/>
          <c:showVal val="1"/>
          <c:showCatName val="0"/>
          <c:showSerName val="0"/>
          <c:showPercent val="0"/>
          <c:showBubbleSize val="0"/>
        </c:dLbls>
        <c:gapWidth val="150"/>
        <c:overlap val="100"/>
        <c:axId val="1624549824"/>
        <c:axId val="1624547424"/>
      </c:barChart>
      <c:catAx>
        <c:axId val="16245498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1624547424"/>
        <c:crosses val="autoZero"/>
        <c:auto val="1"/>
        <c:lblAlgn val="ctr"/>
        <c:lblOffset val="100"/>
        <c:noMultiLvlLbl val="0"/>
      </c:catAx>
      <c:valAx>
        <c:axId val="1624547424"/>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62454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 dirty="0"/>
              <a:t>Cobertura Workday </a:t>
            </a:r>
            <a:r>
              <a:rPr lang="es-ES" sz="1400" b="0" i="0" u="none" strike="noStrike" kern="1200" spc="0" baseline="0" dirty="0">
                <a:solidFill>
                  <a:sysClr val="windowText" lastClr="000000">
                    <a:lumMod val="65000"/>
                    <a:lumOff val="35000"/>
                  </a:sysClr>
                </a:solidFill>
                <a:latin typeface="+mn-lt"/>
                <a:ea typeface="+mn-ea"/>
                <a:cs typeface="+mn-cs"/>
              </a:rPr>
              <a:t>(con módulos imprescindibles)</a:t>
            </a:r>
          </a:p>
        </c:rich>
      </c:tx>
      <c:layout>
        <c:manualLayout>
          <c:xMode val="edge"/>
          <c:yMode val="edge"/>
          <c:x val="0.302173617175236"/>
          <c:y val="3.652317827067547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ES"/>
        </a:p>
      </c:txPr>
    </c:title>
    <c:autoTitleDeleted val="0"/>
    <c:plotArea>
      <c:layout/>
      <c:barChart>
        <c:barDir val="bar"/>
        <c:grouping val="percentStacked"/>
        <c:varyColors val="0"/>
        <c:ser>
          <c:idx val="0"/>
          <c:order val="0"/>
          <c:tx>
            <c:strRef>
              <c:f>Workday!$B$28</c:f>
              <c:strCache>
                <c:ptCount val="1"/>
                <c:pt idx="0">
                  <c:v>COBERTURA</c:v>
                </c:pt>
              </c:strCache>
            </c:strRef>
          </c:tx>
          <c:spPr>
            <a:solidFill>
              <a:srgbClr val="326C1E"/>
            </a:solidFill>
            <a:ln w="63500">
              <a:solidFill>
                <a:srgbClr val="326C1E"/>
              </a:solidFill>
            </a:ln>
            <a:effectLst/>
          </c:spPr>
          <c:invertIfNegative val="0"/>
          <c:dLbls>
            <c:dLbl>
              <c:idx val="1"/>
              <c:layout>
                <c:manualLayout>
                  <c:x val="0.20738093124431797"/>
                  <c:y val="0"/>
                </c:manualLayout>
              </c:layout>
              <c:tx>
                <c:rich>
                  <a:bodyPr/>
                  <a:lstStyle/>
                  <a:p>
                    <a:fld id="{5674AB67-FD15-474F-BC4D-F6704B4C0EBE}" type="VALUE">
                      <a:rPr lang="en-US">
                        <a:solidFill>
                          <a:srgbClr val="326C1E"/>
                        </a:solidFill>
                      </a:rPr>
                      <a:pPr/>
                      <a:t>[VALOR]</a:t>
                    </a:fld>
                    <a:endParaRPr lang="es-E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34EB-405C-80D5-985D0E580FB6}"/>
                </c:ext>
              </c:extLst>
            </c:dLbl>
            <c:dLbl>
              <c:idx val="2"/>
              <c:layout>
                <c:manualLayout>
                  <c:x val="6.9126977081439209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4EB-405C-80D5-985D0E580FB6}"/>
                </c:ext>
              </c:extLst>
            </c:dLbl>
            <c:dLbl>
              <c:idx val="3"/>
              <c:layout>
                <c:manualLayout>
                  <c:x val="6.9126977081439209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4EB-405C-80D5-985D0E580FB6}"/>
                </c:ext>
              </c:extLst>
            </c:dLbl>
            <c:dLbl>
              <c:idx val="7"/>
              <c:layout>
                <c:manualLayout>
                  <c:x val="7.4064618301542137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4EB-405C-80D5-985D0E580FB6}"/>
                </c:ext>
              </c:extLst>
            </c:dLbl>
            <c:dLbl>
              <c:idx val="9"/>
              <c:layout>
                <c:manualLayout>
                  <c:x val="6.8648323662111502E-2"/>
                  <c:y val="-5.8157500069657329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EB-405C-80D5-985D0E580FB6}"/>
                </c:ext>
              </c:extLst>
            </c:dLbl>
            <c:dLbl>
              <c:idx val="12"/>
              <c:layout>
                <c:manualLayout>
                  <c:x val="7.3997939710906832E-2"/>
                  <c:y val="-1.4866482566226932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4EB-405C-80D5-985D0E580FB6}"/>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s-E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Workday!$A$29:$A$41</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Workday!$B$29:$B$41</c:f>
              <c:numCache>
                <c:formatCode>0%</c:formatCode>
                <c:ptCount val="13"/>
                <c:pt idx="0">
                  <c:v>1</c:v>
                </c:pt>
                <c:pt idx="1">
                  <c:v>0.46</c:v>
                </c:pt>
                <c:pt idx="2">
                  <c:v>0.82</c:v>
                </c:pt>
                <c:pt idx="3">
                  <c:v>0.82</c:v>
                </c:pt>
                <c:pt idx="4">
                  <c:v>1</c:v>
                </c:pt>
                <c:pt idx="5">
                  <c:v>1</c:v>
                </c:pt>
                <c:pt idx="6">
                  <c:v>1</c:v>
                </c:pt>
                <c:pt idx="7">
                  <c:v>0.8</c:v>
                </c:pt>
                <c:pt idx="8">
                  <c:v>1</c:v>
                </c:pt>
                <c:pt idx="9">
                  <c:v>0.82</c:v>
                </c:pt>
                <c:pt idx="10">
                  <c:v>1</c:v>
                </c:pt>
                <c:pt idx="11">
                  <c:v>1</c:v>
                </c:pt>
                <c:pt idx="12">
                  <c:v>0.8</c:v>
                </c:pt>
              </c:numCache>
            </c:numRef>
          </c:val>
          <c:extLst>
            <c:ext xmlns:c16="http://schemas.microsoft.com/office/drawing/2014/chart" uri="{C3380CC4-5D6E-409C-BE32-E72D297353CC}">
              <c16:uniqueId val="{00000006-34EB-405C-80D5-985D0E580FB6}"/>
            </c:ext>
          </c:extLst>
        </c:ser>
        <c:ser>
          <c:idx val="1"/>
          <c:order val="1"/>
          <c:tx>
            <c:strRef>
              <c:f>Workday!$C$28</c:f>
              <c:strCache>
                <c:ptCount val="1"/>
                <c:pt idx="0">
                  <c:v>REM</c:v>
                </c:pt>
              </c:strCache>
            </c:strRef>
          </c:tx>
          <c:spPr>
            <a:solidFill>
              <a:schemeClr val="accent6">
                <a:lumMod val="40000"/>
                <a:lumOff val="60000"/>
              </a:schemeClr>
            </a:solidFill>
            <a:ln w="63500">
              <a:solidFill>
                <a:schemeClr val="accent6">
                  <a:lumMod val="40000"/>
                  <a:lumOff val="60000"/>
                </a:schemeClr>
              </a:solidFill>
              <a:miter lim="800000"/>
            </a:ln>
            <a:effectLst/>
          </c:spPr>
          <c:invertIfNegative val="0"/>
          <c:dLbls>
            <c:delete val="1"/>
          </c:dLbls>
          <c:cat>
            <c:strRef>
              <c:f>Workday!$A$29:$A$41</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Workday!$C$29:$C$41</c:f>
              <c:numCache>
                <c:formatCode>0%</c:formatCode>
                <c:ptCount val="13"/>
                <c:pt idx="0" formatCode="General">
                  <c:v>0</c:v>
                </c:pt>
                <c:pt idx="1">
                  <c:v>0.54</c:v>
                </c:pt>
                <c:pt idx="2">
                  <c:v>0.18</c:v>
                </c:pt>
                <c:pt idx="3">
                  <c:v>0.18</c:v>
                </c:pt>
                <c:pt idx="4" formatCode="General">
                  <c:v>0</c:v>
                </c:pt>
                <c:pt idx="5" formatCode="General">
                  <c:v>0</c:v>
                </c:pt>
                <c:pt idx="6" formatCode="General">
                  <c:v>0</c:v>
                </c:pt>
                <c:pt idx="7">
                  <c:v>0.2</c:v>
                </c:pt>
                <c:pt idx="8">
                  <c:v>0</c:v>
                </c:pt>
                <c:pt idx="9">
                  <c:v>0.18</c:v>
                </c:pt>
                <c:pt idx="10" formatCode="General">
                  <c:v>0</c:v>
                </c:pt>
                <c:pt idx="11" formatCode="General">
                  <c:v>0</c:v>
                </c:pt>
                <c:pt idx="12">
                  <c:v>0.2</c:v>
                </c:pt>
              </c:numCache>
            </c:numRef>
          </c:val>
          <c:extLst>
            <c:ext xmlns:c16="http://schemas.microsoft.com/office/drawing/2014/chart" uri="{C3380CC4-5D6E-409C-BE32-E72D297353CC}">
              <c16:uniqueId val="{00000007-34EB-405C-80D5-985D0E580FB6}"/>
            </c:ext>
          </c:extLst>
        </c:ser>
        <c:dLbls>
          <c:dLblPos val="ctr"/>
          <c:showLegendKey val="0"/>
          <c:showVal val="1"/>
          <c:showCatName val="0"/>
          <c:showSerName val="0"/>
          <c:showPercent val="0"/>
          <c:showBubbleSize val="0"/>
        </c:dLbls>
        <c:gapWidth val="150"/>
        <c:overlap val="100"/>
        <c:axId val="1624549824"/>
        <c:axId val="1624547424"/>
      </c:barChart>
      <c:catAx>
        <c:axId val="16245498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1624547424"/>
        <c:crosses val="autoZero"/>
        <c:auto val="1"/>
        <c:lblAlgn val="ctr"/>
        <c:lblOffset val="100"/>
        <c:noMultiLvlLbl val="0"/>
      </c:catAx>
      <c:valAx>
        <c:axId val="1624547424"/>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62454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 dirty="0"/>
              <a:t>Cobertura Workday </a:t>
            </a:r>
            <a:r>
              <a:rPr lang="es-ES" sz="1400" b="0" i="0" u="none" strike="noStrike" kern="1200" spc="0" baseline="0" dirty="0">
                <a:solidFill>
                  <a:sysClr val="windowText" lastClr="000000">
                    <a:lumMod val="65000"/>
                    <a:lumOff val="35000"/>
                  </a:sysClr>
                </a:solidFill>
                <a:latin typeface="+mn-lt"/>
                <a:ea typeface="+mn-ea"/>
                <a:cs typeface="+mn-cs"/>
              </a:rPr>
              <a:t>(con módulos valorables)</a:t>
            </a:r>
          </a:p>
        </c:rich>
      </c:tx>
      <c:layout>
        <c:manualLayout>
          <c:xMode val="edge"/>
          <c:yMode val="edge"/>
          <c:x val="0.29714650228213285"/>
          <c:y val="2.833737811643790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ES"/>
        </a:p>
      </c:txPr>
    </c:title>
    <c:autoTitleDeleted val="0"/>
    <c:plotArea>
      <c:layout/>
      <c:barChart>
        <c:barDir val="bar"/>
        <c:grouping val="percentStacked"/>
        <c:varyColors val="0"/>
        <c:ser>
          <c:idx val="0"/>
          <c:order val="0"/>
          <c:tx>
            <c:strRef>
              <c:f>Workday!$B$1</c:f>
              <c:strCache>
                <c:ptCount val="1"/>
                <c:pt idx="0">
                  <c:v>COBERTURA</c:v>
                </c:pt>
              </c:strCache>
            </c:strRef>
          </c:tx>
          <c:spPr>
            <a:solidFill>
              <a:srgbClr val="326C1E"/>
            </a:solidFill>
            <a:ln w="63500" cap="rnd">
              <a:solidFill>
                <a:srgbClr val="326C1E"/>
              </a:solidFill>
            </a:ln>
            <a:effectLst/>
            <a:scene3d>
              <a:camera prst="orthographicFront"/>
              <a:lightRig rig="threePt" dir="t">
                <a:rot lat="0" lon="0" rev="0"/>
              </a:lightRig>
            </a:scene3d>
            <a:sp3d>
              <a:bevelT w="0"/>
            </a:sp3d>
          </c:spPr>
          <c:invertIfNegative val="0"/>
          <c:dLbls>
            <c:dLbl>
              <c:idx val="1"/>
              <c:layout>
                <c:manualLayout>
                  <c:x val="0.20373467083770547"/>
                  <c:y val="1.1951886827954988E-16"/>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326C1E"/>
                      </a:solidFill>
                      <a:latin typeface="+mn-lt"/>
                      <a:ea typeface="+mn-ea"/>
                      <a:cs typeface="+mn-cs"/>
                    </a:defRPr>
                  </a:pPr>
                  <a:endParaRPr lang="es-E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F87-44F0-9EF9-B0DC33CB087C}"/>
                </c:ext>
              </c:extLst>
            </c:dLbl>
            <c:dLbl>
              <c:idx val="2"/>
              <c:layout>
                <c:manualLayout>
                  <c:x val="0.18073413971807722"/>
                  <c:y val="-1.1951886827954988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F87-44F0-9EF9-B0DC33CB087C}"/>
                </c:ext>
              </c:extLst>
            </c:dLbl>
            <c:dLbl>
              <c:idx val="3"/>
              <c:layout>
                <c:manualLayout>
                  <c:x val="0.1807352522233541"/>
                  <c:y val="-1.1880511644551547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F87-44F0-9EF9-B0DC33CB087C}"/>
                </c:ext>
              </c:extLst>
            </c:dLbl>
            <c:dLbl>
              <c:idx val="7"/>
              <c:layout>
                <c:manualLayout>
                  <c:x val="7.3936041198747859E-2"/>
                  <c:y val="-5.975943413977494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F87-44F0-9EF9-B0DC33CB087C}"/>
                </c:ext>
              </c:extLst>
            </c:dLbl>
            <c:dLbl>
              <c:idx val="8"/>
              <c:layout>
                <c:manualLayout>
                  <c:x val="0.1429451540311982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F87-44F0-9EF9-B0DC33CB087C}"/>
                </c:ext>
              </c:extLst>
            </c:dLbl>
            <c:dLbl>
              <c:idx val="9"/>
              <c:layout>
                <c:manualLayout>
                  <c:x val="0.1823782999708391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F87-44F0-9EF9-B0DC33CB087C}"/>
                </c:ext>
              </c:extLst>
            </c:dLbl>
            <c:dLbl>
              <c:idx val="12"/>
              <c:layout>
                <c:manualLayout>
                  <c:x val="0.30724992877970198"/>
                  <c:y val="-1.4850639555689434E-17"/>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326C1E"/>
                      </a:solidFill>
                      <a:latin typeface="+mn-lt"/>
                      <a:ea typeface="+mn-ea"/>
                      <a:cs typeface="+mn-cs"/>
                    </a:defRPr>
                  </a:pPr>
                  <a:endParaRPr lang="es-E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F87-44F0-9EF9-B0DC33CB087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s-E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Workday!$A$2:$A$14</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Workday!$B$2:$B$14</c:f>
              <c:numCache>
                <c:formatCode>0%</c:formatCode>
                <c:ptCount val="13"/>
                <c:pt idx="0">
                  <c:v>1</c:v>
                </c:pt>
                <c:pt idx="1">
                  <c:v>0.46</c:v>
                </c:pt>
                <c:pt idx="2">
                  <c:v>0.52</c:v>
                </c:pt>
                <c:pt idx="3">
                  <c:v>0.52</c:v>
                </c:pt>
                <c:pt idx="4">
                  <c:v>1</c:v>
                </c:pt>
                <c:pt idx="5">
                  <c:v>1</c:v>
                </c:pt>
                <c:pt idx="6">
                  <c:v>1</c:v>
                </c:pt>
                <c:pt idx="7">
                  <c:v>0.8</c:v>
                </c:pt>
                <c:pt idx="8">
                  <c:v>0.62</c:v>
                </c:pt>
                <c:pt idx="9">
                  <c:v>0.52</c:v>
                </c:pt>
                <c:pt idx="10">
                  <c:v>1</c:v>
                </c:pt>
                <c:pt idx="11">
                  <c:v>1</c:v>
                </c:pt>
                <c:pt idx="12">
                  <c:v>0.2</c:v>
                </c:pt>
              </c:numCache>
            </c:numRef>
          </c:val>
          <c:extLst>
            <c:ext xmlns:c16="http://schemas.microsoft.com/office/drawing/2014/chart" uri="{C3380CC4-5D6E-409C-BE32-E72D297353CC}">
              <c16:uniqueId val="{00000007-DF87-44F0-9EF9-B0DC33CB087C}"/>
            </c:ext>
          </c:extLst>
        </c:ser>
        <c:ser>
          <c:idx val="1"/>
          <c:order val="1"/>
          <c:tx>
            <c:strRef>
              <c:f>Workday!$C$1</c:f>
              <c:strCache>
                <c:ptCount val="1"/>
                <c:pt idx="0">
                  <c:v>REM</c:v>
                </c:pt>
              </c:strCache>
            </c:strRef>
          </c:tx>
          <c:spPr>
            <a:solidFill>
              <a:schemeClr val="accent6">
                <a:lumMod val="40000"/>
                <a:lumOff val="60000"/>
              </a:schemeClr>
            </a:solidFill>
            <a:ln w="63500">
              <a:solidFill>
                <a:schemeClr val="accent6">
                  <a:lumMod val="40000"/>
                  <a:lumOff val="60000"/>
                </a:schemeClr>
              </a:solidFill>
              <a:miter lim="800000"/>
            </a:ln>
            <a:effectLst/>
          </c:spPr>
          <c:invertIfNegative val="0"/>
          <c:dLbls>
            <c:delete val="1"/>
          </c:dLbls>
          <c:cat>
            <c:strRef>
              <c:f>Workday!$A$2:$A$14</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Workday!$C$2:$C$14</c:f>
              <c:numCache>
                <c:formatCode>0%</c:formatCode>
                <c:ptCount val="13"/>
                <c:pt idx="0" formatCode="General">
                  <c:v>0</c:v>
                </c:pt>
                <c:pt idx="1">
                  <c:v>0.54</c:v>
                </c:pt>
                <c:pt idx="2">
                  <c:v>0.48</c:v>
                </c:pt>
                <c:pt idx="3">
                  <c:v>0.48</c:v>
                </c:pt>
                <c:pt idx="4" formatCode="General">
                  <c:v>0</c:v>
                </c:pt>
                <c:pt idx="5" formatCode="General">
                  <c:v>0</c:v>
                </c:pt>
                <c:pt idx="6" formatCode="General">
                  <c:v>0</c:v>
                </c:pt>
                <c:pt idx="7">
                  <c:v>0.2</c:v>
                </c:pt>
                <c:pt idx="8">
                  <c:v>0.38</c:v>
                </c:pt>
                <c:pt idx="9">
                  <c:v>0.48</c:v>
                </c:pt>
                <c:pt idx="10" formatCode="General">
                  <c:v>0</c:v>
                </c:pt>
                <c:pt idx="11" formatCode="General">
                  <c:v>0</c:v>
                </c:pt>
                <c:pt idx="12">
                  <c:v>0.8</c:v>
                </c:pt>
              </c:numCache>
            </c:numRef>
          </c:val>
          <c:extLst>
            <c:ext xmlns:c16="http://schemas.microsoft.com/office/drawing/2014/chart" uri="{C3380CC4-5D6E-409C-BE32-E72D297353CC}">
              <c16:uniqueId val="{00000008-DF87-44F0-9EF9-B0DC33CB087C}"/>
            </c:ext>
          </c:extLst>
        </c:ser>
        <c:dLbls>
          <c:dLblPos val="ctr"/>
          <c:showLegendKey val="0"/>
          <c:showVal val="1"/>
          <c:showCatName val="0"/>
          <c:showSerName val="0"/>
          <c:showPercent val="0"/>
          <c:showBubbleSize val="0"/>
        </c:dLbls>
        <c:gapWidth val="150"/>
        <c:overlap val="100"/>
        <c:axId val="1624549824"/>
        <c:axId val="1624547424"/>
      </c:barChart>
      <c:catAx>
        <c:axId val="16245498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1624547424"/>
        <c:crosses val="autoZero"/>
        <c:auto val="1"/>
        <c:lblAlgn val="ctr"/>
        <c:lblOffset val="100"/>
        <c:noMultiLvlLbl val="0"/>
      </c:catAx>
      <c:valAx>
        <c:axId val="1624547424"/>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62454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s-ES" sz="1400" b="0" i="0" u="none" strike="noStrike" kern="1200" spc="0" baseline="0">
                <a:solidFill>
                  <a:sysClr val="windowText" lastClr="000000">
                    <a:lumMod val="65000"/>
                    <a:lumOff val="35000"/>
                  </a:sysClr>
                </a:solidFill>
              </a:rPr>
              <a:t>Cobertura SAP (con módulos imprescindibles)</a:t>
            </a:r>
          </a:p>
        </c:rich>
      </c:tx>
      <c:layout>
        <c:manualLayout>
          <c:xMode val="edge"/>
          <c:yMode val="edge"/>
          <c:x val="0.22507128013303671"/>
          <c:y val="2.2790997737811899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s-ES"/>
        </a:p>
      </c:txPr>
    </c:title>
    <c:autoTitleDeleted val="0"/>
    <c:plotArea>
      <c:layout>
        <c:manualLayout>
          <c:layoutTarget val="inner"/>
          <c:xMode val="edge"/>
          <c:yMode val="edge"/>
          <c:x val="0.22229608030906892"/>
          <c:y val="0.11998377947007673"/>
          <c:w val="0.76455953771105079"/>
          <c:h val="0.8444319235719604"/>
        </c:manualLayout>
      </c:layout>
      <c:barChart>
        <c:barDir val="bar"/>
        <c:grouping val="percentStacked"/>
        <c:varyColors val="0"/>
        <c:ser>
          <c:idx val="0"/>
          <c:order val="0"/>
          <c:tx>
            <c:strRef>
              <c:f>SAP!$B$28</c:f>
              <c:strCache>
                <c:ptCount val="1"/>
                <c:pt idx="0">
                  <c:v>COBERTURA</c:v>
                </c:pt>
              </c:strCache>
            </c:strRef>
          </c:tx>
          <c:spPr>
            <a:solidFill>
              <a:srgbClr val="326C1E"/>
            </a:solidFill>
            <a:ln w="63500">
              <a:solidFill>
                <a:srgbClr val="326C1E"/>
              </a:solidFill>
            </a:ln>
            <a:effectLst/>
          </c:spPr>
          <c:invertIfNegative val="0"/>
          <c:dLbls>
            <c:dLbl>
              <c:idx val="1"/>
              <c:layout>
                <c:manualLayout>
                  <c:x val="6.2435814404431293E-2"/>
                  <c:y val="-1.1761419269663984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A68-4FC3-94E6-62784908398C}"/>
                </c:ext>
              </c:extLst>
            </c:dLbl>
            <c:dLbl>
              <c:idx val="2"/>
              <c:layout>
                <c:manualLayout>
                  <c:x val="5.4220575667006228E-2"/>
                  <c:y val="-1.1761419269663984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A68-4FC3-94E6-62784908398C}"/>
                </c:ext>
              </c:extLst>
            </c:dLbl>
            <c:dLbl>
              <c:idx val="3"/>
              <c:layout>
                <c:manualLayout>
                  <c:x val="5.4220575667006228E-2"/>
                  <c:y val="-1.1761419269663984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A68-4FC3-94E6-62784908398C}"/>
                </c:ext>
              </c:extLst>
            </c:dLbl>
            <c:dLbl>
              <c:idx val="5"/>
              <c:layout>
                <c:manualLayout>
                  <c:x val="9.5296769354132047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A68-4FC3-94E6-62784908398C}"/>
                </c:ext>
              </c:extLst>
            </c:dLbl>
            <c:dLbl>
              <c:idx val="7"/>
              <c:layout>
                <c:manualLayout>
                  <c:x val="0.38118707741652863"/>
                  <c:y val="-5.8807096348319919E-17"/>
                </c:manualLayout>
              </c:layout>
              <c:tx>
                <c:rich>
                  <a:bodyPr/>
                  <a:lstStyle/>
                  <a:p>
                    <a:fld id="{986E0648-122B-421A-9850-F97898C01674}" type="VALUE">
                      <a:rPr lang="en-US">
                        <a:solidFill>
                          <a:srgbClr val="326C1E"/>
                        </a:solidFill>
                      </a:rPr>
                      <a:pPr/>
                      <a:t>[VALOR]</a:t>
                    </a:fld>
                    <a:endParaRPr lang="es-E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FA68-4FC3-94E6-62784908398C}"/>
                </c:ext>
              </c:extLst>
            </c:dLbl>
            <c:dLbl>
              <c:idx val="9"/>
              <c:layout>
                <c:manualLayout>
                  <c:x val="5.2577527919521194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A68-4FC3-94E6-62784908398C}"/>
                </c:ext>
              </c:extLst>
            </c:dLbl>
            <c:dLbl>
              <c:idx val="11"/>
              <c:layout>
                <c:manualLayout>
                  <c:x val="7.5580196384311599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A68-4FC3-94E6-62784908398C}"/>
                </c:ext>
              </c:extLst>
            </c:dLbl>
            <c:dLbl>
              <c:idx val="12"/>
              <c:layout>
                <c:manualLayout>
                  <c:x val="0.18730744321329426"/>
                  <c:y val="-1.470177408707998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A68-4FC3-94E6-62784908398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s-E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SAP!$A$29:$A$41</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SAP!$B$29:$B$41</c:f>
              <c:numCache>
                <c:formatCode>0%</c:formatCode>
                <c:ptCount val="13"/>
                <c:pt idx="0">
                  <c:v>1</c:v>
                </c:pt>
                <c:pt idx="1">
                  <c:v>0.84</c:v>
                </c:pt>
                <c:pt idx="2">
                  <c:v>0.86</c:v>
                </c:pt>
                <c:pt idx="3">
                  <c:v>0.86</c:v>
                </c:pt>
                <c:pt idx="4">
                  <c:v>1</c:v>
                </c:pt>
                <c:pt idx="5">
                  <c:v>0.75</c:v>
                </c:pt>
                <c:pt idx="6">
                  <c:v>1</c:v>
                </c:pt>
                <c:pt idx="7">
                  <c:v>0</c:v>
                </c:pt>
                <c:pt idx="8">
                  <c:v>1</c:v>
                </c:pt>
                <c:pt idx="9">
                  <c:v>0.86</c:v>
                </c:pt>
                <c:pt idx="10">
                  <c:v>1</c:v>
                </c:pt>
                <c:pt idx="11">
                  <c:v>0.8</c:v>
                </c:pt>
                <c:pt idx="12">
                  <c:v>0.5</c:v>
                </c:pt>
              </c:numCache>
            </c:numRef>
          </c:val>
          <c:extLst>
            <c:ext xmlns:c16="http://schemas.microsoft.com/office/drawing/2014/chart" uri="{C3380CC4-5D6E-409C-BE32-E72D297353CC}">
              <c16:uniqueId val="{00000008-FA68-4FC3-94E6-62784908398C}"/>
            </c:ext>
          </c:extLst>
        </c:ser>
        <c:ser>
          <c:idx val="1"/>
          <c:order val="1"/>
          <c:tx>
            <c:strRef>
              <c:f>SAP!$C$28</c:f>
              <c:strCache>
                <c:ptCount val="1"/>
                <c:pt idx="0">
                  <c:v>REM</c:v>
                </c:pt>
              </c:strCache>
            </c:strRef>
          </c:tx>
          <c:spPr>
            <a:solidFill>
              <a:schemeClr val="accent6">
                <a:lumMod val="40000"/>
                <a:lumOff val="60000"/>
              </a:schemeClr>
            </a:solidFill>
            <a:ln w="63500">
              <a:solidFill>
                <a:schemeClr val="accent6">
                  <a:lumMod val="40000"/>
                  <a:lumOff val="60000"/>
                </a:schemeClr>
              </a:solidFill>
              <a:miter lim="800000"/>
            </a:ln>
            <a:effectLst/>
          </c:spPr>
          <c:invertIfNegative val="0"/>
          <c:dLbls>
            <c:delete val="1"/>
          </c:dLbls>
          <c:cat>
            <c:strRef>
              <c:f>SAP!$A$29:$A$41</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SAP!$C$29:$C$41</c:f>
              <c:numCache>
                <c:formatCode>0%</c:formatCode>
                <c:ptCount val="13"/>
                <c:pt idx="0" formatCode="General">
                  <c:v>0</c:v>
                </c:pt>
                <c:pt idx="1">
                  <c:v>0.16</c:v>
                </c:pt>
                <c:pt idx="2">
                  <c:v>0.14000000000000001</c:v>
                </c:pt>
                <c:pt idx="3">
                  <c:v>0.14000000000000001</c:v>
                </c:pt>
                <c:pt idx="4" formatCode="General">
                  <c:v>0</c:v>
                </c:pt>
                <c:pt idx="5">
                  <c:v>0.25</c:v>
                </c:pt>
                <c:pt idx="6" formatCode="General">
                  <c:v>0</c:v>
                </c:pt>
                <c:pt idx="7">
                  <c:v>1</c:v>
                </c:pt>
                <c:pt idx="8">
                  <c:v>0</c:v>
                </c:pt>
                <c:pt idx="9">
                  <c:v>0.14000000000000001</c:v>
                </c:pt>
                <c:pt idx="10">
                  <c:v>0</c:v>
                </c:pt>
                <c:pt idx="11">
                  <c:v>0.2</c:v>
                </c:pt>
                <c:pt idx="12">
                  <c:v>0.5</c:v>
                </c:pt>
              </c:numCache>
            </c:numRef>
          </c:val>
          <c:extLst>
            <c:ext xmlns:c16="http://schemas.microsoft.com/office/drawing/2014/chart" uri="{C3380CC4-5D6E-409C-BE32-E72D297353CC}">
              <c16:uniqueId val="{00000009-FA68-4FC3-94E6-62784908398C}"/>
            </c:ext>
          </c:extLst>
        </c:ser>
        <c:dLbls>
          <c:dLblPos val="ctr"/>
          <c:showLegendKey val="0"/>
          <c:showVal val="1"/>
          <c:showCatName val="0"/>
          <c:showSerName val="0"/>
          <c:showPercent val="0"/>
          <c:showBubbleSize val="0"/>
        </c:dLbls>
        <c:gapWidth val="150"/>
        <c:overlap val="100"/>
        <c:axId val="1624549824"/>
        <c:axId val="1624547424"/>
      </c:barChart>
      <c:catAx>
        <c:axId val="16245498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1624547424"/>
        <c:crosses val="autoZero"/>
        <c:auto val="1"/>
        <c:lblAlgn val="ctr"/>
        <c:lblOffset val="100"/>
        <c:noMultiLvlLbl val="0"/>
      </c:catAx>
      <c:valAx>
        <c:axId val="1624547424"/>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62454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s-ES" sz="1400" b="0" i="0" u="none" strike="noStrike" kern="1200" spc="0" baseline="0">
                <a:solidFill>
                  <a:sysClr val="windowText" lastClr="000000">
                    <a:lumMod val="65000"/>
                    <a:lumOff val="35000"/>
                  </a:sysClr>
                </a:solidFill>
              </a:rPr>
              <a:t>Cobertura SAP (con módulos valorables)</a:t>
            </a:r>
          </a:p>
        </c:rich>
      </c:tx>
      <c:layout>
        <c:manualLayout>
          <c:xMode val="edge"/>
          <c:yMode val="edge"/>
          <c:x val="0.22316311842133699"/>
          <c:y val="3.1347896906209309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s-ES"/>
        </a:p>
      </c:txPr>
    </c:title>
    <c:autoTitleDeleted val="0"/>
    <c:plotArea>
      <c:layout>
        <c:manualLayout>
          <c:layoutTarget val="inner"/>
          <c:xMode val="edge"/>
          <c:yMode val="edge"/>
          <c:x val="0.22229608030906892"/>
          <c:y val="0.11998377947007673"/>
          <c:w val="0.76455953771105079"/>
          <c:h val="0.8444319235719604"/>
        </c:manualLayout>
      </c:layout>
      <c:barChart>
        <c:barDir val="bar"/>
        <c:grouping val="percentStacked"/>
        <c:varyColors val="0"/>
        <c:ser>
          <c:idx val="0"/>
          <c:order val="0"/>
          <c:tx>
            <c:strRef>
              <c:f>SAP!$B$1</c:f>
              <c:strCache>
                <c:ptCount val="1"/>
                <c:pt idx="0">
                  <c:v>COBERTURA</c:v>
                </c:pt>
              </c:strCache>
            </c:strRef>
          </c:tx>
          <c:spPr>
            <a:solidFill>
              <a:srgbClr val="326C1E"/>
            </a:solidFill>
            <a:ln w="63500">
              <a:solidFill>
                <a:srgbClr val="326C1E"/>
              </a:solidFill>
            </a:ln>
            <a:effectLst/>
          </c:spPr>
          <c:invertIfNegative val="0"/>
          <c:dLbls>
            <c:dLbl>
              <c:idx val="1"/>
              <c:layout>
                <c:manualLayout>
                  <c:x val="0.11675230487720874"/>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446-4CB2-8FB9-752C5584EC13}"/>
                </c:ext>
              </c:extLst>
            </c:dLbl>
            <c:dLbl>
              <c:idx val="2"/>
              <c:layout>
                <c:manualLayout>
                  <c:x val="0.11675230487720874"/>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446-4CB2-8FB9-752C5584EC13}"/>
                </c:ext>
              </c:extLst>
            </c:dLbl>
            <c:dLbl>
              <c:idx val="3"/>
              <c:layout>
                <c:manualLayout>
                  <c:x val="0.15457347406278327"/>
                  <c:y val="-1.1747290098628913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446-4CB2-8FB9-752C5584EC13}"/>
                </c:ext>
              </c:extLst>
            </c:dLbl>
            <c:dLbl>
              <c:idx val="5"/>
              <c:layout>
                <c:manualLayout>
                  <c:x val="0.13155189281939011"/>
                  <c:y val="-1.1747290098628913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446-4CB2-8FB9-752C5584EC13}"/>
                </c:ext>
              </c:extLst>
            </c:dLbl>
            <c:dLbl>
              <c:idx val="7"/>
              <c:layout>
                <c:manualLayout>
                  <c:x val="0.3831448878364736"/>
                  <c:y val="-5.8736450493144567E-17"/>
                </c:manualLayout>
              </c:layout>
              <c:tx>
                <c:rich>
                  <a:bodyPr/>
                  <a:lstStyle/>
                  <a:p>
                    <a:fld id="{C9C7BF5E-421B-4A1B-A4E6-3CC6F5ED87C5}" type="VALUE">
                      <a:rPr lang="en-US">
                        <a:solidFill>
                          <a:srgbClr val="326C1E"/>
                        </a:solidFill>
                      </a:rPr>
                      <a:pPr/>
                      <a:t>[VALOR]</a:t>
                    </a:fld>
                    <a:endParaRPr lang="es-E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2446-4CB2-8FB9-752C5584EC13}"/>
                </c:ext>
              </c:extLst>
            </c:dLbl>
            <c:dLbl>
              <c:idx val="8"/>
              <c:layout>
                <c:manualLayout>
                  <c:x val="0.2877697655424159"/>
                  <c:y val="0"/>
                </c:manualLayout>
              </c:layout>
              <c:tx>
                <c:rich>
                  <a:bodyPr/>
                  <a:lstStyle/>
                  <a:p>
                    <a:fld id="{BF49B26A-2F68-4C48-8543-9BC7BAB2D976}" type="VALUE">
                      <a:rPr lang="en-US">
                        <a:solidFill>
                          <a:srgbClr val="326C1E"/>
                        </a:solidFill>
                      </a:rPr>
                      <a:pPr/>
                      <a:t>[VALOR]</a:t>
                    </a:fld>
                    <a:endParaRPr lang="es-E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2446-4CB2-8FB9-752C5584EC13}"/>
                </c:ext>
              </c:extLst>
            </c:dLbl>
            <c:dLbl>
              <c:idx val="9"/>
              <c:layout>
                <c:manualLayout>
                  <c:x val="0.1529290754025410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446-4CB2-8FB9-752C5584EC13}"/>
                </c:ext>
              </c:extLst>
            </c:dLbl>
            <c:dLbl>
              <c:idx val="10"/>
              <c:layout>
                <c:manualLayout>
                  <c:x val="6.4131547749452691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446-4CB2-8FB9-752C5584EC13}"/>
                </c:ext>
              </c:extLst>
            </c:dLbl>
            <c:dLbl>
              <c:idx val="11"/>
              <c:layout>
                <c:manualLayout>
                  <c:x val="7.5642338371149198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446-4CB2-8FB9-752C5584EC13}"/>
                </c:ext>
              </c:extLst>
            </c:dLbl>
            <c:dLbl>
              <c:idx val="12"/>
              <c:layout>
                <c:manualLayout>
                  <c:x val="0.22692701511344784"/>
                  <c:y val="0"/>
                </c:manualLayout>
              </c:layout>
              <c:tx>
                <c:rich>
                  <a:bodyPr/>
                  <a:lstStyle/>
                  <a:p>
                    <a:fld id="{EBA0A135-35D2-461D-811E-205CECF8BA32}" type="VALUE">
                      <a:rPr lang="en-US">
                        <a:solidFill>
                          <a:srgbClr val="326C1E"/>
                        </a:solidFill>
                      </a:rPr>
                      <a:pPr/>
                      <a:t>[VALOR]</a:t>
                    </a:fld>
                    <a:endParaRPr lang="es-E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2446-4CB2-8FB9-752C5584EC13}"/>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s-E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SAP!$A$2:$A$14</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SAP!$B$2:$B$14</c:f>
              <c:numCache>
                <c:formatCode>0%</c:formatCode>
                <c:ptCount val="13"/>
                <c:pt idx="0">
                  <c:v>1</c:v>
                </c:pt>
                <c:pt idx="1">
                  <c:v>0.7</c:v>
                </c:pt>
                <c:pt idx="2">
                  <c:v>0.7</c:v>
                </c:pt>
                <c:pt idx="3">
                  <c:v>0.6</c:v>
                </c:pt>
                <c:pt idx="4">
                  <c:v>1</c:v>
                </c:pt>
                <c:pt idx="5">
                  <c:v>0.66</c:v>
                </c:pt>
                <c:pt idx="6">
                  <c:v>1</c:v>
                </c:pt>
                <c:pt idx="7">
                  <c:v>0</c:v>
                </c:pt>
                <c:pt idx="8">
                  <c:v>0.25</c:v>
                </c:pt>
                <c:pt idx="9">
                  <c:v>0.6</c:v>
                </c:pt>
                <c:pt idx="10">
                  <c:v>0.83</c:v>
                </c:pt>
                <c:pt idx="11">
                  <c:v>0.8</c:v>
                </c:pt>
                <c:pt idx="12">
                  <c:v>0.4</c:v>
                </c:pt>
              </c:numCache>
            </c:numRef>
          </c:val>
          <c:extLst>
            <c:ext xmlns:c16="http://schemas.microsoft.com/office/drawing/2014/chart" uri="{C3380CC4-5D6E-409C-BE32-E72D297353CC}">
              <c16:uniqueId val="{0000000A-2446-4CB2-8FB9-752C5584EC13}"/>
            </c:ext>
          </c:extLst>
        </c:ser>
        <c:ser>
          <c:idx val="1"/>
          <c:order val="1"/>
          <c:tx>
            <c:strRef>
              <c:f>SAP!$C$1</c:f>
              <c:strCache>
                <c:ptCount val="1"/>
                <c:pt idx="0">
                  <c:v>REM</c:v>
                </c:pt>
              </c:strCache>
            </c:strRef>
          </c:tx>
          <c:spPr>
            <a:solidFill>
              <a:schemeClr val="accent6">
                <a:lumMod val="40000"/>
                <a:lumOff val="60000"/>
              </a:schemeClr>
            </a:solidFill>
            <a:ln w="63500">
              <a:solidFill>
                <a:schemeClr val="accent6">
                  <a:lumMod val="40000"/>
                  <a:lumOff val="60000"/>
                </a:schemeClr>
              </a:solidFill>
              <a:miter lim="800000"/>
            </a:ln>
            <a:effectLst/>
          </c:spPr>
          <c:invertIfNegative val="0"/>
          <c:dLbls>
            <c:delete val="1"/>
          </c:dLbls>
          <c:cat>
            <c:strRef>
              <c:f>SAP!$A$2:$A$14</c:f>
              <c:strCache>
                <c:ptCount val="13"/>
                <c:pt idx="0">
                  <c:v>Normaticas RGPD</c:v>
                </c:pt>
                <c:pt idx="1">
                  <c:v>Compensacion</c:v>
                </c:pt>
                <c:pt idx="2">
                  <c:v>Beneficios</c:v>
                </c:pt>
                <c:pt idx="3">
                  <c:v>Gestión del tiempo</c:v>
                </c:pt>
                <c:pt idx="4">
                  <c:v>Gestión del talento y desempeño</c:v>
                </c:pt>
                <c:pt idx="5">
                  <c:v>Reclutamiento y selección</c:v>
                </c:pt>
                <c:pt idx="6">
                  <c:v>Formación y desarrollo</c:v>
                </c:pt>
                <c:pt idx="7">
                  <c:v>Laboral</c:v>
                </c:pt>
                <c:pt idx="8">
                  <c:v>Analitycs y planificacion</c:v>
                </c:pt>
                <c:pt idx="9">
                  <c:v>Gestión de personas</c:v>
                </c:pt>
                <c:pt idx="10">
                  <c:v>Voz del empleado</c:v>
                </c:pt>
                <c:pt idx="11">
                  <c:v>Organización</c:v>
                </c:pt>
                <c:pt idx="12">
                  <c:v>Salud y seguridad laboral</c:v>
                </c:pt>
              </c:strCache>
            </c:strRef>
          </c:cat>
          <c:val>
            <c:numRef>
              <c:f>SAP!$C$2:$C$14</c:f>
              <c:numCache>
                <c:formatCode>0%</c:formatCode>
                <c:ptCount val="13"/>
                <c:pt idx="0" formatCode="General">
                  <c:v>0</c:v>
                </c:pt>
                <c:pt idx="1">
                  <c:v>0.3</c:v>
                </c:pt>
                <c:pt idx="2">
                  <c:v>0.3</c:v>
                </c:pt>
                <c:pt idx="3">
                  <c:v>0.4</c:v>
                </c:pt>
                <c:pt idx="4" formatCode="General">
                  <c:v>0</c:v>
                </c:pt>
                <c:pt idx="5">
                  <c:v>0.34</c:v>
                </c:pt>
                <c:pt idx="6" formatCode="General">
                  <c:v>0</c:v>
                </c:pt>
                <c:pt idx="7">
                  <c:v>1</c:v>
                </c:pt>
                <c:pt idx="8">
                  <c:v>0.75</c:v>
                </c:pt>
                <c:pt idx="9">
                  <c:v>0.4</c:v>
                </c:pt>
                <c:pt idx="10">
                  <c:v>0.17</c:v>
                </c:pt>
                <c:pt idx="11">
                  <c:v>0.2</c:v>
                </c:pt>
                <c:pt idx="12">
                  <c:v>0.6</c:v>
                </c:pt>
              </c:numCache>
            </c:numRef>
          </c:val>
          <c:extLst>
            <c:ext xmlns:c16="http://schemas.microsoft.com/office/drawing/2014/chart" uri="{C3380CC4-5D6E-409C-BE32-E72D297353CC}">
              <c16:uniqueId val="{0000000B-2446-4CB2-8FB9-752C5584EC13}"/>
            </c:ext>
          </c:extLst>
        </c:ser>
        <c:dLbls>
          <c:dLblPos val="ctr"/>
          <c:showLegendKey val="0"/>
          <c:showVal val="1"/>
          <c:showCatName val="0"/>
          <c:showSerName val="0"/>
          <c:showPercent val="0"/>
          <c:showBubbleSize val="0"/>
        </c:dLbls>
        <c:gapWidth val="150"/>
        <c:overlap val="100"/>
        <c:axId val="1624549824"/>
        <c:axId val="1624547424"/>
      </c:barChart>
      <c:catAx>
        <c:axId val="16245498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1624547424"/>
        <c:crosses val="autoZero"/>
        <c:auto val="1"/>
        <c:lblAlgn val="ctr"/>
        <c:lblOffset val="100"/>
        <c:noMultiLvlLbl val="0"/>
      </c:catAx>
      <c:valAx>
        <c:axId val="1624547424"/>
        <c:scaling>
          <c:orientation val="minMax"/>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624549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180787662755906"/>
          <c:y val="5.1167662916080638E-2"/>
          <c:w val="0.53638402788766237"/>
          <c:h val="0.89766467416783868"/>
        </c:manualLayout>
      </c:layout>
      <c:doughnutChart>
        <c:varyColors val="1"/>
        <c:ser>
          <c:idx val="0"/>
          <c:order val="0"/>
          <c:spPr>
            <a:solidFill>
              <a:srgbClr val="C00000"/>
            </a:solidFill>
          </c:spPr>
          <c:dPt>
            <c:idx val="0"/>
            <c:bubble3D val="0"/>
            <c:spPr>
              <a:solidFill>
                <a:srgbClr val="C00000"/>
              </a:solidFill>
              <a:ln w="19050">
                <a:solidFill>
                  <a:schemeClr val="lt1"/>
                </a:solidFill>
              </a:ln>
              <a:effectLst/>
            </c:spPr>
            <c:extLst>
              <c:ext xmlns:c16="http://schemas.microsoft.com/office/drawing/2014/chart" uri="{C3380CC4-5D6E-409C-BE32-E72D297353CC}">
                <c16:uniqueId val="{00000001-A236-49E7-A851-7ADAA4031D91}"/>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A236-49E7-A851-7ADAA4031D91}"/>
              </c:ext>
            </c:extLst>
          </c:dPt>
          <c:val>
            <c:numRef>
              <c:f>Oracle!$B$17:$C$17</c:f>
              <c:numCache>
                <c:formatCode>General</c:formatCode>
                <c:ptCount val="2"/>
                <c:pt idx="0">
                  <c:v>98.461538461538467</c:v>
                </c:pt>
                <c:pt idx="1">
                  <c:v>1.538461538461533</c:v>
                </c:pt>
              </c:numCache>
            </c:numRef>
          </c:val>
          <c:extLst>
            <c:ext xmlns:c16="http://schemas.microsoft.com/office/drawing/2014/chart" uri="{C3380CC4-5D6E-409C-BE32-E72D297353CC}">
              <c16:uniqueId val="{00000004-A236-49E7-A851-7ADAA4031D9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180787662755906"/>
          <c:y val="5.1167662916080638E-2"/>
          <c:w val="0.53638402788766237"/>
          <c:h val="0.89766467416783868"/>
        </c:manualLayout>
      </c:layout>
      <c:doughnutChart>
        <c:varyColors val="1"/>
        <c:ser>
          <c:idx val="0"/>
          <c:order val="0"/>
          <c:spPr>
            <a:solidFill>
              <a:srgbClr val="C00000"/>
            </a:solidFill>
          </c:spPr>
          <c:dPt>
            <c:idx val="0"/>
            <c:bubble3D val="0"/>
            <c:spPr>
              <a:solidFill>
                <a:srgbClr val="C00000"/>
              </a:solidFill>
              <a:ln w="19050">
                <a:solidFill>
                  <a:schemeClr val="lt1"/>
                </a:solidFill>
              </a:ln>
              <a:effectLst/>
            </c:spPr>
            <c:extLst>
              <c:ext xmlns:c16="http://schemas.microsoft.com/office/drawing/2014/chart" uri="{C3380CC4-5D6E-409C-BE32-E72D297353CC}">
                <c16:uniqueId val="{00000001-CEE5-451E-B1B0-83889956A311}"/>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CEE5-451E-B1B0-83889956A311}"/>
              </c:ext>
            </c:extLst>
          </c:dPt>
          <c:val>
            <c:numRef>
              <c:f>Workday!$B$17:$C$17</c:f>
              <c:numCache>
                <c:formatCode>General</c:formatCode>
                <c:ptCount val="2"/>
                <c:pt idx="0">
                  <c:v>74.153846153846146</c:v>
                </c:pt>
                <c:pt idx="1">
                  <c:v>25.846153846153854</c:v>
                </c:pt>
              </c:numCache>
            </c:numRef>
          </c:val>
          <c:extLst>
            <c:ext xmlns:c16="http://schemas.microsoft.com/office/drawing/2014/chart" uri="{C3380CC4-5D6E-409C-BE32-E72D297353CC}">
              <c16:uniqueId val="{00000004-CEE5-451E-B1B0-83889956A31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180787662755906"/>
          <c:y val="5.1167662916080638E-2"/>
          <c:w val="0.53638402788766237"/>
          <c:h val="0.89766467416783868"/>
        </c:manualLayout>
      </c:layout>
      <c:doughnutChart>
        <c:varyColors val="1"/>
        <c:ser>
          <c:idx val="0"/>
          <c:order val="0"/>
          <c:spPr>
            <a:solidFill>
              <a:srgbClr val="C00000"/>
            </a:solidFill>
          </c:spPr>
          <c:dPt>
            <c:idx val="0"/>
            <c:bubble3D val="0"/>
            <c:spPr>
              <a:solidFill>
                <a:srgbClr val="C00000"/>
              </a:solidFill>
              <a:ln w="19050">
                <a:solidFill>
                  <a:schemeClr val="lt1"/>
                </a:solidFill>
              </a:ln>
              <a:effectLst/>
            </c:spPr>
            <c:extLst>
              <c:ext xmlns:c16="http://schemas.microsoft.com/office/drawing/2014/chart" uri="{C3380CC4-5D6E-409C-BE32-E72D297353CC}">
                <c16:uniqueId val="{00000001-E210-48A3-99A8-E63DB04D8557}"/>
              </c:ext>
            </c:extLst>
          </c:dPt>
          <c:dPt>
            <c:idx val="1"/>
            <c:bubble3D val="0"/>
            <c:spPr>
              <a:solidFill>
                <a:schemeClr val="bg1"/>
              </a:solidFill>
              <a:ln w="19050">
                <a:solidFill>
                  <a:schemeClr val="lt1"/>
                </a:solidFill>
              </a:ln>
              <a:effectLst/>
            </c:spPr>
            <c:extLst>
              <c:ext xmlns:c16="http://schemas.microsoft.com/office/drawing/2014/chart" uri="{C3380CC4-5D6E-409C-BE32-E72D297353CC}">
                <c16:uniqueId val="{00000003-E210-48A3-99A8-E63DB04D8557}"/>
              </c:ext>
            </c:extLst>
          </c:dPt>
          <c:val>
            <c:numRef>
              <c:f>SAP!$B$17:$C$17</c:f>
              <c:numCache>
                <c:formatCode>General</c:formatCode>
                <c:ptCount val="2"/>
                <c:pt idx="0">
                  <c:v>65.692307692307693</c:v>
                </c:pt>
                <c:pt idx="1">
                  <c:v>34.307692307692307</c:v>
                </c:pt>
              </c:numCache>
            </c:numRef>
          </c:val>
          <c:extLst>
            <c:ext xmlns:c16="http://schemas.microsoft.com/office/drawing/2014/chart" uri="{C3380CC4-5D6E-409C-BE32-E72D297353CC}">
              <c16:uniqueId val="{00000004-E210-48A3-99A8-E63DB04D8557}"/>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0.28413</cdr:x>
      <cdr:y>0.37307</cdr:y>
    </cdr:from>
    <cdr:to>
      <cdr:x>0.74204</cdr:x>
      <cdr:y>0.63473</cdr:y>
    </cdr:to>
    <cdr:sp macro="" textlink="">
      <cdr:nvSpPr>
        <cdr:cNvPr id="2" name="CuadroTexto 1">
          <a:extLst xmlns:a="http://schemas.openxmlformats.org/drawingml/2006/main">
            <a:ext uri="{FF2B5EF4-FFF2-40B4-BE49-F238E27FC236}">
              <a16:creationId xmlns:a16="http://schemas.microsoft.com/office/drawing/2014/main" id="{56E76834-C6F7-B2B5-E9D2-9B856692116A}"/>
            </a:ext>
          </a:extLst>
        </cdr:cNvPr>
        <cdr:cNvSpPr txBox="1"/>
      </cdr:nvSpPr>
      <cdr:spPr>
        <a:xfrm xmlns:a="http://schemas.openxmlformats.org/drawingml/2006/main">
          <a:off x="1269058" y="1079373"/>
          <a:ext cx="2045259" cy="75704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s-ES" sz="1800" b="1" kern="1200" dirty="0"/>
            <a:t>98%</a:t>
          </a:r>
          <a:r>
            <a:rPr lang="es-ES" sz="1800" b="1" kern="1200" baseline="0" dirty="0"/>
            <a:t> </a:t>
          </a:r>
          <a:r>
            <a:rPr lang="es-ES" sz="1200" kern="1200" baseline="0" dirty="0"/>
            <a:t>cobertura</a:t>
          </a:r>
        </a:p>
      </cdr:txBody>
    </cdr:sp>
  </cdr:relSizeAnchor>
</c:userShapes>
</file>

<file path=ppt/drawings/drawing2.xml><?xml version="1.0" encoding="utf-8"?>
<c:userShapes xmlns:c="http://schemas.openxmlformats.org/drawingml/2006/chart">
  <cdr:relSizeAnchor xmlns:cdr="http://schemas.openxmlformats.org/drawingml/2006/chartDrawing">
    <cdr:from>
      <cdr:x>0.31184</cdr:x>
      <cdr:y>0.37307</cdr:y>
    </cdr:from>
    <cdr:to>
      <cdr:x>0.69117</cdr:x>
      <cdr:y>0.63473</cdr:y>
    </cdr:to>
    <cdr:sp macro="" textlink="">
      <cdr:nvSpPr>
        <cdr:cNvPr id="2" name="CuadroTexto 1">
          <a:extLst xmlns:a="http://schemas.openxmlformats.org/drawingml/2006/main">
            <a:ext uri="{FF2B5EF4-FFF2-40B4-BE49-F238E27FC236}">
              <a16:creationId xmlns:a16="http://schemas.microsoft.com/office/drawing/2014/main" id="{56E76834-C6F7-B2B5-E9D2-9B856692116A}"/>
            </a:ext>
          </a:extLst>
        </cdr:cNvPr>
        <cdr:cNvSpPr txBox="1"/>
      </cdr:nvSpPr>
      <cdr:spPr>
        <a:xfrm xmlns:a="http://schemas.openxmlformats.org/drawingml/2006/main">
          <a:off x="1424872" y="1018577"/>
          <a:ext cx="1733237" cy="7143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s-ES" sz="1800" b="1" kern="1200" dirty="0"/>
            <a:t>74%</a:t>
          </a:r>
          <a:r>
            <a:rPr lang="es-ES" sz="1800" b="1" kern="1200" baseline="0" dirty="0"/>
            <a:t> </a:t>
          </a:r>
          <a:r>
            <a:rPr lang="es-ES" sz="1200" kern="1200" baseline="0" dirty="0"/>
            <a:t>cobertura</a:t>
          </a:r>
        </a:p>
        <a:p xmlns:a="http://schemas.openxmlformats.org/drawingml/2006/main">
          <a:endParaRPr lang="es-ES" sz="1100" kern="1200"/>
        </a:p>
        <a:p xmlns:a="http://schemas.openxmlformats.org/drawingml/2006/main">
          <a:endParaRPr lang="es-ES" sz="1100" kern="1200" dirty="0"/>
        </a:p>
      </cdr:txBody>
    </cdr:sp>
  </cdr:relSizeAnchor>
</c:userShapes>
</file>

<file path=ppt/drawings/drawing3.xml><?xml version="1.0" encoding="utf-8"?>
<c:userShapes xmlns:c="http://schemas.openxmlformats.org/drawingml/2006/chart">
  <cdr:relSizeAnchor xmlns:cdr="http://schemas.openxmlformats.org/drawingml/2006/chartDrawing">
    <cdr:from>
      <cdr:x>0.29635</cdr:x>
      <cdr:y>0.36258</cdr:y>
    </cdr:from>
    <cdr:to>
      <cdr:x>0.7016</cdr:x>
      <cdr:y>0.62424</cdr:y>
    </cdr:to>
    <cdr:sp macro="" textlink="">
      <cdr:nvSpPr>
        <cdr:cNvPr id="2" name="CuadroTexto 1">
          <a:extLst xmlns:a="http://schemas.openxmlformats.org/drawingml/2006/main">
            <a:ext uri="{FF2B5EF4-FFF2-40B4-BE49-F238E27FC236}">
              <a16:creationId xmlns:a16="http://schemas.microsoft.com/office/drawing/2014/main" id="{56E76834-C6F7-B2B5-E9D2-9B856692116A}"/>
            </a:ext>
          </a:extLst>
        </cdr:cNvPr>
        <cdr:cNvSpPr txBox="1"/>
      </cdr:nvSpPr>
      <cdr:spPr>
        <a:xfrm xmlns:a="http://schemas.openxmlformats.org/drawingml/2006/main">
          <a:off x="1352550" y="987724"/>
          <a:ext cx="1849618" cy="71280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s-ES" sz="1800" b="1" kern="1200" dirty="0"/>
            <a:t>65%</a:t>
          </a:r>
          <a:r>
            <a:rPr lang="es-ES" sz="1800" b="1" kern="1200" baseline="0" dirty="0"/>
            <a:t> </a:t>
          </a:r>
          <a:r>
            <a:rPr lang="es-ES" sz="1200" kern="1200" baseline="0" dirty="0"/>
            <a:t>cobertura</a:t>
          </a:r>
        </a:p>
        <a:p xmlns:a="http://schemas.openxmlformats.org/drawingml/2006/main">
          <a:endParaRPr lang="es-ES" sz="1000" kern="12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A8DCAD9-31E3-FEBE-6113-0D25BFA00E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B4E1CF58-7EC9-C5F8-F63C-2E94C058E8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6C1A6C-59CF-497F-8268-D3BC6E4FD66D}" type="datetimeFigureOut">
              <a:rPr lang="es-ES" smtClean="0"/>
              <a:t>24/10/2025</a:t>
            </a:fld>
            <a:endParaRPr lang="es-ES"/>
          </a:p>
        </p:txBody>
      </p:sp>
      <p:sp>
        <p:nvSpPr>
          <p:cNvPr id="4" name="Marcador de pie de página 3">
            <a:extLst>
              <a:ext uri="{FF2B5EF4-FFF2-40B4-BE49-F238E27FC236}">
                <a16:creationId xmlns:a16="http://schemas.microsoft.com/office/drawing/2014/main" id="{6E8A24BD-4F3E-6B12-7F22-9671C9D7F7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FDC1547A-0723-71E0-5E13-BA034CFDD6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63D4D4-E693-434A-B1FF-946F77EA4B48}" type="slidenum">
              <a:rPr lang="es-ES" smtClean="0"/>
              <a:t>‹Nº›</a:t>
            </a:fld>
            <a:endParaRPr lang="es-ES"/>
          </a:p>
        </p:txBody>
      </p:sp>
    </p:spTree>
    <p:extLst>
      <p:ext uri="{BB962C8B-B14F-4D97-AF65-F5344CB8AC3E}">
        <p14:creationId xmlns:p14="http://schemas.microsoft.com/office/powerpoint/2010/main" val="33071869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502A59-BFBB-4080-8468-DCE09C670C29}" type="datetimeFigureOut">
              <a:rPr lang="es-ES" smtClean="0"/>
              <a:t>24/10/2025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22C57D-1BB5-4968-A69A-829B3965BAAA}" type="slidenum">
              <a:rPr lang="es-ES" smtClean="0"/>
              <a:t>‹Nº›</a:t>
            </a:fld>
            <a:endParaRPr lang="es-ES"/>
          </a:p>
        </p:txBody>
      </p:sp>
    </p:spTree>
    <p:extLst>
      <p:ext uri="{BB962C8B-B14F-4D97-AF65-F5344CB8AC3E}">
        <p14:creationId xmlns:p14="http://schemas.microsoft.com/office/powerpoint/2010/main" val="3395090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a:t>Generado por Copilot</a:t>
            </a:r>
            <a:br>
              <a:rPr lang="es-ES"/>
            </a:br>
            <a:br>
              <a:rPr lang="es-ES"/>
            </a:br>
            <a:r>
              <a:rPr lang="es-ES"/>
              <a:t>En esta diapositiva, se presentan las conclusiones del análisis de defensas RFI, destacando el Proyecto HCM. La imagen de la persona meditando sugiere un enfoque en la calma y la reflexión, lo que puede ser un buen punto de partida para discutir la importancia de la planificación estratégica en la gestión del capital humano. La elección de un fondo rojo puede simbolizar urgencia o importancia, lo que refuerza la necesidad de abordar las conclusiones de manera seria y enfocada. </a:t>
            </a:r>
            <a:br>
              <a:rPr lang="es-ES"/>
            </a:br>
            <a:r>
              <a:rPr lang="es-ES"/>
              <a:t>______</a:t>
            </a:r>
          </a:p>
          <a:p>
            <a:br>
              <a:rPr lang="es-ES"/>
            </a:br>
            <a:endParaRPr lang="es-ES"/>
          </a:p>
        </p:txBody>
      </p:sp>
      <p:sp>
        <p:nvSpPr>
          <p:cNvPr id="4" name="Marcador de número de diapositiva 3"/>
          <p:cNvSpPr>
            <a:spLocks noGrp="1"/>
          </p:cNvSpPr>
          <p:nvPr>
            <p:ph type="sldNum" sz="quarter" idx="5"/>
          </p:nvPr>
        </p:nvSpPr>
        <p:spPr/>
        <p:txBody>
          <a:bodyPr/>
          <a:lstStyle/>
          <a:p>
            <a:fld id="{5C22C57D-1BB5-4968-A69A-829B3965BAAA}" type="slidenum">
              <a:rPr lang="es-ES" smtClean="0"/>
              <a:t>1</a:t>
            </a:fld>
            <a:endParaRPr lang="es-ES"/>
          </a:p>
        </p:txBody>
      </p:sp>
    </p:spTree>
    <p:extLst>
      <p:ext uri="{BB962C8B-B14F-4D97-AF65-F5344CB8AC3E}">
        <p14:creationId xmlns:p14="http://schemas.microsoft.com/office/powerpoint/2010/main" val="40992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A69C7-F644-4415-88FF-05424A3BBE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1882DE-0309-C293-8755-483CDB89AE5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CE5A03-B5D5-21CB-33F5-3652D39300F3}"/>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Aquí se analizan las defensas por fabricante, centrándose en la propuesta de Oracle Cloud HCM. Es crucial resaltar que esta solución no solo ofrece una cobertura funcional completa, sino que también permite una transición gradual desde PeopleSoft, lo que minimiza riesgos. La mención de herramientas propias para la migración y la flexibilidad en el modelo de suscripción son aspectos que pueden ser decisivos para la audiencia, ya que reflejan un enfoque adaptado a las necesidades del cliente.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AD5E2851-8C3F-8974-7091-A6874DDB02F8}"/>
              </a:ext>
            </a:extLst>
          </p:cNvPr>
          <p:cNvSpPr>
            <a:spLocks noGrp="1"/>
          </p:cNvSpPr>
          <p:nvPr>
            <p:ph type="sldNum" sz="quarter" idx="5"/>
          </p:nvPr>
        </p:nvSpPr>
        <p:spPr/>
        <p:txBody>
          <a:bodyPr/>
          <a:lstStyle/>
          <a:p>
            <a:fld id="{5C22C57D-1BB5-4968-A69A-829B3965BAAA}" type="slidenum">
              <a:rPr lang="es-ES" smtClean="0"/>
              <a:t>2</a:t>
            </a:fld>
            <a:endParaRPr lang="es-ES"/>
          </a:p>
        </p:txBody>
      </p:sp>
    </p:spTree>
    <p:extLst>
      <p:ext uri="{BB962C8B-B14F-4D97-AF65-F5344CB8AC3E}">
        <p14:creationId xmlns:p14="http://schemas.microsoft.com/office/powerpoint/2010/main" val="1870832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Aquí se analizan las defensas por fabricante, centrándose en la propuesta de Oracle Cloud HCM. Es crucial resaltar que esta solución no solo ofrece una cobertura funcional completa, sino que también permite una transición gradual desde PeopleSoft, lo que minimiza riesgos. La mención de herramientas propias para la migración y la flexibilidad en el modelo de suscripción son aspectos que pueden ser decisivos para la audiencia, ya que reflejan un enfoque adaptado a las necesidades del cliente.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3</a:t>
            </a:fld>
            <a:endParaRPr lang="es-ES"/>
          </a:p>
        </p:txBody>
      </p:sp>
    </p:spTree>
    <p:extLst>
      <p:ext uri="{BB962C8B-B14F-4D97-AF65-F5344CB8AC3E}">
        <p14:creationId xmlns:p14="http://schemas.microsoft.com/office/powerpoint/2010/main" val="1260526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Aquí se analizan las defensas por fabricante, centrándose en la propuesta de Oracle Cloud HCM. Es crucial resaltar que esta solución no solo ofrece una cobertura funcional completa, sino que también permite una transición gradual desde PeopleSoft, lo que minimiza riesgos. La mención de herramientas propias para la migración y la flexibilidad en el modelo de suscripción son aspectos que pueden ser decisivos para la audiencia, ya que reflejan un enfoque adaptado a las necesidades del cliente.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4</a:t>
            </a:fld>
            <a:endParaRPr lang="es-ES"/>
          </a:p>
        </p:txBody>
      </p:sp>
    </p:spTree>
    <p:extLst>
      <p:ext uri="{BB962C8B-B14F-4D97-AF65-F5344CB8AC3E}">
        <p14:creationId xmlns:p14="http://schemas.microsoft.com/office/powerpoint/2010/main" val="1260526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a:t>Generado por Copilot</a:t>
            </a:r>
            <a:br>
              <a:rPr lang="es-ES"/>
            </a:br>
            <a:br>
              <a:rPr lang="es-ES"/>
            </a:br>
            <a:r>
              <a:rPr lang="es-ES"/>
              <a:t>Esta diapositiva se centra en la cobertura de funcionalidades de Oracle en el contexto del Proyecto HCM. Los gráficos de barras muestran una cobertura del 100% en módulos imprescindibles, lo que indica que Oracle está bien posicionado para satisfacer las necesidades del cliente. La comparación con el 98% en módulos valorables también es significativa, ya que sugiere que, aunque hay áreas de mejora, la mayoría de las funcionalidades críticas están cubiertas. Esto puede ser un punto fuerte en la discusión sobre la elección de proveedores. </a:t>
            </a:r>
            <a:br>
              <a:rPr lang="es-ES"/>
            </a:br>
            <a:r>
              <a:rPr lang="es-ES"/>
              <a:t>______</a:t>
            </a:r>
          </a:p>
          <a:p>
            <a:br>
              <a:rPr lang="es-ES"/>
            </a:br>
            <a:endParaRPr lang="es-ES"/>
          </a:p>
        </p:txBody>
      </p:sp>
      <p:sp>
        <p:nvSpPr>
          <p:cNvPr id="4" name="Marcador de número de diapositiva 3"/>
          <p:cNvSpPr>
            <a:spLocks noGrp="1"/>
          </p:cNvSpPr>
          <p:nvPr>
            <p:ph type="sldNum" sz="quarter" idx="5"/>
          </p:nvPr>
        </p:nvSpPr>
        <p:spPr/>
        <p:txBody>
          <a:bodyPr/>
          <a:lstStyle/>
          <a:p>
            <a:fld id="{5C22C57D-1BB5-4968-A69A-829B3965BAAA}" type="slidenum">
              <a:rPr lang="es-ES" smtClean="0"/>
              <a:t>5</a:t>
            </a:fld>
            <a:endParaRPr lang="es-ES"/>
          </a:p>
        </p:txBody>
      </p:sp>
    </p:spTree>
    <p:extLst>
      <p:ext uri="{BB962C8B-B14F-4D97-AF65-F5344CB8AC3E}">
        <p14:creationId xmlns:p14="http://schemas.microsoft.com/office/powerpoint/2010/main" val="1727681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5D2CA-7CAE-6A0A-98A2-9B6EB0653E6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D2F980-E704-E30F-9BA8-A87F59C0C9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14F543-285B-D09D-65A6-1CB920211191}"/>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Aquí se analizan las defensas por fabricante, centrándose en la propuesta de Oracle Cloud HCM. Es crucial resaltar que esta solución no solo ofrece una cobertura funcional completa, sino que también permite una transición gradual desde PeopleSoft, lo que minimiza riesgos. La mención de herramientas propias para la migración y la flexibilidad en el modelo de suscripción son aspectos que pueden ser decisivos para la audiencia, ya que reflejan un enfoque adaptado a las necesidades del cliente.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8574410D-2663-7D60-80BE-8110C58A92AF}"/>
              </a:ext>
            </a:extLst>
          </p:cNvPr>
          <p:cNvSpPr>
            <a:spLocks noGrp="1"/>
          </p:cNvSpPr>
          <p:nvPr>
            <p:ph type="sldNum" sz="quarter" idx="5"/>
          </p:nvPr>
        </p:nvSpPr>
        <p:spPr/>
        <p:txBody>
          <a:bodyPr/>
          <a:lstStyle/>
          <a:p>
            <a:fld id="{5C22C57D-1BB5-4968-A69A-829B3965BAAA}" type="slidenum">
              <a:rPr lang="es-ES" smtClean="0"/>
              <a:t>6</a:t>
            </a:fld>
            <a:endParaRPr lang="es-ES"/>
          </a:p>
        </p:txBody>
      </p:sp>
    </p:spTree>
    <p:extLst>
      <p:ext uri="{BB962C8B-B14F-4D97-AF65-F5344CB8AC3E}">
        <p14:creationId xmlns:p14="http://schemas.microsoft.com/office/powerpoint/2010/main" val="3009774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En esta diapositiva, se presenta la propuesta de Workday Cloud HCM. Es importante destacar que, aunque ofrece una cobertura funcional sólida, su dependencia de Workday </a:t>
            </a:r>
            <a:r>
              <a:rPr lang="es-ES" dirty="0" err="1"/>
              <a:t>Extend</a:t>
            </a:r>
            <a:r>
              <a:rPr lang="es-ES" dirty="0"/>
              <a:t> para ciertas funcionalidades puede ser un punto de preocupación. La experiencia de usuario moderna y la integración con el ecosistema SAP son ventajas, pero también es fundamental abordar los puntos débiles, como el costo elevado y la curva de aprendizaje, que podrían afectar la decisión final.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7</a:t>
            </a:fld>
            <a:endParaRPr lang="es-ES"/>
          </a:p>
        </p:txBody>
      </p:sp>
    </p:spTree>
    <p:extLst>
      <p:ext uri="{BB962C8B-B14F-4D97-AF65-F5344CB8AC3E}">
        <p14:creationId xmlns:p14="http://schemas.microsoft.com/office/powerpoint/2010/main" val="2298929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Aquí se analiza la cobertura de funcionalidades de Workday. La comparación entre los módulos imprescindibles y valorables muestra que, aunque Workday tiene una buena cobertura en áreas clave, hay ciertas funcionalidades que no alcanzan el 100%. Esto puede ser un punto de discusión importante, ya que la audiencia querrá entender cómo estas brechas podrían impactar en la implementación y el uso diario del sistema.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8</a:t>
            </a:fld>
            <a:endParaRPr lang="es-ES"/>
          </a:p>
        </p:txBody>
      </p:sp>
    </p:spTree>
    <p:extLst>
      <p:ext uri="{BB962C8B-B14F-4D97-AF65-F5344CB8AC3E}">
        <p14:creationId xmlns:p14="http://schemas.microsoft.com/office/powerpoint/2010/main" val="2908409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2FA13-0EB0-F9AA-3B67-09382DA208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35F732-387F-C28C-10C8-9D05F2E3D7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173B129-B1E7-BCD2-85C5-5AED13A57717}"/>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Aquí se analizan las defensas por fabricante, centrándose en la propuesta de Oracle Cloud HCM. Es crucial resaltar que esta solución no solo ofrece una cobertura funcional completa, sino que también permite una transición gradual desde PeopleSoft, lo que minimiza riesgos. La mención de herramientas propias para la migración y la flexibilidad en el modelo de suscripción son aspectos que pueden ser decisivos para la audiencia, ya que reflejan un enfoque adaptado a las necesidades del cliente.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0A7EAC91-4308-3DD4-5769-8973F2026398}"/>
              </a:ext>
            </a:extLst>
          </p:cNvPr>
          <p:cNvSpPr>
            <a:spLocks noGrp="1"/>
          </p:cNvSpPr>
          <p:nvPr>
            <p:ph type="sldNum" sz="quarter" idx="5"/>
          </p:nvPr>
        </p:nvSpPr>
        <p:spPr/>
        <p:txBody>
          <a:bodyPr/>
          <a:lstStyle/>
          <a:p>
            <a:fld id="{5C22C57D-1BB5-4968-A69A-829B3965BAAA}" type="slidenum">
              <a:rPr lang="es-ES" smtClean="0"/>
              <a:t>9</a:t>
            </a:fld>
            <a:endParaRPr lang="es-ES"/>
          </a:p>
        </p:txBody>
      </p:sp>
    </p:spTree>
    <p:extLst>
      <p:ext uri="{BB962C8B-B14F-4D97-AF65-F5344CB8AC3E}">
        <p14:creationId xmlns:p14="http://schemas.microsoft.com/office/powerpoint/2010/main" val="2302793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a:t>Generado por Copilot</a:t>
            </a:r>
            <a:br>
              <a:rPr lang="es-ES"/>
            </a:br>
            <a:br>
              <a:rPr lang="es-ES"/>
            </a:br>
            <a:r>
              <a:rPr lang="es-ES"/>
              <a:t>Esta diapositiva se centra en la oferta de SAP SuccessFactors. La cobertura modular estándar es amplia, pero se menciona que es la que menor cobertura ofrece entre las tres soluciones. Es crucial discutir cómo la arquitectura distribuida puede ofrecer flexibilidad, pero también puede fragmentar la experiencia del usuario. Los puntos fuertes, como la integración con SAP y la capacidad de generar informes, son aspectos positivos que deben ser destacados. </a:t>
            </a:r>
            <a:br>
              <a:rPr lang="es-ES"/>
            </a:br>
            <a:r>
              <a:rPr lang="es-ES"/>
              <a:t>______</a:t>
            </a:r>
          </a:p>
          <a:p>
            <a:br>
              <a:rPr lang="es-ES"/>
            </a:br>
            <a:endParaRPr lang="es-ES"/>
          </a:p>
        </p:txBody>
      </p:sp>
      <p:sp>
        <p:nvSpPr>
          <p:cNvPr id="4" name="Marcador de número de diapositiva 3"/>
          <p:cNvSpPr>
            <a:spLocks noGrp="1"/>
          </p:cNvSpPr>
          <p:nvPr>
            <p:ph type="sldNum" sz="quarter" idx="5"/>
          </p:nvPr>
        </p:nvSpPr>
        <p:spPr/>
        <p:txBody>
          <a:bodyPr/>
          <a:lstStyle/>
          <a:p>
            <a:fld id="{5C22C57D-1BB5-4968-A69A-829B3965BAAA}" type="slidenum">
              <a:rPr lang="es-ES" smtClean="0"/>
              <a:t>10</a:t>
            </a:fld>
            <a:endParaRPr lang="es-ES"/>
          </a:p>
        </p:txBody>
      </p:sp>
    </p:spTree>
    <p:extLst>
      <p:ext uri="{BB962C8B-B14F-4D97-AF65-F5344CB8AC3E}">
        <p14:creationId xmlns:p14="http://schemas.microsoft.com/office/powerpoint/2010/main" val="34161818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a:t>Generado por Copilot</a:t>
            </a:r>
            <a:br>
              <a:rPr lang="es-ES"/>
            </a:br>
            <a:br>
              <a:rPr lang="es-ES"/>
            </a:br>
            <a:r>
              <a:rPr lang="es-ES"/>
              <a:t>En esta diapositiva, se presenta un análisis de la cobertura de funcionalidades de SAP. La comparación entre módulos imprescindibles y valorables revela que, aunque hay áreas con buena cobertura, hay otras que requieren atención. La audiencia debe entender cómo estas cifras se traducen en la práctica y qué implicaciones tienen para la implementación y el uso del sistema en el día a día. </a:t>
            </a:r>
            <a:br>
              <a:rPr lang="es-ES"/>
            </a:br>
            <a:r>
              <a:rPr lang="es-ES"/>
              <a:t>______</a:t>
            </a:r>
          </a:p>
          <a:p>
            <a:br>
              <a:rPr lang="es-ES"/>
            </a:br>
            <a:endParaRPr lang="es-ES"/>
          </a:p>
        </p:txBody>
      </p:sp>
      <p:sp>
        <p:nvSpPr>
          <p:cNvPr id="4" name="Marcador de número de diapositiva 3"/>
          <p:cNvSpPr>
            <a:spLocks noGrp="1"/>
          </p:cNvSpPr>
          <p:nvPr>
            <p:ph type="sldNum" sz="quarter" idx="5"/>
          </p:nvPr>
        </p:nvSpPr>
        <p:spPr/>
        <p:txBody>
          <a:bodyPr/>
          <a:lstStyle/>
          <a:p>
            <a:fld id="{5C22C57D-1BB5-4968-A69A-829B3965BAAA}" type="slidenum">
              <a:rPr lang="es-ES" smtClean="0"/>
              <a:t>11</a:t>
            </a:fld>
            <a:endParaRPr lang="es-ES"/>
          </a:p>
        </p:txBody>
      </p:sp>
    </p:spTree>
    <p:extLst>
      <p:ext uri="{BB962C8B-B14F-4D97-AF65-F5344CB8AC3E}">
        <p14:creationId xmlns:p14="http://schemas.microsoft.com/office/powerpoint/2010/main" val="1458718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Aquí se compara la cobertura de funcionalidades y los costos entre Oracle, Workday y SAP. Los gráficos circulares son efectivos para visualizar las diferencias en cobertura, y los costos de licencias anuales proporcionan un contexto financiero crucial. Es importante enfatizar cómo estas cifras pueden influir en la decisión final, especialmente en términos de presupuesto y retorno de inversión.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12</a:t>
            </a:fld>
            <a:endParaRPr lang="es-ES"/>
          </a:p>
        </p:txBody>
      </p:sp>
    </p:spTree>
    <p:extLst>
      <p:ext uri="{BB962C8B-B14F-4D97-AF65-F5344CB8AC3E}">
        <p14:creationId xmlns:p14="http://schemas.microsoft.com/office/powerpoint/2010/main" val="4289251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a:t>Generado por Copilot</a:t>
            </a:r>
            <a:br>
              <a:rPr lang="es-ES"/>
            </a:br>
            <a:br>
              <a:rPr lang="es-ES"/>
            </a:br>
            <a:r>
              <a:rPr lang="es-ES"/>
              <a:t>Esta diapositiva presenta un análisis comparativo de licencias de productos completos. La tabla proporciona una visión clara de los costos a lo largo de tres años para cada proveedor. Es fundamental destacar cómo estos costos se alinean con el presupuesto y las expectativas de la organización, así como la importancia de considerar no solo el costo inicial, sino también el costo total de propiedad a largo plazo. </a:t>
            </a:r>
            <a:br>
              <a:rPr lang="es-ES"/>
            </a:br>
            <a:r>
              <a:rPr lang="es-ES"/>
              <a:t>______</a:t>
            </a:r>
          </a:p>
          <a:p>
            <a:br>
              <a:rPr lang="es-ES"/>
            </a:br>
            <a:endParaRPr lang="es-ES"/>
          </a:p>
        </p:txBody>
      </p:sp>
      <p:sp>
        <p:nvSpPr>
          <p:cNvPr id="4" name="Marcador de número de diapositiva 3"/>
          <p:cNvSpPr>
            <a:spLocks noGrp="1"/>
          </p:cNvSpPr>
          <p:nvPr>
            <p:ph type="sldNum" sz="quarter" idx="5"/>
          </p:nvPr>
        </p:nvSpPr>
        <p:spPr/>
        <p:txBody>
          <a:bodyPr/>
          <a:lstStyle/>
          <a:p>
            <a:fld id="{5C22C57D-1BB5-4968-A69A-829B3965BAAA}" type="slidenum">
              <a:rPr lang="es-ES" smtClean="0"/>
              <a:t>13</a:t>
            </a:fld>
            <a:endParaRPr lang="es-ES"/>
          </a:p>
        </p:txBody>
      </p:sp>
    </p:spTree>
    <p:extLst>
      <p:ext uri="{BB962C8B-B14F-4D97-AF65-F5344CB8AC3E}">
        <p14:creationId xmlns:p14="http://schemas.microsoft.com/office/powerpoint/2010/main" val="42306206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En esta diapositiva se analiza el anexo de licencias por módulos. La comparación de costos entre Oracle, Workday y SAP a lo largo de tres años es esencial para entender el impacto financiero de cada opción. Es importante resaltar cómo la estructura de costos puede influir en la decisión de implementación y qué módulos son críticos para el éxito del proyecto.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14</a:t>
            </a:fld>
            <a:endParaRPr lang="es-ES"/>
          </a:p>
        </p:txBody>
      </p:sp>
    </p:spTree>
    <p:extLst>
      <p:ext uri="{BB962C8B-B14F-4D97-AF65-F5344CB8AC3E}">
        <p14:creationId xmlns:p14="http://schemas.microsoft.com/office/powerpoint/2010/main" val="1034169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BE2B9-1C26-7CBB-5199-6A7B196FBC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53E01F-B1E3-863D-7602-3C83EABA671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894C82-DAB2-189E-DC7C-DFDB87B9072C}"/>
              </a:ext>
            </a:extLst>
          </p:cNvPr>
          <p:cNvSpPr>
            <a:spLocks noGrp="1"/>
          </p:cNvSpPr>
          <p:nvPr>
            <p:ph type="body" idx="1"/>
          </p:nvPr>
        </p:nvSpPr>
        <p:spPr/>
        <p:txBody>
          <a:bodyPr/>
          <a:lstStyle/>
          <a:p>
            <a:pPr>
              <a:buNone/>
            </a:pPr>
            <a:r>
              <a:rPr lang="es-ES"/>
              <a:t>Generado por Copilot</a:t>
            </a:r>
            <a:br>
              <a:rPr lang="es-ES"/>
            </a:br>
            <a:br>
              <a:rPr lang="es-ES"/>
            </a:br>
            <a:r>
              <a:rPr lang="es-ES"/>
              <a:t>Esta diapositiva presenta un análisis comparativo de licencias de productos completos. La tabla proporciona una visión clara de los costos a lo largo de tres años para cada proveedor. Es fundamental destacar cómo estos costos se alinean con el presupuesto y las expectativas de la organización, así como la importancia de considerar no solo el costo inicial, sino también el costo total de propiedad a largo plazo. </a:t>
            </a:r>
            <a:br>
              <a:rPr lang="es-ES"/>
            </a:br>
            <a:r>
              <a:rPr lang="es-ES"/>
              <a:t>______</a:t>
            </a:r>
          </a:p>
          <a:p>
            <a:br>
              <a:rPr lang="es-ES"/>
            </a:br>
            <a:endParaRPr lang="es-ES"/>
          </a:p>
        </p:txBody>
      </p:sp>
      <p:sp>
        <p:nvSpPr>
          <p:cNvPr id="4" name="Marcador de número de diapositiva 3">
            <a:extLst>
              <a:ext uri="{FF2B5EF4-FFF2-40B4-BE49-F238E27FC236}">
                <a16:creationId xmlns:a16="http://schemas.microsoft.com/office/drawing/2014/main" id="{F6AC10F8-8166-6812-1ADF-26089209A6BB}"/>
              </a:ext>
            </a:extLst>
          </p:cNvPr>
          <p:cNvSpPr>
            <a:spLocks noGrp="1"/>
          </p:cNvSpPr>
          <p:nvPr>
            <p:ph type="sldNum" sz="quarter" idx="5"/>
          </p:nvPr>
        </p:nvSpPr>
        <p:spPr/>
        <p:txBody>
          <a:bodyPr/>
          <a:lstStyle/>
          <a:p>
            <a:fld id="{5C22C57D-1BB5-4968-A69A-829B3965BAAA}" type="slidenum">
              <a:rPr lang="es-ES" smtClean="0"/>
              <a:t>15</a:t>
            </a:fld>
            <a:endParaRPr lang="es-ES"/>
          </a:p>
        </p:txBody>
      </p:sp>
    </p:spTree>
    <p:extLst>
      <p:ext uri="{BB962C8B-B14F-4D97-AF65-F5344CB8AC3E}">
        <p14:creationId xmlns:p14="http://schemas.microsoft.com/office/powerpoint/2010/main" val="3292486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61ED9-03C3-D86B-5200-101C0067EF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6B55F0-4176-8645-117F-06B458390A7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4816993-6D33-E609-230A-470450AFCB0C}"/>
              </a:ext>
            </a:extLst>
          </p:cNvPr>
          <p:cNvSpPr>
            <a:spLocks noGrp="1"/>
          </p:cNvSpPr>
          <p:nvPr>
            <p:ph type="body" idx="1"/>
          </p:nvPr>
        </p:nvSpPr>
        <p:spPr/>
        <p:txBody>
          <a:bodyPr/>
          <a:lstStyle/>
          <a:p>
            <a:pPr>
              <a:buNone/>
            </a:pPr>
            <a:r>
              <a:rPr lang="es-ES"/>
              <a:t>Generado por Copilot</a:t>
            </a:r>
            <a:br>
              <a:rPr lang="es-ES"/>
            </a:br>
            <a:br>
              <a:rPr lang="es-ES"/>
            </a:br>
            <a:r>
              <a:rPr lang="es-ES"/>
              <a:t>Esta diapositiva presenta un análisis comparativo de licencias de productos completos. La tabla proporciona una visión clara de los costos a lo largo de tres años para cada proveedor. Es fundamental destacar cómo estos costos se alinean con el presupuesto y las expectativas de la organización, así como la importancia de considerar no solo el costo inicial, sino también el costo total de propiedad a largo plazo. </a:t>
            </a:r>
            <a:br>
              <a:rPr lang="es-ES"/>
            </a:br>
            <a:r>
              <a:rPr lang="es-ES"/>
              <a:t>______</a:t>
            </a:r>
          </a:p>
          <a:p>
            <a:br>
              <a:rPr lang="es-ES"/>
            </a:br>
            <a:endParaRPr lang="es-ES"/>
          </a:p>
        </p:txBody>
      </p:sp>
      <p:sp>
        <p:nvSpPr>
          <p:cNvPr id="4" name="Marcador de número de diapositiva 3">
            <a:extLst>
              <a:ext uri="{FF2B5EF4-FFF2-40B4-BE49-F238E27FC236}">
                <a16:creationId xmlns:a16="http://schemas.microsoft.com/office/drawing/2014/main" id="{6DD7FFF0-E0BB-11F9-0FA1-543D01786D13}"/>
              </a:ext>
            </a:extLst>
          </p:cNvPr>
          <p:cNvSpPr>
            <a:spLocks noGrp="1"/>
          </p:cNvSpPr>
          <p:nvPr>
            <p:ph type="sldNum" sz="quarter" idx="5"/>
          </p:nvPr>
        </p:nvSpPr>
        <p:spPr/>
        <p:txBody>
          <a:bodyPr/>
          <a:lstStyle/>
          <a:p>
            <a:fld id="{5C22C57D-1BB5-4968-A69A-829B3965BAAA}" type="slidenum">
              <a:rPr lang="es-ES" smtClean="0"/>
              <a:t>16</a:t>
            </a:fld>
            <a:endParaRPr lang="es-ES"/>
          </a:p>
        </p:txBody>
      </p:sp>
    </p:spTree>
    <p:extLst>
      <p:ext uri="{BB962C8B-B14F-4D97-AF65-F5344CB8AC3E}">
        <p14:creationId xmlns:p14="http://schemas.microsoft.com/office/powerpoint/2010/main" val="2513380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Generado por Copilot</a:t>
            </a:r>
            <a:br>
              <a:rPr lang="es-ES" dirty="0"/>
            </a:br>
            <a:br>
              <a:rPr lang="es-ES" dirty="0"/>
            </a:br>
            <a:r>
              <a:rPr lang="es-ES" dirty="0"/>
              <a:t>Aquí se presentan las conclusiones y la recomendación de solución HCM. La elección de Oracle Cloud HCM se justifica por su continuidad funcional y su capacidad para cubrir casi el 100% de los módulos requeridos. Es crucial enfatizar cómo esta solución no solo minimiza riesgos, sino que también permite una implementación escalonada, lo que es ideal para la organización. La mención de herramientas de migración y el respaldo técnico son puntos que pueden tranquilizar a la audiencia sobre la viabilidad del proyecto. </a:t>
            </a:r>
            <a:br>
              <a:rPr lang="es-ES" dirty="0"/>
            </a:br>
            <a:r>
              <a:rPr lang="es-ES" dirty="0"/>
              <a:t>______</a:t>
            </a:r>
          </a:p>
          <a:p>
            <a:br>
              <a:rPr lang="es-ES" dirty="0"/>
            </a:br>
            <a:endParaRPr lang="es-ES" dirty="0"/>
          </a:p>
        </p:txBody>
      </p:sp>
      <p:sp>
        <p:nvSpPr>
          <p:cNvPr id="4" name="Marcador de número de diapositiva 3"/>
          <p:cNvSpPr>
            <a:spLocks noGrp="1"/>
          </p:cNvSpPr>
          <p:nvPr>
            <p:ph type="sldNum" sz="quarter" idx="5"/>
          </p:nvPr>
        </p:nvSpPr>
        <p:spPr/>
        <p:txBody>
          <a:bodyPr/>
          <a:lstStyle/>
          <a:p>
            <a:fld id="{5C22C57D-1BB5-4968-A69A-829B3965BAAA}" type="slidenum">
              <a:rPr lang="es-ES" smtClean="0"/>
              <a:t>17</a:t>
            </a:fld>
            <a:endParaRPr lang="es-ES"/>
          </a:p>
        </p:txBody>
      </p:sp>
    </p:spTree>
    <p:extLst>
      <p:ext uri="{BB962C8B-B14F-4D97-AF65-F5344CB8AC3E}">
        <p14:creationId xmlns:p14="http://schemas.microsoft.com/office/powerpoint/2010/main" val="1949620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29C0-AD9B-8ECD-5D2C-317A6386EB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5A5F65-2460-7083-D001-E085799B9E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2D7551-5CFC-6284-E43D-722BF89CCB04}"/>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Aquí se presentan las conclusiones y la recomendación de solución HCM. La elección de Oracle Cloud HCM se justifica por su continuidad funcional y su capacidad para cubrir casi el 100% de los módulos requeridos. Es crucial enfatizar cómo esta solución no solo minimiza riesgos, sino que también permite una implementación escalonada, lo que es ideal para la organización. La mención de herramientas de migración y el respaldo técnico son puntos que pueden tranquilizar a la audiencia sobre la viabilidad del proyecto.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9987F35D-603D-6091-E7AE-D3C2F19A6D9D}"/>
              </a:ext>
            </a:extLst>
          </p:cNvPr>
          <p:cNvSpPr>
            <a:spLocks noGrp="1"/>
          </p:cNvSpPr>
          <p:nvPr>
            <p:ph type="sldNum" sz="quarter" idx="5"/>
          </p:nvPr>
        </p:nvSpPr>
        <p:spPr/>
        <p:txBody>
          <a:bodyPr/>
          <a:lstStyle/>
          <a:p>
            <a:fld id="{5C22C57D-1BB5-4968-A69A-829B3965BAAA}" type="slidenum">
              <a:rPr lang="es-ES" smtClean="0"/>
              <a:t>18</a:t>
            </a:fld>
            <a:endParaRPr lang="es-ES"/>
          </a:p>
        </p:txBody>
      </p:sp>
    </p:spTree>
    <p:extLst>
      <p:ext uri="{BB962C8B-B14F-4D97-AF65-F5344CB8AC3E}">
        <p14:creationId xmlns:p14="http://schemas.microsoft.com/office/powerpoint/2010/main" val="16417420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FEAA7-4789-BA22-5C14-29489926F2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DFCC6F-7309-7BBA-D005-856DBAD648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D0EBA5-3275-1386-2E57-6A2534D9000B}"/>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Aquí se presentan las conclusiones y la recomendación de solución HCM. La elección de Oracle Cloud HCM se justifica por su continuidad funcional y su capacidad para cubrir casi el 100% de los módulos requeridos. Es crucial enfatizar cómo esta solución no solo minimiza riesgos, sino que también permite una implementación escalonada, lo que es ideal para la organización. La mención de herramientas de migración y el respaldo técnico son puntos que pueden tranquilizar a la audiencia sobre la viabilidad del proyecto.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2C7FF54E-D5DA-D521-E1AB-2B083D8E73C2}"/>
              </a:ext>
            </a:extLst>
          </p:cNvPr>
          <p:cNvSpPr>
            <a:spLocks noGrp="1"/>
          </p:cNvSpPr>
          <p:nvPr>
            <p:ph type="sldNum" sz="quarter" idx="5"/>
          </p:nvPr>
        </p:nvSpPr>
        <p:spPr/>
        <p:txBody>
          <a:bodyPr/>
          <a:lstStyle/>
          <a:p>
            <a:fld id="{5C22C57D-1BB5-4968-A69A-829B3965BAAA}" type="slidenum">
              <a:rPr lang="es-ES" smtClean="0"/>
              <a:t>19</a:t>
            </a:fld>
            <a:endParaRPr lang="es-ES"/>
          </a:p>
        </p:txBody>
      </p:sp>
    </p:spTree>
    <p:extLst>
      <p:ext uri="{BB962C8B-B14F-4D97-AF65-F5344CB8AC3E}">
        <p14:creationId xmlns:p14="http://schemas.microsoft.com/office/powerpoint/2010/main" val="8482562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4D63-E900-7B54-DA70-18FBE52991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BB4112-EC95-42C6-8569-1EF7C22AEA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C646A98-8963-A604-6F61-C42026A9BCFC}"/>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Aquí se presentan las conclusiones y la recomendación de solución HCM. La elección de Oracle Cloud HCM se justifica por su continuidad funcional y su capacidad para cubrir casi el 100% de los módulos requeridos. Es crucial enfatizar cómo esta solución no solo minimiza riesgos, sino que también permite una implementación escalonada, lo que es ideal para la organización. La mención de herramientas de migración y el respaldo técnico son puntos que pueden tranquilizar a la audiencia sobre la viabilidad del proyecto.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03F718CD-3D59-70BD-C159-094E539271C1}"/>
              </a:ext>
            </a:extLst>
          </p:cNvPr>
          <p:cNvSpPr>
            <a:spLocks noGrp="1"/>
          </p:cNvSpPr>
          <p:nvPr>
            <p:ph type="sldNum" sz="quarter" idx="5"/>
          </p:nvPr>
        </p:nvSpPr>
        <p:spPr/>
        <p:txBody>
          <a:bodyPr/>
          <a:lstStyle/>
          <a:p>
            <a:fld id="{5C22C57D-1BB5-4968-A69A-829B3965BAAA}" type="slidenum">
              <a:rPr lang="es-ES" smtClean="0"/>
              <a:t>20</a:t>
            </a:fld>
            <a:endParaRPr lang="es-ES"/>
          </a:p>
        </p:txBody>
      </p:sp>
    </p:spTree>
    <p:extLst>
      <p:ext uri="{BB962C8B-B14F-4D97-AF65-F5344CB8AC3E}">
        <p14:creationId xmlns:p14="http://schemas.microsoft.com/office/powerpoint/2010/main" val="2667336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C027-A2C8-AB41-9259-8520B54525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CCED4F-8DF0-862F-5374-B1A1786B87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5D7EAC-F816-CE2D-1FCA-0D05A33557FA}"/>
              </a:ext>
            </a:extLst>
          </p:cNvPr>
          <p:cNvSpPr>
            <a:spLocks noGrp="1"/>
          </p:cNvSpPr>
          <p:nvPr>
            <p:ph type="body" idx="1"/>
          </p:nvPr>
        </p:nvSpPr>
        <p:spPr/>
        <p:txBody>
          <a:bodyPr/>
          <a:lstStyle/>
          <a:p>
            <a:pPr>
              <a:buNone/>
            </a:pPr>
            <a:r>
              <a:rPr lang="es-ES" dirty="0"/>
              <a:t>Generado por Copilot</a:t>
            </a:r>
            <a:br>
              <a:rPr lang="es-ES" dirty="0"/>
            </a:br>
            <a:br>
              <a:rPr lang="es-ES" dirty="0"/>
            </a:br>
            <a:r>
              <a:rPr lang="es-ES" dirty="0"/>
              <a:t>La conclusión final reafirma la recomendación de Oracle Cloud HCM como la opción más segura y eficiente. Es importante destacar que la propuesta incluye un plan de implantación gradual, lo que permite a la organización adaptarse sin comprometer su operativa. La integración de IA y analítica en tiempo real son aspectos que pueden ser muy atractivos para la audiencia, ya que reflejan una modernización efectiva de la plataforma HCM. </a:t>
            </a:r>
            <a:br>
              <a:rPr lang="es-ES" dirty="0"/>
            </a:br>
            <a:r>
              <a:rPr lang="es-ES" dirty="0"/>
              <a:t>______</a:t>
            </a:r>
          </a:p>
          <a:p>
            <a:br>
              <a:rPr lang="es-ES" dirty="0"/>
            </a:br>
            <a:endParaRPr lang="es-ES" dirty="0"/>
          </a:p>
        </p:txBody>
      </p:sp>
      <p:sp>
        <p:nvSpPr>
          <p:cNvPr id="4" name="Marcador de número de diapositiva 3">
            <a:extLst>
              <a:ext uri="{FF2B5EF4-FFF2-40B4-BE49-F238E27FC236}">
                <a16:creationId xmlns:a16="http://schemas.microsoft.com/office/drawing/2014/main" id="{63B329A9-4082-882A-0A43-337E2DEA9E73}"/>
              </a:ext>
            </a:extLst>
          </p:cNvPr>
          <p:cNvSpPr>
            <a:spLocks noGrp="1"/>
          </p:cNvSpPr>
          <p:nvPr>
            <p:ph type="sldNum" sz="quarter" idx="5"/>
          </p:nvPr>
        </p:nvSpPr>
        <p:spPr/>
        <p:txBody>
          <a:bodyPr/>
          <a:lstStyle/>
          <a:p>
            <a:fld id="{5C22C57D-1BB5-4968-A69A-829B3965BAAA}" type="slidenum">
              <a:rPr lang="es-ES" smtClean="0"/>
              <a:t>22</a:t>
            </a:fld>
            <a:endParaRPr lang="es-ES"/>
          </a:p>
        </p:txBody>
      </p:sp>
    </p:spTree>
    <p:extLst>
      <p:ext uri="{BB962C8B-B14F-4D97-AF65-F5344CB8AC3E}">
        <p14:creationId xmlns:p14="http://schemas.microsoft.com/office/powerpoint/2010/main" val="3571826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64D516-955D-5BCF-DF14-14F3912066A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DE61E488-ED5B-C8A8-A931-52913ECDC8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7CAFF52D-B63B-0EF3-0317-48DD248F0AF3}"/>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5" name="Marcador de pie de página 4">
            <a:extLst>
              <a:ext uri="{FF2B5EF4-FFF2-40B4-BE49-F238E27FC236}">
                <a16:creationId xmlns:a16="http://schemas.microsoft.com/office/drawing/2014/main" id="{E747B5CF-38FE-E98A-FC09-B42C19DC691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B7910DB-E6B4-EF73-D976-74BE0705BFFE}"/>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2435101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F3566D-14EA-CDF5-65ED-1CF04321B6C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32BC8DF-EF37-22CD-2C91-712DE8C63F6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EB97FDA-92C5-1613-A256-0BC2E9237535}"/>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5" name="Marcador de pie de página 4">
            <a:extLst>
              <a:ext uri="{FF2B5EF4-FFF2-40B4-BE49-F238E27FC236}">
                <a16:creationId xmlns:a16="http://schemas.microsoft.com/office/drawing/2014/main" id="{FFC86E45-ABFF-A44B-E1BC-A8445658D90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1C31BB1-5347-5CCE-C47F-627A25215714}"/>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2705735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0CB503-FE64-177F-36E0-B4BD0B18722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A2CA91B6-E186-F6E8-27FD-C034587BC2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940E41B-11FB-1FD3-1571-DF79AC37BD2A}"/>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5" name="Marcador de pie de página 4">
            <a:extLst>
              <a:ext uri="{FF2B5EF4-FFF2-40B4-BE49-F238E27FC236}">
                <a16:creationId xmlns:a16="http://schemas.microsoft.com/office/drawing/2014/main" id="{D58DD9AD-5419-7A14-1C4D-BEE95B550CD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0E9277C-FA90-7A4D-3E50-D1EC546C14DC}"/>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292766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DB5CBF-56C2-CA72-75FB-1A75A2C76FE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78E8894-4BF4-A23D-E841-6FED373A7DA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729AB521-A8F1-02E4-C6C1-02F0339CE50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23631FFD-21EC-C362-C9DC-3E23D8BCED95}"/>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6" name="Marcador de pie de página 5">
            <a:extLst>
              <a:ext uri="{FF2B5EF4-FFF2-40B4-BE49-F238E27FC236}">
                <a16:creationId xmlns:a16="http://schemas.microsoft.com/office/drawing/2014/main" id="{4EAC2016-D2A7-7133-EA9C-9BD98BD1AA0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48FAE4F-949E-0CB0-21CF-FB41148D5615}"/>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3761633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53C93-6609-382D-9A7F-D4D1C406A52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86CC064-E9CE-0C38-4353-57F3FF3E7E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44C8C84-586D-0C4D-ADE5-2321C46C96D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AF1BBAD4-26BE-8868-6676-9614586272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77E0045-A85B-5022-1765-B1C81F190A6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980B2F91-9D4E-7996-2198-BD3EFAF8FEAE}"/>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8" name="Marcador de pie de página 7">
            <a:extLst>
              <a:ext uri="{FF2B5EF4-FFF2-40B4-BE49-F238E27FC236}">
                <a16:creationId xmlns:a16="http://schemas.microsoft.com/office/drawing/2014/main" id="{2670A401-A09B-657C-2600-28B204CF68C9}"/>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15916AD7-435A-D4CA-D770-348FDD09AD7D}"/>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1180555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F8B57A-2EBD-EBED-C564-75BCDD48D5F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3F33BAA-783F-2FA1-1623-745B3D6161DA}"/>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4" name="Marcador de pie de página 3">
            <a:extLst>
              <a:ext uri="{FF2B5EF4-FFF2-40B4-BE49-F238E27FC236}">
                <a16:creationId xmlns:a16="http://schemas.microsoft.com/office/drawing/2014/main" id="{643EF02E-7FCE-23F4-58E5-287F941F7878}"/>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1CA40E59-EE5B-F5DA-2096-039552FBF932}"/>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961249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FCB1F92-E63F-BA2D-B3A6-84D0BF666AEC}"/>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3" name="Marcador de pie de página 2">
            <a:extLst>
              <a:ext uri="{FF2B5EF4-FFF2-40B4-BE49-F238E27FC236}">
                <a16:creationId xmlns:a16="http://schemas.microsoft.com/office/drawing/2014/main" id="{B24346DD-DC5B-B5DF-143B-DEAEEDF0828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2894568E-F1BB-DADF-3335-A285D9C18691}"/>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265832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B72B43-7159-4D9E-40C4-24807870F2D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CD6A9DC-253B-50AE-81A9-66CE80166C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1A3F8FB9-A901-3B6A-66E4-757504D18C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C63318-EE9A-82EE-1CC7-B2A28FE240E6}"/>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6" name="Marcador de pie de página 5">
            <a:extLst>
              <a:ext uri="{FF2B5EF4-FFF2-40B4-BE49-F238E27FC236}">
                <a16:creationId xmlns:a16="http://schemas.microsoft.com/office/drawing/2014/main" id="{0A787A14-70E8-C473-1E64-8AE96483F5B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119B6EB-0605-6F6A-3F65-21A304943AF2}"/>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1345531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52CD3C-0B8C-D391-FD88-D6F112DDC3B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252DBFDE-2A68-AA04-965D-9D39F6A671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3A788D5F-67F6-F73A-21E3-6B29D7622E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652BA31-B38D-B9B9-A0AB-8D8F7B36D6A6}"/>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6" name="Marcador de pie de página 5">
            <a:extLst>
              <a:ext uri="{FF2B5EF4-FFF2-40B4-BE49-F238E27FC236}">
                <a16:creationId xmlns:a16="http://schemas.microsoft.com/office/drawing/2014/main" id="{78BE099E-7488-C0E0-2C5E-551816E6895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7EB5F74-BC9C-6CEA-7EC7-E9B9439F9054}"/>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1395214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F21BC1-DAAF-0AB2-CFB3-4FEE189DCA3B}"/>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3658179-F622-C4E4-4016-AB201AC4518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5615DB5-4D86-6B73-2767-43F4594B62F0}"/>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5" name="Marcador de pie de página 4">
            <a:extLst>
              <a:ext uri="{FF2B5EF4-FFF2-40B4-BE49-F238E27FC236}">
                <a16:creationId xmlns:a16="http://schemas.microsoft.com/office/drawing/2014/main" id="{A845FE33-9833-1A8F-BF7F-32C5D608CC6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66E2E88-2417-163E-71BD-55ECE8B7DF72}"/>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3751516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1291654-7B22-8E44-C5D6-EA9E62B38BC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B855DDD-4D4F-742F-3835-F46EDA49507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5010857-3B84-C79C-8C76-F2ED5DA4EF2D}"/>
              </a:ext>
            </a:extLst>
          </p:cNvPr>
          <p:cNvSpPr>
            <a:spLocks noGrp="1"/>
          </p:cNvSpPr>
          <p:nvPr>
            <p:ph type="dt" sz="half" idx="10"/>
          </p:nvPr>
        </p:nvSpPr>
        <p:spPr/>
        <p:txBody>
          <a:bodyPr/>
          <a:lstStyle/>
          <a:p>
            <a:fld id="{DF80082A-7C9E-411E-B7FA-FDCAEA81F369}" type="datetimeFigureOut">
              <a:rPr lang="es-ES" smtClean="0"/>
              <a:t>24/10/2025</a:t>
            </a:fld>
            <a:endParaRPr lang="es-ES"/>
          </a:p>
        </p:txBody>
      </p:sp>
      <p:sp>
        <p:nvSpPr>
          <p:cNvPr id="5" name="Marcador de pie de página 4">
            <a:extLst>
              <a:ext uri="{FF2B5EF4-FFF2-40B4-BE49-F238E27FC236}">
                <a16:creationId xmlns:a16="http://schemas.microsoft.com/office/drawing/2014/main" id="{BC4AEA07-844B-8A64-AC4D-4F051D0E5C7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C48C138-48EE-C264-2BD1-D4CEBD686638}"/>
              </a:ext>
            </a:extLst>
          </p:cNvPr>
          <p:cNvSpPr>
            <a:spLocks noGrp="1"/>
          </p:cNvSpPr>
          <p:nvPr>
            <p:ph type="sldNum" sz="quarter" idx="12"/>
          </p:nvPr>
        </p:nvSpPr>
        <p:spPr/>
        <p:txBody>
          <a:bodyPr/>
          <a:lstStyle/>
          <a:p>
            <a:fld id="{22FEAF4E-685F-458A-A4C4-193AD15339BA}" type="slidenum">
              <a:rPr lang="es-ES" smtClean="0"/>
              <a:t>‹Nº›</a:t>
            </a:fld>
            <a:endParaRPr lang="es-ES"/>
          </a:p>
        </p:txBody>
      </p:sp>
    </p:spTree>
    <p:extLst>
      <p:ext uri="{BB962C8B-B14F-4D97-AF65-F5344CB8AC3E}">
        <p14:creationId xmlns:p14="http://schemas.microsoft.com/office/powerpoint/2010/main" val="2308813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5">
    <p:bg>
      <p:bgPr>
        <a:solidFill>
          <a:srgbClr val="CC3333"/>
        </a:solidFill>
        <a:effectLst/>
      </p:bgPr>
    </p:bg>
    <p:spTree>
      <p:nvGrpSpPr>
        <p:cNvPr id="1" name=""/>
        <p:cNvGrpSpPr/>
        <p:nvPr/>
      </p:nvGrpSpPr>
      <p:grpSpPr>
        <a:xfrm>
          <a:off x="0" y="0"/>
          <a:ext cx="0" cy="0"/>
          <a:chOff x="0" y="0"/>
          <a:chExt cx="0" cy="0"/>
        </a:xfrm>
      </p:grpSpPr>
      <p:pic>
        <p:nvPicPr>
          <p:cNvPr id="4" name="iStock-1355274321-ret 1" descr="preencoded.png">
            <a:extLst>
              <a:ext uri="{FF2B5EF4-FFF2-40B4-BE49-F238E27FC236}">
                <a16:creationId xmlns:a16="http://schemas.microsoft.com/office/drawing/2014/main" id="{CE5FFAD0-3652-6D58-7437-C0427754271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372351" y="254980"/>
            <a:ext cx="4565651" cy="6322648"/>
          </a:xfrm>
          <a:prstGeom prst="rect">
            <a:avLst/>
          </a:prstGeom>
        </p:spPr>
      </p:pic>
      <p:pic>
        <p:nvPicPr>
          <p:cNvPr id="6" name="Group 1410104864" descr="preencoded.png">
            <a:extLst>
              <a:ext uri="{FF2B5EF4-FFF2-40B4-BE49-F238E27FC236}">
                <a16:creationId xmlns:a16="http://schemas.microsoft.com/office/drawing/2014/main" id="{6D2FF136-5295-A769-3067-F737AA71086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372351" y="6577628"/>
            <a:ext cx="4565651" cy="25392"/>
          </a:xfrm>
          <a:prstGeom prst="rect">
            <a:avLst/>
          </a:prstGeom>
        </p:spPr>
      </p:pic>
      <p:pic>
        <p:nvPicPr>
          <p:cNvPr id="7" name="Group 1410104926" descr="preencoded.png">
            <a:extLst>
              <a:ext uri="{FF2B5EF4-FFF2-40B4-BE49-F238E27FC236}">
                <a16:creationId xmlns:a16="http://schemas.microsoft.com/office/drawing/2014/main" id="{9D2CD6E7-5B7B-4D0D-7DA6-5ED1EBB473F6}"/>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254000" y="6019001"/>
            <a:ext cx="2595955" cy="747611"/>
          </a:xfrm>
          <a:prstGeom prst="rect">
            <a:avLst/>
          </a:prstGeom>
        </p:spPr>
      </p:pic>
      <p:sp>
        <p:nvSpPr>
          <p:cNvPr id="11" name="Marcador de texto 8">
            <a:extLst>
              <a:ext uri="{FF2B5EF4-FFF2-40B4-BE49-F238E27FC236}">
                <a16:creationId xmlns:a16="http://schemas.microsoft.com/office/drawing/2014/main" id="{20676C29-DB37-F3D9-3EAF-AE75EDB45A24}"/>
              </a:ext>
            </a:extLst>
          </p:cNvPr>
          <p:cNvSpPr>
            <a:spLocks noGrp="1" noChangeAspect="1"/>
          </p:cNvSpPr>
          <p:nvPr>
            <p:ph type="body" sz="quarter" idx="10" hasCustomPrompt="1"/>
          </p:nvPr>
        </p:nvSpPr>
        <p:spPr>
          <a:xfrm>
            <a:off x="116619" y="126807"/>
            <a:ext cx="7025952" cy="1658231"/>
          </a:xfrm>
          <a:prstGeom prst="rect">
            <a:avLst/>
          </a:prstGeom>
        </p:spPr>
        <p:txBody>
          <a:bodyPr/>
          <a:lstStyle>
            <a:lvl1pPr marL="0" indent="0" algn="l">
              <a:spcBef>
                <a:spcPts val="0"/>
              </a:spcBef>
              <a:buNone/>
              <a:defRPr sz="5598">
                <a:solidFill>
                  <a:schemeClr val="bg1"/>
                </a:solidFill>
                <a:latin typeface="Arial" panose="020B0604020202020204" pitchFamily="34" charset="0"/>
                <a:cs typeface="Arial" panose="020B0604020202020204" pitchFamily="34" charset="0"/>
              </a:defRPr>
            </a:lvl1pPr>
          </a:lstStyle>
          <a:p>
            <a:r>
              <a:rPr lang="es-ES" spc="-67"/>
              <a:t>Titular de la </a:t>
            </a:r>
            <a:br>
              <a:rPr lang="es-ES" spc="-67"/>
            </a:br>
            <a:r>
              <a:rPr lang="es-ES" spc="-67"/>
              <a:t>presentación</a:t>
            </a:r>
          </a:p>
        </p:txBody>
      </p:sp>
      <p:sp>
        <p:nvSpPr>
          <p:cNvPr id="13" name="Marcador de texto 8">
            <a:extLst>
              <a:ext uri="{FF2B5EF4-FFF2-40B4-BE49-F238E27FC236}">
                <a16:creationId xmlns:a16="http://schemas.microsoft.com/office/drawing/2014/main" id="{FA37693C-D85B-B8A7-4D8A-1C79CADB9BCD}"/>
              </a:ext>
            </a:extLst>
          </p:cNvPr>
          <p:cNvSpPr>
            <a:spLocks noGrp="1" noChangeAspect="1"/>
          </p:cNvSpPr>
          <p:nvPr>
            <p:ph type="body" sz="quarter" idx="11" hasCustomPrompt="1"/>
          </p:nvPr>
        </p:nvSpPr>
        <p:spPr>
          <a:xfrm>
            <a:off x="136605" y="1860117"/>
            <a:ext cx="7025951" cy="328181"/>
          </a:xfrm>
          <a:prstGeom prst="rect">
            <a:avLst/>
          </a:prstGeom>
        </p:spPr>
        <p:txBody>
          <a:bodyPr/>
          <a:lstStyle>
            <a:lvl1pPr marL="0" indent="0">
              <a:buNone/>
              <a:defRPr sz="1333">
                <a:solidFill>
                  <a:schemeClr val="bg1"/>
                </a:solidFill>
                <a:latin typeface="Arial" panose="020B0604020202020204" pitchFamily="34" charset="0"/>
                <a:cs typeface="Arial" panose="020B0604020202020204" pitchFamily="34" charset="0"/>
              </a:defRPr>
            </a:lvl1pPr>
          </a:lstStyle>
          <a:p>
            <a:r>
              <a:rPr lang="es-ES">
                <a:solidFill>
                  <a:schemeClr val="bg1"/>
                </a:solidFill>
              </a:rPr>
              <a:t>Subtitular presentación</a:t>
            </a:r>
          </a:p>
        </p:txBody>
      </p:sp>
    </p:spTree>
    <p:extLst>
      <p:ext uri="{BB962C8B-B14F-4D97-AF65-F5344CB8AC3E}">
        <p14:creationId xmlns:p14="http://schemas.microsoft.com/office/powerpoint/2010/main" val="2465671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parador-6">
    <p:bg>
      <p:bgPr>
        <a:solidFill>
          <a:schemeClr val="bg1"/>
        </a:solidFill>
        <a:effectLst/>
      </p:bgPr>
    </p:bg>
    <p:spTree>
      <p:nvGrpSpPr>
        <p:cNvPr id="1" name=""/>
        <p:cNvGrpSpPr/>
        <p:nvPr/>
      </p:nvGrpSpPr>
      <p:grpSpPr>
        <a:xfrm>
          <a:off x="0" y="0"/>
          <a:ext cx="0" cy="0"/>
          <a:chOff x="0" y="0"/>
          <a:chExt cx="0" cy="0"/>
        </a:xfrm>
      </p:grpSpPr>
      <p:pic>
        <p:nvPicPr>
          <p:cNvPr id="3" name="Group 1410104910" descr="preencoded.png">
            <a:extLst>
              <a:ext uri="{FF2B5EF4-FFF2-40B4-BE49-F238E27FC236}">
                <a16:creationId xmlns:a16="http://schemas.microsoft.com/office/drawing/2014/main" id="{FEE29F98-8E23-75F6-D35F-F7A1800665E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0" y="1059"/>
            <a:ext cx="12192000" cy="6855883"/>
          </a:xfrm>
          <a:prstGeom prst="rect">
            <a:avLst/>
          </a:prstGeom>
        </p:spPr>
      </p:pic>
      <p:sp>
        <p:nvSpPr>
          <p:cNvPr id="7" name="Marcador de texto 8">
            <a:extLst>
              <a:ext uri="{FF2B5EF4-FFF2-40B4-BE49-F238E27FC236}">
                <a16:creationId xmlns:a16="http://schemas.microsoft.com/office/drawing/2014/main" id="{F154E369-6F7D-A11B-121E-D75529ED3C4B}"/>
              </a:ext>
            </a:extLst>
          </p:cNvPr>
          <p:cNvSpPr>
            <a:spLocks noGrp="1" noChangeAspect="1"/>
          </p:cNvSpPr>
          <p:nvPr>
            <p:ph type="body" sz="quarter" idx="10" hasCustomPrompt="1"/>
          </p:nvPr>
        </p:nvSpPr>
        <p:spPr>
          <a:xfrm>
            <a:off x="84080" y="184382"/>
            <a:ext cx="8247117" cy="806971"/>
          </a:xfrm>
          <a:prstGeom prst="rect">
            <a:avLst/>
          </a:prstGeom>
        </p:spPr>
        <p:txBody>
          <a:bodyPr/>
          <a:lstStyle>
            <a:lvl1pPr marL="0" indent="0" algn="l">
              <a:spcBef>
                <a:spcPts val="0"/>
              </a:spcBef>
              <a:buNone/>
              <a:defRPr sz="4399">
                <a:solidFill>
                  <a:schemeClr val="tx1"/>
                </a:solidFill>
                <a:latin typeface="Arial" panose="020B0604020202020204" pitchFamily="34" charset="0"/>
                <a:cs typeface="Arial" panose="020B0604020202020204" pitchFamily="34" charset="0"/>
              </a:defRPr>
            </a:lvl1pPr>
          </a:lstStyle>
          <a:p>
            <a:r>
              <a:rPr lang="es-ES" spc="-67"/>
              <a:t>Titular separata</a:t>
            </a:r>
          </a:p>
        </p:txBody>
      </p:sp>
      <p:sp>
        <p:nvSpPr>
          <p:cNvPr id="8" name="Marcador de texto 8">
            <a:extLst>
              <a:ext uri="{FF2B5EF4-FFF2-40B4-BE49-F238E27FC236}">
                <a16:creationId xmlns:a16="http://schemas.microsoft.com/office/drawing/2014/main" id="{FF3CD75F-65A3-62A9-B274-D9E46B5E6894}"/>
              </a:ext>
            </a:extLst>
          </p:cNvPr>
          <p:cNvSpPr>
            <a:spLocks noGrp="1" noChangeAspect="1"/>
          </p:cNvSpPr>
          <p:nvPr>
            <p:ph type="body" sz="quarter" idx="12" hasCustomPrompt="1"/>
          </p:nvPr>
        </p:nvSpPr>
        <p:spPr>
          <a:xfrm>
            <a:off x="84080" y="1092768"/>
            <a:ext cx="3895837" cy="381204"/>
          </a:xfrm>
          <a:prstGeom prst="rect">
            <a:avLst/>
          </a:prstGeom>
        </p:spPr>
        <p:txBody>
          <a:bodyPr/>
          <a:lstStyle>
            <a:lvl1pPr marL="0" indent="0" algn="l">
              <a:spcBef>
                <a:spcPts val="0"/>
              </a:spcBef>
              <a:buNone/>
              <a:defRPr sz="1506">
                <a:solidFill>
                  <a:schemeClr val="tx1">
                    <a:lumMod val="50000"/>
                    <a:lumOff val="50000"/>
                  </a:schemeClr>
                </a:solidFill>
                <a:latin typeface="Arial" panose="020B0604020202020204" pitchFamily="34" charset="0"/>
                <a:cs typeface="Arial" panose="020B0604020202020204" pitchFamily="34" charset="0"/>
              </a:defRPr>
            </a:lvl1pPr>
          </a:lstStyle>
          <a:p>
            <a:r>
              <a:rPr lang="es-ES" spc="-67"/>
              <a:t>Contenido de la </a:t>
            </a:r>
            <a:r>
              <a:rPr lang="es-ES" spc="-67" err="1"/>
              <a:t>Slide</a:t>
            </a:r>
            <a:endParaRPr lang="es-ES" spc="-67"/>
          </a:p>
        </p:txBody>
      </p:sp>
      <p:sp>
        <p:nvSpPr>
          <p:cNvPr id="13" name="Marcador de texto 11">
            <a:extLst>
              <a:ext uri="{FF2B5EF4-FFF2-40B4-BE49-F238E27FC236}">
                <a16:creationId xmlns:a16="http://schemas.microsoft.com/office/drawing/2014/main" id="{636B8C70-6CC2-95D1-A09C-1B18F0802EA5}"/>
              </a:ext>
            </a:extLst>
          </p:cNvPr>
          <p:cNvSpPr>
            <a:spLocks noGrp="1"/>
          </p:cNvSpPr>
          <p:nvPr>
            <p:ph type="body" sz="quarter" idx="13" hasCustomPrompt="1"/>
          </p:nvPr>
        </p:nvSpPr>
        <p:spPr>
          <a:xfrm>
            <a:off x="84080" y="6348056"/>
            <a:ext cx="5494417" cy="313210"/>
          </a:xfrm>
          <a:prstGeom prst="rect">
            <a:avLst/>
          </a:prstGeom>
        </p:spPr>
        <p:txBody>
          <a:bodyPr anchor="ctr"/>
          <a:lstStyle>
            <a:lvl1pPr marL="0" indent="0">
              <a:buNone/>
              <a:defRPr sz="1000" spc="0">
                <a:solidFill>
                  <a:schemeClr val="tx1">
                    <a:alpha val="30000"/>
                  </a:schemeClr>
                </a:solidFill>
                <a:latin typeface="Arial" panose="020B0604020202020204" pitchFamily="34" charset="0"/>
                <a:cs typeface="Arial" panose="020B0604020202020204" pitchFamily="34" charset="0"/>
              </a:defRPr>
            </a:lvl1pPr>
          </a:lstStyle>
          <a:p>
            <a:r>
              <a:rPr lang="es-ES"/>
              <a:t>Titular presentación</a:t>
            </a:r>
          </a:p>
        </p:txBody>
      </p:sp>
      <p:sp>
        <p:nvSpPr>
          <p:cNvPr id="14" name="Title 1">
            <a:extLst>
              <a:ext uri="{FF2B5EF4-FFF2-40B4-BE49-F238E27FC236}">
                <a16:creationId xmlns:a16="http://schemas.microsoft.com/office/drawing/2014/main" id="{75628B20-D0F0-8398-06BC-A22C5D691FB1}"/>
              </a:ext>
            </a:extLst>
          </p:cNvPr>
          <p:cNvSpPr txBox="1">
            <a:spLocks/>
          </p:cNvSpPr>
          <p:nvPr userDrawn="1"/>
        </p:nvSpPr>
        <p:spPr>
          <a:xfrm>
            <a:off x="5855896" y="6371332"/>
            <a:ext cx="665435" cy="266658"/>
          </a:xfrm>
          <a:prstGeom prst="rect">
            <a:avLst/>
          </a:prstGeom>
        </p:spPr>
        <p:txBody>
          <a:bodyPr anchor="b"/>
          <a:lstStyle>
            <a:lvl1pPr algn="l" defTabSz="685800" rtl="0" eaLnBrk="1" latinLnBrk="0" hangingPunct="1">
              <a:lnSpc>
                <a:spcPct val="90000"/>
              </a:lnSpc>
              <a:spcBef>
                <a:spcPct val="0"/>
              </a:spcBef>
              <a:buNone/>
              <a:defRPr sz="3800" kern="1200">
                <a:solidFill>
                  <a:schemeClr val="bg1"/>
                </a:solidFill>
                <a:latin typeface="Arial" panose="020B0604020202020204" pitchFamily="34" charset="0"/>
                <a:ea typeface="+mj-ea"/>
                <a:cs typeface="Arial" panose="020B0604020202020204" pitchFamily="34" charset="0"/>
              </a:defRPr>
            </a:lvl1pPr>
          </a:lstStyle>
          <a:p>
            <a:pPr algn="ctr"/>
            <a:fld id="{993F5DD1-6B79-C949-ADFC-E64539585265}" type="slidenum">
              <a:rPr lang="es-ES" sz="1000" baseline="0" smtClean="0">
                <a:solidFill>
                  <a:schemeClr val="tx1">
                    <a:alpha val="30000"/>
                  </a:schemeClr>
                </a:solidFill>
                <a:latin typeface="Arial" panose="020B0604020202020204" pitchFamily="34" charset="0"/>
              </a:rPr>
              <a:pPr algn="ctr"/>
              <a:t>‹Nº›</a:t>
            </a:fld>
            <a:endParaRPr lang="es-ES" sz="1000" baseline="0">
              <a:solidFill>
                <a:schemeClr val="tx1">
                  <a:alpha val="30000"/>
                </a:schemeClr>
              </a:solidFill>
              <a:latin typeface="Arial" panose="020B0604020202020204" pitchFamily="34" charset="0"/>
            </a:endParaRPr>
          </a:p>
        </p:txBody>
      </p:sp>
      <p:pic>
        <p:nvPicPr>
          <p:cNvPr id="15" name="Group 1410104923" descr="preencoded.png">
            <a:extLst>
              <a:ext uri="{FF2B5EF4-FFF2-40B4-BE49-F238E27FC236}">
                <a16:creationId xmlns:a16="http://schemas.microsoft.com/office/drawing/2014/main" id="{2BD4003A-659A-26DB-291B-C59535A3352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03201" y="6139645"/>
            <a:ext cx="11792007" cy="650854"/>
          </a:xfrm>
          <a:prstGeom prst="rect">
            <a:avLst/>
          </a:prstGeom>
        </p:spPr>
      </p:pic>
    </p:spTree>
    <p:extLst>
      <p:ext uri="{BB962C8B-B14F-4D97-AF65-F5344CB8AC3E}">
        <p14:creationId xmlns:p14="http://schemas.microsoft.com/office/powerpoint/2010/main" val="1519939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ágina6">
    <p:bg>
      <p:bgPr>
        <a:solidFill>
          <a:srgbClr val="CC3333"/>
        </a:solidFill>
        <a:effectLst/>
      </p:bgPr>
    </p:bg>
    <p:spTree>
      <p:nvGrpSpPr>
        <p:cNvPr id="1" name=""/>
        <p:cNvGrpSpPr/>
        <p:nvPr/>
      </p:nvGrpSpPr>
      <p:grpSpPr>
        <a:xfrm>
          <a:off x="0" y="0"/>
          <a:ext cx="0" cy="0"/>
          <a:chOff x="0" y="0"/>
          <a:chExt cx="0" cy="0"/>
        </a:xfrm>
      </p:grpSpPr>
      <p:sp>
        <p:nvSpPr>
          <p:cNvPr id="2" name="Marcador de texto 8">
            <a:extLst>
              <a:ext uri="{FF2B5EF4-FFF2-40B4-BE49-F238E27FC236}">
                <a16:creationId xmlns:a16="http://schemas.microsoft.com/office/drawing/2014/main" id="{6A321B4F-1175-28AE-8363-F0043541D81D}"/>
              </a:ext>
            </a:extLst>
          </p:cNvPr>
          <p:cNvSpPr>
            <a:spLocks noGrp="1" noChangeAspect="1"/>
          </p:cNvSpPr>
          <p:nvPr>
            <p:ph type="body" sz="quarter" idx="10" hasCustomPrompt="1"/>
          </p:nvPr>
        </p:nvSpPr>
        <p:spPr>
          <a:xfrm>
            <a:off x="84080" y="184382"/>
            <a:ext cx="8247117" cy="806971"/>
          </a:xfrm>
          <a:prstGeom prst="rect">
            <a:avLst/>
          </a:prstGeom>
        </p:spPr>
        <p:txBody>
          <a:bodyPr/>
          <a:lstStyle>
            <a:lvl1pPr marL="0" indent="0" algn="l">
              <a:spcBef>
                <a:spcPts val="0"/>
              </a:spcBef>
              <a:buNone/>
              <a:defRPr sz="4399">
                <a:solidFill>
                  <a:schemeClr val="bg1"/>
                </a:solidFill>
                <a:latin typeface="Arial" panose="020B0604020202020204" pitchFamily="34" charset="0"/>
                <a:cs typeface="Arial" panose="020B0604020202020204" pitchFamily="34" charset="0"/>
              </a:defRPr>
            </a:lvl1pPr>
          </a:lstStyle>
          <a:p>
            <a:r>
              <a:rPr lang="es-ES" spc="-67"/>
              <a:t>Titular </a:t>
            </a:r>
            <a:r>
              <a:rPr lang="es-ES" spc="-67" err="1"/>
              <a:t>slide</a:t>
            </a:r>
            <a:endParaRPr lang="es-ES" spc="-67"/>
          </a:p>
        </p:txBody>
      </p:sp>
      <p:pic>
        <p:nvPicPr>
          <p:cNvPr id="4" name="Group 1410104920" descr="preencoded.png">
            <a:extLst>
              <a:ext uri="{FF2B5EF4-FFF2-40B4-BE49-F238E27FC236}">
                <a16:creationId xmlns:a16="http://schemas.microsoft.com/office/drawing/2014/main" id="{38288BB0-B2BF-C7AE-A9E5-8AC82AC1753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3201" y="6139643"/>
            <a:ext cx="11792007" cy="634775"/>
          </a:xfrm>
          <a:prstGeom prst="rect">
            <a:avLst/>
          </a:prstGeom>
        </p:spPr>
      </p:pic>
      <p:sp>
        <p:nvSpPr>
          <p:cNvPr id="5" name="Marcador de texto 11">
            <a:extLst>
              <a:ext uri="{FF2B5EF4-FFF2-40B4-BE49-F238E27FC236}">
                <a16:creationId xmlns:a16="http://schemas.microsoft.com/office/drawing/2014/main" id="{95C630AC-6BB9-DD52-E7CD-51285D0CD9A9}"/>
              </a:ext>
            </a:extLst>
          </p:cNvPr>
          <p:cNvSpPr>
            <a:spLocks noGrp="1"/>
          </p:cNvSpPr>
          <p:nvPr>
            <p:ph type="body" sz="quarter" idx="13" hasCustomPrompt="1"/>
          </p:nvPr>
        </p:nvSpPr>
        <p:spPr>
          <a:xfrm>
            <a:off x="84080" y="6348056"/>
            <a:ext cx="5494417" cy="313210"/>
          </a:xfrm>
          <a:prstGeom prst="rect">
            <a:avLst/>
          </a:prstGeom>
        </p:spPr>
        <p:txBody>
          <a:bodyPr anchor="ctr"/>
          <a:lstStyle>
            <a:lvl1pPr marL="0" indent="0">
              <a:buNone/>
              <a:defRPr sz="1000" spc="0">
                <a:solidFill>
                  <a:schemeClr val="bg1">
                    <a:alpha val="50000"/>
                  </a:schemeClr>
                </a:solidFill>
                <a:latin typeface="Arial" panose="020B0604020202020204" pitchFamily="34" charset="0"/>
                <a:cs typeface="Arial" panose="020B0604020202020204" pitchFamily="34" charset="0"/>
              </a:defRPr>
            </a:lvl1pPr>
          </a:lstStyle>
          <a:p>
            <a:r>
              <a:rPr lang="es-ES"/>
              <a:t>Titular presentación</a:t>
            </a:r>
          </a:p>
        </p:txBody>
      </p:sp>
      <p:sp>
        <p:nvSpPr>
          <p:cNvPr id="6" name="Title 1">
            <a:extLst>
              <a:ext uri="{FF2B5EF4-FFF2-40B4-BE49-F238E27FC236}">
                <a16:creationId xmlns:a16="http://schemas.microsoft.com/office/drawing/2014/main" id="{5ECD547B-36D6-EC08-CB74-88FDE6FBB030}"/>
              </a:ext>
            </a:extLst>
          </p:cNvPr>
          <p:cNvSpPr txBox="1">
            <a:spLocks/>
          </p:cNvSpPr>
          <p:nvPr userDrawn="1"/>
        </p:nvSpPr>
        <p:spPr>
          <a:xfrm>
            <a:off x="5855896" y="6371332"/>
            <a:ext cx="665435" cy="266658"/>
          </a:xfrm>
          <a:prstGeom prst="rect">
            <a:avLst/>
          </a:prstGeom>
        </p:spPr>
        <p:txBody>
          <a:bodyPr anchor="b"/>
          <a:lstStyle>
            <a:lvl1pPr algn="l" defTabSz="685800" rtl="0" eaLnBrk="1" latinLnBrk="0" hangingPunct="1">
              <a:lnSpc>
                <a:spcPct val="90000"/>
              </a:lnSpc>
              <a:spcBef>
                <a:spcPct val="0"/>
              </a:spcBef>
              <a:buNone/>
              <a:defRPr sz="3800" kern="1200">
                <a:solidFill>
                  <a:schemeClr val="bg1"/>
                </a:solidFill>
                <a:latin typeface="Arial" panose="020B0604020202020204" pitchFamily="34" charset="0"/>
                <a:ea typeface="+mj-ea"/>
                <a:cs typeface="Arial" panose="020B0604020202020204" pitchFamily="34" charset="0"/>
              </a:defRPr>
            </a:lvl1pPr>
          </a:lstStyle>
          <a:p>
            <a:pPr algn="ctr"/>
            <a:fld id="{993F5DD1-6B79-C949-ADFC-E64539585265}" type="slidenum">
              <a:rPr lang="es-ES" sz="1000" baseline="0" smtClean="0">
                <a:solidFill>
                  <a:schemeClr val="bg1">
                    <a:alpha val="50000"/>
                  </a:schemeClr>
                </a:solidFill>
                <a:latin typeface="Arial" panose="020B0604020202020204" pitchFamily="34" charset="0"/>
              </a:rPr>
              <a:pPr algn="ctr"/>
              <a:t>‹Nº›</a:t>
            </a:fld>
            <a:endParaRPr lang="es-ES" sz="1000" baseline="0">
              <a:solidFill>
                <a:schemeClr val="bg1">
                  <a:alpha val="50000"/>
                </a:schemeClr>
              </a:solidFill>
              <a:latin typeface="Arial" panose="020B0604020202020204" pitchFamily="34" charset="0"/>
            </a:endParaRPr>
          </a:p>
        </p:txBody>
      </p:sp>
      <p:pic>
        <p:nvPicPr>
          <p:cNvPr id="7" name="pexels-shvets-production-7203817 1" descr="preencoded.png">
            <a:extLst>
              <a:ext uri="{FF2B5EF4-FFF2-40B4-BE49-F238E27FC236}">
                <a16:creationId xmlns:a16="http://schemas.microsoft.com/office/drawing/2014/main" id="{75BE4EDD-C50B-5D01-0110-2731FF813AE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032500" y="312113"/>
            <a:ext cx="4108451" cy="6544830"/>
          </a:xfrm>
          <a:prstGeom prst="rect">
            <a:avLst/>
          </a:prstGeom>
        </p:spPr>
      </p:pic>
      <p:sp>
        <p:nvSpPr>
          <p:cNvPr id="9" name="Marcador de texto 8">
            <a:extLst>
              <a:ext uri="{FF2B5EF4-FFF2-40B4-BE49-F238E27FC236}">
                <a16:creationId xmlns:a16="http://schemas.microsoft.com/office/drawing/2014/main" id="{5104A76B-91F5-096C-4817-F7D933931530}"/>
              </a:ext>
            </a:extLst>
          </p:cNvPr>
          <p:cNvSpPr>
            <a:spLocks noGrp="1"/>
          </p:cNvSpPr>
          <p:nvPr>
            <p:ph type="body" sz="quarter" idx="18" hasCustomPrompt="1"/>
          </p:nvPr>
        </p:nvSpPr>
        <p:spPr>
          <a:xfrm>
            <a:off x="84668" y="2187049"/>
            <a:ext cx="5312833" cy="3825747"/>
          </a:xfrm>
          <a:prstGeom prst="rect">
            <a:avLst/>
          </a:prstGeom>
        </p:spPr>
        <p:txBody>
          <a:bodyPr anchor="b"/>
          <a:lstStyle>
            <a:lvl1pPr marL="0" indent="0">
              <a:lnSpc>
                <a:spcPts val="2026"/>
              </a:lnSpc>
              <a:buNone/>
              <a:defRPr sz="1466">
                <a:solidFill>
                  <a:schemeClr val="bg1">
                    <a:alpha val="70000"/>
                  </a:schemeClr>
                </a:solidFill>
                <a:latin typeface="Arial" panose="020B0604020202020204" pitchFamily="34" charset="0"/>
                <a:cs typeface="Arial" panose="020B0604020202020204" pitchFamily="34" charset="0"/>
              </a:defRPr>
            </a:lvl1pPr>
            <a:lvl2pPr marL="609402" indent="0">
              <a:buNone/>
              <a:defRPr sz="1466">
                <a:solidFill>
                  <a:schemeClr val="bg1">
                    <a:alpha val="70000"/>
                  </a:schemeClr>
                </a:solidFill>
                <a:latin typeface="Arial" panose="020B0604020202020204" pitchFamily="34" charset="0"/>
                <a:cs typeface="Arial" panose="020B0604020202020204" pitchFamily="34" charset="0"/>
              </a:defRPr>
            </a:lvl2pPr>
            <a:lvl3pPr marL="1218804" indent="0">
              <a:buNone/>
              <a:defRPr sz="1466">
                <a:solidFill>
                  <a:schemeClr val="bg1">
                    <a:alpha val="70000"/>
                  </a:schemeClr>
                </a:solidFill>
                <a:latin typeface="Arial" panose="020B0604020202020204" pitchFamily="34" charset="0"/>
                <a:cs typeface="Arial" panose="020B0604020202020204" pitchFamily="34" charset="0"/>
              </a:defRPr>
            </a:lvl3pPr>
            <a:lvl4pPr marL="1828206" indent="0">
              <a:buNone/>
              <a:defRPr sz="1466">
                <a:solidFill>
                  <a:schemeClr val="bg1">
                    <a:alpha val="70000"/>
                  </a:schemeClr>
                </a:solidFill>
                <a:latin typeface="Arial" panose="020B0604020202020204" pitchFamily="34" charset="0"/>
                <a:cs typeface="Arial" panose="020B0604020202020204" pitchFamily="34" charset="0"/>
              </a:defRPr>
            </a:lvl4pPr>
            <a:lvl5pPr marL="2437608" indent="0">
              <a:buNone/>
              <a:defRPr sz="1466">
                <a:solidFill>
                  <a:schemeClr val="bg1">
                    <a:alpha val="70000"/>
                  </a:schemeClr>
                </a:solidFill>
                <a:latin typeface="Arial" panose="020B0604020202020204" pitchFamily="34" charset="0"/>
                <a:cs typeface="Arial" panose="020B0604020202020204" pitchFamily="34" charset="0"/>
              </a:defRPr>
            </a:lvl5pPr>
          </a:lstStyle>
          <a:p>
            <a:pPr lvl="0"/>
            <a:r>
              <a:rPr lang="es-ES"/>
              <a:t>Contenido de la </a:t>
            </a:r>
            <a:r>
              <a:rPr lang="es-ES" err="1"/>
              <a:t>slide</a:t>
            </a:r>
            <a:r>
              <a:rPr lang="es-ES"/>
              <a:t>. </a:t>
            </a:r>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 In </a:t>
            </a:r>
            <a:r>
              <a:rPr lang="es-ES" err="1"/>
              <a:t>eu</a:t>
            </a:r>
            <a:r>
              <a:rPr lang="es-ES"/>
              <a:t> </a:t>
            </a:r>
            <a:r>
              <a:rPr lang="es-ES" err="1"/>
              <a:t>porttitor</a:t>
            </a:r>
            <a:r>
              <a:rPr lang="es-ES"/>
              <a:t> </a:t>
            </a:r>
            <a:r>
              <a:rPr lang="es-ES" err="1"/>
              <a:t>purus</a:t>
            </a:r>
            <a:r>
              <a:rPr lang="es-ES"/>
              <a:t>. </a:t>
            </a:r>
            <a:r>
              <a:rPr lang="es-ES" err="1"/>
              <a:t>Proin</a:t>
            </a:r>
            <a:r>
              <a:rPr lang="es-ES"/>
              <a:t> </a:t>
            </a:r>
            <a:r>
              <a:rPr lang="es-ES" err="1"/>
              <a:t>lobortis</a:t>
            </a:r>
            <a:r>
              <a:rPr lang="es-ES"/>
              <a:t> non </a:t>
            </a:r>
            <a:r>
              <a:rPr lang="es-ES" err="1"/>
              <a:t>turpis</a:t>
            </a:r>
            <a:r>
              <a:rPr lang="es-ES"/>
              <a:t> ac </a:t>
            </a:r>
            <a:r>
              <a:rPr lang="es-ES" err="1"/>
              <a:t>interdum</a:t>
            </a:r>
            <a:r>
              <a:rPr lang="es-ES"/>
              <a:t>. </a:t>
            </a:r>
            <a:r>
              <a:rPr lang="es-ES" err="1"/>
              <a:t>Integer</a:t>
            </a:r>
            <a:r>
              <a:rPr lang="es-ES"/>
              <a:t> a </a:t>
            </a:r>
            <a:r>
              <a:rPr lang="es-ES" err="1"/>
              <a:t>ipsum</a:t>
            </a:r>
            <a:r>
              <a:rPr lang="es-ES"/>
              <a:t> </a:t>
            </a:r>
            <a:r>
              <a:rPr lang="es-ES" err="1"/>
              <a:t>dignissim</a:t>
            </a:r>
            <a:r>
              <a:rPr lang="es-ES"/>
              <a:t>, </a:t>
            </a:r>
            <a:r>
              <a:rPr lang="es-ES" err="1"/>
              <a:t>posuere</a:t>
            </a:r>
            <a:r>
              <a:rPr lang="es-ES"/>
              <a:t> </a:t>
            </a:r>
            <a:r>
              <a:rPr lang="es-ES" err="1"/>
              <a:t>sem</a:t>
            </a:r>
            <a:r>
              <a:rPr lang="es-ES"/>
              <a:t> vitae, commodo </a:t>
            </a:r>
            <a:r>
              <a:rPr lang="es-ES" err="1"/>
              <a:t>ligula</a:t>
            </a:r>
            <a:r>
              <a:rPr lang="es-ES"/>
              <a:t>. Ut ultrices mi id </a:t>
            </a:r>
            <a:r>
              <a:rPr lang="es-ES" err="1"/>
              <a:t>lectus</a:t>
            </a:r>
            <a:r>
              <a:rPr lang="es-ES"/>
              <a:t> </a:t>
            </a:r>
            <a:r>
              <a:rPr lang="es-ES" err="1"/>
              <a:t>cursus</a:t>
            </a:r>
            <a:r>
              <a:rPr lang="es-ES"/>
              <a:t> </a:t>
            </a:r>
            <a:r>
              <a:rPr lang="es-ES" err="1"/>
              <a:t>condimentum</a:t>
            </a:r>
            <a:r>
              <a:rPr lang="es-ES"/>
              <a:t>. In </a:t>
            </a:r>
            <a:r>
              <a:rPr lang="es-ES" err="1"/>
              <a:t>dictum</a:t>
            </a:r>
            <a:r>
              <a:rPr lang="es-ES"/>
              <a:t> urna ac </a:t>
            </a:r>
            <a:r>
              <a:rPr lang="es-ES" err="1"/>
              <a:t>hendrerit</a:t>
            </a:r>
            <a:r>
              <a:rPr lang="es-ES"/>
              <a:t> </a:t>
            </a:r>
            <a:r>
              <a:rPr lang="es-ES" err="1"/>
              <a:t>tempus</a:t>
            </a:r>
            <a:r>
              <a:rPr lang="es-ES"/>
              <a:t>. </a:t>
            </a:r>
            <a:r>
              <a:rPr lang="es-ES" err="1"/>
              <a:t>Class</a:t>
            </a:r>
            <a:r>
              <a:rPr lang="es-ES"/>
              <a:t> </a:t>
            </a:r>
            <a:r>
              <a:rPr lang="es-ES" err="1"/>
              <a:t>aptent</a:t>
            </a:r>
            <a:r>
              <a:rPr lang="es-ES"/>
              <a:t> </a:t>
            </a:r>
            <a:r>
              <a:rPr lang="es-ES" err="1"/>
              <a:t>taciti</a:t>
            </a:r>
            <a:r>
              <a:rPr lang="es-ES"/>
              <a:t> </a:t>
            </a:r>
            <a:r>
              <a:rPr lang="es-ES" err="1"/>
              <a:t>sociosqu</a:t>
            </a:r>
            <a:r>
              <a:rPr lang="es-ES"/>
              <a:t> ad </a:t>
            </a:r>
            <a:r>
              <a:rPr lang="es-ES" err="1"/>
              <a:t>litora</a:t>
            </a:r>
            <a:r>
              <a:rPr lang="es-ES"/>
              <a:t> </a:t>
            </a:r>
            <a:r>
              <a:rPr lang="es-ES" err="1"/>
              <a:t>torquent</a:t>
            </a:r>
            <a:r>
              <a:rPr lang="es-ES"/>
              <a:t> per </a:t>
            </a:r>
            <a:r>
              <a:rPr lang="es-ES" err="1"/>
              <a:t>conubia</a:t>
            </a:r>
            <a:r>
              <a:rPr lang="es-ES"/>
              <a:t> </a:t>
            </a:r>
            <a:r>
              <a:rPr lang="es-ES" err="1"/>
              <a:t>nostra</a:t>
            </a:r>
            <a:r>
              <a:rPr lang="es-ES"/>
              <a:t>, per </a:t>
            </a:r>
            <a:r>
              <a:rPr lang="es-ES" err="1"/>
              <a:t>inceptos</a:t>
            </a:r>
            <a:r>
              <a:rPr lang="es-ES"/>
              <a:t> </a:t>
            </a:r>
            <a:r>
              <a:rPr lang="es-ES" err="1"/>
              <a:t>himenaeos</a:t>
            </a:r>
            <a:r>
              <a:rPr lang="es-ES"/>
              <a:t>. </a:t>
            </a:r>
            <a:r>
              <a:rPr lang="es-ES" err="1"/>
              <a:t>Donec</a:t>
            </a:r>
            <a:r>
              <a:rPr lang="es-ES"/>
              <a:t> </a:t>
            </a:r>
            <a:r>
              <a:rPr lang="es-ES" err="1"/>
              <a:t>laoreet</a:t>
            </a:r>
            <a:r>
              <a:rPr lang="es-ES"/>
              <a:t> </a:t>
            </a:r>
            <a:r>
              <a:rPr lang="es-ES" err="1"/>
              <a:t>mollis</a:t>
            </a:r>
            <a:r>
              <a:rPr lang="es-ES"/>
              <a:t> </a:t>
            </a:r>
            <a:r>
              <a:rPr lang="es-ES" err="1"/>
              <a:t>est</a:t>
            </a:r>
            <a:r>
              <a:rPr lang="es-ES"/>
              <a:t>.</a:t>
            </a:r>
          </a:p>
        </p:txBody>
      </p:sp>
    </p:spTree>
    <p:extLst>
      <p:ext uri="{BB962C8B-B14F-4D97-AF65-F5344CB8AC3E}">
        <p14:creationId xmlns:p14="http://schemas.microsoft.com/office/powerpoint/2010/main" val="17493249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ágina-1 roja + pie">
    <p:bg>
      <p:bgPr>
        <a:solidFill>
          <a:srgbClr val="CC3333"/>
        </a:solidFill>
        <a:effectLst/>
      </p:bgPr>
    </p:bg>
    <p:spTree>
      <p:nvGrpSpPr>
        <p:cNvPr id="1" name=""/>
        <p:cNvGrpSpPr/>
        <p:nvPr/>
      </p:nvGrpSpPr>
      <p:grpSpPr>
        <a:xfrm>
          <a:off x="0" y="0"/>
          <a:ext cx="0" cy="0"/>
          <a:chOff x="0" y="0"/>
          <a:chExt cx="0" cy="0"/>
        </a:xfrm>
      </p:grpSpPr>
      <p:sp>
        <p:nvSpPr>
          <p:cNvPr id="2" name="Marcador de texto 8">
            <a:extLst>
              <a:ext uri="{FF2B5EF4-FFF2-40B4-BE49-F238E27FC236}">
                <a16:creationId xmlns:a16="http://schemas.microsoft.com/office/drawing/2014/main" id="{6A321B4F-1175-28AE-8363-F0043541D81D}"/>
              </a:ext>
            </a:extLst>
          </p:cNvPr>
          <p:cNvSpPr>
            <a:spLocks noGrp="1" noChangeAspect="1"/>
          </p:cNvSpPr>
          <p:nvPr>
            <p:ph type="body" sz="quarter" idx="10" hasCustomPrompt="1"/>
          </p:nvPr>
        </p:nvSpPr>
        <p:spPr>
          <a:xfrm>
            <a:off x="84080" y="184382"/>
            <a:ext cx="8247117" cy="806971"/>
          </a:xfrm>
          <a:prstGeom prst="rect">
            <a:avLst/>
          </a:prstGeom>
        </p:spPr>
        <p:txBody>
          <a:bodyPr/>
          <a:lstStyle>
            <a:lvl1pPr marL="0" indent="0" algn="l">
              <a:spcBef>
                <a:spcPts val="0"/>
              </a:spcBef>
              <a:buNone/>
              <a:defRPr sz="4399">
                <a:solidFill>
                  <a:schemeClr val="bg1"/>
                </a:solidFill>
                <a:latin typeface="Arial" panose="020B0604020202020204" pitchFamily="34" charset="0"/>
                <a:cs typeface="Arial" panose="020B0604020202020204" pitchFamily="34" charset="0"/>
              </a:defRPr>
            </a:lvl1pPr>
          </a:lstStyle>
          <a:p>
            <a:r>
              <a:rPr lang="es-ES" spc="-67" dirty="0"/>
              <a:t>Titular </a:t>
            </a:r>
            <a:r>
              <a:rPr lang="es-ES" spc="-67" dirty="0" err="1"/>
              <a:t>slide</a:t>
            </a:r>
            <a:endParaRPr lang="es-ES" spc="-67" dirty="0"/>
          </a:p>
        </p:txBody>
      </p:sp>
      <p:sp>
        <p:nvSpPr>
          <p:cNvPr id="3" name="Marcador de texto 8">
            <a:extLst>
              <a:ext uri="{FF2B5EF4-FFF2-40B4-BE49-F238E27FC236}">
                <a16:creationId xmlns:a16="http://schemas.microsoft.com/office/drawing/2014/main" id="{0BF4E538-CE7B-CA44-E2A8-53C99A8A8B64}"/>
              </a:ext>
            </a:extLst>
          </p:cNvPr>
          <p:cNvSpPr>
            <a:spLocks noGrp="1" noChangeAspect="1"/>
          </p:cNvSpPr>
          <p:nvPr>
            <p:ph type="body" sz="quarter" idx="12" hasCustomPrompt="1"/>
          </p:nvPr>
        </p:nvSpPr>
        <p:spPr>
          <a:xfrm>
            <a:off x="84080" y="1092768"/>
            <a:ext cx="3895837" cy="381204"/>
          </a:xfrm>
          <a:prstGeom prst="rect">
            <a:avLst/>
          </a:prstGeom>
        </p:spPr>
        <p:txBody>
          <a:bodyPr/>
          <a:lstStyle>
            <a:lvl1pPr marL="0" indent="0" algn="l">
              <a:spcBef>
                <a:spcPts val="0"/>
              </a:spcBef>
              <a:buNone/>
              <a:defRPr sz="1506">
                <a:solidFill>
                  <a:schemeClr val="bg1">
                    <a:alpha val="70000"/>
                  </a:schemeClr>
                </a:solidFill>
                <a:latin typeface="Arial" panose="020B0604020202020204" pitchFamily="34" charset="0"/>
                <a:cs typeface="Arial" panose="020B0604020202020204" pitchFamily="34" charset="0"/>
              </a:defRPr>
            </a:lvl1pPr>
          </a:lstStyle>
          <a:p>
            <a:r>
              <a:rPr lang="es-ES" spc="-67" dirty="0"/>
              <a:t>Contenido de la </a:t>
            </a:r>
            <a:r>
              <a:rPr lang="es-ES" spc="-67" dirty="0" err="1"/>
              <a:t>Slide</a:t>
            </a:r>
            <a:endParaRPr lang="es-ES" spc="-67" dirty="0"/>
          </a:p>
        </p:txBody>
      </p:sp>
      <p:pic>
        <p:nvPicPr>
          <p:cNvPr id="4" name="Group 1410104920" descr="preencoded.png">
            <a:extLst>
              <a:ext uri="{FF2B5EF4-FFF2-40B4-BE49-F238E27FC236}">
                <a16:creationId xmlns:a16="http://schemas.microsoft.com/office/drawing/2014/main" id="{38288BB0-B2BF-C7AE-A9E5-8AC82AC1753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3201" y="6139643"/>
            <a:ext cx="11792007" cy="634775"/>
          </a:xfrm>
          <a:prstGeom prst="rect">
            <a:avLst/>
          </a:prstGeom>
        </p:spPr>
      </p:pic>
      <p:sp>
        <p:nvSpPr>
          <p:cNvPr id="5" name="Marcador de texto 11">
            <a:extLst>
              <a:ext uri="{FF2B5EF4-FFF2-40B4-BE49-F238E27FC236}">
                <a16:creationId xmlns:a16="http://schemas.microsoft.com/office/drawing/2014/main" id="{95C630AC-6BB9-DD52-E7CD-51285D0CD9A9}"/>
              </a:ext>
            </a:extLst>
          </p:cNvPr>
          <p:cNvSpPr>
            <a:spLocks noGrp="1"/>
          </p:cNvSpPr>
          <p:nvPr>
            <p:ph type="body" sz="quarter" idx="13" hasCustomPrompt="1"/>
          </p:nvPr>
        </p:nvSpPr>
        <p:spPr>
          <a:xfrm>
            <a:off x="84080" y="6348056"/>
            <a:ext cx="5494417" cy="313210"/>
          </a:xfrm>
          <a:prstGeom prst="rect">
            <a:avLst/>
          </a:prstGeom>
        </p:spPr>
        <p:txBody>
          <a:bodyPr anchor="ctr"/>
          <a:lstStyle>
            <a:lvl1pPr marL="0" indent="0">
              <a:buNone/>
              <a:defRPr sz="1000" spc="0">
                <a:solidFill>
                  <a:schemeClr val="bg1">
                    <a:alpha val="50000"/>
                  </a:schemeClr>
                </a:solidFill>
                <a:latin typeface="Arial" panose="020B0604020202020204" pitchFamily="34" charset="0"/>
                <a:cs typeface="Arial" panose="020B0604020202020204" pitchFamily="34" charset="0"/>
              </a:defRPr>
            </a:lvl1pPr>
          </a:lstStyle>
          <a:p>
            <a:r>
              <a:rPr lang="es-ES" dirty="0"/>
              <a:t>Titular presentación</a:t>
            </a:r>
          </a:p>
        </p:txBody>
      </p:sp>
      <p:sp>
        <p:nvSpPr>
          <p:cNvPr id="6" name="Title 1">
            <a:extLst>
              <a:ext uri="{FF2B5EF4-FFF2-40B4-BE49-F238E27FC236}">
                <a16:creationId xmlns:a16="http://schemas.microsoft.com/office/drawing/2014/main" id="{5ECD547B-36D6-EC08-CB74-88FDE6FBB030}"/>
              </a:ext>
            </a:extLst>
          </p:cNvPr>
          <p:cNvSpPr txBox="1">
            <a:spLocks/>
          </p:cNvSpPr>
          <p:nvPr userDrawn="1"/>
        </p:nvSpPr>
        <p:spPr>
          <a:xfrm>
            <a:off x="5855896" y="6371332"/>
            <a:ext cx="665435" cy="266658"/>
          </a:xfrm>
          <a:prstGeom prst="rect">
            <a:avLst/>
          </a:prstGeom>
        </p:spPr>
        <p:txBody>
          <a:bodyPr anchor="b"/>
          <a:lstStyle>
            <a:lvl1pPr algn="l" defTabSz="685800" rtl="0" eaLnBrk="1" latinLnBrk="0" hangingPunct="1">
              <a:lnSpc>
                <a:spcPct val="90000"/>
              </a:lnSpc>
              <a:spcBef>
                <a:spcPct val="0"/>
              </a:spcBef>
              <a:buNone/>
              <a:defRPr sz="3800" kern="1200">
                <a:solidFill>
                  <a:schemeClr val="bg1"/>
                </a:solidFill>
                <a:latin typeface="Arial" panose="020B0604020202020204" pitchFamily="34" charset="0"/>
                <a:ea typeface="+mj-ea"/>
                <a:cs typeface="Arial" panose="020B0604020202020204" pitchFamily="34" charset="0"/>
              </a:defRPr>
            </a:lvl1pPr>
          </a:lstStyle>
          <a:p>
            <a:pPr algn="ctr"/>
            <a:fld id="{993F5DD1-6B79-C949-ADFC-E64539585265}" type="slidenum">
              <a:rPr lang="es-ES" sz="1000" baseline="0" smtClean="0">
                <a:solidFill>
                  <a:schemeClr val="bg1">
                    <a:alpha val="50000"/>
                  </a:schemeClr>
                </a:solidFill>
                <a:latin typeface="Arial" panose="020B0604020202020204" pitchFamily="34" charset="0"/>
              </a:rPr>
              <a:pPr algn="ctr"/>
              <a:t>‹Nº›</a:t>
            </a:fld>
            <a:endParaRPr lang="es-ES" sz="1000" baseline="0" dirty="0">
              <a:solidFill>
                <a:schemeClr val="bg1">
                  <a:alpha val="50000"/>
                </a:schemeClr>
              </a:solidFill>
              <a:latin typeface="Arial" panose="020B0604020202020204" pitchFamily="34" charset="0"/>
            </a:endParaRPr>
          </a:p>
        </p:txBody>
      </p:sp>
    </p:spTree>
    <p:extLst>
      <p:ext uri="{BB962C8B-B14F-4D97-AF65-F5344CB8AC3E}">
        <p14:creationId xmlns:p14="http://schemas.microsoft.com/office/powerpoint/2010/main" val="22888387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C0D818-5F66-47D9-5BA8-2967191FFCD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057CA6E0-A6E0-9328-C1B0-3EC1FFE652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5F60B8E2-3970-878C-D82B-B81CD8FE5C53}"/>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5" name="Marcador de pie de página 4">
            <a:extLst>
              <a:ext uri="{FF2B5EF4-FFF2-40B4-BE49-F238E27FC236}">
                <a16:creationId xmlns:a16="http://schemas.microsoft.com/office/drawing/2014/main" id="{53FB66F9-8206-9D3D-E91B-52DFAC871B5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6DCC0BA-BEE1-5BEB-8805-AFFD8E585090}"/>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10148176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DAE54F-E95D-14A7-61C4-593ED6D4DBB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E82BFF5-2645-0D65-6839-B0AE4A95E8A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1C21287-1CC2-94B9-2961-AD4145F150AD}"/>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5" name="Marcador de pie de página 4">
            <a:extLst>
              <a:ext uri="{FF2B5EF4-FFF2-40B4-BE49-F238E27FC236}">
                <a16:creationId xmlns:a16="http://schemas.microsoft.com/office/drawing/2014/main" id="{EBF6DE63-7F7C-9135-0F22-2445D037EAF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A41315A-4F33-11E7-F31A-0342A79166AA}"/>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1845958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A1A535-7846-EC2E-0B0F-5D46E568562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38EF1026-3B69-9AE0-4F10-94871AA3CB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5F24BE8-DADD-A362-5D3D-8B28CAE1B52A}"/>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5" name="Marcador de pie de página 4">
            <a:extLst>
              <a:ext uri="{FF2B5EF4-FFF2-40B4-BE49-F238E27FC236}">
                <a16:creationId xmlns:a16="http://schemas.microsoft.com/office/drawing/2014/main" id="{A4A696C1-6858-48F5-6253-EB12564DB32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9DABB26-5948-C38D-9659-E90486A03C9B}"/>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4050908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68FC1A-2434-FA9E-B4C7-C4B0E1F7AB5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BB7A2EB-8909-D056-DCEA-CC25D253FD1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36A3FAF2-B8B4-CD0E-F61C-5048D2F9D62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0C3A3E9F-4309-FC1C-9881-E6018148873F}"/>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6" name="Marcador de pie de página 5">
            <a:extLst>
              <a:ext uri="{FF2B5EF4-FFF2-40B4-BE49-F238E27FC236}">
                <a16:creationId xmlns:a16="http://schemas.microsoft.com/office/drawing/2014/main" id="{577B7A64-DF5A-F83D-526E-7061CD375D9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0B30DA7-7D2D-9030-600D-592C47865EB2}"/>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561456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32E2AE-A10E-35A5-4EF0-F935F46498D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9576FE4-08FA-C238-F8C0-3B7C33C8A4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A244BA8-2F90-2215-6536-226E26517CE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992E4FC8-3C71-AD85-B26F-534A9E200F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91CCB0D-CC0E-E8ED-2D7A-3998CF8F451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54B77482-0AD2-2067-D6DF-10DEDFC6F57C}"/>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8" name="Marcador de pie de página 7">
            <a:extLst>
              <a:ext uri="{FF2B5EF4-FFF2-40B4-BE49-F238E27FC236}">
                <a16:creationId xmlns:a16="http://schemas.microsoft.com/office/drawing/2014/main" id="{C3B18BE8-9983-744B-22AF-C6917CF2A427}"/>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CDBD66B1-828A-F084-48E2-8B3FF0A88F3F}"/>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39472500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CB41B0-AAE7-F1AD-E302-1A4DD1C9D7F2}"/>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F9FD8BF1-36EF-137B-10A1-09496A734D3E}"/>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4" name="Marcador de pie de página 3">
            <a:extLst>
              <a:ext uri="{FF2B5EF4-FFF2-40B4-BE49-F238E27FC236}">
                <a16:creationId xmlns:a16="http://schemas.microsoft.com/office/drawing/2014/main" id="{B3697CB4-1F8C-FC1B-3A5E-3AEEF5142E27}"/>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DCE4F013-FED3-9862-843C-9823476E481F}"/>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19925572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9AC4D0-8CF5-0642-13A7-AD8B1764B067}"/>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3" name="Marcador de pie de página 2">
            <a:extLst>
              <a:ext uri="{FF2B5EF4-FFF2-40B4-BE49-F238E27FC236}">
                <a16:creationId xmlns:a16="http://schemas.microsoft.com/office/drawing/2014/main" id="{6C416D4F-E970-FD02-8ED0-4627527321B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AB082AF1-56B8-C498-03CC-0F2D3A0DF437}"/>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4240977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3F19BB-D040-72A7-D744-F2944BAE53F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210CDCA-63C5-FA91-2B68-4227C6CDB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F99A9110-0B8A-C335-1AAD-092C6F270D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0548F74-98A8-F688-F04F-CA6E2E968C50}"/>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6" name="Marcador de pie de página 5">
            <a:extLst>
              <a:ext uri="{FF2B5EF4-FFF2-40B4-BE49-F238E27FC236}">
                <a16:creationId xmlns:a16="http://schemas.microsoft.com/office/drawing/2014/main" id="{DA1A360F-B948-EE68-B24A-F8613FFA866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93A88B1-9AB5-8281-B0B2-3E9029CA0386}"/>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2678941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5BCC20-168F-D5E0-EABA-488A493BDF1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677DF7AD-4B89-5E90-3BA0-776F95BB2A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86719165-ED2C-7A32-285E-091C7C06F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E73E917-458B-1101-4ACD-F0E6046BEEC7}"/>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6" name="Marcador de pie de página 5">
            <a:extLst>
              <a:ext uri="{FF2B5EF4-FFF2-40B4-BE49-F238E27FC236}">
                <a16:creationId xmlns:a16="http://schemas.microsoft.com/office/drawing/2014/main" id="{7C64512A-33F9-63E3-62CA-6EDEC9C8E31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3E2CAFE-98FB-79C7-A2C3-2630590F3769}"/>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6577683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7A29D1-7D97-9B22-AA5A-965EAC2EDD6C}"/>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17D86C6-B0EC-9578-5255-0F308DDC5DF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1E00BBB-1AF8-8616-510A-1F3C7B747870}"/>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5" name="Marcador de pie de página 4">
            <a:extLst>
              <a:ext uri="{FF2B5EF4-FFF2-40B4-BE49-F238E27FC236}">
                <a16:creationId xmlns:a16="http://schemas.microsoft.com/office/drawing/2014/main" id="{E6160301-92F4-A418-8C46-5E902FBF8C9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60B7D89-4306-4876-1603-2B704C7E56D7}"/>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34673605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9A72DE1-403A-1E5E-C130-E73C503B14A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EE1A3E0E-BCB1-73AA-4574-8B3034D8D98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E3464C4-224E-04B4-5ECA-1BD635A2EF78}"/>
              </a:ext>
            </a:extLst>
          </p:cNvPr>
          <p:cNvSpPr>
            <a:spLocks noGrp="1"/>
          </p:cNvSpPr>
          <p:nvPr>
            <p:ph type="dt" sz="half" idx="10"/>
          </p:nvPr>
        </p:nvSpPr>
        <p:spPr/>
        <p:txBody>
          <a:bodyPr/>
          <a:lstStyle/>
          <a:p>
            <a:fld id="{BE3442F6-E4A6-4CD2-80F4-CFB403864170}" type="datetimeFigureOut">
              <a:rPr lang="es-ES" smtClean="0"/>
              <a:t>24/10/2025</a:t>
            </a:fld>
            <a:endParaRPr lang="es-ES"/>
          </a:p>
        </p:txBody>
      </p:sp>
      <p:sp>
        <p:nvSpPr>
          <p:cNvPr id="5" name="Marcador de pie de página 4">
            <a:extLst>
              <a:ext uri="{FF2B5EF4-FFF2-40B4-BE49-F238E27FC236}">
                <a16:creationId xmlns:a16="http://schemas.microsoft.com/office/drawing/2014/main" id="{FA1F7EB8-93B6-1018-A80E-5CDDA9FF2D1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AD9C1DB-86C2-1177-E3C3-9FC2644D217E}"/>
              </a:ext>
            </a:extLst>
          </p:cNvPr>
          <p:cNvSpPr>
            <a:spLocks noGrp="1"/>
          </p:cNvSpPr>
          <p:nvPr>
            <p:ph type="sldNum" sz="quarter" idx="12"/>
          </p:nvPr>
        </p:nvSpPr>
        <p:spPr/>
        <p:txBody>
          <a:bodyPr/>
          <a:lstStyle/>
          <a:p>
            <a:fld id="{E53A4C2B-8EF3-4D63-9FA5-8C269A944533}" type="slidenum">
              <a:rPr lang="es-ES" smtClean="0"/>
              <a:t>‹Nº›</a:t>
            </a:fld>
            <a:endParaRPr lang="es-ES"/>
          </a:p>
        </p:txBody>
      </p:sp>
    </p:spTree>
    <p:extLst>
      <p:ext uri="{BB962C8B-B14F-4D97-AF65-F5344CB8AC3E}">
        <p14:creationId xmlns:p14="http://schemas.microsoft.com/office/powerpoint/2010/main" val="3446189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E1E67FE-BA26-53A7-DB57-F7CF79972A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066F495-AA83-61FA-A58B-052379B1C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943D967-F9A9-D3C5-4A50-BB9BDED319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80082A-7C9E-411E-B7FA-FDCAEA81F369}" type="datetimeFigureOut">
              <a:rPr lang="es-ES" smtClean="0"/>
              <a:t>24/10/2025</a:t>
            </a:fld>
            <a:endParaRPr lang="es-ES"/>
          </a:p>
        </p:txBody>
      </p:sp>
      <p:sp>
        <p:nvSpPr>
          <p:cNvPr id="5" name="Marcador de pie de página 4">
            <a:extLst>
              <a:ext uri="{FF2B5EF4-FFF2-40B4-BE49-F238E27FC236}">
                <a16:creationId xmlns:a16="http://schemas.microsoft.com/office/drawing/2014/main" id="{0C8D4B4E-C510-E060-3CF5-B09C10B014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2D6C1778-AF78-5865-1EFC-CF7E7BE0EB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FEAF4E-685F-458A-A4C4-193AD15339BA}" type="slidenum">
              <a:rPr lang="es-ES" smtClean="0"/>
              <a:t>‹Nº›</a:t>
            </a:fld>
            <a:endParaRPr lang="es-ES"/>
          </a:p>
        </p:txBody>
      </p:sp>
    </p:spTree>
    <p:extLst>
      <p:ext uri="{BB962C8B-B14F-4D97-AF65-F5344CB8AC3E}">
        <p14:creationId xmlns:p14="http://schemas.microsoft.com/office/powerpoint/2010/main" val="1637402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4" r:id="rId14"/>
    <p:sldLayoutId id="214748367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4633BD8-631C-68CC-F311-C0E4885274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398B4D3-B1E4-5AD2-392E-833E29A041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43DDD51-5CCE-15C6-1D7F-92EC8A9B2C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3442F6-E4A6-4CD2-80F4-CFB403864170}" type="datetimeFigureOut">
              <a:rPr lang="es-ES" smtClean="0"/>
              <a:t>24/10/2025</a:t>
            </a:fld>
            <a:endParaRPr lang="es-ES"/>
          </a:p>
        </p:txBody>
      </p:sp>
      <p:sp>
        <p:nvSpPr>
          <p:cNvPr id="5" name="Marcador de pie de página 4">
            <a:extLst>
              <a:ext uri="{FF2B5EF4-FFF2-40B4-BE49-F238E27FC236}">
                <a16:creationId xmlns:a16="http://schemas.microsoft.com/office/drawing/2014/main" id="{26273001-C02C-2E44-D9BC-C3A2744D09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68F0AD76-A398-0C95-377F-B6A113F6E9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3A4C2B-8EF3-4D63-9FA5-8C269A944533}" type="slidenum">
              <a:rPr lang="es-ES" smtClean="0"/>
              <a:t>‹Nº›</a:t>
            </a:fld>
            <a:endParaRPr lang="es-ES"/>
          </a:p>
        </p:txBody>
      </p:sp>
    </p:spTree>
    <p:extLst>
      <p:ext uri="{BB962C8B-B14F-4D97-AF65-F5344CB8AC3E}">
        <p14:creationId xmlns:p14="http://schemas.microsoft.com/office/powerpoint/2010/main" val="282748900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chart" Target="../charts/char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chart" Target="../charts/chart4.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3.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chart" Target="../charts/chart6.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hart" Target="../charts/chart7.xml"/><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chart" Target="../charts/chart9.xml"/><Relationship Id="rId10" Type="http://schemas.openxmlformats.org/officeDocument/2006/relationships/image" Target="../media/image23.svg"/><Relationship Id="rId4" Type="http://schemas.openxmlformats.org/officeDocument/2006/relationships/chart" Target="../charts/chart8.xml"/><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2.png"/><Relationship Id="rId7" Type="http://schemas.openxmlformats.org/officeDocument/2006/relationships/image" Target="../media/image25.sv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7.sv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2.png"/><Relationship Id="rId7" Type="http://schemas.openxmlformats.org/officeDocument/2006/relationships/image" Target="../media/image25.sv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7.sv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2.png"/><Relationship Id="rId7" Type="http://schemas.openxmlformats.org/officeDocument/2006/relationships/image" Target="../media/image25.sv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7.svg"/></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2.png"/><Relationship Id="rId7" Type="http://schemas.openxmlformats.org/officeDocument/2006/relationships/image" Target="../media/image25.sv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7.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9.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A482CFC-9ACA-3396-4F6A-50CD59A3880F}"/>
              </a:ext>
            </a:extLst>
          </p:cNvPr>
          <p:cNvSpPr>
            <a:spLocks noGrp="1"/>
          </p:cNvSpPr>
          <p:nvPr>
            <p:ph type="body" sz="quarter" idx="10"/>
          </p:nvPr>
        </p:nvSpPr>
        <p:spPr/>
        <p:txBody>
          <a:bodyPr/>
          <a:lstStyle/>
          <a:p>
            <a:r>
              <a:rPr lang="es-ES" spc="-67"/>
              <a:t>Conclusiones Defensas RFI</a:t>
            </a:r>
          </a:p>
        </p:txBody>
      </p:sp>
      <p:sp>
        <p:nvSpPr>
          <p:cNvPr id="3" name="Marcador de texto 2">
            <a:extLst>
              <a:ext uri="{FF2B5EF4-FFF2-40B4-BE49-F238E27FC236}">
                <a16:creationId xmlns:a16="http://schemas.microsoft.com/office/drawing/2014/main" id="{F22D48F8-2351-4398-D57F-2F13A4B160C6}"/>
              </a:ext>
            </a:extLst>
          </p:cNvPr>
          <p:cNvSpPr>
            <a:spLocks noGrp="1"/>
          </p:cNvSpPr>
          <p:nvPr>
            <p:ph type="body" sz="quarter" idx="11"/>
          </p:nvPr>
        </p:nvSpPr>
        <p:spPr/>
        <p:txBody>
          <a:bodyPr/>
          <a:lstStyle/>
          <a:p>
            <a:r>
              <a:rPr lang="es-ES">
                <a:solidFill>
                  <a:schemeClr val="bg1"/>
                </a:solidFill>
              </a:rPr>
              <a:t>Proyecto HCM</a:t>
            </a:r>
          </a:p>
        </p:txBody>
      </p:sp>
    </p:spTree>
    <p:extLst>
      <p:ext uri="{BB962C8B-B14F-4D97-AF65-F5344CB8AC3E}">
        <p14:creationId xmlns:p14="http://schemas.microsoft.com/office/powerpoint/2010/main" val="1935812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C6379-3AE8-A94D-C415-562CF9FA14CC}"/>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2726960-185F-95D2-DEB6-9383B8EFA364}"/>
              </a:ext>
            </a:extLst>
          </p:cNvPr>
          <p:cNvSpPr>
            <a:spLocks noGrp="1"/>
          </p:cNvSpPr>
          <p:nvPr>
            <p:ph type="body" sz="quarter" idx="10"/>
          </p:nvPr>
        </p:nvSpPr>
        <p:spPr/>
        <p:txBody>
          <a:bodyPr>
            <a:normAutofit fontScale="92500"/>
          </a:bodyPr>
          <a:lstStyle/>
          <a:p>
            <a:pPr algn="just">
              <a:spcBef>
                <a:spcPts val="200"/>
              </a:spcBef>
              <a:spcAft>
                <a:spcPts val="600"/>
              </a:spcAft>
            </a:pPr>
            <a:r>
              <a:rPr lang="es-ES" sz="4000" b="0" i="0" dirty="0">
                <a:solidFill>
                  <a:srgbClr val="000000"/>
                </a:solidFill>
                <a:effectLst/>
                <a:latin typeface="Segoe UI" panose="020B0502040204020203" pitchFamily="34" charset="0"/>
              </a:rPr>
              <a:t>Objetivo de la RFI y siguientes pasos</a:t>
            </a:r>
          </a:p>
        </p:txBody>
      </p:sp>
      <p:sp>
        <p:nvSpPr>
          <p:cNvPr id="5" name="Marcador de texto 4">
            <a:extLst>
              <a:ext uri="{FF2B5EF4-FFF2-40B4-BE49-F238E27FC236}">
                <a16:creationId xmlns:a16="http://schemas.microsoft.com/office/drawing/2014/main" id="{68A0FE87-ACAE-456F-87CD-A5BAA4ECD81D}"/>
              </a:ext>
            </a:extLst>
          </p:cNvPr>
          <p:cNvSpPr>
            <a:spLocks noGrp="1"/>
          </p:cNvSpPr>
          <p:nvPr>
            <p:ph type="body" sz="quarter" idx="13"/>
          </p:nvPr>
        </p:nvSpPr>
        <p:spPr/>
        <p:txBody>
          <a:bodyPr/>
          <a:lstStyle/>
          <a:p>
            <a:r>
              <a:rPr lang="es-ES" spc="-67"/>
              <a:t>Conclusiones Defensas RFI Proyecto HCM</a:t>
            </a:r>
          </a:p>
        </p:txBody>
      </p:sp>
      <p:sp>
        <p:nvSpPr>
          <p:cNvPr id="19" name="CuadroTexto 18">
            <a:extLst>
              <a:ext uri="{FF2B5EF4-FFF2-40B4-BE49-F238E27FC236}">
                <a16:creationId xmlns:a16="http://schemas.microsoft.com/office/drawing/2014/main" id="{6AFDA5D2-C9AB-93A5-73D0-9582B9A3BC80}"/>
              </a:ext>
            </a:extLst>
          </p:cNvPr>
          <p:cNvSpPr txBox="1"/>
          <p:nvPr/>
        </p:nvSpPr>
        <p:spPr>
          <a:xfrm>
            <a:off x="412549" y="1279798"/>
            <a:ext cx="11228465" cy="3760004"/>
          </a:xfrm>
          <a:prstGeom prst="rect">
            <a:avLst/>
          </a:prstGeom>
          <a:noFill/>
        </p:spPr>
        <p:txBody>
          <a:bodyPr wrap="square" lIns="91440" tIns="45720" rIns="91440" bIns="45720" rtlCol="0" anchor="t">
            <a:spAutoFit/>
          </a:bodyPr>
          <a:lstStyle/>
          <a:p>
            <a:pPr algn="just">
              <a:spcBef>
                <a:spcPts val="200"/>
              </a:spcBef>
              <a:spcAft>
                <a:spcPts val="600"/>
              </a:spcAft>
            </a:pPr>
            <a:endParaRPr lang="es-ES" sz="1300" b="0" i="0" dirty="0">
              <a:solidFill>
                <a:srgbClr val="000000"/>
              </a:solidFill>
              <a:effectLst/>
              <a:latin typeface="Segoe UI" panose="020B0502040204020203" pitchFamily="34" charset="0"/>
            </a:endParaRPr>
          </a:p>
          <a:p>
            <a:pPr algn="just">
              <a:spcBef>
                <a:spcPts val="200"/>
              </a:spcBef>
              <a:spcAft>
                <a:spcPts val="600"/>
              </a:spcAft>
            </a:pPr>
            <a:r>
              <a:rPr lang="es-ES" sz="1600" b="0" i="0" dirty="0">
                <a:solidFill>
                  <a:srgbClr val="000000"/>
                </a:solidFill>
                <a:effectLst/>
                <a:latin typeface="Segoe UI" panose="020B0502040204020203" pitchFamily="34" charset="0"/>
              </a:rPr>
              <a:t>   El objetivo principal de esta RFI ha sido identificar, desde una perspectiva funcional y de producto, qué soluciones del mercado están en disposición de cubrir los requerimientos actuales y futuros del área de Personas y Comunicación de Línea Directa. </a:t>
            </a:r>
          </a:p>
          <a:p>
            <a:pPr algn="just">
              <a:spcBef>
                <a:spcPts val="200"/>
              </a:spcBef>
              <a:spcAft>
                <a:spcPts val="600"/>
              </a:spcAft>
            </a:pPr>
            <a:endParaRPr lang="es-ES" sz="1600" dirty="0">
              <a:solidFill>
                <a:srgbClr val="000000"/>
              </a:solidFill>
              <a:latin typeface="Segoe UI" panose="020B0502040204020203" pitchFamily="34" charset="0"/>
            </a:endParaRPr>
          </a:p>
          <a:p>
            <a:pPr algn="just">
              <a:spcBef>
                <a:spcPts val="200"/>
              </a:spcBef>
              <a:spcAft>
                <a:spcPts val="600"/>
              </a:spcAft>
            </a:pPr>
            <a:r>
              <a:rPr lang="es-ES" sz="1600" b="0" i="0" dirty="0">
                <a:solidFill>
                  <a:srgbClr val="000000"/>
                </a:solidFill>
                <a:effectLst/>
                <a:latin typeface="Segoe UI"/>
                <a:cs typeface="Segoe UI"/>
              </a:rPr>
              <a:t>   Tras analizar las propuestas recibidas y valorar en profundidad tanto la cobertura como la madurez funcional de cada solución, podemos confirmar que tanto Oracle Cloud HCM como </a:t>
            </a:r>
            <a:r>
              <a:rPr lang="es-ES" sz="1600" b="0" i="0" dirty="0" err="1">
                <a:solidFill>
                  <a:srgbClr val="000000"/>
                </a:solidFill>
                <a:effectLst/>
                <a:latin typeface="Segoe UI"/>
                <a:cs typeface="Segoe UI"/>
              </a:rPr>
              <a:t>Workday</a:t>
            </a:r>
            <a:r>
              <a:rPr lang="es-ES" sz="1600" b="0" i="0" dirty="0">
                <a:solidFill>
                  <a:srgbClr val="000000"/>
                </a:solidFill>
                <a:effectLst/>
                <a:latin typeface="Segoe UI"/>
                <a:cs typeface="Segoe UI"/>
              </a:rPr>
              <a:t> Cloud HCM responden adecuadamente a nuestras necesidades, cada una con enfoques y fortalezas diferenciadas</a:t>
            </a:r>
            <a:r>
              <a:rPr lang="es-ES" sz="1600" dirty="0">
                <a:solidFill>
                  <a:srgbClr val="000000"/>
                </a:solidFill>
                <a:latin typeface="Segoe UI"/>
                <a:cs typeface="Segoe UI"/>
              </a:rPr>
              <a:t>, que</a:t>
            </a:r>
            <a:r>
              <a:rPr lang="es-ES" sz="1600" b="0" i="0" dirty="0">
                <a:solidFill>
                  <a:srgbClr val="000000"/>
                </a:solidFill>
                <a:effectLst/>
                <a:latin typeface="Segoe UI"/>
                <a:cs typeface="Segoe UI"/>
              </a:rPr>
              <a:t> en las siguientes </a:t>
            </a:r>
            <a:r>
              <a:rPr lang="es-ES" sz="1600" b="0" i="0" dirty="0" err="1">
                <a:solidFill>
                  <a:srgbClr val="000000"/>
                </a:solidFill>
                <a:effectLst/>
                <a:latin typeface="Segoe UI"/>
                <a:cs typeface="Segoe UI"/>
              </a:rPr>
              <a:t>slide</a:t>
            </a:r>
            <a:r>
              <a:rPr lang="es-ES" sz="1600" b="0" i="0" dirty="0">
                <a:solidFill>
                  <a:srgbClr val="000000"/>
                </a:solidFill>
                <a:effectLst/>
                <a:latin typeface="Segoe UI"/>
                <a:cs typeface="Segoe UI"/>
              </a:rPr>
              <a:t> pasamos a detallar.</a:t>
            </a:r>
          </a:p>
          <a:p>
            <a:pPr algn="just">
              <a:spcBef>
                <a:spcPts val="200"/>
              </a:spcBef>
              <a:spcAft>
                <a:spcPts val="600"/>
              </a:spcAft>
            </a:pPr>
            <a:endParaRPr lang="es-ES" sz="1600" b="0" i="0" dirty="0">
              <a:solidFill>
                <a:srgbClr val="000000"/>
              </a:solidFill>
              <a:effectLst/>
              <a:latin typeface="Segoe UI" panose="020B0502040204020203" pitchFamily="34" charset="0"/>
            </a:endParaRPr>
          </a:p>
          <a:p>
            <a:pPr algn="just">
              <a:spcBef>
                <a:spcPts val="200"/>
              </a:spcBef>
              <a:spcAft>
                <a:spcPts val="600"/>
              </a:spcAft>
            </a:pPr>
            <a:r>
              <a:rPr lang="es-ES" sz="1600" b="0" i="0" dirty="0">
                <a:solidFill>
                  <a:srgbClr val="000000"/>
                </a:solidFill>
                <a:effectLst/>
                <a:latin typeface="Segoe UI" panose="020B0502040204020203" pitchFamily="34" charset="0"/>
              </a:rPr>
              <a:t>   Esta información nos permite cerrar con claridad la fase de análisis funcional y nos posiciona en condiciones óptimas para dar el siguiente paso: una RFI técnica y de implantación, donde evaluaremos de forma específica los planes de proyecto, metodología y capacidades de los integradores. Este próximo hito será clave para entender el impacto técnico real de la migración, la planificación temporal y los recursos necesarios, así como los riesgos a contemplar en cada alternativa.</a:t>
            </a:r>
            <a:endParaRPr lang="es-ES" sz="1600" kern="0" dirty="0">
              <a:solidFill>
                <a:srgbClr val="1A1A1A">
                  <a:alpha val="60000"/>
                </a:srgbClr>
              </a:solidFill>
              <a:latin typeface="Arial Regular" pitchFamily="34" charset="0"/>
              <a:ea typeface="Arial Regular" pitchFamily="34" charset="-122"/>
            </a:endParaRPr>
          </a:p>
        </p:txBody>
      </p:sp>
    </p:spTree>
    <p:extLst>
      <p:ext uri="{BB962C8B-B14F-4D97-AF65-F5344CB8AC3E}">
        <p14:creationId xmlns:p14="http://schemas.microsoft.com/office/powerpoint/2010/main" val="2549225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AFA81-1921-48A4-3405-E2067ECF26A6}"/>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D0DEB301-5336-D286-A589-E4B2AD8D8B09}"/>
              </a:ext>
            </a:extLst>
          </p:cNvPr>
          <p:cNvSpPr>
            <a:spLocks noGrp="1"/>
          </p:cNvSpPr>
          <p:nvPr>
            <p:ph type="body" sz="quarter" idx="10"/>
          </p:nvPr>
        </p:nvSpPr>
        <p:spPr/>
        <p:txBody>
          <a:bodyPr/>
          <a:lstStyle/>
          <a:p>
            <a:pPr>
              <a:lnSpc>
                <a:spcPts val="4798"/>
              </a:lnSpc>
            </a:pPr>
            <a:r>
              <a:rPr lang="es-ES_tradnl" kern="0" spc="-100" noProof="0" dirty="0">
                <a:latin typeface="Arial Regular" pitchFamily="34" charset="0"/>
                <a:ea typeface="Arial Regular" pitchFamily="34" charset="-122"/>
                <a:cs typeface="Arial Regular" pitchFamily="34" charset="-120"/>
              </a:rPr>
              <a:t>Defensas por </a:t>
            </a:r>
            <a:r>
              <a:rPr lang="es-ES_tradnl" kern="0" spc="-100" dirty="0">
                <a:latin typeface="Arial Regular" pitchFamily="34" charset="0"/>
                <a:ea typeface="Arial Regular" pitchFamily="34" charset="-122"/>
                <a:cs typeface="Arial Regular" pitchFamily="34" charset="-120"/>
              </a:rPr>
              <a:t>producto</a:t>
            </a:r>
            <a:endParaRPr lang="es-ES_tradnl" spc="-100" noProof="0" dirty="0"/>
          </a:p>
        </p:txBody>
      </p:sp>
      <p:sp>
        <p:nvSpPr>
          <p:cNvPr id="5" name="Marcador de texto 4">
            <a:extLst>
              <a:ext uri="{FF2B5EF4-FFF2-40B4-BE49-F238E27FC236}">
                <a16:creationId xmlns:a16="http://schemas.microsoft.com/office/drawing/2014/main" id="{225A80F6-C9DB-F408-D281-72296657AAED}"/>
              </a:ext>
            </a:extLst>
          </p:cNvPr>
          <p:cNvSpPr>
            <a:spLocks noGrp="1"/>
          </p:cNvSpPr>
          <p:nvPr>
            <p:ph type="body" sz="quarter" idx="13"/>
          </p:nvPr>
        </p:nvSpPr>
        <p:spPr/>
        <p:txBody>
          <a:bodyPr/>
          <a:lstStyle/>
          <a:p>
            <a:r>
              <a:rPr lang="es-ES" spc="-67"/>
              <a:t>Conclusiones Defensas RFI Proyecto HCM</a:t>
            </a:r>
          </a:p>
        </p:txBody>
      </p:sp>
      <p:sp>
        <p:nvSpPr>
          <p:cNvPr id="7" name="Rectángulo 6">
            <a:extLst>
              <a:ext uri="{FF2B5EF4-FFF2-40B4-BE49-F238E27FC236}">
                <a16:creationId xmlns:a16="http://schemas.microsoft.com/office/drawing/2014/main" id="{2C33E94E-2952-773B-23C0-6846FAB4B61C}"/>
              </a:ext>
            </a:extLst>
          </p:cNvPr>
          <p:cNvSpPr/>
          <p:nvPr/>
        </p:nvSpPr>
        <p:spPr>
          <a:xfrm>
            <a:off x="235131" y="1574830"/>
            <a:ext cx="11721737" cy="438804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Marcador de texto 15">
            <a:extLst>
              <a:ext uri="{FF2B5EF4-FFF2-40B4-BE49-F238E27FC236}">
                <a16:creationId xmlns:a16="http://schemas.microsoft.com/office/drawing/2014/main" id="{D52700D8-F536-3926-644D-D62A630EE6F1}"/>
              </a:ext>
            </a:extLst>
          </p:cNvPr>
          <p:cNvSpPr txBox="1">
            <a:spLocks/>
          </p:cNvSpPr>
          <p:nvPr/>
        </p:nvSpPr>
        <p:spPr>
          <a:xfrm>
            <a:off x="307805" y="2044919"/>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b="1" kern="0" dirty="0">
                <a:solidFill>
                  <a:srgbClr val="1A1A1A"/>
                </a:solidFill>
                <a:latin typeface="Arial Regular" pitchFamily="34" charset="0"/>
                <a:ea typeface="Arial Regular" pitchFamily="34" charset="-122"/>
              </a:rPr>
              <a:t>Conclusiones</a:t>
            </a:r>
            <a:r>
              <a:rPr lang="es-ES" sz="1200" b="1" kern="0" dirty="0">
                <a:solidFill>
                  <a:srgbClr val="1A1A1A"/>
                </a:solidFill>
                <a:latin typeface="Arial Regular" pitchFamily="34" charset="0"/>
                <a:ea typeface="Arial Regular" pitchFamily="34" charset="-122"/>
              </a:rPr>
              <a:t> </a:t>
            </a:r>
            <a:endParaRPr lang="es-ES" sz="1466" b="1" kern="0" dirty="0">
              <a:solidFill>
                <a:srgbClr val="1A1A1A"/>
              </a:solidFill>
              <a:latin typeface="Arial Regular" pitchFamily="34" charset="0"/>
              <a:ea typeface="Arial Regular" pitchFamily="34" charset="-122"/>
            </a:endParaRPr>
          </a:p>
        </p:txBody>
      </p:sp>
      <p:pic>
        <p:nvPicPr>
          <p:cNvPr id="18" name="ahorro">
            <a:extLst>
              <a:ext uri="{FF2B5EF4-FFF2-40B4-BE49-F238E27FC236}">
                <a16:creationId xmlns:a16="http://schemas.microsoft.com/office/drawing/2014/main" id="{69BB4573-82CD-24E8-1F5D-2A60C54A087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91931" y="1658356"/>
            <a:ext cx="304706" cy="304706"/>
          </a:xfrm>
          <a:prstGeom prst="rect">
            <a:avLst/>
          </a:prstGeom>
        </p:spPr>
      </p:pic>
      <p:sp>
        <p:nvSpPr>
          <p:cNvPr id="19" name="CuadroTexto 18">
            <a:extLst>
              <a:ext uri="{FF2B5EF4-FFF2-40B4-BE49-F238E27FC236}">
                <a16:creationId xmlns:a16="http://schemas.microsoft.com/office/drawing/2014/main" id="{3C23439E-2C69-D96B-8248-F127C2545394}"/>
              </a:ext>
            </a:extLst>
          </p:cNvPr>
          <p:cNvSpPr txBox="1"/>
          <p:nvPr/>
        </p:nvSpPr>
        <p:spPr>
          <a:xfrm>
            <a:off x="412550" y="2475548"/>
            <a:ext cx="11404312" cy="2908489"/>
          </a:xfrm>
          <a:prstGeom prst="rect">
            <a:avLst/>
          </a:prstGeom>
          <a:noFill/>
        </p:spPr>
        <p:txBody>
          <a:bodyPr wrap="square" rtlCol="0">
            <a:spAutoFit/>
          </a:bodyPr>
          <a:lstStyle/>
          <a:p>
            <a:pPr algn="just">
              <a:spcBef>
                <a:spcPts val="600"/>
              </a:spcBef>
              <a:spcAft>
                <a:spcPts val="600"/>
              </a:spcAft>
            </a:pPr>
            <a:r>
              <a:rPr lang="es-ES" sz="1300" b="0" i="0" dirty="0">
                <a:solidFill>
                  <a:srgbClr val="000000"/>
                </a:solidFill>
                <a:effectLst/>
                <a:latin typeface="Segoe UI" panose="020B0502040204020203" pitchFamily="34" charset="0"/>
              </a:rPr>
              <a:t>    La propuesta de </a:t>
            </a:r>
            <a:r>
              <a:rPr lang="es-ES" sz="1300" b="0" i="0" dirty="0">
                <a:solidFill>
                  <a:srgbClr val="C00000"/>
                </a:solidFill>
                <a:effectLst/>
                <a:latin typeface="Segoe UI" panose="020B0502040204020203" pitchFamily="34" charset="0"/>
              </a:rPr>
              <a:t>Oracle Cloud HCM </a:t>
            </a:r>
            <a:r>
              <a:rPr lang="es-ES" sz="1300" b="0" i="0" dirty="0">
                <a:solidFill>
                  <a:srgbClr val="000000"/>
                </a:solidFill>
                <a:effectLst/>
                <a:latin typeface="Segoe UI" panose="020B0502040204020203" pitchFamily="34" charset="0"/>
              </a:rPr>
              <a:t>se presenta como una </a:t>
            </a:r>
            <a:r>
              <a:rPr lang="es-ES" sz="1300" b="0" i="0" dirty="0">
                <a:solidFill>
                  <a:srgbClr val="C00000"/>
                </a:solidFill>
                <a:effectLst/>
                <a:latin typeface="Segoe UI" panose="020B0502040204020203" pitchFamily="34" charset="0"/>
              </a:rPr>
              <a:t>evolución natural de nuestra solución actual </a:t>
            </a:r>
            <a:r>
              <a:rPr lang="es-ES" sz="1300" b="0" i="0" dirty="0">
                <a:solidFill>
                  <a:srgbClr val="000000"/>
                </a:solidFill>
                <a:effectLst/>
                <a:latin typeface="Segoe UI" panose="020B0502040204020203" pitchFamily="34" charset="0"/>
              </a:rPr>
              <a:t>(PeopleSoft), lo que permite una transición progresiva, sin disrupciones, y con una menor curva de adaptación para los equipos de RRHH.</a:t>
            </a:r>
          </a:p>
          <a:p>
            <a:pPr algn="just">
              <a:spcBef>
                <a:spcPts val="600"/>
              </a:spcBef>
              <a:spcAft>
                <a:spcPts val="600"/>
              </a:spcAft>
            </a:pPr>
            <a:r>
              <a:rPr lang="es-ES" sz="1300" b="0" i="0" dirty="0">
                <a:solidFill>
                  <a:srgbClr val="000000"/>
                </a:solidFill>
                <a:effectLst/>
                <a:latin typeface="Segoe UI" panose="020B0502040204020203" pitchFamily="34" charset="0"/>
              </a:rPr>
              <a:t>Su </a:t>
            </a:r>
            <a:r>
              <a:rPr lang="es-ES" sz="1300" b="0" i="0" dirty="0">
                <a:solidFill>
                  <a:srgbClr val="C00000"/>
                </a:solidFill>
                <a:effectLst/>
                <a:latin typeface="Segoe UI" panose="020B0502040204020203" pitchFamily="34" charset="0"/>
              </a:rPr>
              <a:t>cobertura funcional es completa y madura</a:t>
            </a:r>
            <a:r>
              <a:rPr lang="es-ES" sz="1300" b="0" i="0" dirty="0">
                <a:solidFill>
                  <a:srgbClr val="000000"/>
                </a:solidFill>
                <a:effectLst/>
                <a:latin typeface="Segoe UI" panose="020B0502040204020203" pitchFamily="34" charset="0"/>
              </a:rPr>
              <a:t>, permite una implantación gradual, activando solo los módulos necesarios en cada fase, y manteniendo PeopleSoft como sistema de apoyo durante el proceso de cambio. Esta estrategia no solo reduce el esfuerzo inicial, sino que también permite ajustar la inversión de forma controlada gracias a un modelo de licenciamiento flexible y por módulo.</a:t>
            </a:r>
          </a:p>
          <a:p>
            <a:pPr algn="just">
              <a:spcBef>
                <a:spcPts val="600"/>
              </a:spcBef>
              <a:spcAft>
                <a:spcPts val="600"/>
              </a:spcAft>
            </a:pPr>
            <a:r>
              <a:rPr lang="es-ES" sz="1300" dirty="0">
                <a:solidFill>
                  <a:srgbClr val="000000"/>
                </a:solidFill>
                <a:latin typeface="Segoe UI" panose="020B0502040204020203" pitchFamily="34" charset="0"/>
              </a:rPr>
              <a:t>    O</a:t>
            </a:r>
            <a:r>
              <a:rPr lang="es-ES" sz="1300" b="0" i="0" dirty="0">
                <a:solidFill>
                  <a:srgbClr val="000000"/>
                </a:solidFill>
                <a:effectLst/>
                <a:latin typeface="Segoe UI" panose="020B0502040204020203" pitchFamily="34" charset="0"/>
              </a:rPr>
              <a:t>racle pone a disposición </a:t>
            </a:r>
            <a:r>
              <a:rPr lang="es-ES" sz="1300" b="0" i="0" dirty="0">
                <a:solidFill>
                  <a:srgbClr val="C00000"/>
                </a:solidFill>
                <a:effectLst/>
                <a:latin typeface="Segoe UI" panose="020B0502040204020203" pitchFamily="34" charset="0"/>
              </a:rPr>
              <a:t>herramientas propias de migración que aceleran la implantación</a:t>
            </a:r>
            <a:r>
              <a:rPr lang="es-ES" sz="1300" b="0" i="0" dirty="0">
                <a:solidFill>
                  <a:srgbClr val="000000"/>
                </a:solidFill>
                <a:effectLst/>
                <a:latin typeface="Segoe UI" panose="020B0502040204020203" pitchFamily="34" charset="0"/>
              </a:rPr>
              <a:t>, minimizan riesgos técnicos </a:t>
            </a:r>
            <a:r>
              <a:rPr lang="es-ES" sz="1300" b="0" i="0" dirty="0">
                <a:solidFill>
                  <a:srgbClr val="C00000"/>
                </a:solidFill>
                <a:effectLst/>
                <a:latin typeface="Segoe UI" panose="020B0502040204020203" pitchFamily="34" charset="0"/>
              </a:rPr>
              <a:t>y facilitan el traslado de datos históricos.</a:t>
            </a:r>
          </a:p>
          <a:p>
            <a:pPr algn="just">
              <a:spcBef>
                <a:spcPts val="600"/>
              </a:spcBef>
              <a:spcAft>
                <a:spcPts val="600"/>
              </a:spcAft>
            </a:pPr>
            <a:r>
              <a:rPr lang="es-ES" sz="1300" b="0" i="0" dirty="0">
                <a:solidFill>
                  <a:srgbClr val="C00000"/>
                </a:solidFill>
                <a:effectLst/>
                <a:latin typeface="Segoe UI" panose="020B0502040204020203" pitchFamily="34" charset="0"/>
              </a:rPr>
              <a:t>     La interfaz está al nivel de los mejores productos del mercado</a:t>
            </a:r>
            <a:r>
              <a:rPr lang="es-ES" sz="1300" b="0" i="0" dirty="0">
                <a:solidFill>
                  <a:srgbClr val="000000"/>
                </a:solidFill>
                <a:effectLst/>
                <a:latin typeface="Segoe UI" panose="020B0502040204020203" pitchFamily="34" charset="0"/>
              </a:rPr>
              <a:t>, combinando accesibilidad y diseño funcional, con foco en productividad y consistencia. Así lo avala su posicionamiento</a:t>
            </a:r>
            <a:r>
              <a:rPr lang="es-ES" sz="1300" b="0" i="0" dirty="0">
                <a:solidFill>
                  <a:srgbClr val="C00000"/>
                </a:solidFill>
                <a:effectLst/>
                <a:latin typeface="Segoe UI" panose="020B0502040204020203" pitchFamily="34" charset="0"/>
              </a:rPr>
              <a:t>: líder en el Cuadrante Mágico de Gartner durante nueve años consecutivos en soluciones HCM</a:t>
            </a:r>
            <a:r>
              <a:rPr lang="es-ES" sz="1300" b="0" i="0" dirty="0">
                <a:solidFill>
                  <a:srgbClr val="000000"/>
                </a:solidFill>
                <a:effectLst/>
                <a:latin typeface="Segoe UI" panose="020B0502040204020203" pitchFamily="34" charset="0"/>
              </a:rPr>
              <a:t>.</a:t>
            </a:r>
          </a:p>
          <a:p>
            <a:pPr algn="just">
              <a:spcBef>
                <a:spcPts val="600"/>
              </a:spcBef>
              <a:spcAft>
                <a:spcPts val="600"/>
              </a:spcAft>
            </a:pPr>
            <a:r>
              <a:rPr lang="es-ES" sz="1300" b="0" i="0" dirty="0">
                <a:solidFill>
                  <a:srgbClr val="000000"/>
                </a:solidFill>
                <a:effectLst/>
                <a:latin typeface="Segoe UI" panose="020B0502040204020203" pitchFamily="34" charset="0"/>
              </a:rPr>
              <a:t>     Para sacar todo su potencial, será clave acompañar el proyecto con un plan sólido de gestión del cambio que ayude a adoptar nuevas prácticas y evite replicar estructuras heredadas.</a:t>
            </a:r>
            <a:endParaRPr lang="es-ES" sz="1300" kern="0" dirty="0">
              <a:solidFill>
                <a:srgbClr val="1A1A1A">
                  <a:alpha val="60000"/>
                </a:srgbClr>
              </a:solidFill>
              <a:latin typeface="Arial Regular" pitchFamily="34" charset="0"/>
              <a:ea typeface="Arial Regular" pitchFamily="34" charset="-122"/>
            </a:endParaRPr>
          </a:p>
        </p:txBody>
      </p:sp>
      <p:pic>
        <p:nvPicPr>
          <p:cNvPr id="26" name="Picture 4" descr="Comprar acciones de Oracle este 2024: Lo que necesitas saber - The Investor  U">
            <a:extLst>
              <a:ext uri="{FF2B5EF4-FFF2-40B4-BE49-F238E27FC236}">
                <a16:creationId xmlns:a16="http://schemas.microsoft.com/office/drawing/2014/main" id="{5CD5FDC9-1447-F226-5B05-696F7578EB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131" y="894567"/>
            <a:ext cx="1464964" cy="824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254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05AFA81-1921-48A4-3405-E2067ECF26A6}"/>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D0DEB301-5336-D286-A589-E4B2AD8D8B09}"/>
              </a:ext>
            </a:extLst>
          </p:cNvPr>
          <p:cNvSpPr>
            <a:spLocks noGrp="1"/>
          </p:cNvSpPr>
          <p:nvPr>
            <p:ph type="body" sz="quarter" idx="10"/>
          </p:nvPr>
        </p:nvSpPr>
        <p:spPr/>
        <p:txBody>
          <a:bodyPr/>
          <a:lstStyle/>
          <a:p>
            <a:pPr>
              <a:lnSpc>
                <a:spcPts val="4798"/>
              </a:lnSpc>
            </a:pPr>
            <a:r>
              <a:rPr lang="es-ES_tradnl" kern="0" spc="-100" noProof="0">
                <a:latin typeface="Arial Regular" pitchFamily="34" charset="0"/>
                <a:ea typeface="Arial Regular" pitchFamily="34" charset="-122"/>
                <a:cs typeface="Arial Regular" pitchFamily="34" charset="-120"/>
              </a:rPr>
              <a:t>Defensas por Fabricante</a:t>
            </a:r>
            <a:endParaRPr lang="es-ES_tradnl" spc="-100" noProof="0"/>
          </a:p>
        </p:txBody>
      </p:sp>
      <p:sp>
        <p:nvSpPr>
          <p:cNvPr id="5" name="Marcador de texto 4">
            <a:extLst>
              <a:ext uri="{FF2B5EF4-FFF2-40B4-BE49-F238E27FC236}">
                <a16:creationId xmlns:a16="http://schemas.microsoft.com/office/drawing/2014/main" id="{225A80F6-C9DB-F408-D281-72296657AAED}"/>
              </a:ext>
            </a:extLst>
          </p:cNvPr>
          <p:cNvSpPr>
            <a:spLocks noGrp="1"/>
          </p:cNvSpPr>
          <p:nvPr>
            <p:ph type="body" sz="quarter" idx="13"/>
          </p:nvPr>
        </p:nvSpPr>
        <p:spPr/>
        <p:txBody>
          <a:bodyPr/>
          <a:lstStyle/>
          <a:p>
            <a:r>
              <a:rPr lang="es-ES" spc="-67"/>
              <a:t>Conclusiones Defensas RFI Proyecto HCM</a:t>
            </a:r>
          </a:p>
        </p:txBody>
      </p:sp>
      <p:sp>
        <p:nvSpPr>
          <p:cNvPr id="4" name="Rectángulo 3">
            <a:extLst>
              <a:ext uri="{FF2B5EF4-FFF2-40B4-BE49-F238E27FC236}">
                <a16:creationId xmlns:a16="http://schemas.microsoft.com/office/drawing/2014/main" id="{279FCD02-3EF7-2CEF-3890-75E3E131A2E3}"/>
              </a:ext>
            </a:extLst>
          </p:cNvPr>
          <p:cNvSpPr/>
          <p:nvPr/>
        </p:nvSpPr>
        <p:spPr>
          <a:xfrm>
            <a:off x="195208" y="1575387"/>
            <a:ext cx="3719245" cy="43880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11F49E22-E6AC-74A3-8C76-098A3A05E7FD}"/>
              </a:ext>
            </a:extLst>
          </p:cNvPr>
          <p:cNvSpPr/>
          <p:nvPr/>
        </p:nvSpPr>
        <p:spPr>
          <a:xfrm>
            <a:off x="4191736" y="1575387"/>
            <a:ext cx="3719245" cy="43880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2C33E94E-2952-773B-23C0-6846FAB4B61C}"/>
              </a:ext>
            </a:extLst>
          </p:cNvPr>
          <p:cNvSpPr/>
          <p:nvPr/>
        </p:nvSpPr>
        <p:spPr>
          <a:xfrm>
            <a:off x="8095107" y="1574830"/>
            <a:ext cx="3719245" cy="438804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Marcador de texto 15">
            <a:extLst>
              <a:ext uri="{FF2B5EF4-FFF2-40B4-BE49-F238E27FC236}">
                <a16:creationId xmlns:a16="http://schemas.microsoft.com/office/drawing/2014/main" id="{811C26E4-D4EB-CF2D-8577-865688EA4B68}"/>
              </a:ext>
            </a:extLst>
          </p:cNvPr>
          <p:cNvSpPr txBox="1">
            <a:spLocks/>
          </p:cNvSpPr>
          <p:nvPr/>
        </p:nvSpPr>
        <p:spPr>
          <a:xfrm>
            <a:off x="224029" y="2080511"/>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b="1" kern="0">
                <a:solidFill>
                  <a:srgbClr val="1A1A1A"/>
                </a:solidFill>
                <a:latin typeface="Arial Regular" pitchFamily="34" charset="0"/>
                <a:ea typeface="Arial Regular" pitchFamily="34" charset="-122"/>
              </a:rPr>
              <a:t>Cobertura Funcional y Madurez</a:t>
            </a:r>
          </a:p>
        </p:txBody>
      </p:sp>
      <p:pic>
        <p:nvPicPr>
          <p:cNvPr id="9" name="ahorro">
            <a:extLst>
              <a:ext uri="{FF2B5EF4-FFF2-40B4-BE49-F238E27FC236}">
                <a16:creationId xmlns:a16="http://schemas.microsoft.com/office/drawing/2014/main" id="{20870509-2D40-8B4E-CFF6-F330BEC2A4B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8155" y="1639518"/>
            <a:ext cx="304706" cy="304706"/>
          </a:xfrm>
          <a:prstGeom prst="rect">
            <a:avLst/>
          </a:prstGeom>
        </p:spPr>
      </p:pic>
      <p:sp>
        <p:nvSpPr>
          <p:cNvPr id="10" name="CuadroTexto 9">
            <a:extLst>
              <a:ext uri="{FF2B5EF4-FFF2-40B4-BE49-F238E27FC236}">
                <a16:creationId xmlns:a16="http://schemas.microsoft.com/office/drawing/2014/main" id="{847A2184-A616-1EF5-4780-269148A9F921}"/>
              </a:ext>
            </a:extLst>
          </p:cNvPr>
          <p:cNvSpPr txBox="1"/>
          <p:nvPr/>
        </p:nvSpPr>
        <p:spPr>
          <a:xfrm>
            <a:off x="328773" y="2414428"/>
            <a:ext cx="3452117" cy="3516347"/>
          </a:xfrm>
          <a:prstGeom prst="rect">
            <a:avLst/>
          </a:prstGeom>
          <a:noFill/>
        </p:spPr>
        <p:txBody>
          <a:bodyPr wrap="square" rtlCol="0">
            <a:spAutoFit/>
          </a:bodyPr>
          <a:lstStyle/>
          <a:p>
            <a:pPr marL="171450" indent="-171450">
              <a:spcBef>
                <a:spcPts val="600"/>
              </a:spcBef>
              <a:spcAft>
                <a:spcPts val="600"/>
              </a:spcAft>
              <a:buFontTx/>
              <a:buChar char="-"/>
            </a:pPr>
            <a:r>
              <a:rPr lang="es-ES" sz="1150" kern="0" dirty="0">
                <a:solidFill>
                  <a:srgbClr val="1A1A1A">
                    <a:alpha val="60000"/>
                  </a:srgbClr>
                </a:solidFill>
                <a:latin typeface="Arial Regular" pitchFamily="34" charset="0"/>
                <a:ea typeface="Arial Regular" pitchFamily="34" charset="-122"/>
                <a:cs typeface="Arial Regular" pitchFamily="34" charset="-120"/>
              </a:rPr>
              <a:t>Propuesta basada en Oracle Cloud HCM, evolución natural y coherente de nuestro sistema actual (PeopleSoft).</a:t>
            </a:r>
          </a:p>
          <a:p>
            <a:pPr marL="171450" indent="-171450">
              <a:spcBef>
                <a:spcPts val="600"/>
              </a:spcBef>
              <a:spcAft>
                <a:spcPts val="600"/>
              </a:spcAft>
              <a:buFontTx/>
              <a:buChar char="-"/>
            </a:pPr>
            <a:r>
              <a:rPr lang="es-ES" sz="1150" kern="0" dirty="0">
                <a:solidFill>
                  <a:srgbClr val="1A1A1A">
                    <a:alpha val="60000"/>
                  </a:srgbClr>
                </a:solidFill>
                <a:latin typeface="Arial Regular" pitchFamily="34" charset="0"/>
                <a:ea typeface="Arial Regular" pitchFamily="34" charset="-122"/>
                <a:cs typeface="Arial Regular" pitchFamily="34" charset="-120"/>
              </a:rPr>
              <a:t>Cobertura funcional completa y madura.</a:t>
            </a:r>
          </a:p>
          <a:p>
            <a:pPr marL="171450" indent="-171450">
              <a:spcBef>
                <a:spcPts val="600"/>
              </a:spcBef>
              <a:spcAft>
                <a:spcPts val="600"/>
              </a:spcAft>
              <a:buFontTx/>
              <a:buChar char="-"/>
            </a:pPr>
            <a:r>
              <a:rPr lang="es-ES" sz="1150" kern="0" dirty="0">
                <a:solidFill>
                  <a:srgbClr val="1A1A1A">
                    <a:alpha val="60000"/>
                  </a:srgbClr>
                </a:solidFill>
                <a:latin typeface="Arial Regular" pitchFamily="34" charset="0"/>
                <a:ea typeface="Arial Regular" pitchFamily="34" charset="-122"/>
                <a:cs typeface="Arial Regular" pitchFamily="34" charset="-120"/>
              </a:rPr>
              <a:t>Implantación gradual y controlada, activando solo los módulos necesarios; posibilidad de mantener PeopleSoft para transición mas gradual y controlada.</a:t>
            </a:r>
          </a:p>
          <a:p>
            <a:pPr marL="171450" indent="-171450">
              <a:spcBef>
                <a:spcPts val="600"/>
              </a:spcBef>
              <a:spcAft>
                <a:spcPts val="600"/>
              </a:spcAft>
              <a:buFontTx/>
              <a:buChar char="-"/>
            </a:pPr>
            <a:r>
              <a:rPr lang="es-ES" sz="1150" kern="0" dirty="0">
                <a:solidFill>
                  <a:srgbClr val="1A1A1A">
                    <a:alpha val="60000"/>
                  </a:srgbClr>
                </a:solidFill>
                <a:latin typeface="Arial Regular" pitchFamily="34" charset="0"/>
                <a:ea typeface="Arial Regular" pitchFamily="34" charset="-122"/>
                <a:cs typeface="Arial Regular" pitchFamily="34" charset="-120"/>
              </a:rPr>
              <a:t>Herramientas propias que aceleran la migración de PeopleSoft a Oracle Cloud.</a:t>
            </a:r>
          </a:p>
          <a:p>
            <a:pPr marL="171450" indent="-171450">
              <a:spcBef>
                <a:spcPts val="600"/>
              </a:spcBef>
              <a:spcAft>
                <a:spcPts val="600"/>
              </a:spcAft>
              <a:buFontTx/>
              <a:buChar char="-"/>
            </a:pPr>
            <a:r>
              <a:rPr lang="es-ES" sz="1150" kern="0" dirty="0">
                <a:solidFill>
                  <a:srgbClr val="1A1A1A">
                    <a:alpha val="60000"/>
                  </a:srgbClr>
                </a:solidFill>
                <a:latin typeface="Arial Regular" pitchFamily="34" charset="0"/>
                <a:ea typeface="Arial Regular" pitchFamily="34" charset="-122"/>
              </a:rPr>
              <a:t>Extensibilidad controlada por el equipo de Desarrollo.</a:t>
            </a:r>
          </a:p>
          <a:p>
            <a:pPr marL="171450" indent="-171450">
              <a:spcBef>
                <a:spcPts val="600"/>
              </a:spcBef>
              <a:spcAft>
                <a:spcPts val="600"/>
              </a:spcAft>
              <a:buFontTx/>
              <a:buChar char="-"/>
            </a:pPr>
            <a:r>
              <a:rPr lang="es-ES" sz="1150" kern="0" dirty="0">
                <a:solidFill>
                  <a:srgbClr val="1A1A1A">
                    <a:alpha val="60000"/>
                  </a:srgbClr>
                </a:solidFill>
                <a:latin typeface="Arial Regular" pitchFamily="34" charset="0"/>
                <a:ea typeface="Arial Regular" pitchFamily="34" charset="-122"/>
              </a:rPr>
              <a:t>Líder consolidado en el Cuadrante Mágico de Gartner HCM Cloud Suites (+7 años consecutivos).</a:t>
            </a:r>
          </a:p>
        </p:txBody>
      </p:sp>
      <p:sp>
        <p:nvSpPr>
          <p:cNvPr id="11" name="Marcador de texto 15">
            <a:extLst>
              <a:ext uri="{FF2B5EF4-FFF2-40B4-BE49-F238E27FC236}">
                <a16:creationId xmlns:a16="http://schemas.microsoft.com/office/drawing/2014/main" id="{19D18376-A9FE-164C-72AA-89A85726CB0E}"/>
              </a:ext>
            </a:extLst>
          </p:cNvPr>
          <p:cNvSpPr txBox="1">
            <a:spLocks/>
          </p:cNvSpPr>
          <p:nvPr/>
        </p:nvSpPr>
        <p:spPr>
          <a:xfrm>
            <a:off x="4220557" y="2080511"/>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b="1" kern="0">
                <a:solidFill>
                  <a:srgbClr val="1A1A1A"/>
                </a:solidFill>
                <a:latin typeface="Arial Regular" pitchFamily="34" charset="0"/>
                <a:ea typeface="Arial Regular" pitchFamily="34" charset="-122"/>
              </a:rPr>
              <a:t>Puntos Fuertes</a:t>
            </a:r>
          </a:p>
        </p:txBody>
      </p:sp>
      <p:pic>
        <p:nvPicPr>
          <p:cNvPr id="12" name="ahorro">
            <a:extLst>
              <a:ext uri="{FF2B5EF4-FFF2-40B4-BE49-F238E27FC236}">
                <a16:creationId xmlns:a16="http://schemas.microsoft.com/office/drawing/2014/main" id="{22EDBA94-4A59-9BB5-A61C-64B2C28B28EC}"/>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4404683" y="1639518"/>
            <a:ext cx="304706" cy="304706"/>
          </a:xfrm>
          <a:prstGeom prst="rect">
            <a:avLst/>
          </a:prstGeom>
        </p:spPr>
      </p:pic>
      <p:sp>
        <p:nvSpPr>
          <p:cNvPr id="13" name="CuadroTexto 12">
            <a:extLst>
              <a:ext uri="{FF2B5EF4-FFF2-40B4-BE49-F238E27FC236}">
                <a16:creationId xmlns:a16="http://schemas.microsoft.com/office/drawing/2014/main" id="{CF078FED-49AB-0B4B-7173-88F711CCCF94}"/>
              </a:ext>
            </a:extLst>
          </p:cNvPr>
          <p:cNvSpPr txBox="1"/>
          <p:nvPr/>
        </p:nvSpPr>
        <p:spPr>
          <a:xfrm>
            <a:off x="4325301" y="2414428"/>
            <a:ext cx="3452117" cy="3323987"/>
          </a:xfrm>
          <a:prstGeom prst="rect">
            <a:avLst/>
          </a:prstGeom>
          <a:noFill/>
        </p:spPr>
        <p:txBody>
          <a:bodyPr wrap="square" rtlCol="0">
            <a:spAutoFit/>
          </a:bodyPr>
          <a:lstStyle/>
          <a:p>
            <a:pPr marL="228600" indent="-228600">
              <a:spcBef>
                <a:spcPts val="200"/>
              </a:spcBef>
              <a:spcAft>
                <a:spcPts val="200"/>
              </a:spcAft>
              <a:buFont typeface="+mj-lt"/>
              <a:buAutoNum type="arabicPeriod"/>
            </a:pPr>
            <a:r>
              <a:rPr lang="es-ES" sz="1000" kern="0">
                <a:solidFill>
                  <a:srgbClr val="1A1A1A">
                    <a:alpha val="60000"/>
                  </a:srgbClr>
                </a:solidFill>
                <a:latin typeface="Arial Regular" pitchFamily="34" charset="0"/>
                <a:ea typeface="Arial Regular" pitchFamily="34" charset="-122"/>
                <a:cs typeface="Arial Regular" pitchFamily="34" charset="-120"/>
              </a:rPr>
              <a:t>Evolución natural desde PeopleSoft, lo que garantiza continuidad, coherencia de datos y menor curva de adaptación.</a:t>
            </a:r>
          </a:p>
          <a:p>
            <a:pPr marL="228600" indent="-228600">
              <a:spcBef>
                <a:spcPts val="200"/>
              </a:spcBef>
              <a:spcAft>
                <a:spcPts val="200"/>
              </a:spcAft>
              <a:buFont typeface="+mj-lt"/>
              <a:buAutoNum type="arabicPeriod"/>
            </a:pPr>
            <a:r>
              <a:rPr lang="es-ES" sz="1000" kern="0">
                <a:solidFill>
                  <a:srgbClr val="1A1A1A">
                    <a:alpha val="60000"/>
                  </a:srgbClr>
                </a:solidFill>
                <a:latin typeface="Arial Regular" pitchFamily="34" charset="0"/>
                <a:ea typeface="Arial Regular" pitchFamily="34" charset="-122"/>
                <a:cs typeface="Arial Regular" pitchFamily="34" charset="-120"/>
              </a:rPr>
              <a:t>Cobertura funcional completa y madura, con todos los módulos clave.</a:t>
            </a:r>
          </a:p>
          <a:p>
            <a:pPr marL="228600" indent="-228600">
              <a:spcBef>
                <a:spcPts val="200"/>
              </a:spcBef>
              <a:spcAft>
                <a:spcPts val="200"/>
              </a:spcAft>
              <a:buFont typeface="+mj-lt"/>
              <a:buAutoNum type="arabicPeriod"/>
            </a:pPr>
            <a:r>
              <a:rPr lang="es-ES" sz="1000" kern="0">
                <a:solidFill>
                  <a:srgbClr val="1A1A1A">
                    <a:alpha val="60000"/>
                  </a:srgbClr>
                </a:solidFill>
                <a:latin typeface="Arial Regular" pitchFamily="34" charset="0"/>
                <a:ea typeface="Arial Regular" pitchFamily="34" charset="-122"/>
                <a:cs typeface="Arial Regular" pitchFamily="34" charset="-120"/>
              </a:rPr>
              <a:t>Implantación modular real, que permite desplegar por fases, escalar por módulo y reducir coste y esfuerzo inicial.</a:t>
            </a:r>
          </a:p>
          <a:p>
            <a:pPr marL="228600" indent="-228600">
              <a:spcBef>
                <a:spcPts val="200"/>
              </a:spcBef>
              <a:spcAft>
                <a:spcPts val="200"/>
              </a:spcAft>
              <a:buFont typeface="+mj-lt"/>
              <a:buAutoNum type="arabicPeriod"/>
            </a:pPr>
            <a:r>
              <a:rPr lang="es-ES" sz="1000" kern="0">
                <a:solidFill>
                  <a:srgbClr val="1A1A1A">
                    <a:alpha val="60000"/>
                  </a:srgbClr>
                </a:solidFill>
                <a:latin typeface="Arial Regular" pitchFamily="34" charset="0"/>
                <a:ea typeface="Arial Regular" pitchFamily="34" charset="-122"/>
                <a:cs typeface="Arial Regular" pitchFamily="34" charset="-120"/>
              </a:rPr>
              <a:t>Herramientas propietarias de migración que aceleran tiempos de implantación y reducen riesgos técnicos.</a:t>
            </a:r>
          </a:p>
          <a:p>
            <a:pPr marL="228600" indent="-228600">
              <a:spcBef>
                <a:spcPts val="200"/>
              </a:spcBef>
              <a:spcAft>
                <a:spcPts val="200"/>
              </a:spcAft>
              <a:buFont typeface="+mj-lt"/>
              <a:buAutoNum type="arabicPeriod"/>
            </a:pPr>
            <a:r>
              <a:rPr lang="es-ES" sz="1000" kern="0" err="1">
                <a:solidFill>
                  <a:srgbClr val="1A1A1A">
                    <a:alpha val="60000"/>
                  </a:srgbClr>
                </a:solidFill>
                <a:latin typeface="Arial Regular" pitchFamily="34" charset="0"/>
                <a:ea typeface="Arial Regular" pitchFamily="34" charset="-122"/>
                <a:cs typeface="Arial Regular" pitchFamily="34" charset="-120"/>
              </a:rPr>
              <a:t>Analytics</a:t>
            </a:r>
            <a:r>
              <a:rPr lang="es-ES" sz="1000" kern="0">
                <a:solidFill>
                  <a:srgbClr val="1A1A1A">
                    <a:alpha val="60000"/>
                  </a:srgbClr>
                </a:solidFill>
                <a:latin typeface="Arial Regular" pitchFamily="34" charset="0"/>
                <a:ea typeface="Arial Regular" pitchFamily="34" charset="-122"/>
                <a:cs typeface="Arial Regular" pitchFamily="34" charset="-120"/>
              </a:rPr>
              <a:t> e IA integradas de forma nativa, con conexión directa al ecosistema Oracle, sin necesidad de replicar datos ni plataformas externas.</a:t>
            </a:r>
          </a:p>
          <a:p>
            <a:pPr marL="228600" indent="-228600">
              <a:spcBef>
                <a:spcPts val="200"/>
              </a:spcBef>
              <a:spcAft>
                <a:spcPts val="200"/>
              </a:spcAft>
              <a:buFont typeface="+mj-lt"/>
              <a:buAutoNum type="arabicPeriod"/>
            </a:pPr>
            <a:r>
              <a:rPr lang="es-ES" sz="1000" kern="0">
                <a:solidFill>
                  <a:srgbClr val="1A1A1A">
                    <a:alpha val="60000"/>
                  </a:srgbClr>
                </a:solidFill>
                <a:latin typeface="Arial Regular" pitchFamily="34" charset="0"/>
                <a:ea typeface="Arial Regular" pitchFamily="34" charset="-122"/>
                <a:cs typeface="Arial Regular" pitchFamily="34" charset="-120"/>
              </a:rPr>
              <a:t>Modelo de suscripción flexible: se paga solo por los módulos activos, lo que permite una gestión presupuestaria más controlada y escalonada.</a:t>
            </a:r>
          </a:p>
          <a:p>
            <a:pPr marL="228600" indent="-228600">
              <a:spcBef>
                <a:spcPts val="200"/>
              </a:spcBef>
              <a:spcAft>
                <a:spcPts val="200"/>
              </a:spcAft>
              <a:buFont typeface="+mj-lt"/>
              <a:buAutoNum type="arabicPeriod"/>
            </a:pPr>
            <a:r>
              <a:rPr lang="es-ES" sz="1000" kern="0">
                <a:solidFill>
                  <a:srgbClr val="1A1A1A">
                    <a:alpha val="60000"/>
                  </a:srgbClr>
                </a:solidFill>
                <a:latin typeface="Arial Regular" pitchFamily="34" charset="0"/>
                <a:ea typeface="Arial Regular" pitchFamily="34" charset="-122"/>
                <a:cs typeface="Arial Regular" pitchFamily="34" charset="-120"/>
              </a:rPr>
              <a:t>Red consolidada de partners y soporte técnico especializado en entornos Oracle, con experiencia directa en migraciones complejas desde PeopleSoft.</a:t>
            </a:r>
            <a:endParaRPr lang="es-ES" sz="1100"/>
          </a:p>
        </p:txBody>
      </p:sp>
      <p:sp>
        <p:nvSpPr>
          <p:cNvPr id="17" name="Marcador de texto 15">
            <a:extLst>
              <a:ext uri="{FF2B5EF4-FFF2-40B4-BE49-F238E27FC236}">
                <a16:creationId xmlns:a16="http://schemas.microsoft.com/office/drawing/2014/main" id="{D52700D8-F536-3926-644D-D62A630EE6F1}"/>
              </a:ext>
            </a:extLst>
          </p:cNvPr>
          <p:cNvSpPr txBox="1">
            <a:spLocks/>
          </p:cNvSpPr>
          <p:nvPr/>
        </p:nvSpPr>
        <p:spPr>
          <a:xfrm>
            <a:off x="8212083" y="2099349"/>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b="1" kern="0">
                <a:solidFill>
                  <a:srgbClr val="1A1A1A"/>
                </a:solidFill>
                <a:latin typeface="Arial Regular" pitchFamily="34" charset="0"/>
                <a:ea typeface="Arial Regular" pitchFamily="34" charset="-122"/>
              </a:rPr>
              <a:t>Puntos Débiles</a:t>
            </a:r>
            <a:endParaRPr lang="es-ES" sz="1466" b="1" kern="0">
              <a:solidFill>
                <a:srgbClr val="1A1A1A"/>
              </a:solidFill>
              <a:latin typeface="Arial Regular" pitchFamily="34" charset="0"/>
              <a:ea typeface="Arial Regular" pitchFamily="34" charset="-122"/>
            </a:endParaRPr>
          </a:p>
        </p:txBody>
      </p:sp>
      <p:pic>
        <p:nvPicPr>
          <p:cNvPr id="18" name="ahorro">
            <a:extLst>
              <a:ext uri="{FF2B5EF4-FFF2-40B4-BE49-F238E27FC236}">
                <a16:creationId xmlns:a16="http://schemas.microsoft.com/office/drawing/2014/main" id="{69BB4573-82CD-24E8-1F5D-2A60C54A087B}"/>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396209" y="1658356"/>
            <a:ext cx="304706" cy="304706"/>
          </a:xfrm>
          <a:prstGeom prst="rect">
            <a:avLst/>
          </a:prstGeom>
        </p:spPr>
      </p:pic>
      <p:sp>
        <p:nvSpPr>
          <p:cNvPr id="19" name="CuadroTexto 18">
            <a:extLst>
              <a:ext uri="{FF2B5EF4-FFF2-40B4-BE49-F238E27FC236}">
                <a16:creationId xmlns:a16="http://schemas.microsoft.com/office/drawing/2014/main" id="{3C23439E-2C69-D96B-8248-F127C2545394}"/>
              </a:ext>
            </a:extLst>
          </p:cNvPr>
          <p:cNvSpPr txBox="1"/>
          <p:nvPr/>
        </p:nvSpPr>
        <p:spPr>
          <a:xfrm>
            <a:off x="8316827" y="2433266"/>
            <a:ext cx="3452117" cy="1113125"/>
          </a:xfrm>
          <a:prstGeom prst="rect">
            <a:avLst/>
          </a:prstGeom>
          <a:noFill/>
        </p:spPr>
        <p:txBody>
          <a:bodyPr wrap="square" rtlCol="0">
            <a:spAutoFit/>
          </a:bodyPr>
          <a:lstStyle/>
          <a:p>
            <a:pPr marL="228600" indent="-228600">
              <a:spcBef>
                <a:spcPts val="200"/>
              </a:spcBef>
              <a:spcAft>
                <a:spcPts val="200"/>
              </a:spcAft>
              <a:buFont typeface="+mj-lt"/>
              <a:buAutoNum type="arabicPeriod"/>
            </a:pPr>
            <a:r>
              <a:rPr lang="es-ES" sz="1050" kern="0">
                <a:solidFill>
                  <a:srgbClr val="1A1A1A">
                    <a:alpha val="60000"/>
                  </a:srgbClr>
                </a:solidFill>
                <a:latin typeface="Arial Regular" pitchFamily="34" charset="0"/>
                <a:ea typeface="Arial Regular" pitchFamily="34" charset="-122"/>
              </a:rPr>
              <a:t>Algunos procesos específicos no prioritarios requieren desarrollos fuera del estándar mediante Visual </a:t>
            </a:r>
            <a:r>
              <a:rPr lang="es-ES" sz="1050" kern="0" err="1">
                <a:solidFill>
                  <a:srgbClr val="1A1A1A">
                    <a:alpha val="60000"/>
                  </a:srgbClr>
                </a:solidFill>
                <a:latin typeface="Arial Regular" pitchFamily="34" charset="0"/>
                <a:ea typeface="Arial Regular" pitchFamily="34" charset="-122"/>
              </a:rPr>
              <a:t>Builder</a:t>
            </a:r>
            <a:r>
              <a:rPr lang="es-ES" sz="1050" kern="0">
                <a:solidFill>
                  <a:srgbClr val="1A1A1A">
                    <a:alpha val="60000"/>
                  </a:srgbClr>
                </a:solidFill>
                <a:latin typeface="Arial Regular" pitchFamily="34" charset="0"/>
                <a:ea typeface="Arial Regular" pitchFamily="34" charset="-122"/>
              </a:rPr>
              <a:t> o </a:t>
            </a:r>
            <a:r>
              <a:rPr lang="es-ES" sz="1050" kern="0" err="1">
                <a:solidFill>
                  <a:srgbClr val="1A1A1A">
                    <a:alpha val="60000"/>
                  </a:srgbClr>
                </a:solidFill>
                <a:latin typeface="Arial Regular" pitchFamily="34" charset="0"/>
                <a:ea typeface="Arial Regular" pitchFamily="34" charset="-122"/>
              </a:rPr>
              <a:t>APIs</a:t>
            </a:r>
            <a:r>
              <a:rPr lang="es-ES" sz="1050" kern="0">
                <a:solidFill>
                  <a:srgbClr val="1A1A1A">
                    <a:alpha val="60000"/>
                  </a:srgbClr>
                </a:solidFill>
                <a:latin typeface="Arial Regular" pitchFamily="34" charset="0"/>
                <a:ea typeface="Arial Regular" pitchFamily="34" charset="-122"/>
              </a:rPr>
              <a:t>.</a:t>
            </a:r>
          </a:p>
          <a:p>
            <a:pPr marL="228600" indent="-228600">
              <a:spcBef>
                <a:spcPts val="200"/>
              </a:spcBef>
              <a:spcAft>
                <a:spcPts val="200"/>
              </a:spcAft>
              <a:buFont typeface="+mj-lt"/>
              <a:buAutoNum type="arabicPeriod"/>
            </a:pPr>
            <a:r>
              <a:rPr lang="es-ES" sz="1050" kern="0">
                <a:solidFill>
                  <a:srgbClr val="1A1A1A">
                    <a:alpha val="60000"/>
                  </a:srgbClr>
                </a:solidFill>
                <a:latin typeface="Arial Regular" pitchFamily="34" charset="0"/>
                <a:ea typeface="Arial Regular" pitchFamily="34" charset="-122"/>
              </a:rPr>
              <a:t>Requiere una gestión activa del cambio para aprovechar plenamente las capacidades y evitar replicar lógicas heredadas.</a:t>
            </a:r>
          </a:p>
        </p:txBody>
      </p:sp>
      <p:pic>
        <p:nvPicPr>
          <p:cNvPr id="26" name="Picture 4" descr="Comprar acciones de Oracle este 2024: Lo que necesitas saber - The Investor  U">
            <a:extLst>
              <a:ext uri="{FF2B5EF4-FFF2-40B4-BE49-F238E27FC236}">
                <a16:creationId xmlns:a16="http://schemas.microsoft.com/office/drawing/2014/main" id="{5CD5FDC9-1447-F226-5B05-696F7578EB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131" y="894567"/>
            <a:ext cx="1464964" cy="824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435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7CC67-6278-0ADD-3F89-56B97B0F9BC2}"/>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55862ABD-7701-0DB7-8BD6-5A9176C1B48E}"/>
              </a:ext>
            </a:extLst>
          </p:cNvPr>
          <p:cNvSpPr>
            <a:spLocks noGrp="1"/>
          </p:cNvSpPr>
          <p:nvPr>
            <p:ph type="body" sz="quarter" idx="10"/>
          </p:nvPr>
        </p:nvSpPr>
        <p:spPr/>
        <p:txBody>
          <a:bodyPr>
            <a:normAutofit/>
          </a:bodyPr>
          <a:lstStyle/>
          <a:p>
            <a:pPr>
              <a:lnSpc>
                <a:spcPts val="4798"/>
              </a:lnSpc>
            </a:pPr>
            <a:r>
              <a:rPr lang="es-ES" kern="0" spc="-100" noProof="0">
                <a:latin typeface="Arial Regular" pitchFamily="34" charset="0"/>
                <a:ea typeface="Arial Regular" pitchFamily="34" charset="-122"/>
                <a:cs typeface="Arial Regular" pitchFamily="34" charset="-120"/>
              </a:rPr>
              <a:t>Cobertura Funcionalidades</a:t>
            </a:r>
            <a:endParaRPr lang="es-ES" spc="-100" noProof="0"/>
          </a:p>
        </p:txBody>
      </p:sp>
      <p:sp>
        <p:nvSpPr>
          <p:cNvPr id="5" name="Marcador de texto 4">
            <a:extLst>
              <a:ext uri="{FF2B5EF4-FFF2-40B4-BE49-F238E27FC236}">
                <a16:creationId xmlns:a16="http://schemas.microsoft.com/office/drawing/2014/main" id="{7F8EA798-8362-CD7B-2F82-CAF88F2950D0}"/>
              </a:ext>
            </a:extLst>
          </p:cNvPr>
          <p:cNvSpPr>
            <a:spLocks noGrp="1"/>
          </p:cNvSpPr>
          <p:nvPr>
            <p:ph type="body" sz="quarter" idx="13"/>
          </p:nvPr>
        </p:nvSpPr>
        <p:spPr>
          <a:xfrm>
            <a:off x="94354" y="6348056"/>
            <a:ext cx="5494417" cy="313210"/>
          </a:xfrm>
        </p:spPr>
        <p:txBody>
          <a:bodyPr/>
          <a:lstStyle/>
          <a:p>
            <a:r>
              <a:rPr lang="es-ES" spc="-67"/>
              <a:t>Conclusiones Defensas RFI Proyecto HCM</a:t>
            </a:r>
          </a:p>
        </p:txBody>
      </p:sp>
      <p:pic>
        <p:nvPicPr>
          <p:cNvPr id="1028" name="Picture 4" descr="Comprar acciones de Oracle este 2024: Lo que necesitas saber - The Investor  U">
            <a:extLst>
              <a:ext uri="{FF2B5EF4-FFF2-40B4-BE49-F238E27FC236}">
                <a16:creationId xmlns:a16="http://schemas.microsoft.com/office/drawing/2014/main" id="{2A682015-C3EA-FC6E-B5C3-D335302D4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31" y="894567"/>
            <a:ext cx="1464964" cy="8240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Gráfico 8">
            <a:extLst>
              <a:ext uri="{FF2B5EF4-FFF2-40B4-BE49-F238E27FC236}">
                <a16:creationId xmlns:a16="http://schemas.microsoft.com/office/drawing/2014/main" id="{6DE067A5-1FAE-C22A-267C-13D532E20FFC}"/>
              </a:ext>
            </a:extLst>
          </p:cNvPr>
          <p:cNvGraphicFramePr>
            <a:graphicFrameLocks/>
          </p:cNvGraphicFramePr>
          <p:nvPr>
            <p:extLst>
              <p:ext uri="{D42A27DB-BD31-4B8C-83A1-F6EECF244321}">
                <p14:modId xmlns:p14="http://schemas.microsoft.com/office/powerpoint/2010/main" val="3120727211"/>
              </p:ext>
            </p:extLst>
          </p:nvPr>
        </p:nvGraphicFramePr>
        <p:xfrm>
          <a:off x="5981441" y="1907996"/>
          <a:ext cx="5999000" cy="3042008"/>
        </p:xfrm>
        <a:graphic>
          <a:graphicData uri="http://schemas.openxmlformats.org/drawingml/2006/chart">
            <c:chart xmlns:c="http://schemas.openxmlformats.org/drawingml/2006/chart" xmlns:r="http://schemas.openxmlformats.org/officeDocument/2006/relationships" r:id="rId4"/>
          </a:graphicData>
        </a:graphic>
      </p:graphicFrame>
      <p:sp>
        <p:nvSpPr>
          <p:cNvPr id="11" name="CuadroTexto 10">
            <a:extLst>
              <a:ext uri="{FF2B5EF4-FFF2-40B4-BE49-F238E27FC236}">
                <a16:creationId xmlns:a16="http://schemas.microsoft.com/office/drawing/2014/main" id="{4F23914A-44F6-15FD-4D94-2B63AA5F0E16}"/>
              </a:ext>
            </a:extLst>
          </p:cNvPr>
          <p:cNvSpPr txBox="1"/>
          <p:nvPr/>
        </p:nvSpPr>
        <p:spPr>
          <a:xfrm>
            <a:off x="9772432" y="4815649"/>
            <a:ext cx="2123930" cy="523220"/>
          </a:xfrm>
          <a:prstGeom prst="rect">
            <a:avLst/>
          </a:prstGeom>
          <a:noFill/>
        </p:spPr>
        <p:txBody>
          <a:bodyPr wrap="square">
            <a:spAutoFit/>
          </a:bodyPr>
          <a:lstStyle/>
          <a:p>
            <a:pPr algn="ctr"/>
            <a:r>
              <a:rPr lang="es-ES" sz="2800" b="1" kern="1200">
                <a:solidFill>
                  <a:srgbClr val="C00000"/>
                </a:solidFill>
              </a:rPr>
              <a:t>98%</a:t>
            </a:r>
            <a:r>
              <a:rPr lang="es-ES" sz="2800" b="1" kern="1200" baseline="0">
                <a:solidFill>
                  <a:srgbClr val="C00000"/>
                </a:solidFill>
              </a:rPr>
              <a:t> </a:t>
            </a:r>
            <a:r>
              <a:rPr lang="es-ES" sz="1800" kern="1200" baseline="0"/>
              <a:t>cobertura</a:t>
            </a:r>
          </a:p>
        </p:txBody>
      </p:sp>
      <p:graphicFrame>
        <p:nvGraphicFramePr>
          <p:cNvPr id="3" name="Gráfico 2">
            <a:extLst>
              <a:ext uri="{FF2B5EF4-FFF2-40B4-BE49-F238E27FC236}">
                <a16:creationId xmlns:a16="http://schemas.microsoft.com/office/drawing/2014/main" id="{B2D162E3-B8F5-4B63-B957-3E717A84B8C3}"/>
              </a:ext>
            </a:extLst>
          </p:cNvPr>
          <p:cNvGraphicFramePr>
            <a:graphicFrameLocks/>
          </p:cNvGraphicFramePr>
          <p:nvPr>
            <p:extLst>
              <p:ext uri="{D42A27DB-BD31-4B8C-83A1-F6EECF244321}">
                <p14:modId xmlns:p14="http://schemas.microsoft.com/office/powerpoint/2010/main" val="1496426916"/>
              </p:ext>
            </p:extLst>
          </p:nvPr>
        </p:nvGraphicFramePr>
        <p:xfrm>
          <a:off x="0" y="1907996"/>
          <a:ext cx="5989221" cy="3042008"/>
        </p:xfrm>
        <a:graphic>
          <a:graphicData uri="http://schemas.openxmlformats.org/drawingml/2006/chart">
            <c:chart xmlns:c="http://schemas.openxmlformats.org/drawingml/2006/chart" xmlns:r="http://schemas.openxmlformats.org/officeDocument/2006/relationships" r:id="rId5"/>
          </a:graphicData>
        </a:graphic>
      </p:graphicFrame>
      <p:sp>
        <p:nvSpPr>
          <p:cNvPr id="7" name="CuadroTexto 6">
            <a:extLst>
              <a:ext uri="{FF2B5EF4-FFF2-40B4-BE49-F238E27FC236}">
                <a16:creationId xmlns:a16="http://schemas.microsoft.com/office/drawing/2014/main" id="{9FC44FC0-6C70-E964-725C-EA3032062F59}"/>
              </a:ext>
            </a:extLst>
          </p:cNvPr>
          <p:cNvSpPr txBox="1"/>
          <p:nvPr/>
        </p:nvSpPr>
        <p:spPr>
          <a:xfrm>
            <a:off x="3706912" y="4950004"/>
            <a:ext cx="2123930" cy="523220"/>
          </a:xfrm>
          <a:prstGeom prst="rect">
            <a:avLst/>
          </a:prstGeom>
          <a:noFill/>
        </p:spPr>
        <p:txBody>
          <a:bodyPr wrap="square">
            <a:spAutoFit/>
          </a:bodyPr>
          <a:lstStyle/>
          <a:p>
            <a:pPr algn="ctr"/>
            <a:r>
              <a:rPr lang="es-ES" sz="2800" b="1" kern="1200">
                <a:solidFill>
                  <a:srgbClr val="C00000"/>
                </a:solidFill>
              </a:rPr>
              <a:t>100%</a:t>
            </a:r>
            <a:r>
              <a:rPr lang="es-ES" sz="2800" b="1" kern="1200" baseline="0">
                <a:solidFill>
                  <a:srgbClr val="C00000"/>
                </a:solidFill>
              </a:rPr>
              <a:t> </a:t>
            </a:r>
            <a:r>
              <a:rPr lang="es-ES" sz="1800" kern="1200" baseline="0"/>
              <a:t>cobertura</a:t>
            </a:r>
          </a:p>
        </p:txBody>
      </p:sp>
    </p:spTree>
    <p:extLst>
      <p:ext uri="{BB962C8B-B14F-4D97-AF65-F5344CB8AC3E}">
        <p14:creationId xmlns:p14="http://schemas.microsoft.com/office/powerpoint/2010/main" val="3797529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CD926-A4B4-AF86-038F-DAB0E41BFBF7}"/>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5448C31F-3DD2-5C66-06D3-A1151AA5C4B0}"/>
              </a:ext>
            </a:extLst>
          </p:cNvPr>
          <p:cNvSpPr>
            <a:spLocks noGrp="1"/>
          </p:cNvSpPr>
          <p:nvPr>
            <p:ph type="body" sz="quarter" idx="10"/>
          </p:nvPr>
        </p:nvSpPr>
        <p:spPr/>
        <p:txBody>
          <a:bodyPr/>
          <a:lstStyle/>
          <a:p>
            <a:pPr>
              <a:lnSpc>
                <a:spcPts val="4798"/>
              </a:lnSpc>
            </a:pPr>
            <a:r>
              <a:rPr lang="es-ES_tradnl" kern="0" spc="-100" noProof="0" dirty="0">
                <a:latin typeface="Arial Regular" pitchFamily="34" charset="0"/>
                <a:ea typeface="Arial Regular" pitchFamily="34" charset="-122"/>
                <a:cs typeface="Arial Regular" pitchFamily="34" charset="-120"/>
              </a:rPr>
              <a:t>Defensas por </a:t>
            </a:r>
            <a:r>
              <a:rPr lang="es-ES_tradnl" kern="0" spc="-100" dirty="0">
                <a:latin typeface="Arial Regular" pitchFamily="34" charset="0"/>
                <a:ea typeface="Arial Regular" pitchFamily="34" charset="-122"/>
                <a:cs typeface="Arial Regular" pitchFamily="34" charset="-120"/>
              </a:rPr>
              <a:t>producto</a:t>
            </a:r>
            <a:endParaRPr lang="es-ES_tradnl" spc="-100" noProof="0" dirty="0"/>
          </a:p>
        </p:txBody>
      </p:sp>
      <p:sp>
        <p:nvSpPr>
          <p:cNvPr id="5" name="Marcador de texto 4">
            <a:extLst>
              <a:ext uri="{FF2B5EF4-FFF2-40B4-BE49-F238E27FC236}">
                <a16:creationId xmlns:a16="http://schemas.microsoft.com/office/drawing/2014/main" id="{119DC38F-1735-12EB-792F-6D94A2C5C83D}"/>
              </a:ext>
            </a:extLst>
          </p:cNvPr>
          <p:cNvSpPr>
            <a:spLocks noGrp="1"/>
          </p:cNvSpPr>
          <p:nvPr>
            <p:ph type="body" sz="quarter" idx="13"/>
          </p:nvPr>
        </p:nvSpPr>
        <p:spPr/>
        <p:txBody>
          <a:bodyPr/>
          <a:lstStyle/>
          <a:p>
            <a:r>
              <a:rPr lang="es-ES" spc="-67"/>
              <a:t>Conclusiones Defensas RFI Proyecto HCM</a:t>
            </a:r>
          </a:p>
        </p:txBody>
      </p:sp>
      <p:sp>
        <p:nvSpPr>
          <p:cNvPr id="7" name="Rectángulo 6">
            <a:extLst>
              <a:ext uri="{FF2B5EF4-FFF2-40B4-BE49-F238E27FC236}">
                <a16:creationId xmlns:a16="http://schemas.microsoft.com/office/drawing/2014/main" id="{5760CC94-A0C1-75E1-25C8-69E58D9B05BC}"/>
              </a:ext>
            </a:extLst>
          </p:cNvPr>
          <p:cNvSpPr/>
          <p:nvPr/>
        </p:nvSpPr>
        <p:spPr>
          <a:xfrm>
            <a:off x="235132" y="1574830"/>
            <a:ext cx="11544318" cy="438804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Marcador de texto 15">
            <a:extLst>
              <a:ext uri="{FF2B5EF4-FFF2-40B4-BE49-F238E27FC236}">
                <a16:creationId xmlns:a16="http://schemas.microsoft.com/office/drawing/2014/main" id="{CDD29715-8B81-F714-E7CB-D02AA22C2FE2}"/>
              </a:ext>
            </a:extLst>
          </p:cNvPr>
          <p:cNvSpPr txBox="1">
            <a:spLocks/>
          </p:cNvSpPr>
          <p:nvPr/>
        </p:nvSpPr>
        <p:spPr>
          <a:xfrm>
            <a:off x="307805" y="2044919"/>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b="1" kern="0" dirty="0">
                <a:solidFill>
                  <a:srgbClr val="1A1A1A"/>
                </a:solidFill>
                <a:latin typeface="Arial Regular" pitchFamily="34" charset="0"/>
                <a:ea typeface="Arial Regular" pitchFamily="34" charset="-122"/>
              </a:rPr>
              <a:t>Conclusiones</a:t>
            </a:r>
            <a:r>
              <a:rPr lang="es-ES" sz="1200" b="1" kern="0" dirty="0">
                <a:solidFill>
                  <a:srgbClr val="1A1A1A"/>
                </a:solidFill>
                <a:latin typeface="Arial Regular" pitchFamily="34" charset="0"/>
                <a:ea typeface="Arial Regular" pitchFamily="34" charset="-122"/>
              </a:rPr>
              <a:t> </a:t>
            </a:r>
            <a:endParaRPr lang="es-ES" sz="1466" b="1" kern="0" dirty="0">
              <a:solidFill>
                <a:srgbClr val="1A1A1A"/>
              </a:solidFill>
              <a:latin typeface="Arial Regular" pitchFamily="34" charset="0"/>
              <a:ea typeface="Arial Regular" pitchFamily="34" charset="-122"/>
            </a:endParaRPr>
          </a:p>
        </p:txBody>
      </p:sp>
      <p:pic>
        <p:nvPicPr>
          <p:cNvPr id="18" name="ahorro">
            <a:extLst>
              <a:ext uri="{FF2B5EF4-FFF2-40B4-BE49-F238E27FC236}">
                <a16:creationId xmlns:a16="http://schemas.microsoft.com/office/drawing/2014/main" id="{ADB18261-C75D-E28D-9534-E9AB555783D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91931" y="1658356"/>
            <a:ext cx="304706" cy="304706"/>
          </a:xfrm>
          <a:prstGeom prst="rect">
            <a:avLst/>
          </a:prstGeom>
        </p:spPr>
      </p:pic>
      <p:sp>
        <p:nvSpPr>
          <p:cNvPr id="19" name="CuadroTexto 18">
            <a:extLst>
              <a:ext uri="{FF2B5EF4-FFF2-40B4-BE49-F238E27FC236}">
                <a16:creationId xmlns:a16="http://schemas.microsoft.com/office/drawing/2014/main" id="{69AEDEC9-B78D-28E1-A093-151699AFA3C3}"/>
              </a:ext>
            </a:extLst>
          </p:cNvPr>
          <p:cNvSpPr txBox="1"/>
          <p:nvPr/>
        </p:nvSpPr>
        <p:spPr>
          <a:xfrm>
            <a:off x="412549" y="2405212"/>
            <a:ext cx="11166919" cy="2754600"/>
          </a:xfrm>
          <a:prstGeom prst="rect">
            <a:avLst/>
          </a:prstGeom>
          <a:noFill/>
        </p:spPr>
        <p:txBody>
          <a:bodyPr wrap="square" rtlCol="0">
            <a:spAutoFit/>
          </a:bodyPr>
          <a:lstStyle/>
          <a:p>
            <a:pPr algn="just">
              <a:spcBef>
                <a:spcPts val="600"/>
              </a:spcBef>
              <a:spcAft>
                <a:spcPts val="600"/>
              </a:spcAft>
            </a:pPr>
            <a:r>
              <a:rPr lang="es-ES" sz="1300" b="0" i="0" dirty="0">
                <a:solidFill>
                  <a:srgbClr val="000000"/>
                </a:solidFill>
                <a:effectLst/>
                <a:latin typeface="Segoe UI" panose="020B0502040204020203" pitchFamily="34" charset="0"/>
              </a:rPr>
              <a:t>    La propuesta de </a:t>
            </a:r>
            <a:r>
              <a:rPr lang="es-ES" sz="1300" b="0" i="0" dirty="0" err="1">
                <a:solidFill>
                  <a:srgbClr val="C00000"/>
                </a:solidFill>
                <a:effectLst/>
                <a:latin typeface="Segoe UI" panose="020B0502040204020203" pitchFamily="34" charset="0"/>
              </a:rPr>
              <a:t>Workday</a:t>
            </a:r>
            <a:r>
              <a:rPr lang="es-ES" sz="1300" b="0" i="0" dirty="0">
                <a:solidFill>
                  <a:srgbClr val="C00000"/>
                </a:solidFill>
                <a:effectLst/>
                <a:latin typeface="Segoe UI" panose="020B0502040204020203" pitchFamily="34" charset="0"/>
              </a:rPr>
              <a:t> Cloud HCM </a:t>
            </a:r>
            <a:r>
              <a:rPr lang="es-ES" sz="1300" b="0" i="0" dirty="0">
                <a:solidFill>
                  <a:srgbClr val="000000"/>
                </a:solidFill>
                <a:effectLst/>
                <a:latin typeface="Segoe UI" panose="020B0502040204020203" pitchFamily="34" charset="0"/>
              </a:rPr>
              <a:t>destaca por su </a:t>
            </a:r>
            <a:r>
              <a:rPr lang="es-ES" sz="1300" b="0" i="0" dirty="0">
                <a:solidFill>
                  <a:srgbClr val="C00000"/>
                </a:solidFill>
                <a:effectLst/>
                <a:latin typeface="Segoe UI" panose="020B0502040204020203" pitchFamily="34" charset="0"/>
              </a:rPr>
              <a:t>enfoque moderno, su diseño </a:t>
            </a:r>
            <a:r>
              <a:rPr lang="es-ES" sz="1300" b="0" i="0" dirty="0" err="1">
                <a:solidFill>
                  <a:srgbClr val="C00000"/>
                </a:solidFill>
                <a:effectLst/>
                <a:latin typeface="Segoe UI" panose="020B0502040204020203" pitchFamily="34" charset="0"/>
              </a:rPr>
              <a:t>mobile-first</a:t>
            </a:r>
            <a:r>
              <a:rPr lang="es-ES" sz="1300" b="0" i="0" dirty="0">
                <a:solidFill>
                  <a:srgbClr val="C00000"/>
                </a:solidFill>
                <a:effectLst/>
                <a:latin typeface="Segoe UI" panose="020B0502040204020203" pitchFamily="34" charset="0"/>
              </a:rPr>
              <a:t> </a:t>
            </a:r>
            <a:r>
              <a:rPr lang="es-ES" sz="1300" b="0" i="0" dirty="0">
                <a:solidFill>
                  <a:srgbClr val="000000"/>
                </a:solidFill>
                <a:effectLst/>
                <a:latin typeface="Segoe UI" panose="020B0502040204020203" pitchFamily="34" charset="0"/>
              </a:rPr>
              <a:t>y una interfaz muy orientada a la experiencia de usuario, con una arquitectura pensada desde el inicio para el entorno cloud.</a:t>
            </a:r>
          </a:p>
          <a:p>
            <a:pPr algn="just">
              <a:spcBef>
                <a:spcPts val="600"/>
              </a:spcBef>
              <a:spcAft>
                <a:spcPts val="600"/>
              </a:spcAft>
            </a:pPr>
            <a:r>
              <a:rPr lang="es-ES" sz="1300" b="0" i="0" dirty="0">
                <a:solidFill>
                  <a:srgbClr val="000000"/>
                </a:solidFill>
                <a:effectLst/>
                <a:latin typeface="Segoe UI" panose="020B0502040204020203" pitchFamily="34" charset="0"/>
              </a:rPr>
              <a:t>    Ofrece una </a:t>
            </a:r>
            <a:r>
              <a:rPr lang="es-ES" sz="1300" b="0" i="0" dirty="0">
                <a:solidFill>
                  <a:srgbClr val="C00000"/>
                </a:solidFill>
                <a:effectLst/>
                <a:latin typeface="Segoe UI" panose="020B0502040204020203" pitchFamily="34" charset="0"/>
              </a:rPr>
              <a:t>cobertura funcional sólida, con el 74 % </a:t>
            </a:r>
            <a:r>
              <a:rPr lang="es-ES" sz="1300" b="0" i="0" dirty="0">
                <a:solidFill>
                  <a:srgbClr val="000000"/>
                </a:solidFill>
                <a:effectLst/>
                <a:latin typeface="Segoe UI" panose="020B0502040204020203" pitchFamily="34" charset="0"/>
              </a:rPr>
              <a:t>de los requisitos cubiertos de forma estándar y un 13 % adicional a través de </a:t>
            </a:r>
            <a:r>
              <a:rPr lang="es-ES" sz="1300" b="0" i="0" dirty="0" err="1">
                <a:solidFill>
                  <a:srgbClr val="000000"/>
                </a:solidFill>
                <a:effectLst/>
                <a:latin typeface="Segoe UI" panose="020B0502040204020203" pitchFamily="34" charset="0"/>
              </a:rPr>
              <a:t>Workday</a:t>
            </a:r>
            <a:r>
              <a:rPr lang="es-ES" sz="1300" b="0" i="0" dirty="0">
                <a:solidFill>
                  <a:srgbClr val="000000"/>
                </a:solidFill>
                <a:effectLst/>
                <a:latin typeface="Segoe UI" panose="020B0502040204020203" pitchFamily="34" charset="0"/>
              </a:rPr>
              <a:t> </a:t>
            </a:r>
            <a:r>
              <a:rPr lang="es-ES" sz="1300" b="0" i="0" dirty="0" err="1">
                <a:solidFill>
                  <a:srgbClr val="000000"/>
                </a:solidFill>
                <a:effectLst/>
                <a:latin typeface="Segoe UI" panose="020B0502040204020203" pitchFamily="34" charset="0"/>
              </a:rPr>
              <a:t>Extend</a:t>
            </a:r>
            <a:r>
              <a:rPr lang="es-ES" sz="1300" b="0" i="0" dirty="0">
                <a:solidFill>
                  <a:srgbClr val="000000"/>
                </a:solidFill>
                <a:effectLst/>
                <a:latin typeface="Segoe UI" panose="020B0502040204020203" pitchFamily="34" charset="0"/>
              </a:rPr>
              <a:t>, su plataforma de extensibilidad. Su modelo de datos unificado favorece una visión integrada del empleado y está respaldado por </a:t>
            </a:r>
            <a:r>
              <a:rPr lang="es-ES" sz="1300" b="0" i="0" dirty="0" err="1">
                <a:solidFill>
                  <a:srgbClr val="000000"/>
                </a:solidFill>
                <a:effectLst/>
                <a:latin typeface="Segoe UI" panose="020B0502040204020203" pitchFamily="34" charset="0"/>
              </a:rPr>
              <a:t>Prism</a:t>
            </a:r>
            <a:r>
              <a:rPr lang="es-ES" sz="1300" b="0" i="0" dirty="0">
                <a:solidFill>
                  <a:srgbClr val="000000"/>
                </a:solidFill>
                <a:effectLst/>
                <a:latin typeface="Segoe UI" panose="020B0502040204020203" pitchFamily="34" charset="0"/>
              </a:rPr>
              <a:t> </a:t>
            </a:r>
            <a:r>
              <a:rPr lang="es-ES" sz="1300" b="0" i="0" dirty="0" err="1">
                <a:solidFill>
                  <a:srgbClr val="000000"/>
                </a:solidFill>
                <a:effectLst/>
                <a:latin typeface="Segoe UI" panose="020B0502040204020203" pitchFamily="34" charset="0"/>
              </a:rPr>
              <a:t>Analytics</a:t>
            </a:r>
            <a:r>
              <a:rPr lang="es-ES" sz="1300" b="0" i="0" dirty="0">
                <a:solidFill>
                  <a:srgbClr val="000000"/>
                </a:solidFill>
                <a:effectLst/>
                <a:latin typeface="Segoe UI" panose="020B0502040204020203" pitchFamily="34" charset="0"/>
              </a:rPr>
              <a:t>, que permite cruzar datos internos y externos sin necesidad de salir del entorno </a:t>
            </a:r>
            <a:r>
              <a:rPr lang="es-ES" sz="1300" b="0" i="0" dirty="0" err="1">
                <a:solidFill>
                  <a:srgbClr val="000000"/>
                </a:solidFill>
                <a:effectLst/>
                <a:latin typeface="Segoe UI" panose="020B0502040204020203" pitchFamily="34" charset="0"/>
              </a:rPr>
              <a:t>Workday</a:t>
            </a:r>
            <a:r>
              <a:rPr lang="es-ES" sz="1300" b="0" i="0" dirty="0">
                <a:solidFill>
                  <a:srgbClr val="000000"/>
                </a:solidFill>
                <a:effectLst/>
                <a:latin typeface="Segoe UI" panose="020B0502040204020203" pitchFamily="34" charset="0"/>
              </a:rPr>
              <a:t>.</a:t>
            </a:r>
          </a:p>
          <a:p>
            <a:pPr algn="just">
              <a:spcBef>
                <a:spcPts val="600"/>
              </a:spcBef>
              <a:spcAft>
                <a:spcPts val="600"/>
              </a:spcAft>
            </a:pPr>
            <a:r>
              <a:rPr lang="es-ES" sz="1300" b="0" i="0" dirty="0">
                <a:solidFill>
                  <a:srgbClr val="000000"/>
                </a:solidFill>
                <a:effectLst/>
                <a:latin typeface="Segoe UI" panose="020B0502040204020203" pitchFamily="34" charset="0"/>
              </a:rPr>
              <a:t>   </a:t>
            </a:r>
            <a:r>
              <a:rPr lang="es-ES" sz="1300" b="0" i="0" dirty="0" err="1">
                <a:solidFill>
                  <a:srgbClr val="C00000"/>
                </a:solidFill>
                <a:effectLst/>
                <a:latin typeface="Segoe UI" panose="020B0502040204020203" pitchFamily="34" charset="0"/>
              </a:rPr>
              <a:t>Workday</a:t>
            </a:r>
            <a:r>
              <a:rPr lang="es-ES" sz="1300" b="0" i="0" dirty="0">
                <a:solidFill>
                  <a:srgbClr val="C00000"/>
                </a:solidFill>
                <a:effectLst/>
                <a:latin typeface="Segoe UI" panose="020B0502040204020203" pitchFamily="34" charset="0"/>
              </a:rPr>
              <a:t> se encuentra también entre los líderes del mercado</a:t>
            </a:r>
            <a:r>
              <a:rPr lang="es-ES" sz="1300" b="0" i="0" dirty="0">
                <a:solidFill>
                  <a:srgbClr val="000000"/>
                </a:solidFill>
                <a:effectLst/>
                <a:latin typeface="Segoe UI" panose="020B0502040204020203" pitchFamily="34" charset="0"/>
              </a:rPr>
              <a:t>, con presencia destacada en el Cuadrante Mágico de Gartner y reconocido por sus avances en automatización e innovación UX.</a:t>
            </a:r>
          </a:p>
          <a:p>
            <a:pPr algn="just">
              <a:spcBef>
                <a:spcPts val="600"/>
              </a:spcBef>
              <a:spcAft>
                <a:spcPts val="600"/>
              </a:spcAft>
            </a:pPr>
            <a:r>
              <a:rPr lang="es-ES" sz="1300" b="0" i="0" dirty="0">
                <a:solidFill>
                  <a:srgbClr val="000000"/>
                </a:solidFill>
                <a:effectLst/>
                <a:latin typeface="Segoe UI" panose="020B0502040204020203" pitchFamily="34" charset="0"/>
              </a:rPr>
              <a:t>    El enfoque de implantación requiere una definición funcional exhaustiva desde el inicio, y en algunos casos </a:t>
            </a:r>
            <a:r>
              <a:rPr lang="es-ES" sz="1300" b="0" i="0" dirty="0">
                <a:solidFill>
                  <a:srgbClr val="C00000"/>
                </a:solidFill>
                <a:effectLst/>
                <a:latin typeface="Segoe UI" panose="020B0502040204020203" pitchFamily="34" charset="0"/>
              </a:rPr>
              <a:t>la migración de datos históricos puede implicar problemas de compatibilidad y trazabilidad</a:t>
            </a:r>
            <a:r>
              <a:rPr lang="es-ES" sz="1300" b="0" i="0" dirty="0">
                <a:solidFill>
                  <a:srgbClr val="000000"/>
                </a:solidFill>
                <a:effectLst/>
                <a:latin typeface="Segoe UI" panose="020B0502040204020203" pitchFamily="34" charset="0"/>
              </a:rPr>
              <a:t>, lo que suele llevar a mantener históricos en repositorios separados. Además, su modelo de licenciamiento basado en FSE (orientado a la platilla global) implica un </a:t>
            </a:r>
            <a:r>
              <a:rPr lang="es-ES" sz="1300" b="0" i="0" dirty="0">
                <a:solidFill>
                  <a:srgbClr val="C00000"/>
                </a:solidFill>
                <a:effectLst/>
                <a:latin typeface="Segoe UI" panose="020B0502040204020203" pitchFamily="34" charset="0"/>
              </a:rPr>
              <a:t>compromiso económico superior a otras soluciones</a:t>
            </a:r>
            <a:r>
              <a:rPr lang="es-ES" sz="1300" b="0" i="0" dirty="0">
                <a:solidFill>
                  <a:srgbClr val="000000"/>
                </a:solidFill>
                <a:effectLst/>
                <a:latin typeface="Segoe UI" panose="020B0502040204020203" pitchFamily="34" charset="0"/>
              </a:rPr>
              <a:t>, y el uso de </a:t>
            </a:r>
            <a:r>
              <a:rPr lang="es-ES" sz="1300" b="0" i="0" dirty="0" err="1">
                <a:solidFill>
                  <a:srgbClr val="000000"/>
                </a:solidFill>
                <a:effectLst/>
                <a:latin typeface="Segoe UI" panose="020B0502040204020203" pitchFamily="34" charset="0"/>
              </a:rPr>
              <a:t>Workday</a:t>
            </a:r>
            <a:r>
              <a:rPr lang="es-ES" sz="1300" b="0" i="0" dirty="0">
                <a:solidFill>
                  <a:srgbClr val="000000"/>
                </a:solidFill>
                <a:effectLst/>
                <a:latin typeface="Segoe UI" panose="020B0502040204020203" pitchFamily="34" charset="0"/>
              </a:rPr>
              <a:t> </a:t>
            </a:r>
            <a:r>
              <a:rPr lang="es-ES" sz="1300" b="0" i="0" dirty="0" err="1">
                <a:solidFill>
                  <a:srgbClr val="000000"/>
                </a:solidFill>
                <a:effectLst/>
                <a:latin typeface="Segoe UI" panose="020B0502040204020203" pitchFamily="34" charset="0"/>
              </a:rPr>
              <a:t>Extend</a:t>
            </a:r>
            <a:r>
              <a:rPr lang="es-ES" sz="1300" b="0" i="0" dirty="0">
                <a:solidFill>
                  <a:srgbClr val="000000"/>
                </a:solidFill>
                <a:effectLst/>
                <a:latin typeface="Segoe UI" panose="020B0502040204020203" pitchFamily="34" charset="0"/>
              </a:rPr>
              <a:t> añade una capa técnica adicional que puede implicar mayor esfuerzo en soporte y administración.</a:t>
            </a:r>
            <a:endParaRPr lang="es-ES" sz="1300" kern="0" dirty="0">
              <a:solidFill>
                <a:srgbClr val="1A1A1A">
                  <a:alpha val="60000"/>
                </a:srgbClr>
              </a:solidFill>
              <a:latin typeface="Arial Regular" pitchFamily="34" charset="0"/>
              <a:ea typeface="Arial Regular" pitchFamily="34" charset="-122"/>
            </a:endParaRPr>
          </a:p>
        </p:txBody>
      </p:sp>
      <p:pic>
        <p:nvPicPr>
          <p:cNvPr id="4" name="Picture 2" descr="Workday at Wake Forest - Workday">
            <a:extLst>
              <a:ext uri="{FF2B5EF4-FFF2-40B4-BE49-F238E27FC236}">
                <a16:creationId xmlns:a16="http://schemas.microsoft.com/office/drawing/2014/main" id="{7A5C6F6E-1A3C-6DC7-EA09-36E0439BB4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208" y="1003785"/>
            <a:ext cx="959576" cy="373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23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0E03BBE-1802-463A-D4B7-254077DEFC8E}"/>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0CBBDEB9-84E9-10F9-551D-80C88D901F66}"/>
              </a:ext>
            </a:extLst>
          </p:cNvPr>
          <p:cNvSpPr>
            <a:spLocks noGrp="1"/>
          </p:cNvSpPr>
          <p:nvPr>
            <p:ph type="body" sz="quarter" idx="10"/>
          </p:nvPr>
        </p:nvSpPr>
        <p:spPr/>
        <p:txBody>
          <a:bodyPr/>
          <a:lstStyle/>
          <a:p>
            <a:pPr>
              <a:lnSpc>
                <a:spcPts val="4798"/>
              </a:lnSpc>
            </a:pPr>
            <a:r>
              <a:rPr lang="es-ES_tradnl" kern="0" spc="-100" noProof="0">
                <a:latin typeface="Arial Regular" pitchFamily="34" charset="0"/>
                <a:ea typeface="Arial Regular" pitchFamily="34" charset="-122"/>
                <a:cs typeface="Arial Regular" pitchFamily="34" charset="-120"/>
              </a:rPr>
              <a:t>Defensas por Fabricante</a:t>
            </a:r>
            <a:endParaRPr lang="es-ES_tradnl" spc="-100" noProof="0"/>
          </a:p>
        </p:txBody>
      </p:sp>
      <p:sp>
        <p:nvSpPr>
          <p:cNvPr id="5" name="Marcador de texto 4">
            <a:extLst>
              <a:ext uri="{FF2B5EF4-FFF2-40B4-BE49-F238E27FC236}">
                <a16:creationId xmlns:a16="http://schemas.microsoft.com/office/drawing/2014/main" id="{C1C5EEF9-F62F-513F-F5BF-3DF2D2AE7C9C}"/>
              </a:ext>
            </a:extLst>
          </p:cNvPr>
          <p:cNvSpPr>
            <a:spLocks noGrp="1"/>
          </p:cNvSpPr>
          <p:nvPr>
            <p:ph type="body" sz="quarter" idx="13"/>
          </p:nvPr>
        </p:nvSpPr>
        <p:spPr/>
        <p:txBody>
          <a:bodyPr/>
          <a:lstStyle/>
          <a:p>
            <a:r>
              <a:rPr lang="es-ES" spc="-67"/>
              <a:t>Conclusiones Defensas RFI Proyecto HCM</a:t>
            </a:r>
          </a:p>
        </p:txBody>
      </p:sp>
      <p:sp>
        <p:nvSpPr>
          <p:cNvPr id="4" name="Rectángulo 3">
            <a:extLst>
              <a:ext uri="{FF2B5EF4-FFF2-40B4-BE49-F238E27FC236}">
                <a16:creationId xmlns:a16="http://schemas.microsoft.com/office/drawing/2014/main" id="{4F110D56-5F0B-6F26-87BC-AA131B04BB44}"/>
              </a:ext>
            </a:extLst>
          </p:cNvPr>
          <p:cNvSpPr/>
          <p:nvPr/>
        </p:nvSpPr>
        <p:spPr>
          <a:xfrm>
            <a:off x="195208" y="1575386"/>
            <a:ext cx="3719245" cy="43870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56C405B6-D0F6-B65A-F1C4-13D8098147D4}"/>
              </a:ext>
            </a:extLst>
          </p:cNvPr>
          <p:cNvSpPr/>
          <p:nvPr/>
        </p:nvSpPr>
        <p:spPr>
          <a:xfrm>
            <a:off x="4191736" y="1575387"/>
            <a:ext cx="3719245" cy="438706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426F2457-DF88-3E60-BB63-586695AF09DE}"/>
              </a:ext>
            </a:extLst>
          </p:cNvPr>
          <p:cNvSpPr/>
          <p:nvPr/>
        </p:nvSpPr>
        <p:spPr>
          <a:xfrm>
            <a:off x="8095107" y="1574831"/>
            <a:ext cx="3719245" cy="438706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Marcador de texto 15">
            <a:extLst>
              <a:ext uri="{FF2B5EF4-FFF2-40B4-BE49-F238E27FC236}">
                <a16:creationId xmlns:a16="http://schemas.microsoft.com/office/drawing/2014/main" id="{4DA3377C-E331-B65B-2F8B-C961DFC2FB8C}"/>
              </a:ext>
            </a:extLst>
          </p:cNvPr>
          <p:cNvSpPr txBox="1">
            <a:spLocks/>
          </p:cNvSpPr>
          <p:nvPr/>
        </p:nvSpPr>
        <p:spPr>
          <a:xfrm>
            <a:off x="224029" y="2080511"/>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b="1" kern="0">
                <a:solidFill>
                  <a:srgbClr val="1A1A1A"/>
                </a:solidFill>
                <a:latin typeface="Arial Regular" pitchFamily="34" charset="0"/>
                <a:ea typeface="Arial Regular" pitchFamily="34" charset="-122"/>
              </a:rPr>
              <a:t>Cobertura Funcional y Madurez</a:t>
            </a:r>
          </a:p>
        </p:txBody>
      </p:sp>
      <p:pic>
        <p:nvPicPr>
          <p:cNvPr id="9" name="ahorro">
            <a:extLst>
              <a:ext uri="{FF2B5EF4-FFF2-40B4-BE49-F238E27FC236}">
                <a16:creationId xmlns:a16="http://schemas.microsoft.com/office/drawing/2014/main" id="{60EBA185-7386-74CC-5B57-6133F897415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8155" y="1639518"/>
            <a:ext cx="304706" cy="304706"/>
          </a:xfrm>
          <a:prstGeom prst="rect">
            <a:avLst/>
          </a:prstGeom>
        </p:spPr>
      </p:pic>
      <p:sp>
        <p:nvSpPr>
          <p:cNvPr id="10" name="CuadroTexto 9">
            <a:extLst>
              <a:ext uri="{FF2B5EF4-FFF2-40B4-BE49-F238E27FC236}">
                <a16:creationId xmlns:a16="http://schemas.microsoft.com/office/drawing/2014/main" id="{9A0E1238-DF3D-6F9A-4457-A5569898AFAA}"/>
              </a:ext>
            </a:extLst>
          </p:cNvPr>
          <p:cNvSpPr txBox="1"/>
          <p:nvPr/>
        </p:nvSpPr>
        <p:spPr>
          <a:xfrm>
            <a:off x="328773" y="2414428"/>
            <a:ext cx="3452117" cy="3108543"/>
          </a:xfrm>
          <a:prstGeom prst="rect">
            <a:avLst/>
          </a:prstGeom>
          <a:noFill/>
        </p:spPr>
        <p:txBody>
          <a:bodyPr wrap="square" rtlCol="0">
            <a:spAutoFit/>
          </a:bodyPr>
          <a:lstStyle/>
          <a:p>
            <a:pPr marL="171450" indent="-171450">
              <a:spcBef>
                <a:spcPts val="600"/>
              </a:spcBef>
              <a:spcAft>
                <a:spcPts val="600"/>
              </a:spcAft>
              <a:buFontTx/>
              <a:buChar char="-"/>
            </a:pPr>
            <a:r>
              <a:rPr lang="es-ES" sz="1200" kern="0" dirty="0">
                <a:solidFill>
                  <a:srgbClr val="1A1A1A">
                    <a:alpha val="60000"/>
                  </a:srgbClr>
                </a:solidFill>
                <a:latin typeface="Arial Regular" pitchFamily="34" charset="0"/>
                <a:ea typeface="Arial Regular" pitchFamily="34" charset="-122"/>
              </a:rPr>
              <a:t>Propuesta basada en Workday Cloud HCM, solución moderna y diseñada 100 % en entorno cloud.</a:t>
            </a:r>
          </a:p>
          <a:p>
            <a:pPr marL="171450" indent="-171450">
              <a:spcBef>
                <a:spcPts val="600"/>
              </a:spcBef>
              <a:spcAft>
                <a:spcPts val="600"/>
              </a:spcAft>
              <a:buFontTx/>
              <a:buChar char="-"/>
            </a:pPr>
            <a:r>
              <a:rPr lang="es-ES" sz="1200" kern="0" dirty="0">
                <a:solidFill>
                  <a:srgbClr val="1A1A1A">
                    <a:alpha val="60000"/>
                  </a:srgbClr>
                </a:solidFill>
                <a:latin typeface="Arial Regular" pitchFamily="34" charset="0"/>
                <a:ea typeface="Arial Regular" pitchFamily="34" charset="-122"/>
              </a:rPr>
              <a:t>Cobertura funcional sólida, con un 74 % de requisitos cubiertos de forma estándar y 13 % a través de Workday </a:t>
            </a:r>
            <a:r>
              <a:rPr lang="es-ES" sz="1200" kern="0" dirty="0" err="1">
                <a:solidFill>
                  <a:srgbClr val="1A1A1A">
                    <a:alpha val="60000"/>
                  </a:srgbClr>
                </a:solidFill>
                <a:latin typeface="Arial Regular" pitchFamily="34" charset="0"/>
                <a:ea typeface="Arial Regular" pitchFamily="34" charset="-122"/>
              </a:rPr>
              <a:t>Extend</a:t>
            </a:r>
            <a:r>
              <a:rPr lang="es-ES" sz="1200" kern="0" dirty="0">
                <a:solidFill>
                  <a:srgbClr val="1A1A1A">
                    <a:alpha val="60000"/>
                  </a:srgbClr>
                </a:solidFill>
                <a:latin typeface="Arial Regular" pitchFamily="34" charset="0"/>
                <a:ea typeface="Arial Regular" pitchFamily="34" charset="-122"/>
              </a:rPr>
              <a:t>.</a:t>
            </a:r>
          </a:p>
          <a:p>
            <a:pPr marL="171450" indent="-171450">
              <a:spcBef>
                <a:spcPts val="600"/>
              </a:spcBef>
              <a:spcAft>
                <a:spcPts val="600"/>
              </a:spcAft>
              <a:buFontTx/>
              <a:buChar char="-"/>
            </a:pPr>
            <a:r>
              <a:rPr lang="es-ES" sz="1200" kern="0" dirty="0">
                <a:solidFill>
                  <a:srgbClr val="1A1A1A">
                    <a:alpha val="60000"/>
                  </a:srgbClr>
                </a:solidFill>
                <a:latin typeface="Arial Regular" pitchFamily="34" charset="0"/>
                <a:ea typeface="Arial Regular" pitchFamily="34" charset="-122"/>
              </a:rPr>
              <a:t>Modelo de datos unificado que facilita una vista integrada del empleado.</a:t>
            </a:r>
          </a:p>
          <a:p>
            <a:pPr marL="171450" indent="-171450">
              <a:spcBef>
                <a:spcPts val="600"/>
              </a:spcBef>
              <a:spcAft>
                <a:spcPts val="600"/>
              </a:spcAft>
              <a:buFontTx/>
              <a:buChar char="-"/>
            </a:pPr>
            <a:r>
              <a:rPr lang="es-ES" sz="1200" kern="0" dirty="0">
                <a:solidFill>
                  <a:srgbClr val="1A1A1A">
                    <a:alpha val="60000"/>
                  </a:srgbClr>
                </a:solidFill>
                <a:latin typeface="Arial Regular" pitchFamily="34" charset="0"/>
                <a:ea typeface="Arial Regular" pitchFamily="34" charset="-122"/>
              </a:rPr>
              <a:t>Plataforma de integraciones propia (</a:t>
            </a:r>
            <a:r>
              <a:rPr lang="es-ES" sz="1200" kern="0" dirty="0" err="1">
                <a:solidFill>
                  <a:srgbClr val="1A1A1A">
                    <a:alpha val="60000"/>
                  </a:srgbClr>
                </a:solidFill>
                <a:latin typeface="Arial Regular" pitchFamily="34" charset="0"/>
                <a:ea typeface="Arial Regular" pitchFamily="34" charset="-122"/>
              </a:rPr>
              <a:t>Integration</a:t>
            </a:r>
            <a:r>
              <a:rPr lang="es-ES" sz="1200" kern="0" dirty="0">
                <a:solidFill>
                  <a:srgbClr val="1A1A1A">
                    <a:alpha val="60000"/>
                  </a:srgbClr>
                </a:solidFill>
                <a:latin typeface="Arial Regular" pitchFamily="34" charset="0"/>
                <a:ea typeface="Arial Regular" pitchFamily="34" charset="-122"/>
              </a:rPr>
              <a:t> Cloud) que requiere adaptación inicial.</a:t>
            </a:r>
          </a:p>
          <a:p>
            <a:pPr marL="171450" indent="-171450">
              <a:spcBef>
                <a:spcPts val="600"/>
              </a:spcBef>
              <a:spcAft>
                <a:spcPts val="600"/>
              </a:spcAft>
              <a:buFontTx/>
              <a:buChar char="-"/>
            </a:pPr>
            <a:r>
              <a:rPr lang="es-ES" sz="1200" kern="0" dirty="0" err="1">
                <a:solidFill>
                  <a:srgbClr val="1A1A1A">
                    <a:alpha val="60000"/>
                  </a:srgbClr>
                </a:solidFill>
                <a:latin typeface="Arial Regular" pitchFamily="34" charset="0"/>
                <a:ea typeface="Arial Regular" pitchFamily="34" charset="-122"/>
              </a:rPr>
              <a:t>Prism</a:t>
            </a:r>
            <a:r>
              <a:rPr lang="es-ES" sz="1200" kern="0" dirty="0">
                <a:solidFill>
                  <a:srgbClr val="1A1A1A">
                    <a:alpha val="60000"/>
                  </a:srgbClr>
                </a:solidFill>
                <a:latin typeface="Arial Regular" pitchFamily="34" charset="0"/>
                <a:ea typeface="Arial Regular" pitchFamily="34" charset="-122"/>
              </a:rPr>
              <a:t> </a:t>
            </a:r>
            <a:r>
              <a:rPr lang="es-ES" sz="1200" kern="0" dirty="0" err="1">
                <a:solidFill>
                  <a:srgbClr val="1A1A1A">
                    <a:alpha val="60000"/>
                  </a:srgbClr>
                </a:solidFill>
                <a:latin typeface="Arial Regular" pitchFamily="34" charset="0"/>
                <a:ea typeface="Arial Regular" pitchFamily="34" charset="-122"/>
              </a:rPr>
              <a:t>Analytics</a:t>
            </a:r>
            <a:r>
              <a:rPr lang="es-ES" sz="1200" kern="0" dirty="0">
                <a:solidFill>
                  <a:srgbClr val="1A1A1A">
                    <a:alpha val="60000"/>
                  </a:srgbClr>
                </a:solidFill>
                <a:latin typeface="Arial Regular" pitchFamily="34" charset="0"/>
                <a:ea typeface="Arial Regular" pitchFamily="34" charset="-122"/>
              </a:rPr>
              <a:t> y reporting nativo para análisis interno en tiempo real.</a:t>
            </a:r>
          </a:p>
        </p:txBody>
      </p:sp>
      <p:sp>
        <p:nvSpPr>
          <p:cNvPr id="11" name="Marcador de texto 15">
            <a:extLst>
              <a:ext uri="{FF2B5EF4-FFF2-40B4-BE49-F238E27FC236}">
                <a16:creationId xmlns:a16="http://schemas.microsoft.com/office/drawing/2014/main" id="{6D4D4323-D73B-67D8-7447-09F50393E841}"/>
              </a:ext>
            </a:extLst>
          </p:cNvPr>
          <p:cNvSpPr txBox="1">
            <a:spLocks/>
          </p:cNvSpPr>
          <p:nvPr/>
        </p:nvSpPr>
        <p:spPr>
          <a:xfrm>
            <a:off x="4220557" y="2080511"/>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b="1" kern="0">
                <a:solidFill>
                  <a:srgbClr val="1A1A1A"/>
                </a:solidFill>
                <a:latin typeface="Arial Regular" pitchFamily="34" charset="0"/>
                <a:ea typeface="Arial Regular" pitchFamily="34" charset="-122"/>
              </a:rPr>
              <a:t>Puntos Fuertes</a:t>
            </a:r>
          </a:p>
        </p:txBody>
      </p:sp>
      <p:pic>
        <p:nvPicPr>
          <p:cNvPr id="12" name="ahorro">
            <a:extLst>
              <a:ext uri="{FF2B5EF4-FFF2-40B4-BE49-F238E27FC236}">
                <a16:creationId xmlns:a16="http://schemas.microsoft.com/office/drawing/2014/main" id="{FCE5807D-9378-238F-D1BD-3163F3D09343}"/>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4404683" y="1639518"/>
            <a:ext cx="304706" cy="304706"/>
          </a:xfrm>
          <a:prstGeom prst="rect">
            <a:avLst/>
          </a:prstGeom>
        </p:spPr>
      </p:pic>
      <p:sp>
        <p:nvSpPr>
          <p:cNvPr id="13" name="CuadroTexto 12">
            <a:extLst>
              <a:ext uri="{FF2B5EF4-FFF2-40B4-BE49-F238E27FC236}">
                <a16:creationId xmlns:a16="http://schemas.microsoft.com/office/drawing/2014/main" id="{1470C1F0-BB32-347C-4E50-8BE5717723DF}"/>
              </a:ext>
            </a:extLst>
          </p:cNvPr>
          <p:cNvSpPr txBox="1"/>
          <p:nvPr/>
        </p:nvSpPr>
        <p:spPr>
          <a:xfrm>
            <a:off x="4325301" y="2414428"/>
            <a:ext cx="3452117" cy="3067506"/>
          </a:xfrm>
          <a:prstGeom prst="rect">
            <a:avLst/>
          </a:prstGeom>
          <a:noFill/>
        </p:spPr>
        <p:txBody>
          <a:bodyPr wrap="square" rtlCol="0">
            <a:spAutoFit/>
          </a:bodyPr>
          <a:lstStyle/>
          <a:p>
            <a:pPr marL="228600" indent="-228600">
              <a:spcBef>
                <a:spcPts val="200"/>
              </a:spcBef>
              <a:spcAft>
                <a:spcPts val="200"/>
              </a:spcAft>
              <a:buFont typeface="+mj-lt"/>
              <a:buAutoNum type="arabicPeriod"/>
            </a:pPr>
            <a:r>
              <a:rPr lang="es-ES" sz="1200" kern="0" dirty="0">
                <a:solidFill>
                  <a:srgbClr val="1A1A1A">
                    <a:alpha val="60000"/>
                  </a:srgbClr>
                </a:solidFill>
                <a:latin typeface="Arial Regular" pitchFamily="34" charset="0"/>
                <a:ea typeface="Arial Regular" pitchFamily="34" charset="-122"/>
                <a:cs typeface="Arial Regular" pitchFamily="34" charset="-120"/>
              </a:rPr>
              <a:t>Experiencia de usuario moderna, intuitiva y </a:t>
            </a:r>
            <a:r>
              <a:rPr lang="es-ES" sz="1200" kern="0" dirty="0" err="1">
                <a:solidFill>
                  <a:srgbClr val="1A1A1A">
                    <a:alpha val="60000"/>
                  </a:srgbClr>
                </a:solidFill>
                <a:latin typeface="Arial Regular" pitchFamily="34" charset="0"/>
                <a:ea typeface="Arial Regular" pitchFamily="34" charset="-122"/>
                <a:cs typeface="Arial Regular" pitchFamily="34" charset="-120"/>
              </a:rPr>
              <a:t>mobile-first</a:t>
            </a:r>
            <a:r>
              <a:rPr lang="es-ES" sz="1200" kern="0" dirty="0">
                <a:solidFill>
                  <a:srgbClr val="1A1A1A">
                    <a:alpha val="60000"/>
                  </a:srgbClr>
                </a:solidFill>
                <a:latin typeface="Arial Regular" pitchFamily="34" charset="0"/>
                <a:ea typeface="Arial Regular" pitchFamily="34" charset="-122"/>
                <a:cs typeface="Arial Regular" pitchFamily="34" charset="-120"/>
              </a:rPr>
              <a:t>, diseñada para facilitar la adopción.</a:t>
            </a:r>
          </a:p>
          <a:p>
            <a:pPr marL="228600" indent="-228600">
              <a:spcBef>
                <a:spcPts val="200"/>
              </a:spcBef>
              <a:spcAft>
                <a:spcPts val="200"/>
              </a:spcAft>
              <a:buFont typeface="+mj-lt"/>
              <a:buAutoNum type="arabicPeriod"/>
            </a:pPr>
            <a:r>
              <a:rPr lang="es-ES" sz="1200" kern="0" dirty="0">
                <a:solidFill>
                  <a:srgbClr val="1A1A1A">
                    <a:alpha val="60000"/>
                  </a:srgbClr>
                </a:solidFill>
                <a:latin typeface="Arial Regular" pitchFamily="34" charset="0"/>
                <a:ea typeface="Arial Regular" pitchFamily="34" charset="-122"/>
                <a:cs typeface="Arial Regular" pitchFamily="34" charset="-120"/>
              </a:rPr>
              <a:t>Modelo de datos unificado, con vista 360° del empleado y estructura coherente en todos los módulos.</a:t>
            </a:r>
          </a:p>
          <a:p>
            <a:pPr marL="228600" indent="-228600">
              <a:spcBef>
                <a:spcPts val="200"/>
              </a:spcBef>
              <a:spcAft>
                <a:spcPts val="200"/>
              </a:spcAft>
              <a:buFont typeface="+mj-lt"/>
              <a:buAutoNum type="arabicPeriod"/>
            </a:pPr>
            <a:r>
              <a:rPr lang="es-ES" sz="1200" kern="0" dirty="0">
                <a:solidFill>
                  <a:srgbClr val="1A1A1A">
                    <a:alpha val="60000"/>
                  </a:srgbClr>
                </a:solidFill>
                <a:latin typeface="Arial Regular" pitchFamily="34" charset="0"/>
                <a:ea typeface="Arial Regular" pitchFamily="34" charset="-122"/>
                <a:cs typeface="Arial Regular" pitchFamily="34" charset="-120"/>
              </a:rPr>
              <a:t>Plataforma analítica integrada (</a:t>
            </a:r>
            <a:r>
              <a:rPr lang="es-ES" sz="1200" kern="0" dirty="0" err="1">
                <a:solidFill>
                  <a:srgbClr val="1A1A1A">
                    <a:alpha val="60000"/>
                  </a:srgbClr>
                </a:solidFill>
                <a:latin typeface="Arial Regular" pitchFamily="34" charset="0"/>
                <a:ea typeface="Arial Regular" pitchFamily="34" charset="-122"/>
                <a:cs typeface="Arial Regular" pitchFamily="34" charset="-120"/>
              </a:rPr>
              <a:t>Prism</a:t>
            </a:r>
            <a:r>
              <a:rPr lang="es-ES" sz="1200" kern="0" dirty="0">
                <a:solidFill>
                  <a:srgbClr val="1A1A1A">
                    <a:alpha val="60000"/>
                  </a:srgbClr>
                </a:solidFill>
                <a:latin typeface="Arial Regular" pitchFamily="34" charset="0"/>
                <a:ea typeface="Arial Regular" pitchFamily="34" charset="-122"/>
                <a:cs typeface="Arial Regular" pitchFamily="34" charset="-120"/>
              </a:rPr>
              <a:t> </a:t>
            </a:r>
            <a:r>
              <a:rPr lang="es-ES" sz="1200" kern="0" dirty="0" err="1">
                <a:solidFill>
                  <a:srgbClr val="1A1A1A">
                    <a:alpha val="60000"/>
                  </a:srgbClr>
                </a:solidFill>
                <a:latin typeface="Arial Regular" pitchFamily="34" charset="0"/>
                <a:ea typeface="Arial Regular" pitchFamily="34" charset="-122"/>
                <a:cs typeface="Arial Regular" pitchFamily="34" charset="-120"/>
              </a:rPr>
              <a:t>Analytics</a:t>
            </a:r>
            <a:r>
              <a:rPr lang="es-ES" sz="1200" kern="0" dirty="0">
                <a:solidFill>
                  <a:srgbClr val="1A1A1A">
                    <a:alpha val="60000"/>
                  </a:srgbClr>
                </a:solidFill>
                <a:latin typeface="Arial Regular" pitchFamily="34" charset="0"/>
                <a:ea typeface="Arial Regular" pitchFamily="34" charset="-122"/>
                <a:cs typeface="Arial Regular" pitchFamily="34" charset="-120"/>
              </a:rPr>
              <a:t>) que permite cruzar datos internos y externos sin salir del ecosistema Workday.</a:t>
            </a:r>
          </a:p>
          <a:p>
            <a:pPr marL="228600" indent="-228600">
              <a:spcBef>
                <a:spcPts val="200"/>
              </a:spcBef>
              <a:spcAft>
                <a:spcPts val="200"/>
              </a:spcAft>
              <a:buFont typeface="+mj-lt"/>
              <a:buAutoNum type="arabicPeriod"/>
            </a:pPr>
            <a:r>
              <a:rPr lang="es-ES" sz="1200" kern="0" dirty="0">
                <a:solidFill>
                  <a:srgbClr val="1A1A1A">
                    <a:alpha val="60000"/>
                  </a:srgbClr>
                </a:solidFill>
                <a:latin typeface="Arial Regular" pitchFamily="34" charset="0"/>
                <a:ea typeface="Arial Regular" pitchFamily="34" charset="-122"/>
                <a:cs typeface="Arial Regular" pitchFamily="34" charset="-120"/>
              </a:rPr>
              <a:t>Enfoque nativo cloud, con dos actualizaciones anuales automáticas y sin impacto operativo.</a:t>
            </a:r>
          </a:p>
          <a:p>
            <a:pPr marL="228600" indent="-228600">
              <a:spcBef>
                <a:spcPts val="200"/>
              </a:spcBef>
              <a:spcAft>
                <a:spcPts val="200"/>
              </a:spcAft>
              <a:buFont typeface="+mj-lt"/>
              <a:buAutoNum type="arabicPeriod"/>
            </a:pPr>
            <a:r>
              <a:rPr lang="es-ES" sz="1200" kern="0" dirty="0">
                <a:solidFill>
                  <a:srgbClr val="1A1A1A">
                    <a:alpha val="60000"/>
                  </a:srgbClr>
                </a:solidFill>
                <a:latin typeface="Arial Regular" pitchFamily="34" charset="0"/>
                <a:ea typeface="Arial Regular" pitchFamily="34" charset="-122"/>
                <a:cs typeface="Arial Regular" pitchFamily="34" charset="-120"/>
              </a:rPr>
              <a:t>Alta capacidad de integración mediante Workday </a:t>
            </a:r>
            <a:r>
              <a:rPr lang="es-ES" sz="1200" kern="0" dirty="0" err="1">
                <a:solidFill>
                  <a:srgbClr val="1A1A1A">
                    <a:alpha val="60000"/>
                  </a:srgbClr>
                </a:solidFill>
                <a:latin typeface="Arial Regular" pitchFamily="34" charset="0"/>
                <a:ea typeface="Arial Regular" pitchFamily="34" charset="-122"/>
                <a:cs typeface="Arial Regular" pitchFamily="34" charset="-120"/>
              </a:rPr>
              <a:t>Integration</a:t>
            </a:r>
            <a:r>
              <a:rPr lang="es-ES" sz="1200" kern="0" dirty="0">
                <a:solidFill>
                  <a:srgbClr val="1A1A1A">
                    <a:alpha val="60000"/>
                  </a:srgbClr>
                </a:solidFill>
                <a:latin typeface="Arial Regular" pitchFamily="34" charset="0"/>
                <a:ea typeface="Arial Regular" pitchFamily="34" charset="-122"/>
                <a:cs typeface="Arial Regular" pitchFamily="34" charset="-120"/>
              </a:rPr>
              <a:t> Cloud (</a:t>
            </a:r>
            <a:r>
              <a:rPr lang="es-ES" sz="1200" kern="0" dirty="0" err="1">
                <a:solidFill>
                  <a:srgbClr val="1A1A1A">
                    <a:alpha val="60000"/>
                  </a:srgbClr>
                </a:solidFill>
                <a:latin typeface="Arial Regular" pitchFamily="34" charset="0"/>
                <a:ea typeface="Arial Regular" pitchFamily="34" charset="-122"/>
                <a:cs typeface="Arial Regular" pitchFamily="34" charset="-120"/>
              </a:rPr>
              <a:t>APIs</a:t>
            </a:r>
            <a:r>
              <a:rPr lang="es-ES" sz="1200" kern="0" dirty="0">
                <a:solidFill>
                  <a:srgbClr val="1A1A1A">
                    <a:alpha val="60000"/>
                  </a:srgbClr>
                </a:solidFill>
                <a:latin typeface="Arial Regular" pitchFamily="34" charset="0"/>
                <a:ea typeface="Arial Regular" pitchFamily="34" charset="-122"/>
                <a:cs typeface="Arial Regular" pitchFamily="34" charset="-120"/>
              </a:rPr>
              <a:t>, Cloud </a:t>
            </a:r>
            <a:r>
              <a:rPr lang="es-ES" sz="1200" kern="0" dirty="0" err="1">
                <a:solidFill>
                  <a:srgbClr val="1A1A1A">
                    <a:alpha val="60000"/>
                  </a:srgbClr>
                </a:solidFill>
                <a:latin typeface="Arial Regular" pitchFamily="34" charset="0"/>
                <a:ea typeface="Arial Regular" pitchFamily="34" charset="-122"/>
                <a:cs typeface="Arial Regular" pitchFamily="34" charset="-120"/>
              </a:rPr>
              <a:t>Connect</a:t>
            </a:r>
            <a:r>
              <a:rPr lang="es-ES" sz="1200" kern="0" dirty="0">
                <a:solidFill>
                  <a:srgbClr val="1A1A1A">
                    <a:alpha val="60000"/>
                  </a:srgbClr>
                </a:solidFill>
                <a:latin typeface="Arial Regular" pitchFamily="34" charset="0"/>
                <a:ea typeface="Arial Regular" pitchFamily="34" charset="-122"/>
                <a:cs typeface="Arial Regular" pitchFamily="34" charset="-120"/>
              </a:rPr>
              <a:t>).</a:t>
            </a:r>
            <a:endParaRPr lang="es-ES" sz="1200" dirty="0"/>
          </a:p>
        </p:txBody>
      </p:sp>
      <p:sp>
        <p:nvSpPr>
          <p:cNvPr id="17" name="Marcador de texto 15">
            <a:extLst>
              <a:ext uri="{FF2B5EF4-FFF2-40B4-BE49-F238E27FC236}">
                <a16:creationId xmlns:a16="http://schemas.microsoft.com/office/drawing/2014/main" id="{A2D23944-CC1D-79D6-44BD-D6A59139E62B}"/>
              </a:ext>
            </a:extLst>
          </p:cNvPr>
          <p:cNvSpPr txBox="1">
            <a:spLocks/>
          </p:cNvSpPr>
          <p:nvPr/>
        </p:nvSpPr>
        <p:spPr>
          <a:xfrm>
            <a:off x="8212083" y="2099349"/>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200" b="1" kern="0">
                <a:solidFill>
                  <a:srgbClr val="1A1A1A"/>
                </a:solidFill>
                <a:latin typeface="Arial Regular" pitchFamily="34" charset="0"/>
                <a:ea typeface="Arial Regular" pitchFamily="34" charset="-122"/>
              </a:rPr>
              <a:t>Puntos Débiles</a:t>
            </a:r>
            <a:endParaRPr lang="es-ES" sz="1466" b="1" kern="0">
              <a:solidFill>
                <a:srgbClr val="1A1A1A"/>
              </a:solidFill>
              <a:latin typeface="Arial Regular" pitchFamily="34" charset="0"/>
              <a:ea typeface="Arial Regular" pitchFamily="34" charset="-122"/>
            </a:endParaRPr>
          </a:p>
        </p:txBody>
      </p:sp>
      <p:pic>
        <p:nvPicPr>
          <p:cNvPr id="18" name="ahorro">
            <a:extLst>
              <a:ext uri="{FF2B5EF4-FFF2-40B4-BE49-F238E27FC236}">
                <a16:creationId xmlns:a16="http://schemas.microsoft.com/office/drawing/2014/main" id="{7AA0032B-17A4-F9C8-B81F-C66AAF603525}"/>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396209" y="1658356"/>
            <a:ext cx="304706" cy="304706"/>
          </a:xfrm>
          <a:prstGeom prst="rect">
            <a:avLst/>
          </a:prstGeom>
        </p:spPr>
      </p:pic>
      <p:sp>
        <p:nvSpPr>
          <p:cNvPr id="19" name="CuadroTexto 18">
            <a:extLst>
              <a:ext uri="{FF2B5EF4-FFF2-40B4-BE49-F238E27FC236}">
                <a16:creationId xmlns:a16="http://schemas.microsoft.com/office/drawing/2014/main" id="{50DA8F50-E29F-3FD9-5A5E-B97E0E3B03FD}"/>
              </a:ext>
            </a:extLst>
          </p:cNvPr>
          <p:cNvSpPr txBox="1"/>
          <p:nvPr/>
        </p:nvSpPr>
        <p:spPr>
          <a:xfrm>
            <a:off x="8316827" y="2433266"/>
            <a:ext cx="3452117" cy="3044423"/>
          </a:xfrm>
          <a:prstGeom prst="rect">
            <a:avLst/>
          </a:prstGeom>
          <a:noFill/>
        </p:spPr>
        <p:txBody>
          <a:bodyPr wrap="square" rtlCol="0">
            <a:spAutoFit/>
          </a:bodyPr>
          <a:lstStyle/>
          <a:p>
            <a:pPr marL="228600" indent="-228600">
              <a:spcBef>
                <a:spcPts val="200"/>
              </a:spcBef>
              <a:spcAft>
                <a:spcPts val="200"/>
              </a:spcAft>
              <a:buFont typeface="+mj-lt"/>
              <a:buAutoNum type="arabicPeriod"/>
            </a:pPr>
            <a:r>
              <a:rPr lang="es-ES" sz="1050" kern="0" dirty="0">
                <a:solidFill>
                  <a:srgbClr val="1A1A1A">
                    <a:alpha val="60000"/>
                  </a:srgbClr>
                </a:solidFill>
                <a:latin typeface="Arial Regular" pitchFamily="34" charset="0"/>
                <a:ea typeface="Arial Regular" pitchFamily="34" charset="-122"/>
              </a:rPr>
              <a:t>El modelo de licenciamiento supone un coste estimado de casi  el doble de coste, respecto a otros productos, lo que representa una diferencia significativa a considerar en el presupuesto del proyecto..</a:t>
            </a:r>
          </a:p>
          <a:p>
            <a:pPr marL="228600" indent="-228600">
              <a:spcBef>
                <a:spcPts val="200"/>
              </a:spcBef>
              <a:spcAft>
                <a:spcPts val="200"/>
              </a:spcAft>
              <a:buFont typeface="+mj-lt"/>
              <a:buAutoNum type="arabicPeriod"/>
            </a:pPr>
            <a:r>
              <a:rPr lang="es-ES" sz="1050" kern="0" dirty="0">
                <a:solidFill>
                  <a:srgbClr val="1A1A1A">
                    <a:alpha val="60000"/>
                  </a:srgbClr>
                </a:solidFill>
                <a:latin typeface="Arial Regular" pitchFamily="34" charset="0"/>
                <a:ea typeface="Arial Regular" pitchFamily="34" charset="-122"/>
              </a:rPr>
              <a:t>Dependencia de Workday </a:t>
            </a:r>
            <a:r>
              <a:rPr lang="es-ES" sz="1050" kern="0" dirty="0" err="1">
                <a:solidFill>
                  <a:srgbClr val="1A1A1A">
                    <a:alpha val="60000"/>
                  </a:srgbClr>
                </a:solidFill>
                <a:latin typeface="Arial Regular" pitchFamily="34" charset="0"/>
                <a:ea typeface="Arial Regular" pitchFamily="34" charset="-122"/>
              </a:rPr>
              <a:t>Extend</a:t>
            </a:r>
            <a:r>
              <a:rPr lang="es-ES" sz="1050" kern="0" dirty="0">
                <a:solidFill>
                  <a:srgbClr val="1A1A1A">
                    <a:alpha val="60000"/>
                  </a:srgbClr>
                </a:solidFill>
                <a:latin typeface="Arial Regular" pitchFamily="34" charset="0"/>
                <a:ea typeface="Arial Regular" pitchFamily="34" charset="-122"/>
              </a:rPr>
              <a:t> para cubrir funcionalidades específicas (alrededor del 12 % de los requisitos), lo que añade complejidad técnica y coste en soporte.</a:t>
            </a:r>
          </a:p>
          <a:p>
            <a:pPr marL="228600" indent="-228600">
              <a:spcBef>
                <a:spcPts val="200"/>
              </a:spcBef>
              <a:spcAft>
                <a:spcPts val="200"/>
              </a:spcAft>
              <a:buFont typeface="+mj-lt"/>
              <a:buAutoNum type="arabicPeriod"/>
            </a:pPr>
            <a:r>
              <a:rPr lang="es-ES" sz="1050" kern="0" dirty="0">
                <a:solidFill>
                  <a:srgbClr val="1A1A1A">
                    <a:alpha val="60000"/>
                  </a:srgbClr>
                </a:solidFill>
                <a:latin typeface="Arial Regular" pitchFamily="34" charset="0"/>
                <a:ea typeface="Arial Regular" pitchFamily="34" charset="-122"/>
              </a:rPr>
              <a:t>Mayor esfuerzo inicial en definición funcional, ya que algunos procesos deben rediseñarse desde cero sin referencias al sistema anterior.</a:t>
            </a:r>
          </a:p>
          <a:p>
            <a:pPr marL="228600" indent="-228600">
              <a:spcBef>
                <a:spcPts val="200"/>
              </a:spcBef>
              <a:spcAft>
                <a:spcPts val="200"/>
              </a:spcAft>
              <a:buFont typeface="+mj-lt"/>
              <a:buAutoNum type="arabicPeriod"/>
            </a:pPr>
            <a:r>
              <a:rPr lang="es-ES" sz="1050" kern="0" dirty="0">
                <a:solidFill>
                  <a:srgbClr val="1A1A1A">
                    <a:alpha val="60000"/>
                  </a:srgbClr>
                </a:solidFill>
                <a:latin typeface="Arial Regular" pitchFamily="34" charset="0"/>
                <a:ea typeface="Arial Regular" pitchFamily="34" charset="-122"/>
              </a:rPr>
              <a:t>Requiere mayor curva de aprendizaje tanto para usuarios administradores como  técnicos</a:t>
            </a:r>
          </a:p>
          <a:p>
            <a:pPr marL="228600" indent="-228600">
              <a:spcBef>
                <a:spcPts val="200"/>
              </a:spcBef>
              <a:spcAft>
                <a:spcPts val="200"/>
              </a:spcAft>
              <a:buFont typeface="+mj-lt"/>
              <a:buAutoNum type="arabicPeriod"/>
            </a:pPr>
            <a:r>
              <a:rPr lang="es-ES" sz="1050" kern="0" dirty="0">
                <a:solidFill>
                  <a:srgbClr val="1A1A1A">
                    <a:alpha val="60000"/>
                  </a:srgbClr>
                </a:solidFill>
                <a:latin typeface="Arial Regular" pitchFamily="34" charset="0"/>
                <a:ea typeface="Arial Regular" pitchFamily="34" charset="-122"/>
              </a:rPr>
              <a:t>Dificultad en la migración de datos históricos desde sistemas tradicionales, posibles problemas de compatibilidad y trazabilidad del dato histórico.</a:t>
            </a:r>
          </a:p>
        </p:txBody>
      </p:sp>
      <p:pic>
        <p:nvPicPr>
          <p:cNvPr id="3" name="Picture 2" descr="Workday at Wake Forest - Workday">
            <a:extLst>
              <a:ext uri="{FF2B5EF4-FFF2-40B4-BE49-F238E27FC236}">
                <a16:creationId xmlns:a16="http://schemas.microsoft.com/office/drawing/2014/main" id="{835885C1-42C7-2E16-7122-47A79656C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5208" y="1003785"/>
            <a:ext cx="959576" cy="373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8341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F93F5-1A41-17CC-8410-33D18035D02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3279AB2B-E36B-4138-297B-612DD6A7B1AA}"/>
              </a:ext>
            </a:extLst>
          </p:cNvPr>
          <p:cNvSpPr>
            <a:spLocks noGrp="1"/>
          </p:cNvSpPr>
          <p:nvPr>
            <p:ph type="body" sz="quarter" idx="10"/>
          </p:nvPr>
        </p:nvSpPr>
        <p:spPr/>
        <p:txBody>
          <a:bodyPr/>
          <a:lstStyle/>
          <a:p>
            <a:pPr>
              <a:lnSpc>
                <a:spcPts val="4798"/>
              </a:lnSpc>
            </a:pPr>
            <a:r>
              <a:rPr lang="es-ES" kern="0" spc="-100" noProof="0">
                <a:latin typeface="Arial Regular" pitchFamily="34" charset="0"/>
                <a:ea typeface="Arial Regular" pitchFamily="34" charset="-122"/>
                <a:cs typeface="Arial Regular" pitchFamily="34" charset="-120"/>
              </a:rPr>
              <a:t>Cobertura Funcionalidades</a:t>
            </a:r>
            <a:endParaRPr lang="es-ES" spc="-100" noProof="0"/>
          </a:p>
        </p:txBody>
      </p:sp>
      <p:sp>
        <p:nvSpPr>
          <p:cNvPr id="5" name="Marcador de texto 4">
            <a:extLst>
              <a:ext uri="{FF2B5EF4-FFF2-40B4-BE49-F238E27FC236}">
                <a16:creationId xmlns:a16="http://schemas.microsoft.com/office/drawing/2014/main" id="{0ECC37A9-DA96-F416-162F-F7BEF513B53D}"/>
              </a:ext>
            </a:extLst>
          </p:cNvPr>
          <p:cNvSpPr>
            <a:spLocks noGrp="1"/>
          </p:cNvSpPr>
          <p:nvPr>
            <p:ph type="body" sz="quarter" idx="13"/>
          </p:nvPr>
        </p:nvSpPr>
        <p:spPr/>
        <p:txBody>
          <a:bodyPr/>
          <a:lstStyle/>
          <a:p>
            <a:r>
              <a:rPr lang="es-ES" spc="-67"/>
              <a:t>Conclusiones Defensas RFI Proyecto HCM</a:t>
            </a:r>
          </a:p>
        </p:txBody>
      </p:sp>
      <p:pic>
        <p:nvPicPr>
          <p:cNvPr id="9" name="Picture 2" descr="Workday at Wake Forest - Workday">
            <a:extLst>
              <a:ext uri="{FF2B5EF4-FFF2-40B4-BE49-F238E27FC236}">
                <a16:creationId xmlns:a16="http://schemas.microsoft.com/office/drawing/2014/main" id="{F3C875AB-2B10-E7F6-6BB0-12D05C0E40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08" y="1003785"/>
            <a:ext cx="959576" cy="373168"/>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153B695D-9B06-D0AD-1A7E-DB3C51957950}"/>
              </a:ext>
            </a:extLst>
          </p:cNvPr>
          <p:cNvSpPr txBox="1"/>
          <p:nvPr/>
        </p:nvSpPr>
        <p:spPr>
          <a:xfrm>
            <a:off x="3970922" y="5127650"/>
            <a:ext cx="2123930" cy="523220"/>
          </a:xfrm>
          <a:prstGeom prst="rect">
            <a:avLst/>
          </a:prstGeom>
          <a:noFill/>
        </p:spPr>
        <p:txBody>
          <a:bodyPr wrap="square">
            <a:spAutoFit/>
          </a:bodyPr>
          <a:lstStyle/>
          <a:p>
            <a:pPr algn="ctr"/>
            <a:r>
              <a:rPr lang="es-ES" sz="2800" b="1" kern="1200">
                <a:solidFill>
                  <a:srgbClr val="C00000"/>
                </a:solidFill>
              </a:rPr>
              <a:t>88%</a:t>
            </a:r>
            <a:r>
              <a:rPr lang="es-ES" sz="2800" b="1" kern="1200" baseline="0">
                <a:solidFill>
                  <a:srgbClr val="C00000"/>
                </a:solidFill>
              </a:rPr>
              <a:t> </a:t>
            </a:r>
            <a:r>
              <a:rPr lang="es-ES" sz="1800" kern="1200" baseline="0"/>
              <a:t>cobertura</a:t>
            </a:r>
          </a:p>
        </p:txBody>
      </p:sp>
      <p:graphicFrame>
        <p:nvGraphicFramePr>
          <p:cNvPr id="14" name="Gráfico 13">
            <a:extLst>
              <a:ext uri="{FF2B5EF4-FFF2-40B4-BE49-F238E27FC236}">
                <a16:creationId xmlns:a16="http://schemas.microsoft.com/office/drawing/2014/main" id="{898DF9D7-3EE4-498C-AD3A-06E447626F6B}"/>
              </a:ext>
            </a:extLst>
          </p:cNvPr>
          <p:cNvGraphicFramePr>
            <a:graphicFrameLocks/>
          </p:cNvGraphicFramePr>
          <p:nvPr>
            <p:extLst>
              <p:ext uri="{D42A27DB-BD31-4B8C-83A1-F6EECF244321}">
                <p14:modId xmlns:p14="http://schemas.microsoft.com/office/powerpoint/2010/main" val="491212252"/>
              </p:ext>
            </p:extLst>
          </p:nvPr>
        </p:nvGraphicFramePr>
        <p:xfrm>
          <a:off x="84080" y="2074139"/>
          <a:ext cx="5914795" cy="30815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 name="Gráfico 2">
            <a:extLst>
              <a:ext uri="{FF2B5EF4-FFF2-40B4-BE49-F238E27FC236}">
                <a16:creationId xmlns:a16="http://schemas.microsoft.com/office/drawing/2014/main" id="{D2E4BE96-C191-4BD1-BFA9-A2CB2EE3C155}"/>
              </a:ext>
            </a:extLst>
          </p:cNvPr>
          <p:cNvGraphicFramePr>
            <a:graphicFrameLocks/>
          </p:cNvGraphicFramePr>
          <p:nvPr>
            <p:extLst>
              <p:ext uri="{D42A27DB-BD31-4B8C-83A1-F6EECF244321}">
                <p14:modId xmlns:p14="http://schemas.microsoft.com/office/powerpoint/2010/main" val="2646077686"/>
              </p:ext>
            </p:extLst>
          </p:nvPr>
        </p:nvGraphicFramePr>
        <p:xfrm>
          <a:off x="6094852" y="2074139"/>
          <a:ext cx="6011920" cy="3124601"/>
        </p:xfrm>
        <a:graphic>
          <a:graphicData uri="http://schemas.openxmlformats.org/drawingml/2006/chart">
            <c:chart xmlns:c="http://schemas.openxmlformats.org/drawingml/2006/chart" xmlns:r="http://schemas.openxmlformats.org/officeDocument/2006/relationships" r:id="rId5"/>
          </a:graphicData>
        </a:graphic>
      </p:graphicFrame>
      <p:sp>
        <p:nvSpPr>
          <p:cNvPr id="4" name="CuadroTexto 3">
            <a:extLst>
              <a:ext uri="{FF2B5EF4-FFF2-40B4-BE49-F238E27FC236}">
                <a16:creationId xmlns:a16="http://schemas.microsoft.com/office/drawing/2014/main" id="{5CFE0723-7003-ED4D-50CC-217388F0020D}"/>
              </a:ext>
            </a:extLst>
          </p:cNvPr>
          <p:cNvSpPr txBox="1"/>
          <p:nvPr/>
        </p:nvSpPr>
        <p:spPr>
          <a:xfrm>
            <a:off x="9982842" y="5198740"/>
            <a:ext cx="2123930" cy="523220"/>
          </a:xfrm>
          <a:prstGeom prst="rect">
            <a:avLst/>
          </a:prstGeom>
          <a:noFill/>
        </p:spPr>
        <p:txBody>
          <a:bodyPr wrap="square">
            <a:spAutoFit/>
          </a:bodyPr>
          <a:lstStyle/>
          <a:p>
            <a:pPr algn="ctr"/>
            <a:r>
              <a:rPr lang="es-ES" sz="2800" b="1" kern="1200">
                <a:solidFill>
                  <a:srgbClr val="C00000"/>
                </a:solidFill>
              </a:rPr>
              <a:t>74%</a:t>
            </a:r>
            <a:r>
              <a:rPr lang="es-ES" sz="2800" b="1" kern="1200" baseline="0">
                <a:solidFill>
                  <a:srgbClr val="C00000"/>
                </a:solidFill>
              </a:rPr>
              <a:t> </a:t>
            </a:r>
            <a:r>
              <a:rPr lang="es-ES" sz="1800" kern="1200" baseline="0"/>
              <a:t>cobertura</a:t>
            </a:r>
          </a:p>
        </p:txBody>
      </p:sp>
    </p:spTree>
    <p:extLst>
      <p:ext uri="{BB962C8B-B14F-4D97-AF65-F5344CB8AC3E}">
        <p14:creationId xmlns:p14="http://schemas.microsoft.com/office/powerpoint/2010/main" val="1954524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23EBE-B838-0243-93E7-24DC120ED88B}"/>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1AD5946-4AEB-4FCE-B820-BD4FCC29335C}"/>
              </a:ext>
            </a:extLst>
          </p:cNvPr>
          <p:cNvSpPr>
            <a:spLocks noGrp="1"/>
          </p:cNvSpPr>
          <p:nvPr>
            <p:ph type="body" sz="quarter" idx="10"/>
          </p:nvPr>
        </p:nvSpPr>
        <p:spPr/>
        <p:txBody>
          <a:bodyPr/>
          <a:lstStyle/>
          <a:p>
            <a:pPr>
              <a:lnSpc>
                <a:spcPts val="4798"/>
              </a:lnSpc>
            </a:pPr>
            <a:r>
              <a:rPr lang="es-ES_tradnl" kern="0" spc="-100" noProof="0" dirty="0">
                <a:latin typeface="Arial Regular" pitchFamily="34" charset="0"/>
                <a:ea typeface="Arial Regular" pitchFamily="34" charset="-122"/>
                <a:cs typeface="Arial Regular" pitchFamily="34" charset="-120"/>
              </a:rPr>
              <a:t>Defensas por </a:t>
            </a:r>
            <a:r>
              <a:rPr lang="es-ES_tradnl" kern="0" spc="-100" dirty="0">
                <a:latin typeface="Arial Regular" pitchFamily="34" charset="0"/>
                <a:ea typeface="Arial Regular" pitchFamily="34" charset="-122"/>
                <a:cs typeface="Arial Regular" pitchFamily="34" charset="-120"/>
              </a:rPr>
              <a:t>producto</a:t>
            </a:r>
            <a:endParaRPr lang="es-ES_tradnl" spc="-100" noProof="0" dirty="0"/>
          </a:p>
        </p:txBody>
      </p:sp>
      <p:sp>
        <p:nvSpPr>
          <p:cNvPr id="5" name="Marcador de texto 4">
            <a:extLst>
              <a:ext uri="{FF2B5EF4-FFF2-40B4-BE49-F238E27FC236}">
                <a16:creationId xmlns:a16="http://schemas.microsoft.com/office/drawing/2014/main" id="{86B28350-B706-D6A8-94AB-F3D6643D766A}"/>
              </a:ext>
            </a:extLst>
          </p:cNvPr>
          <p:cNvSpPr>
            <a:spLocks noGrp="1"/>
          </p:cNvSpPr>
          <p:nvPr>
            <p:ph type="body" sz="quarter" idx="13"/>
          </p:nvPr>
        </p:nvSpPr>
        <p:spPr/>
        <p:txBody>
          <a:bodyPr/>
          <a:lstStyle/>
          <a:p>
            <a:r>
              <a:rPr lang="es-ES" spc="-67"/>
              <a:t>Conclusiones Defensas RFI Proyecto HCM</a:t>
            </a:r>
          </a:p>
        </p:txBody>
      </p:sp>
      <p:sp>
        <p:nvSpPr>
          <p:cNvPr id="7" name="Rectángulo 6">
            <a:extLst>
              <a:ext uri="{FF2B5EF4-FFF2-40B4-BE49-F238E27FC236}">
                <a16:creationId xmlns:a16="http://schemas.microsoft.com/office/drawing/2014/main" id="{2D4E4121-7692-EB52-9AA2-0BF02A55E0FD}"/>
              </a:ext>
            </a:extLst>
          </p:cNvPr>
          <p:cNvSpPr/>
          <p:nvPr/>
        </p:nvSpPr>
        <p:spPr>
          <a:xfrm>
            <a:off x="235132" y="1574830"/>
            <a:ext cx="11544318" cy="438804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Marcador de texto 15">
            <a:extLst>
              <a:ext uri="{FF2B5EF4-FFF2-40B4-BE49-F238E27FC236}">
                <a16:creationId xmlns:a16="http://schemas.microsoft.com/office/drawing/2014/main" id="{5BA1AC33-99E1-E7F9-555B-52D54C05B0CC}"/>
              </a:ext>
            </a:extLst>
          </p:cNvPr>
          <p:cNvSpPr txBox="1">
            <a:spLocks/>
          </p:cNvSpPr>
          <p:nvPr/>
        </p:nvSpPr>
        <p:spPr>
          <a:xfrm>
            <a:off x="307805" y="2044919"/>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b="1" kern="0" dirty="0">
                <a:solidFill>
                  <a:srgbClr val="1A1A1A"/>
                </a:solidFill>
                <a:latin typeface="Arial Regular" pitchFamily="34" charset="0"/>
                <a:ea typeface="Arial Regular" pitchFamily="34" charset="-122"/>
              </a:rPr>
              <a:t>Conclusiones</a:t>
            </a:r>
            <a:r>
              <a:rPr lang="es-ES" sz="1200" b="1" kern="0" dirty="0">
                <a:solidFill>
                  <a:srgbClr val="1A1A1A"/>
                </a:solidFill>
                <a:latin typeface="Arial Regular" pitchFamily="34" charset="0"/>
                <a:ea typeface="Arial Regular" pitchFamily="34" charset="-122"/>
              </a:rPr>
              <a:t> </a:t>
            </a:r>
            <a:endParaRPr lang="es-ES" sz="1466" b="1" kern="0" dirty="0">
              <a:solidFill>
                <a:srgbClr val="1A1A1A"/>
              </a:solidFill>
              <a:latin typeface="Arial Regular" pitchFamily="34" charset="0"/>
              <a:ea typeface="Arial Regular" pitchFamily="34" charset="-122"/>
            </a:endParaRPr>
          </a:p>
        </p:txBody>
      </p:sp>
      <p:pic>
        <p:nvPicPr>
          <p:cNvPr id="18" name="ahorro">
            <a:extLst>
              <a:ext uri="{FF2B5EF4-FFF2-40B4-BE49-F238E27FC236}">
                <a16:creationId xmlns:a16="http://schemas.microsoft.com/office/drawing/2014/main" id="{50621DDF-893E-462B-377C-F3A8F0416463}"/>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91931" y="1658356"/>
            <a:ext cx="304706" cy="304706"/>
          </a:xfrm>
          <a:prstGeom prst="rect">
            <a:avLst/>
          </a:prstGeom>
        </p:spPr>
      </p:pic>
      <p:sp>
        <p:nvSpPr>
          <p:cNvPr id="19" name="CuadroTexto 18">
            <a:extLst>
              <a:ext uri="{FF2B5EF4-FFF2-40B4-BE49-F238E27FC236}">
                <a16:creationId xmlns:a16="http://schemas.microsoft.com/office/drawing/2014/main" id="{1E3A84AF-9609-2088-14CB-6A153A704CA8}"/>
              </a:ext>
            </a:extLst>
          </p:cNvPr>
          <p:cNvSpPr txBox="1"/>
          <p:nvPr/>
        </p:nvSpPr>
        <p:spPr>
          <a:xfrm>
            <a:off x="412549" y="2405212"/>
            <a:ext cx="11166919" cy="2046714"/>
          </a:xfrm>
          <a:prstGeom prst="rect">
            <a:avLst/>
          </a:prstGeom>
          <a:noFill/>
        </p:spPr>
        <p:txBody>
          <a:bodyPr wrap="square" rtlCol="0">
            <a:spAutoFit/>
          </a:bodyPr>
          <a:lstStyle/>
          <a:p>
            <a:pPr algn="just">
              <a:spcBef>
                <a:spcPts val="600"/>
              </a:spcBef>
              <a:spcAft>
                <a:spcPts val="600"/>
              </a:spcAft>
            </a:pPr>
            <a:r>
              <a:rPr lang="es-ES" sz="1300" b="0" i="0" dirty="0">
                <a:solidFill>
                  <a:srgbClr val="000000"/>
                </a:solidFill>
                <a:effectLst/>
                <a:latin typeface="Segoe UI" panose="020B0502040204020203" pitchFamily="34" charset="0"/>
              </a:rPr>
              <a:t>La propuesta de </a:t>
            </a:r>
            <a:r>
              <a:rPr lang="es-ES" sz="1300" b="0" i="0" dirty="0">
                <a:solidFill>
                  <a:srgbClr val="C00000"/>
                </a:solidFill>
                <a:effectLst/>
                <a:latin typeface="Segoe UI" panose="020B0502040204020203" pitchFamily="34" charset="0"/>
              </a:rPr>
              <a:t>SAP </a:t>
            </a:r>
            <a:r>
              <a:rPr lang="es-ES" sz="1300" b="0" i="0" dirty="0" err="1">
                <a:solidFill>
                  <a:srgbClr val="C00000"/>
                </a:solidFill>
                <a:effectLst/>
                <a:latin typeface="Segoe UI" panose="020B0502040204020203" pitchFamily="34" charset="0"/>
              </a:rPr>
              <a:t>SuccessFactors</a:t>
            </a:r>
            <a:r>
              <a:rPr lang="es-ES" sz="1300" b="0" i="0" dirty="0">
                <a:solidFill>
                  <a:srgbClr val="C00000"/>
                </a:solidFill>
                <a:effectLst/>
                <a:latin typeface="Segoe UI" panose="020B0502040204020203" pitchFamily="34" charset="0"/>
              </a:rPr>
              <a:t> </a:t>
            </a:r>
            <a:r>
              <a:rPr lang="es-ES" sz="1300" b="0" i="0" dirty="0">
                <a:solidFill>
                  <a:srgbClr val="000000"/>
                </a:solidFill>
                <a:effectLst/>
                <a:latin typeface="Segoe UI" panose="020B0502040204020203" pitchFamily="34" charset="0"/>
              </a:rPr>
              <a:t>se articula como una solución modular y cloud que </a:t>
            </a:r>
            <a:r>
              <a:rPr lang="es-ES" sz="1300" b="1" i="0" dirty="0">
                <a:solidFill>
                  <a:srgbClr val="000000"/>
                </a:solidFill>
                <a:effectLst/>
                <a:latin typeface="Segoe UI" panose="020B0502040204020203" pitchFamily="34" charset="0"/>
              </a:rPr>
              <a:t>cubre los </a:t>
            </a:r>
            <a:r>
              <a:rPr lang="es-ES" sz="1300" b="0" i="0" dirty="0">
                <a:solidFill>
                  <a:srgbClr val="C00000"/>
                </a:solidFill>
                <a:effectLst/>
                <a:latin typeface="Segoe UI" panose="020B0502040204020203" pitchFamily="34" charset="0"/>
              </a:rPr>
              <a:t>procesos básicos del ciclo de vida </a:t>
            </a:r>
            <a:r>
              <a:rPr lang="es-ES" sz="1300" b="0" i="0" dirty="0">
                <a:solidFill>
                  <a:srgbClr val="000000"/>
                </a:solidFill>
                <a:effectLst/>
                <a:latin typeface="Segoe UI" panose="020B0502040204020203" pitchFamily="34" charset="0"/>
              </a:rPr>
              <a:t>del empleado, aunque con una </a:t>
            </a:r>
            <a:r>
              <a:rPr lang="es-ES" sz="1300" b="0" i="0" dirty="0">
                <a:solidFill>
                  <a:srgbClr val="C00000"/>
                </a:solidFill>
                <a:effectLst/>
                <a:latin typeface="Segoe UI" panose="020B0502040204020203" pitchFamily="34" charset="0"/>
              </a:rPr>
              <a:t>cobertura funcional </a:t>
            </a:r>
            <a:r>
              <a:rPr lang="es-ES" sz="1300" b="0" i="0" dirty="0">
                <a:solidFill>
                  <a:srgbClr val="000000"/>
                </a:solidFill>
                <a:effectLst/>
                <a:latin typeface="Segoe UI" panose="020B0502040204020203" pitchFamily="34" charset="0"/>
              </a:rPr>
              <a:t>claramente </a:t>
            </a:r>
            <a:r>
              <a:rPr lang="es-ES" sz="1300" b="0" i="0" dirty="0">
                <a:solidFill>
                  <a:srgbClr val="C00000"/>
                </a:solidFill>
                <a:effectLst/>
                <a:latin typeface="Segoe UI" panose="020B0502040204020203" pitchFamily="34" charset="0"/>
              </a:rPr>
              <a:t>inferior a la del resto de proveedores</a:t>
            </a:r>
            <a:r>
              <a:rPr lang="es-ES" sz="1300" b="0" i="0" dirty="0">
                <a:solidFill>
                  <a:srgbClr val="000000"/>
                </a:solidFill>
                <a:effectLst/>
                <a:latin typeface="Segoe UI" panose="020B0502040204020203" pitchFamily="34" charset="0"/>
              </a:rPr>
              <a:t> analizados en esta RFI. La defensa recibida fue la más débil del proceso, con escasa adaptación al contexto de Línea Directa y sin evidencias claras de cómo la herramienta responde a nuestros procesos o requerimientos específicos. </a:t>
            </a:r>
          </a:p>
          <a:p>
            <a:pPr algn="just">
              <a:spcBef>
                <a:spcPts val="600"/>
              </a:spcBef>
              <a:spcAft>
                <a:spcPts val="600"/>
              </a:spcAft>
            </a:pPr>
            <a:r>
              <a:rPr lang="es-ES" sz="1300" b="0" i="0" dirty="0">
                <a:solidFill>
                  <a:srgbClr val="000000"/>
                </a:solidFill>
                <a:effectLst/>
                <a:latin typeface="Segoe UI" panose="020B0502040204020203" pitchFamily="34" charset="0"/>
              </a:rPr>
              <a:t>A nivel de experiencia de usuario y operativa funcional, el conocimiento interno sobre esta plataforma es muy limitado, y no se mostraron casos de migración desde sistemas como PeopleSoft, lo que añade incertidumbre sobre su encaje real en un entorno con fuerte legado y dependencias. Si bien su arquitectura modular y sus capacidades analíticas pueden ser interesantes, su posicionamiento en el mercado está actualmente por detrás de Oracle y </a:t>
            </a:r>
            <a:r>
              <a:rPr lang="es-ES" sz="1300" b="0" i="0" dirty="0" err="1">
                <a:solidFill>
                  <a:srgbClr val="000000"/>
                </a:solidFill>
                <a:effectLst/>
                <a:latin typeface="Segoe UI" panose="020B0502040204020203" pitchFamily="34" charset="0"/>
              </a:rPr>
              <a:t>Workday</a:t>
            </a:r>
            <a:r>
              <a:rPr lang="es-ES" sz="1300" b="0" i="0" dirty="0">
                <a:solidFill>
                  <a:srgbClr val="000000"/>
                </a:solidFill>
                <a:effectLst/>
                <a:latin typeface="Segoe UI" panose="020B0502040204020203" pitchFamily="34" charset="0"/>
              </a:rPr>
              <a:t>, y la propuesta no ha logrado demostrar el nivel de madurez funcional, trazabilidad o claridad metodológica que requerimos para avanzar de forma segura a la siguiente fase del proyecto.</a:t>
            </a:r>
            <a:endParaRPr lang="es-ES" sz="1300" kern="0" dirty="0">
              <a:solidFill>
                <a:srgbClr val="1A1A1A">
                  <a:alpha val="60000"/>
                </a:srgbClr>
              </a:solidFill>
              <a:latin typeface="Arial Regular" pitchFamily="34" charset="0"/>
              <a:ea typeface="Arial Regular" pitchFamily="34" charset="-122"/>
            </a:endParaRPr>
          </a:p>
        </p:txBody>
      </p:sp>
      <p:pic>
        <p:nvPicPr>
          <p:cNvPr id="4" name="Picture 2">
            <a:extLst>
              <a:ext uri="{FF2B5EF4-FFF2-40B4-BE49-F238E27FC236}">
                <a16:creationId xmlns:a16="http://schemas.microsoft.com/office/drawing/2014/main" id="{8870F73B-D0B7-7C20-9D5E-75D2781223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414813" y="839401"/>
            <a:ext cx="756442" cy="749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5803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4D5658-E64C-33E4-A543-8408966F0326}"/>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0BE42EB6-9F08-2D8C-94F5-7FB943D4DCC5}"/>
              </a:ext>
            </a:extLst>
          </p:cNvPr>
          <p:cNvSpPr>
            <a:spLocks noGrp="1"/>
          </p:cNvSpPr>
          <p:nvPr>
            <p:ph type="body" sz="quarter" idx="10"/>
          </p:nvPr>
        </p:nvSpPr>
        <p:spPr/>
        <p:txBody>
          <a:bodyPr/>
          <a:lstStyle/>
          <a:p>
            <a:pPr>
              <a:lnSpc>
                <a:spcPts val="4798"/>
              </a:lnSpc>
            </a:pPr>
            <a:r>
              <a:rPr lang="es-ES_tradnl" kern="0" spc="-100" noProof="0">
                <a:latin typeface="Arial Regular" pitchFamily="34" charset="0"/>
                <a:ea typeface="Arial Regular" pitchFamily="34" charset="-122"/>
                <a:cs typeface="Arial Regular" pitchFamily="34" charset="-120"/>
              </a:rPr>
              <a:t>Defensas por Fabricante</a:t>
            </a:r>
            <a:endParaRPr lang="es-ES_tradnl" spc="-100" noProof="0"/>
          </a:p>
        </p:txBody>
      </p:sp>
      <p:sp>
        <p:nvSpPr>
          <p:cNvPr id="5" name="Marcador de texto 4">
            <a:extLst>
              <a:ext uri="{FF2B5EF4-FFF2-40B4-BE49-F238E27FC236}">
                <a16:creationId xmlns:a16="http://schemas.microsoft.com/office/drawing/2014/main" id="{67E9B03A-7BEE-1D5F-EF80-CF5DC9A74654}"/>
              </a:ext>
            </a:extLst>
          </p:cNvPr>
          <p:cNvSpPr>
            <a:spLocks noGrp="1"/>
          </p:cNvSpPr>
          <p:nvPr>
            <p:ph type="body" sz="quarter" idx="13"/>
          </p:nvPr>
        </p:nvSpPr>
        <p:spPr/>
        <p:txBody>
          <a:bodyPr/>
          <a:lstStyle/>
          <a:p>
            <a:r>
              <a:rPr lang="es-ES" spc="-67"/>
              <a:t>Conclusiones Defensas RFI Proyecto HCM</a:t>
            </a:r>
          </a:p>
        </p:txBody>
      </p:sp>
      <p:sp>
        <p:nvSpPr>
          <p:cNvPr id="4" name="Rectángulo 3">
            <a:extLst>
              <a:ext uri="{FF2B5EF4-FFF2-40B4-BE49-F238E27FC236}">
                <a16:creationId xmlns:a16="http://schemas.microsoft.com/office/drawing/2014/main" id="{BE175417-9BB2-73E1-DC7C-AF8282B9AF24}"/>
              </a:ext>
            </a:extLst>
          </p:cNvPr>
          <p:cNvSpPr/>
          <p:nvPr/>
        </p:nvSpPr>
        <p:spPr>
          <a:xfrm>
            <a:off x="195208" y="1575387"/>
            <a:ext cx="3719245" cy="447609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5FE77B36-C51C-43F7-64C4-211E68E3D3B0}"/>
              </a:ext>
            </a:extLst>
          </p:cNvPr>
          <p:cNvSpPr/>
          <p:nvPr/>
        </p:nvSpPr>
        <p:spPr>
          <a:xfrm>
            <a:off x="4236376" y="1575387"/>
            <a:ext cx="3719245" cy="447609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95E003E9-63E4-A5E0-6CF4-8F5A4F2C5463}"/>
              </a:ext>
            </a:extLst>
          </p:cNvPr>
          <p:cNvSpPr/>
          <p:nvPr/>
        </p:nvSpPr>
        <p:spPr>
          <a:xfrm>
            <a:off x="8168568" y="1574831"/>
            <a:ext cx="3719245" cy="447609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Marcador de texto 15">
            <a:extLst>
              <a:ext uri="{FF2B5EF4-FFF2-40B4-BE49-F238E27FC236}">
                <a16:creationId xmlns:a16="http://schemas.microsoft.com/office/drawing/2014/main" id="{D84AAE02-B445-ACF5-08C9-C740FE6500C8}"/>
              </a:ext>
            </a:extLst>
          </p:cNvPr>
          <p:cNvSpPr txBox="1">
            <a:spLocks/>
          </p:cNvSpPr>
          <p:nvPr/>
        </p:nvSpPr>
        <p:spPr>
          <a:xfrm>
            <a:off x="224029" y="2080511"/>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466" kern="0">
                <a:solidFill>
                  <a:srgbClr val="1A1A1A"/>
                </a:solidFill>
                <a:latin typeface="Arial Regular" pitchFamily="34" charset="0"/>
                <a:ea typeface="Arial Regular" pitchFamily="34" charset="-122"/>
              </a:rPr>
              <a:t>Contexto y Alcance de la oferta</a:t>
            </a:r>
          </a:p>
        </p:txBody>
      </p:sp>
      <p:pic>
        <p:nvPicPr>
          <p:cNvPr id="9" name="ahorro">
            <a:extLst>
              <a:ext uri="{FF2B5EF4-FFF2-40B4-BE49-F238E27FC236}">
                <a16:creationId xmlns:a16="http://schemas.microsoft.com/office/drawing/2014/main" id="{F90AC69B-10F4-D24C-CA4B-28AF5B84B9C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8155" y="1639518"/>
            <a:ext cx="304706" cy="304706"/>
          </a:xfrm>
          <a:prstGeom prst="rect">
            <a:avLst/>
          </a:prstGeom>
        </p:spPr>
      </p:pic>
      <p:sp>
        <p:nvSpPr>
          <p:cNvPr id="10" name="CuadroTexto 9">
            <a:extLst>
              <a:ext uri="{FF2B5EF4-FFF2-40B4-BE49-F238E27FC236}">
                <a16:creationId xmlns:a16="http://schemas.microsoft.com/office/drawing/2014/main" id="{4DBC2DAF-6BFB-6D3E-2B5C-735A55B1FB67}"/>
              </a:ext>
            </a:extLst>
          </p:cNvPr>
          <p:cNvSpPr txBox="1"/>
          <p:nvPr/>
        </p:nvSpPr>
        <p:spPr>
          <a:xfrm>
            <a:off x="328773" y="2414428"/>
            <a:ext cx="3452117" cy="3154710"/>
          </a:xfrm>
          <a:prstGeom prst="rect">
            <a:avLst/>
          </a:prstGeom>
          <a:noFill/>
        </p:spPr>
        <p:txBody>
          <a:bodyPr wrap="square" rtlCol="0">
            <a:spAutoFit/>
          </a:bodyPr>
          <a:lstStyle/>
          <a:p>
            <a:pPr marL="171450" indent="-171450">
              <a:spcBef>
                <a:spcPts val="1200"/>
              </a:spcBef>
              <a:spcAft>
                <a:spcPts val="600"/>
              </a:spcAft>
              <a:buFontTx/>
              <a:buChar char="-"/>
            </a:pPr>
            <a:r>
              <a:rPr lang="es-ES" sz="1100" kern="0">
                <a:solidFill>
                  <a:srgbClr val="1A1A1A">
                    <a:alpha val="60000"/>
                  </a:srgbClr>
                </a:solidFill>
                <a:latin typeface="Arial Regular" pitchFamily="34" charset="0"/>
                <a:ea typeface="Arial Regular" pitchFamily="34" charset="-122"/>
              </a:rPr>
              <a:t>Propuesta basada en SuccessFactors.</a:t>
            </a:r>
          </a:p>
          <a:p>
            <a:pPr marL="171450" indent="-171450">
              <a:spcBef>
                <a:spcPts val="1200"/>
              </a:spcBef>
              <a:spcAft>
                <a:spcPts val="600"/>
              </a:spcAft>
              <a:buFontTx/>
              <a:buChar char="-"/>
            </a:pPr>
            <a:r>
              <a:rPr lang="es-ES" sz="1100" kern="0">
                <a:solidFill>
                  <a:srgbClr val="1A1A1A">
                    <a:alpha val="60000"/>
                  </a:srgbClr>
                </a:solidFill>
                <a:latin typeface="Arial Regular" pitchFamily="34" charset="0"/>
                <a:ea typeface="Arial Regular" pitchFamily="34" charset="-122"/>
              </a:rPr>
              <a:t>Cobertura modular estándar de los procesos clave: Core HR, Nómina, Tiempo, Desempeño, Reclutamiento, Formación, Compensación y </a:t>
            </a:r>
            <a:r>
              <a:rPr lang="es-ES" sz="1100" kern="0" err="1">
                <a:solidFill>
                  <a:srgbClr val="1A1A1A">
                    <a:alpha val="60000"/>
                  </a:srgbClr>
                </a:solidFill>
                <a:latin typeface="Arial Regular" pitchFamily="34" charset="0"/>
                <a:ea typeface="Arial Regular" pitchFamily="34" charset="-122"/>
              </a:rPr>
              <a:t>Analytics</a:t>
            </a:r>
            <a:r>
              <a:rPr lang="es-ES" sz="1100" kern="0">
                <a:solidFill>
                  <a:srgbClr val="1A1A1A">
                    <a:alpha val="60000"/>
                  </a:srgbClr>
                </a:solidFill>
                <a:latin typeface="Arial Regular" pitchFamily="34" charset="0"/>
                <a:ea typeface="Arial Regular" pitchFamily="34" charset="-122"/>
              </a:rPr>
              <a:t>, siendo la que menor cobertura ofrece de las tres soluciones.</a:t>
            </a:r>
          </a:p>
          <a:p>
            <a:pPr marL="171450" indent="-171450">
              <a:spcBef>
                <a:spcPts val="1200"/>
              </a:spcBef>
              <a:spcAft>
                <a:spcPts val="600"/>
              </a:spcAft>
              <a:buFontTx/>
              <a:buChar char="-"/>
            </a:pPr>
            <a:r>
              <a:rPr lang="es-ES" sz="1100" kern="0">
                <a:solidFill>
                  <a:srgbClr val="1A1A1A">
                    <a:alpha val="60000"/>
                  </a:srgbClr>
                </a:solidFill>
                <a:latin typeface="Arial Regular" pitchFamily="34" charset="0"/>
                <a:ea typeface="Arial Regular" pitchFamily="34" charset="-122"/>
              </a:rPr>
              <a:t>Módulos como “</a:t>
            </a:r>
            <a:r>
              <a:rPr lang="es-ES" sz="1100" kern="0" err="1">
                <a:solidFill>
                  <a:srgbClr val="1A1A1A">
                    <a:alpha val="60000"/>
                  </a:srgbClr>
                </a:solidFill>
                <a:latin typeface="Arial Regular" pitchFamily="34" charset="0"/>
                <a:ea typeface="Arial Regular" pitchFamily="34" charset="-122"/>
              </a:rPr>
              <a:t>Opportunity</a:t>
            </a:r>
            <a:r>
              <a:rPr lang="es-ES" sz="1100" kern="0">
                <a:solidFill>
                  <a:srgbClr val="1A1A1A">
                    <a:alpha val="60000"/>
                  </a:srgbClr>
                </a:solidFill>
                <a:latin typeface="Arial Regular" pitchFamily="34" charset="0"/>
                <a:ea typeface="Arial Regular" pitchFamily="34" charset="-122"/>
              </a:rPr>
              <a:t> Marketplace” y “</a:t>
            </a:r>
            <a:r>
              <a:rPr lang="es-ES" sz="1100" kern="0" err="1">
                <a:solidFill>
                  <a:srgbClr val="1A1A1A">
                    <a:alpha val="60000"/>
                  </a:srgbClr>
                </a:solidFill>
                <a:latin typeface="Arial Regular" pitchFamily="34" charset="0"/>
                <a:ea typeface="Arial Regular" pitchFamily="34" charset="-122"/>
              </a:rPr>
              <a:t>Talent</a:t>
            </a:r>
            <a:r>
              <a:rPr lang="es-ES" sz="1100" kern="0">
                <a:solidFill>
                  <a:srgbClr val="1A1A1A">
                    <a:alpha val="60000"/>
                  </a:srgbClr>
                </a:solidFill>
                <a:latin typeface="Arial Regular" pitchFamily="34" charset="0"/>
                <a:ea typeface="Arial Regular" pitchFamily="34" charset="-122"/>
              </a:rPr>
              <a:t> </a:t>
            </a:r>
            <a:r>
              <a:rPr lang="es-ES" sz="1100" kern="0" err="1">
                <a:solidFill>
                  <a:srgbClr val="1A1A1A">
                    <a:alpha val="60000"/>
                  </a:srgbClr>
                </a:solidFill>
                <a:latin typeface="Arial Regular" pitchFamily="34" charset="0"/>
                <a:ea typeface="Arial Regular" pitchFamily="34" charset="-122"/>
              </a:rPr>
              <a:t>Intelligence</a:t>
            </a:r>
            <a:r>
              <a:rPr lang="es-ES" sz="1100" kern="0">
                <a:solidFill>
                  <a:srgbClr val="1A1A1A">
                    <a:alpha val="60000"/>
                  </a:srgbClr>
                </a:solidFill>
                <a:latin typeface="Arial Regular" pitchFamily="34" charset="0"/>
                <a:ea typeface="Arial Regular" pitchFamily="34" charset="-122"/>
              </a:rPr>
              <a:t> Hub” cubren áreas de carrera y potencial, aunque sin un detalle funcional profundo.</a:t>
            </a:r>
          </a:p>
          <a:p>
            <a:pPr marL="171450" indent="-171450">
              <a:spcBef>
                <a:spcPts val="1200"/>
              </a:spcBef>
              <a:spcAft>
                <a:spcPts val="600"/>
              </a:spcAft>
              <a:buFontTx/>
              <a:buChar char="-"/>
            </a:pPr>
            <a:r>
              <a:rPr lang="es-ES" sz="1100" kern="0">
                <a:solidFill>
                  <a:srgbClr val="1A1A1A">
                    <a:alpha val="60000"/>
                  </a:srgbClr>
                </a:solidFill>
                <a:latin typeface="Arial Regular" pitchFamily="34" charset="0"/>
                <a:ea typeface="Arial Regular" pitchFamily="34" charset="-122"/>
              </a:rPr>
              <a:t>La solución utiliza una arquitectura distribuida en componentes, lo que permite cierta flexibilidad, pero también puede fragmentar la experiencia de usuario.</a:t>
            </a:r>
          </a:p>
        </p:txBody>
      </p:sp>
      <p:sp>
        <p:nvSpPr>
          <p:cNvPr id="11" name="Marcador de texto 15">
            <a:extLst>
              <a:ext uri="{FF2B5EF4-FFF2-40B4-BE49-F238E27FC236}">
                <a16:creationId xmlns:a16="http://schemas.microsoft.com/office/drawing/2014/main" id="{520FB888-D71D-E10C-3840-7E758E52CD00}"/>
              </a:ext>
            </a:extLst>
          </p:cNvPr>
          <p:cNvSpPr txBox="1">
            <a:spLocks/>
          </p:cNvSpPr>
          <p:nvPr/>
        </p:nvSpPr>
        <p:spPr>
          <a:xfrm>
            <a:off x="4265197" y="2080511"/>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466" kern="0">
                <a:solidFill>
                  <a:srgbClr val="1A1A1A"/>
                </a:solidFill>
                <a:latin typeface="Arial Regular" pitchFamily="34" charset="0"/>
                <a:ea typeface="Arial Regular" pitchFamily="34" charset="-122"/>
              </a:rPr>
              <a:t>Puntos Fuertes</a:t>
            </a:r>
          </a:p>
        </p:txBody>
      </p:sp>
      <p:pic>
        <p:nvPicPr>
          <p:cNvPr id="12" name="ahorro">
            <a:extLst>
              <a:ext uri="{FF2B5EF4-FFF2-40B4-BE49-F238E27FC236}">
                <a16:creationId xmlns:a16="http://schemas.microsoft.com/office/drawing/2014/main" id="{1368BE35-122A-D78D-310E-EFFE6424D1B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4449323" y="1639518"/>
            <a:ext cx="304706" cy="304706"/>
          </a:xfrm>
          <a:prstGeom prst="rect">
            <a:avLst/>
          </a:prstGeom>
        </p:spPr>
      </p:pic>
      <p:sp>
        <p:nvSpPr>
          <p:cNvPr id="13" name="CuadroTexto 12">
            <a:extLst>
              <a:ext uri="{FF2B5EF4-FFF2-40B4-BE49-F238E27FC236}">
                <a16:creationId xmlns:a16="http://schemas.microsoft.com/office/drawing/2014/main" id="{D2328157-7560-C466-774E-2DD85B08CD0B}"/>
              </a:ext>
            </a:extLst>
          </p:cNvPr>
          <p:cNvSpPr txBox="1"/>
          <p:nvPr/>
        </p:nvSpPr>
        <p:spPr>
          <a:xfrm>
            <a:off x="4369941" y="2414428"/>
            <a:ext cx="3452117" cy="3436838"/>
          </a:xfrm>
          <a:prstGeom prst="rect">
            <a:avLst/>
          </a:prstGeom>
          <a:noFill/>
        </p:spPr>
        <p:txBody>
          <a:bodyPr wrap="square" rtlCol="0">
            <a:spAutoFit/>
          </a:bodyPr>
          <a:lstStyle/>
          <a:p>
            <a:pPr marL="228600" indent="-228600">
              <a:spcBef>
                <a:spcPts val="200"/>
              </a:spcBef>
              <a:spcAft>
                <a:spcPts val="200"/>
              </a:spcAft>
              <a:buFont typeface="+mj-lt"/>
              <a:buAutoNum type="arabicPeriod"/>
            </a:pPr>
            <a:r>
              <a:rPr lang="es-ES" sz="1200" kern="0" dirty="0">
                <a:solidFill>
                  <a:srgbClr val="1A1A1A">
                    <a:alpha val="60000"/>
                  </a:srgbClr>
                </a:solidFill>
                <a:latin typeface="Arial Regular" pitchFamily="34" charset="0"/>
                <a:ea typeface="Arial Regular" pitchFamily="34" charset="-122"/>
                <a:cs typeface="Arial Regular" pitchFamily="34" charset="-120"/>
              </a:rPr>
              <a:t>Cobertura funcional amplia del ciclo completo del empleado (Core HR, Talento, Formación, Selección, Compensación, Tiempo y </a:t>
            </a:r>
            <a:r>
              <a:rPr lang="es-ES" sz="1200" kern="0" dirty="0" err="1">
                <a:solidFill>
                  <a:srgbClr val="1A1A1A">
                    <a:alpha val="60000"/>
                  </a:srgbClr>
                </a:solidFill>
                <a:latin typeface="Arial Regular" pitchFamily="34" charset="0"/>
                <a:ea typeface="Arial Regular" pitchFamily="34" charset="-122"/>
                <a:cs typeface="Arial Regular" pitchFamily="34" charset="-120"/>
              </a:rPr>
              <a:t>Analytics</a:t>
            </a:r>
            <a:r>
              <a:rPr lang="es-ES" sz="1200" kern="0" dirty="0">
                <a:solidFill>
                  <a:srgbClr val="1A1A1A">
                    <a:alpha val="60000"/>
                  </a:srgbClr>
                </a:solidFill>
                <a:latin typeface="Arial Regular" pitchFamily="34" charset="0"/>
                <a:ea typeface="Arial Regular" pitchFamily="34" charset="-122"/>
                <a:cs typeface="Arial Regular" pitchFamily="34" charset="-120"/>
              </a:rPr>
              <a:t>).</a:t>
            </a:r>
          </a:p>
          <a:p>
            <a:pPr marL="228600" indent="-228600">
              <a:spcBef>
                <a:spcPts val="200"/>
              </a:spcBef>
              <a:spcAft>
                <a:spcPts val="200"/>
              </a:spcAft>
              <a:buFont typeface="+mj-lt"/>
              <a:buAutoNum type="arabicPeriod"/>
            </a:pPr>
            <a:r>
              <a:rPr lang="es-ES" sz="1200" kern="0" dirty="0">
                <a:solidFill>
                  <a:srgbClr val="1A1A1A">
                    <a:alpha val="60000"/>
                  </a:srgbClr>
                </a:solidFill>
                <a:latin typeface="Arial Regular" pitchFamily="34" charset="0"/>
                <a:ea typeface="Arial Regular" pitchFamily="34" charset="-122"/>
                <a:cs typeface="Arial Regular" pitchFamily="34" charset="-120"/>
              </a:rPr>
              <a:t>Arquitectura modular, que permite una implantación progresiva por fases, adaptada al ritmo de la organización.</a:t>
            </a:r>
          </a:p>
          <a:p>
            <a:pPr marL="228600" indent="-228600">
              <a:spcBef>
                <a:spcPts val="200"/>
              </a:spcBef>
              <a:spcAft>
                <a:spcPts val="200"/>
              </a:spcAft>
              <a:buFont typeface="+mj-lt"/>
              <a:buAutoNum type="arabicPeriod"/>
            </a:pPr>
            <a:r>
              <a:rPr lang="es-ES" sz="1200" kern="0" dirty="0">
                <a:solidFill>
                  <a:srgbClr val="1A1A1A">
                    <a:alpha val="60000"/>
                  </a:srgbClr>
                </a:solidFill>
                <a:latin typeface="Arial Regular" pitchFamily="34" charset="0"/>
                <a:ea typeface="Arial Regular" pitchFamily="34" charset="-122"/>
                <a:cs typeface="Arial Regular" pitchFamily="34" charset="-120"/>
              </a:rPr>
              <a:t>Integración nativa con el ecosistema SAP, facilitando sinergias si existen sistemas SAP en otras áreas corporativas.</a:t>
            </a:r>
          </a:p>
          <a:p>
            <a:pPr marL="228600" indent="-228600">
              <a:spcBef>
                <a:spcPts val="200"/>
              </a:spcBef>
              <a:spcAft>
                <a:spcPts val="200"/>
              </a:spcAft>
              <a:buFont typeface="+mj-lt"/>
              <a:buAutoNum type="arabicPeriod"/>
            </a:pPr>
            <a:r>
              <a:rPr lang="es-ES" sz="1200" kern="0" dirty="0">
                <a:solidFill>
                  <a:srgbClr val="1A1A1A">
                    <a:alpha val="60000"/>
                  </a:srgbClr>
                </a:solidFill>
                <a:latin typeface="Arial Regular" pitchFamily="34" charset="0"/>
                <a:ea typeface="Arial Regular" pitchFamily="34" charset="-122"/>
                <a:cs typeface="Arial Regular" pitchFamily="34" charset="-120"/>
              </a:rPr>
              <a:t>Capacidad de generar informes estándar y ad hoc, y herramientas específicas para planificación de la fuerza laboral.</a:t>
            </a:r>
          </a:p>
          <a:p>
            <a:pPr marL="228600" indent="-228600">
              <a:spcBef>
                <a:spcPts val="200"/>
              </a:spcBef>
              <a:spcAft>
                <a:spcPts val="200"/>
              </a:spcAft>
              <a:buFont typeface="+mj-lt"/>
              <a:buAutoNum type="arabicPeriod"/>
            </a:pPr>
            <a:r>
              <a:rPr lang="es-ES" sz="1200" kern="0" dirty="0">
                <a:solidFill>
                  <a:srgbClr val="1A1A1A">
                    <a:alpha val="60000"/>
                  </a:srgbClr>
                </a:solidFill>
                <a:latin typeface="Arial Regular" pitchFamily="34" charset="0"/>
                <a:ea typeface="Arial Regular" pitchFamily="34" charset="-122"/>
                <a:cs typeface="Arial Regular" pitchFamily="34" charset="-120"/>
              </a:rPr>
              <a:t>Propuesta alineada con las tendencias actuales del mercado cloud: IA generativa (Joule), integración con MS </a:t>
            </a:r>
            <a:r>
              <a:rPr lang="es-ES" sz="1200" kern="0" dirty="0" err="1">
                <a:solidFill>
                  <a:srgbClr val="1A1A1A">
                    <a:alpha val="60000"/>
                  </a:srgbClr>
                </a:solidFill>
                <a:latin typeface="Arial Regular" pitchFamily="34" charset="0"/>
                <a:ea typeface="Arial Regular" pitchFamily="34" charset="-122"/>
                <a:cs typeface="Arial Regular" pitchFamily="34" charset="-120"/>
              </a:rPr>
              <a:t>Teams</a:t>
            </a:r>
            <a:r>
              <a:rPr lang="es-ES" sz="1200" kern="0" dirty="0">
                <a:solidFill>
                  <a:srgbClr val="1A1A1A">
                    <a:alpha val="60000"/>
                  </a:srgbClr>
                </a:solidFill>
                <a:latin typeface="Arial Regular" pitchFamily="34" charset="0"/>
                <a:ea typeface="Arial Regular" pitchFamily="34" charset="-122"/>
                <a:cs typeface="Arial Regular" pitchFamily="34" charset="-120"/>
              </a:rPr>
              <a:t>, y enfoque “</a:t>
            </a:r>
            <a:r>
              <a:rPr lang="es-ES" sz="1200" kern="0" dirty="0" err="1">
                <a:solidFill>
                  <a:srgbClr val="1A1A1A">
                    <a:alpha val="60000"/>
                  </a:srgbClr>
                </a:solidFill>
                <a:latin typeface="Arial Regular" pitchFamily="34" charset="0"/>
                <a:ea typeface="Arial Regular" pitchFamily="34" charset="-122"/>
                <a:cs typeface="Arial Regular" pitchFamily="34" charset="-120"/>
              </a:rPr>
              <a:t>Hire</a:t>
            </a:r>
            <a:r>
              <a:rPr lang="es-ES" sz="1200" kern="0" dirty="0">
                <a:solidFill>
                  <a:srgbClr val="1A1A1A">
                    <a:alpha val="60000"/>
                  </a:srgbClr>
                </a:solidFill>
                <a:latin typeface="Arial Regular" pitchFamily="34" charset="0"/>
                <a:ea typeface="Arial Regular" pitchFamily="34" charset="-122"/>
                <a:cs typeface="Arial Regular" pitchFamily="34" charset="-120"/>
              </a:rPr>
              <a:t> </a:t>
            </a:r>
            <a:r>
              <a:rPr lang="es-ES" sz="1200" kern="0" dirty="0" err="1">
                <a:solidFill>
                  <a:srgbClr val="1A1A1A">
                    <a:alpha val="60000"/>
                  </a:srgbClr>
                </a:solidFill>
                <a:latin typeface="Arial Regular" pitchFamily="34" charset="0"/>
                <a:ea typeface="Arial Regular" pitchFamily="34" charset="-122"/>
                <a:cs typeface="Arial Regular" pitchFamily="34" charset="-120"/>
              </a:rPr>
              <a:t>to</a:t>
            </a:r>
            <a:r>
              <a:rPr lang="es-ES" sz="1200" kern="0" dirty="0">
                <a:solidFill>
                  <a:srgbClr val="1A1A1A">
                    <a:alpha val="60000"/>
                  </a:srgbClr>
                </a:solidFill>
                <a:latin typeface="Arial Regular" pitchFamily="34" charset="0"/>
                <a:ea typeface="Arial Regular" pitchFamily="34" charset="-122"/>
                <a:cs typeface="Arial Regular" pitchFamily="34" charset="-120"/>
              </a:rPr>
              <a:t> Retire”.</a:t>
            </a:r>
            <a:endParaRPr lang="es-ES" sz="1600" dirty="0"/>
          </a:p>
        </p:txBody>
      </p:sp>
      <p:sp>
        <p:nvSpPr>
          <p:cNvPr id="17" name="Marcador de texto 15">
            <a:extLst>
              <a:ext uri="{FF2B5EF4-FFF2-40B4-BE49-F238E27FC236}">
                <a16:creationId xmlns:a16="http://schemas.microsoft.com/office/drawing/2014/main" id="{542C0855-2045-D1F2-A2F5-9B07E3751A5C}"/>
              </a:ext>
            </a:extLst>
          </p:cNvPr>
          <p:cNvSpPr txBox="1">
            <a:spLocks/>
          </p:cNvSpPr>
          <p:nvPr/>
        </p:nvSpPr>
        <p:spPr>
          <a:xfrm>
            <a:off x="8256723" y="2099349"/>
            <a:ext cx="3755888" cy="315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466" kern="0">
                <a:solidFill>
                  <a:srgbClr val="1A1A1A"/>
                </a:solidFill>
                <a:latin typeface="Arial Regular" pitchFamily="34" charset="0"/>
                <a:ea typeface="Arial Regular" pitchFamily="34" charset="-122"/>
              </a:rPr>
              <a:t>Conclusiones</a:t>
            </a:r>
          </a:p>
        </p:txBody>
      </p:sp>
      <p:pic>
        <p:nvPicPr>
          <p:cNvPr id="18" name="ahorro">
            <a:extLst>
              <a:ext uri="{FF2B5EF4-FFF2-40B4-BE49-F238E27FC236}">
                <a16:creationId xmlns:a16="http://schemas.microsoft.com/office/drawing/2014/main" id="{2DB7CD6C-CC54-BA37-3AEC-A9511402CF44}"/>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440849" y="1658356"/>
            <a:ext cx="304706" cy="304706"/>
          </a:xfrm>
          <a:prstGeom prst="rect">
            <a:avLst/>
          </a:prstGeom>
        </p:spPr>
      </p:pic>
      <p:sp>
        <p:nvSpPr>
          <p:cNvPr id="19" name="CuadroTexto 18">
            <a:extLst>
              <a:ext uri="{FF2B5EF4-FFF2-40B4-BE49-F238E27FC236}">
                <a16:creationId xmlns:a16="http://schemas.microsoft.com/office/drawing/2014/main" id="{27B25713-4FA8-DA8B-910A-596323032B19}"/>
              </a:ext>
            </a:extLst>
          </p:cNvPr>
          <p:cNvSpPr txBox="1"/>
          <p:nvPr/>
        </p:nvSpPr>
        <p:spPr>
          <a:xfrm>
            <a:off x="8361467" y="2433266"/>
            <a:ext cx="3452117" cy="3565079"/>
          </a:xfrm>
          <a:prstGeom prst="rect">
            <a:avLst/>
          </a:prstGeom>
          <a:noFill/>
        </p:spPr>
        <p:txBody>
          <a:bodyPr wrap="square" rtlCol="0">
            <a:spAutoFit/>
          </a:bodyPr>
          <a:lstStyle/>
          <a:p>
            <a:pPr marL="228600" indent="-228600">
              <a:spcBef>
                <a:spcPts val="200"/>
              </a:spcBef>
              <a:spcAft>
                <a:spcPts val="200"/>
              </a:spcAft>
              <a:buFont typeface="+mj-lt"/>
              <a:buAutoNum type="arabicPeriod"/>
            </a:pPr>
            <a:r>
              <a:rPr lang="es-ES" sz="1100" kern="0">
                <a:solidFill>
                  <a:srgbClr val="1A1A1A">
                    <a:alpha val="60000"/>
                  </a:srgbClr>
                </a:solidFill>
                <a:latin typeface="Arial Regular" pitchFamily="34" charset="0"/>
                <a:ea typeface="Arial Regular" pitchFamily="34" charset="-122"/>
                <a:cs typeface="Arial Regular" pitchFamily="34" charset="-120"/>
              </a:rPr>
              <a:t>Defensa funcional débil y poco adaptada al contexto de Línea Directa, lo que genera dudas sobre la madurez real de la solución.</a:t>
            </a:r>
          </a:p>
          <a:p>
            <a:pPr marL="228600" indent="-228600">
              <a:spcBef>
                <a:spcPts val="200"/>
              </a:spcBef>
              <a:spcAft>
                <a:spcPts val="200"/>
              </a:spcAft>
              <a:buFont typeface="+mj-lt"/>
              <a:buAutoNum type="arabicPeriod"/>
            </a:pPr>
            <a:r>
              <a:rPr lang="es-ES" sz="1100" kern="0">
                <a:solidFill>
                  <a:srgbClr val="1A1A1A">
                    <a:alpha val="60000"/>
                  </a:srgbClr>
                </a:solidFill>
                <a:latin typeface="Arial Regular" pitchFamily="34" charset="0"/>
                <a:ea typeface="Arial Regular" pitchFamily="34" charset="-122"/>
              </a:rPr>
              <a:t> Desconocimiento interno de la herramienta, tanto en experiencia de usuario como en configuración funcional.</a:t>
            </a:r>
          </a:p>
          <a:p>
            <a:pPr marL="228600" indent="-228600">
              <a:spcBef>
                <a:spcPts val="200"/>
              </a:spcBef>
              <a:spcAft>
                <a:spcPts val="200"/>
              </a:spcAft>
              <a:buFont typeface="+mj-lt"/>
              <a:buAutoNum type="arabicPeriod"/>
            </a:pPr>
            <a:r>
              <a:rPr lang="es-ES" sz="1100" kern="0">
                <a:solidFill>
                  <a:srgbClr val="1A1A1A">
                    <a:alpha val="60000"/>
                  </a:srgbClr>
                </a:solidFill>
                <a:latin typeface="Arial Regular" pitchFamily="34" charset="0"/>
                <a:ea typeface="Arial Regular" pitchFamily="34" charset="-122"/>
              </a:rPr>
              <a:t>Ausencia de herramientas claras de migración.</a:t>
            </a:r>
          </a:p>
          <a:p>
            <a:pPr marL="228600" indent="-228600">
              <a:spcBef>
                <a:spcPts val="200"/>
              </a:spcBef>
              <a:spcAft>
                <a:spcPts val="200"/>
              </a:spcAft>
              <a:buFont typeface="+mj-lt"/>
              <a:buAutoNum type="arabicPeriod"/>
            </a:pPr>
            <a:r>
              <a:rPr lang="es-ES" sz="1100" kern="0">
                <a:solidFill>
                  <a:srgbClr val="1A1A1A">
                    <a:alpha val="60000"/>
                  </a:srgbClr>
                </a:solidFill>
                <a:latin typeface="Arial Regular" pitchFamily="34" charset="0"/>
                <a:ea typeface="Arial Regular" pitchFamily="34" charset="-122"/>
              </a:rPr>
              <a:t>Posible fragmentación de experiencia por la arquitectura distribuida y dependencia de herramientas externas para la capa de usuario (</a:t>
            </a:r>
            <a:r>
              <a:rPr lang="es-ES" sz="1100" kern="0" err="1">
                <a:solidFill>
                  <a:srgbClr val="1A1A1A">
                    <a:alpha val="60000"/>
                  </a:srgbClr>
                </a:solidFill>
                <a:latin typeface="Arial Regular" pitchFamily="34" charset="0"/>
                <a:ea typeface="Arial Regular" pitchFamily="34" charset="-122"/>
              </a:rPr>
              <a:t>Work</a:t>
            </a:r>
            <a:r>
              <a:rPr lang="es-ES" sz="1100" kern="0">
                <a:solidFill>
                  <a:srgbClr val="1A1A1A">
                    <a:alpha val="60000"/>
                  </a:srgbClr>
                </a:solidFill>
                <a:latin typeface="Arial Regular" pitchFamily="34" charset="0"/>
                <a:ea typeface="Arial Regular" pitchFamily="34" charset="-122"/>
              </a:rPr>
              <a:t> </a:t>
            </a:r>
            <a:r>
              <a:rPr lang="es-ES" sz="1100" kern="0" err="1">
                <a:solidFill>
                  <a:srgbClr val="1A1A1A">
                    <a:alpha val="60000"/>
                  </a:srgbClr>
                </a:solidFill>
                <a:latin typeface="Arial Regular" pitchFamily="34" charset="0"/>
                <a:ea typeface="Arial Regular" pitchFamily="34" charset="-122"/>
              </a:rPr>
              <a:t>Zone</a:t>
            </a:r>
            <a:r>
              <a:rPr lang="es-ES" sz="1100" kern="0">
                <a:solidFill>
                  <a:srgbClr val="1A1A1A">
                    <a:alpha val="60000"/>
                  </a:srgbClr>
                </a:solidFill>
                <a:latin typeface="Arial Regular" pitchFamily="34" charset="0"/>
                <a:ea typeface="Arial Regular" pitchFamily="34" charset="-122"/>
              </a:rPr>
              <a:t>, </a:t>
            </a:r>
            <a:r>
              <a:rPr lang="es-ES" sz="1100" kern="0" err="1">
                <a:solidFill>
                  <a:srgbClr val="1A1A1A">
                    <a:alpha val="60000"/>
                  </a:srgbClr>
                </a:solidFill>
                <a:latin typeface="Arial Regular" pitchFamily="34" charset="0"/>
                <a:ea typeface="Arial Regular" pitchFamily="34" charset="-122"/>
              </a:rPr>
              <a:t>Teams</a:t>
            </a:r>
            <a:r>
              <a:rPr lang="es-ES" sz="1100" kern="0">
                <a:solidFill>
                  <a:srgbClr val="1A1A1A">
                    <a:alpha val="60000"/>
                  </a:srgbClr>
                </a:solidFill>
                <a:latin typeface="Arial Regular" pitchFamily="34" charset="0"/>
                <a:ea typeface="Arial Regular" pitchFamily="34" charset="-122"/>
              </a:rPr>
              <a:t>).</a:t>
            </a:r>
          </a:p>
          <a:p>
            <a:pPr marL="228600" indent="-228600">
              <a:spcBef>
                <a:spcPts val="200"/>
              </a:spcBef>
              <a:spcAft>
                <a:spcPts val="200"/>
              </a:spcAft>
              <a:buFont typeface="+mj-lt"/>
              <a:buAutoNum type="arabicPeriod"/>
            </a:pPr>
            <a:r>
              <a:rPr lang="es-ES" sz="1100" kern="0">
                <a:solidFill>
                  <a:srgbClr val="1A1A1A">
                    <a:alpha val="60000"/>
                  </a:srgbClr>
                </a:solidFill>
                <a:latin typeface="Arial Regular" pitchFamily="34" charset="0"/>
                <a:ea typeface="Arial Regular" pitchFamily="34" charset="-122"/>
              </a:rPr>
              <a:t>Sin referencias conocidas de migraciones desde PeopleSoft a SuccessFactors, lo que añade incertidumbre sobre la viabilidad del proyecto en un entorno con fuerte legado funcional.</a:t>
            </a:r>
          </a:p>
          <a:p>
            <a:pPr marL="228600" indent="-228600">
              <a:spcBef>
                <a:spcPts val="200"/>
              </a:spcBef>
              <a:spcAft>
                <a:spcPts val="200"/>
              </a:spcAft>
              <a:buFont typeface="+mj-lt"/>
              <a:buAutoNum type="arabicPeriod"/>
            </a:pPr>
            <a:r>
              <a:rPr lang="es-ES" sz="1100" kern="0">
                <a:solidFill>
                  <a:srgbClr val="1A1A1A">
                    <a:alpha val="60000"/>
                  </a:srgbClr>
                </a:solidFill>
                <a:latin typeface="Arial Regular" pitchFamily="34" charset="0"/>
                <a:ea typeface="Arial Regular" pitchFamily="34" charset="-122"/>
              </a:rPr>
              <a:t>Sin mención específica al cumplimiento regulatorio del sector asegurador español, ni evidencia de personalizaciones aplicadas a contextos similares.</a:t>
            </a:r>
          </a:p>
        </p:txBody>
      </p:sp>
      <p:pic>
        <p:nvPicPr>
          <p:cNvPr id="4100" name="Picture 4" descr="Qué es SAP y para qué sirve | sapfi.eu">
            <a:extLst>
              <a:ext uri="{FF2B5EF4-FFF2-40B4-BE49-F238E27FC236}">
                <a16:creationId xmlns:a16="http://schemas.microsoft.com/office/drawing/2014/main" id="{52E30BBF-4236-DCEC-5B0F-0A497AD03B2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162" y="887083"/>
            <a:ext cx="679269" cy="679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7837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2649E-90AD-20E7-B717-F9DE7975A016}"/>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149013B-E5D7-A3B9-6E18-33A07970B5CA}"/>
              </a:ext>
            </a:extLst>
          </p:cNvPr>
          <p:cNvSpPr>
            <a:spLocks noGrp="1"/>
          </p:cNvSpPr>
          <p:nvPr>
            <p:ph type="body" sz="quarter" idx="10"/>
          </p:nvPr>
        </p:nvSpPr>
        <p:spPr/>
        <p:txBody>
          <a:bodyPr/>
          <a:lstStyle/>
          <a:p>
            <a:pPr>
              <a:lnSpc>
                <a:spcPts val="4798"/>
              </a:lnSpc>
            </a:pPr>
            <a:r>
              <a:rPr lang="es-ES" kern="0" spc="-100" noProof="0">
                <a:latin typeface="Arial Regular" pitchFamily="34" charset="0"/>
                <a:ea typeface="Arial Regular" pitchFamily="34" charset="-122"/>
                <a:cs typeface="Arial Regular" pitchFamily="34" charset="-120"/>
              </a:rPr>
              <a:t>Cobertura Funcionalidades</a:t>
            </a:r>
            <a:endParaRPr lang="es-ES" spc="-100" noProof="0"/>
          </a:p>
        </p:txBody>
      </p:sp>
      <p:sp>
        <p:nvSpPr>
          <p:cNvPr id="5" name="Marcador de texto 4">
            <a:extLst>
              <a:ext uri="{FF2B5EF4-FFF2-40B4-BE49-F238E27FC236}">
                <a16:creationId xmlns:a16="http://schemas.microsoft.com/office/drawing/2014/main" id="{D55CBFD1-941A-466D-783F-53D39F08D69E}"/>
              </a:ext>
            </a:extLst>
          </p:cNvPr>
          <p:cNvSpPr>
            <a:spLocks noGrp="1"/>
          </p:cNvSpPr>
          <p:nvPr>
            <p:ph type="body" sz="quarter" idx="13"/>
          </p:nvPr>
        </p:nvSpPr>
        <p:spPr/>
        <p:txBody>
          <a:bodyPr/>
          <a:lstStyle/>
          <a:p>
            <a:r>
              <a:rPr lang="es-ES" spc="-67"/>
              <a:t>Conclusiones Defensas RFI Proyecto HCM</a:t>
            </a:r>
          </a:p>
        </p:txBody>
      </p:sp>
      <p:graphicFrame>
        <p:nvGraphicFramePr>
          <p:cNvPr id="11" name="Gráfico 10">
            <a:extLst>
              <a:ext uri="{FF2B5EF4-FFF2-40B4-BE49-F238E27FC236}">
                <a16:creationId xmlns:a16="http://schemas.microsoft.com/office/drawing/2014/main" id="{BECF51CA-C304-4AA7-A5C4-B44DD02B0C21}"/>
              </a:ext>
            </a:extLst>
          </p:cNvPr>
          <p:cNvGraphicFramePr>
            <a:graphicFrameLocks/>
          </p:cNvGraphicFramePr>
          <p:nvPr>
            <p:extLst>
              <p:ext uri="{D42A27DB-BD31-4B8C-83A1-F6EECF244321}">
                <p14:modId xmlns:p14="http://schemas.microsoft.com/office/powerpoint/2010/main" val="3261952284"/>
              </p:ext>
            </p:extLst>
          </p:nvPr>
        </p:nvGraphicFramePr>
        <p:xfrm>
          <a:off x="197352" y="1944817"/>
          <a:ext cx="5795093" cy="2968365"/>
        </p:xfrm>
        <a:graphic>
          <a:graphicData uri="http://schemas.openxmlformats.org/drawingml/2006/chart">
            <c:chart xmlns:c="http://schemas.openxmlformats.org/drawingml/2006/chart" xmlns:r="http://schemas.openxmlformats.org/officeDocument/2006/relationships" r:id="rId3"/>
          </a:graphicData>
        </a:graphic>
      </p:graphicFrame>
      <p:sp>
        <p:nvSpPr>
          <p:cNvPr id="13" name="CuadroTexto 12">
            <a:extLst>
              <a:ext uri="{FF2B5EF4-FFF2-40B4-BE49-F238E27FC236}">
                <a16:creationId xmlns:a16="http://schemas.microsoft.com/office/drawing/2014/main" id="{E97C1FFA-5FDF-E858-F9C6-4EE7016E8ABE}"/>
              </a:ext>
            </a:extLst>
          </p:cNvPr>
          <p:cNvSpPr txBox="1"/>
          <p:nvPr/>
        </p:nvSpPr>
        <p:spPr>
          <a:xfrm>
            <a:off x="3972070" y="4925767"/>
            <a:ext cx="2123930" cy="523220"/>
          </a:xfrm>
          <a:prstGeom prst="rect">
            <a:avLst/>
          </a:prstGeom>
          <a:noFill/>
        </p:spPr>
        <p:txBody>
          <a:bodyPr wrap="square">
            <a:spAutoFit/>
          </a:bodyPr>
          <a:lstStyle/>
          <a:p>
            <a:pPr algn="ctr"/>
            <a:r>
              <a:rPr lang="es-ES" sz="2800" b="1" kern="1200">
                <a:solidFill>
                  <a:srgbClr val="C00000"/>
                </a:solidFill>
              </a:rPr>
              <a:t>80%</a:t>
            </a:r>
            <a:r>
              <a:rPr lang="es-ES" sz="2800" b="1" kern="1200" baseline="0">
                <a:solidFill>
                  <a:srgbClr val="C00000"/>
                </a:solidFill>
              </a:rPr>
              <a:t> </a:t>
            </a:r>
            <a:r>
              <a:rPr lang="es-ES" sz="1800" kern="1200" baseline="0"/>
              <a:t>cobertura</a:t>
            </a:r>
          </a:p>
        </p:txBody>
      </p:sp>
      <p:pic>
        <p:nvPicPr>
          <p:cNvPr id="14" name="Picture 4" descr="Qué es SAP y para qué sirve | sapfi.eu">
            <a:extLst>
              <a:ext uri="{FF2B5EF4-FFF2-40B4-BE49-F238E27FC236}">
                <a16:creationId xmlns:a16="http://schemas.microsoft.com/office/drawing/2014/main" id="{43E5C668-20B3-3D39-7F8F-7CC6F153F2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162" y="887083"/>
            <a:ext cx="679269" cy="67926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Gráfico 2">
            <a:extLst>
              <a:ext uri="{FF2B5EF4-FFF2-40B4-BE49-F238E27FC236}">
                <a16:creationId xmlns:a16="http://schemas.microsoft.com/office/drawing/2014/main" id="{4E779199-2006-4B4A-8321-74B27015BDD0}"/>
              </a:ext>
            </a:extLst>
          </p:cNvPr>
          <p:cNvGraphicFramePr>
            <a:graphicFrameLocks/>
          </p:cNvGraphicFramePr>
          <p:nvPr>
            <p:extLst>
              <p:ext uri="{D42A27DB-BD31-4B8C-83A1-F6EECF244321}">
                <p14:modId xmlns:p14="http://schemas.microsoft.com/office/powerpoint/2010/main" val="86840070"/>
              </p:ext>
            </p:extLst>
          </p:nvPr>
        </p:nvGraphicFramePr>
        <p:xfrm>
          <a:off x="6211273" y="1944817"/>
          <a:ext cx="5783375" cy="2968365"/>
        </p:xfrm>
        <a:graphic>
          <a:graphicData uri="http://schemas.openxmlformats.org/drawingml/2006/chart">
            <c:chart xmlns:c="http://schemas.openxmlformats.org/drawingml/2006/chart" xmlns:r="http://schemas.openxmlformats.org/officeDocument/2006/relationships" r:id="rId5"/>
          </a:graphicData>
        </a:graphic>
      </p:graphicFrame>
      <p:sp>
        <p:nvSpPr>
          <p:cNvPr id="6" name="CuadroTexto 5">
            <a:extLst>
              <a:ext uri="{FF2B5EF4-FFF2-40B4-BE49-F238E27FC236}">
                <a16:creationId xmlns:a16="http://schemas.microsoft.com/office/drawing/2014/main" id="{7DDA1B9B-1149-370F-3548-47CAF3DEE1BA}"/>
              </a:ext>
            </a:extLst>
          </p:cNvPr>
          <p:cNvSpPr txBox="1"/>
          <p:nvPr/>
        </p:nvSpPr>
        <p:spPr>
          <a:xfrm>
            <a:off x="9870718" y="4925767"/>
            <a:ext cx="2123930" cy="523220"/>
          </a:xfrm>
          <a:prstGeom prst="rect">
            <a:avLst/>
          </a:prstGeom>
          <a:noFill/>
        </p:spPr>
        <p:txBody>
          <a:bodyPr wrap="square">
            <a:spAutoFit/>
          </a:bodyPr>
          <a:lstStyle/>
          <a:p>
            <a:pPr algn="ctr"/>
            <a:r>
              <a:rPr lang="es-ES" sz="2800" b="1" kern="1200">
                <a:solidFill>
                  <a:srgbClr val="C00000"/>
                </a:solidFill>
              </a:rPr>
              <a:t>65%</a:t>
            </a:r>
            <a:r>
              <a:rPr lang="es-ES" sz="2800" b="1" kern="1200" baseline="0">
                <a:solidFill>
                  <a:srgbClr val="C00000"/>
                </a:solidFill>
              </a:rPr>
              <a:t> </a:t>
            </a:r>
            <a:r>
              <a:rPr lang="es-ES" sz="1800" kern="1200" baseline="0"/>
              <a:t>cobertura</a:t>
            </a:r>
          </a:p>
        </p:txBody>
      </p:sp>
    </p:spTree>
    <p:extLst>
      <p:ext uri="{BB962C8B-B14F-4D97-AF65-F5344CB8AC3E}">
        <p14:creationId xmlns:p14="http://schemas.microsoft.com/office/powerpoint/2010/main" val="3026612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D96AE-92D1-C6A4-D351-34F77124F950}"/>
            </a:ext>
          </a:extLst>
        </p:cNvPr>
        <p:cNvGrpSpPr/>
        <p:nvPr/>
      </p:nvGrpSpPr>
      <p:grpSpPr>
        <a:xfrm>
          <a:off x="0" y="0"/>
          <a:ext cx="0" cy="0"/>
          <a:chOff x="0" y="0"/>
          <a:chExt cx="0" cy="0"/>
        </a:xfrm>
      </p:grpSpPr>
      <p:sp>
        <p:nvSpPr>
          <p:cNvPr id="12" name="Rectángulo 11">
            <a:extLst>
              <a:ext uri="{FF2B5EF4-FFF2-40B4-BE49-F238E27FC236}">
                <a16:creationId xmlns:a16="http://schemas.microsoft.com/office/drawing/2014/main" id="{6A25B229-BAE9-6D78-C204-A32A2E523465}"/>
              </a:ext>
            </a:extLst>
          </p:cNvPr>
          <p:cNvSpPr/>
          <p:nvPr/>
        </p:nvSpPr>
        <p:spPr>
          <a:xfrm>
            <a:off x="8256503" y="1571625"/>
            <a:ext cx="3211598" cy="23300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1C7EDF4F-EB5B-51F1-95E4-53901B285CCB}"/>
              </a:ext>
            </a:extLst>
          </p:cNvPr>
          <p:cNvSpPr/>
          <p:nvPr/>
        </p:nvSpPr>
        <p:spPr>
          <a:xfrm>
            <a:off x="4363472" y="1557372"/>
            <a:ext cx="3480477" cy="2344336"/>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D796159F-7D97-132C-4134-41B0874810F1}"/>
              </a:ext>
            </a:extLst>
          </p:cNvPr>
          <p:cNvSpPr/>
          <p:nvPr/>
        </p:nvSpPr>
        <p:spPr>
          <a:xfrm>
            <a:off x="310472" y="1542256"/>
            <a:ext cx="3480477" cy="2359452"/>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Marcador de texto 1">
            <a:extLst>
              <a:ext uri="{FF2B5EF4-FFF2-40B4-BE49-F238E27FC236}">
                <a16:creationId xmlns:a16="http://schemas.microsoft.com/office/drawing/2014/main" id="{B1B28AAF-9D60-E7C5-7E30-6217BB0F09F3}"/>
              </a:ext>
            </a:extLst>
          </p:cNvPr>
          <p:cNvSpPr>
            <a:spLocks noGrp="1"/>
          </p:cNvSpPr>
          <p:nvPr>
            <p:ph type="body" sz="quarter" idx="10"/>
          </p:nvPr>
        </p:nvSpPr>
        <p:spPr>
          <a:xfrm>
            <a:off x="84080" y="184382"/>
            <a:ext cx="11946958" cy="806971"/>
          </a:xfrm>
        </p:spPr>
        <p:txBody>
          <a:bodyPr>
            <a:normAutofit/>
          </a:bodyPr>
          <a:lstStyle/>
          <a:p>
            <a:pPr>
              <a:lnSpc>
                <a:spcPts val="4798"/>
              </a:lnSpc>
            </a:pPr>
            <a:r>
              <a:rPr lang="es-ES" sz="3600" kern="0" spc="-100" noProof="0">
                <a:latin typeface="Arial Regular" pitchFamily="34" charset="0"/>
                <a:ea typeface="Arial Regular" pitchFamily="34" charset="-122"/>
                <a:cs typeface="Arial Regular" pitchFamily="34" charset="-120"/>
              </a:rPr>
              <a:t>Comparación Cobertura Funcionalidades y costes</a:t>
            </a:r>
            <a:endParaRPr lang="es-ES" sz="3600" spc="-100" noProof="0"/>
          </a:p>
        </p:txBody>
      </p:sp>
      <p:sp>
        <p:nvSpPr>
          <p:cNvPr id="3" name="Marcador de texto 2">
            <a:extLst>
              <a:ext uri="{FF2B5EF4-FFF2-40B4-BE49-F238E27FC236}">
                <a16:creationId xmlns:a16="http://schemas.microsoft.com/office/drawing/2014/main" id="{DA0CB804-6E66-36B5-3C0E-F969316003BC}"/>
              </a:ext>
            </a:extLst>
          </p:cNvPr>
          <p:cNvSpPr>
            <a:spLocks noGrp="1"/>
          </p:cNvSpPr>
          <p:nvPr>
            <p:ph type="body" sz="quarter" idx="12"/>
          </p:nvPr>
        </p:nvSpPr>
        <p:spPr>
          <a:xfrm>
            <a:off x="84080" y="1092768"/>
            <a:ext cx="5236857" cy="381204"/>
          </a:xfrm>
        </p:spPr>
        <p:txBody>
          <a:bodyPr>
            <a:normAutofit fontScale="92500"/>
          </a:bodyPr>
          <a:lstStyle/>
          <a:p>
            <a:pPr>
              <a:lnSpc>
                <a:spcPts val="1942"/>
              </a:lnSpc>
            </a:pPr>
            <a:r>
              <a:rPr lang="es-ES_tradnl" sz="1599" kern="0" noProof="0">
                <a:latin typeface="Arial Regular" pitchFamily="34" charset="0"/>
                <a:ea typeface="Arial Regular" pitchFamily="34" charset="-122"/>
                <a:cs typeface="Arial Regular" pitchFamily="34" charset="-120"/>
              </a:rPr>
              <a:t>Porcentaje Real de Complimiento con módulos valorables</a:t>
            </a:r>
            <a:endParaRPr lang="es-ES_tradnl" sz="1599" noProof="0"/>
          </a:p>
        </p:txBody>
      </p:sp>
      <p:sp>
        <p:nvSpPr>
          <p:cNvPr id="5" name="Marcador de texto 4">
            <a:extLst>
              <a:ext uri="{FF2B5EF4-FFF2-40B4-BE49-F238E27FC236}">
                <a16:creationId xmlns:a16="http://schemas.microsoft.com/office/drawing/2014/main" id="{C43BDC72-63B8-AD04-92EA-FF8243751D64}"/>
              </a:ext>
            </a:extLst>
          </p:cNvPr>
          <p:cNvSpPr>
            <a:spLocks noGrp="1"/>
          </p:cNvSpPr>
          <p:nvPr>
            <p:ph type="body" sz="quarter" idx="13"/>
          </p:nvPr>
        </p:nvSpPr>
        <p:spPr/>
        <p:txBody>
          <a:bodyPr/>
          <a:lstStyle/>
          <a:p>
            <a:r>
              <a:rPr lang="es-ES" spc="-67"/>
              <a:t>Conclusiones Defensas RFI Proyecto HCM</a:t>
            </a:r>
          </a:p>
        </p:txBody>
      </p:sp>
      <p:graphicFrame>
        <p:nvGraphicFramePr>
          <p:cNvPr id="8" name="Gráfico 7">
            <a:extLst>
              <a:ext uri="{FF2B5EF4-FFF2-40B4-BE49-F238E27FC236}">
                <a16:creationId xmlns:a16="http://schemas.microsoft.com/office/drawing/2014/main" id="{9DBC81A8-565D-BD36-CE7E-26147724465D}"/>
              </a:ext>
            </a:extLst>
          </p:cNvPr>
          <p:cNvGraphicFramePr>
            <a:graphicFrameLocks/>
          </p:cNvGraphicFramePr>
          <p:nvPr>
            <p:extLst>
              <p:ext uri="{D42A27DB-BD31-4B8C-83A1-F6EECF244321}">
                <p14:modId xmlns:p14="http://schemas.microsoft.com/office/powerpoint/2010/main" val="3247650391"/>
              </p:ext>
            </p:extLst>
          </p:nvPr>
        </p:nvGraphicFramePr>
        <p:xfrm>
          <a:off x="276225" y="1436617"/>
          <a:ext cx="3674694" cy="25571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Gráfico 8">
            <a:extLst>
              <a:ext uri="{FF2B5EF4-FFF2-40B4-BE49-F238E27FC236}">
                <a16:creationId xmlns:a16="http://schemas.microsoft.com/office/drawing/2014/main" id="{E60975B9-29AB-E42B-F31F-263272081D72}"/>
              </a:ext>
            </a:extLst>
          </p:cNvPr>
          <p:cNvGraphicFramePr>
            <a:graphicFrameLocks/>
          </p:cNvGraphicFramePr>
          <p:nvPr>
            <p:extLst>
              <p:ext uri="{D42A27DB-BD31-4B8C-83A1-F6EECF244321}">
                <p14:modId xmlns:p14="http://schemas.microsoft.com/office/powerpoint/2010/main" val="684532983"/>
              </p:ext>
            </p:extLst>
          </p:nvPr>
        </p:nvGraphicFramePr>
        <p:xfrm>
          <a:off x="4164322" y="1571625"/>
          <a:ext cx="3768868" cy="24221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áfico 9">
            <a:extLst>
              <a:ext uri="{FF2B5EF4-FFF2-40B4-BE49-F238E27FC236}">
                <a16:creationId xmlns:a16="http://schemas.microsoft.com/office/drawing/2014/main" id="{A4152251-F69D-CB9C-324E-28F32DDC9C07}"/>
              </a:ext>
            </a:extLst>
          </p:cNvPr>
          <p:cNvGraphicFramePr>
            <a:graphicFrameLocks/>
          </p:cNvGraphicFramePr>
          <p:nvPr>
            <p:extLst>
              <p:ext uri="{D42A27DB-BD31-4B8C-83A1-F6EECF244321}">
                <p14:modId xmlns:p14="http://schemas.microsoft.com/office/powerpoint/2010/main" val="1172777026"/>
              </p:ext>
            </p:extLst>
          </p:nvPr>
        </p:nvGraphicFramePr>
        <p:xfrm>
          <a:off x="7933190" y="1557372"/>
          <a:ext cx="3674694" cy="2422180"/>
        </p:xfrm>
        <a:graphic>
          <a:graphicData uri="http://schemas.openxmlformats.org/drawingml/2006/chart">
            <c:chart xmlns:c="http://schemas.openxmlformats.org/drawingml/2006/chart" xmlns:r="http://schemas.openxmlformats.org/officeDocument/2006/relationships" r:id="rId5"/>
          </a:graphicData>
        </a:graphic>
      </p:graphicFrame>
      <p:sp>
        <p:nvSpPr>
          <p:cNvPr id="4" name="Marcador de texto 2">
            <a:extLst>
              <a:ext uri="{FF2B5EF4-FFF2-40B4-BE49-F238E27FC236}">
                <a16:creationId xmlns:a16="http://schemas.microsoft.com/office/drawing/2014/main" id="{EE7AC0F8-B39A-D410-90A4-684FB5E4207B}"/>
              </a:ext>
            </a:extLst>
          </p:cNvPr>
          <p:cNvSpPr txBox="1">
            <a:spLocks/>
          </p:cNvSpPr>
          <p:nvPr/>
        </p:nvSpPr>
        <p:spPr>
          <a:xfrm>
            <a:off x="238125" y="4140377"/>
            <a:ext cx="3895837" cy="38120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Arial" panose="020B0604020202020204" pitchFamily="34" charset="0"/>
              <a:buNone/>
              <a:defRPr sz="1506" kern="1200">
                <a:solidFill>
                  <a:schemeClr val="tx1">
                    <a:lumMod val="50000"/>
                    <a:lumOff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942"/>
              </a:lnSpc>
            </a:pPr>
            <a:r>
              <a:rPr lang="es-ES_tradnl" sz="1599" kern="0">
                <a:latin typeface="Arial Regular" pitchFamily="34" charset="0"/>
                <a:ea typeface="Arial Regular" pitchFamily="34" charset="-122"/>
                <a:cs typeface="Arial Regular" pitchFamily="34" charset="-120"/>
              </a:rPr>
              <a:t>Coste Licencias anual primer año</a:t>
            </a:r>
            <a:endParaRPr lang="es-ES_tradnl" sz="1599"/>
          </a:p>
        </p:txBody>
      </p:sp>
      <p:pic>
        <p:nvPicPr>
          <p:cNvPr id="13" name="Picture 4" descr="Qué es SAP y para qué sirve | sapfi.eu">
            <a:extLst>
              <a:ext uri="{FF2B5EF4-FFF2-40B4-BE49-F238E27FC236}">
                <a16:creationId xmlns:a16="http://schemas.microsoft.com/office/drawing/2014/main" id="{BF9FE574-2C29-44BA-898F-97828D2703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35408" y="2756977"/>
            <a:ext cx="575246" cy="575246"/>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FEF926A5-C0FD-EE94-6D44-1245B696DAF0}"/>
              </a:ext>
            </a:extLst>
          </p:cNvPr>
          <p:cNvSpPr/>
          <p:nvPr/>
        </p:nvSpPr>
        <p:spPr>
          <a:xfrm>
            <a:off x="310472" y="4655451"/>
            <a:ext cx="3480477" cy="1320586"/>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 name="Picture 2" descr="Workday at Wake Forest - Workday">
            <a:extLst>
              <a:ext uri="{FF2B5EF4-FFF2-40B4-BE49-F238E27FC236}">
                <a16:creationId xmlns:a16="http://schemas.microsoft.com/office/drawing/2014/main" id="{62C2A471-1906-990D-9932-0E1049B349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13331" y="2828466"/>
            <a:ext cx="788195" cy="30652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Comprar acciones de Oracle este 2024: Lo que necesitas saber - The Investor  U">
            <a:extLst>
              <a:ext uri="{FF2B5EF4-FFF2-40B4-BE49-F238E27FC236}">
                <a16:creationId xmlns:a16="http://schemas.microsoft.com/office/drawing/2014/main" id="{D8A285FF-901B-036A-04B7-ACC970C300F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038" y="2687343"/>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19" name="name_907K">
            <a:extLst>
              <a:ext uri="{FF2B5EF4-FFF2-40B4-BE49-F238E27FC236}">
                <a16:creationId xmlns:a16="http://schemas.microsoft.com/office/drawing/2014/main" id="{ABB04DB7-282A-5C03-657F-C9AC5DFF1628}"/>
              </a:ext>
            </a:extLst>
          </p:cNvPr>
          <p:cNvSpPr/>
          <p:nvPr/>
        </p:nvSpPr>
        <p:spPr>
          <a:xfrm>
            <a:off x="484116" y="5061522"/>
            <a:ext cx="1553690"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269,</a:t>
            </a:r>
            <a:r>
              <a:rPr lang="en-US" sz="2400" kern="0" spc="-75">
                <a:solidFill>
                  <a:srgbClr val="1A1A1A"/>
                </a:solidFill>
                <a:latin typeface="Arial Regular" pitchFamily="34" charset="0"/>
                <a:ea typeface="Arial Regular" pitchFamily="34" charset="-122"/>
                <a:cs typeface="Arial Regular" pitchFamily="34" charset="-120"/>
              </a:rPr>
              <a:t>04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sp>
        <p:nvSpPr>
          <p:cNvPr id="20" name="Total asegurados">
            <a:extLst>
              <a:ext uri="{FF2B5EF4-FFF2-40B4-BE49-F238E27FC236}">
                <a16:creationId xmlns:a16="http://schemas.microsoft.com/office/drawing/2014/main" id="{9EB67142-A812-901F-714C-F82A6D0926C0}"/>
              </a:ext>
            </a:extLst>
          </p:cNvPr>
          <p:cNvSpPr/>
          <p:nvPr/>
        </p:nvSpPr>
        <p:spPr>
          <a:xfrm>
            <a:off x="482981" y="5617756"/>
            <a:ext cx="3088894" cy="185436"/>
          </a:xfrm>
          <a:prstGeom prst="rect">
            <a:avLst/>
          </a:prstGeom>
          <a:noFill/>
          <a:ln/>
        </p:spPr>
        <p:txBody>
          <a:bodyPr wrap="square" lIns="0" tIns="0" rIns="0" bIns="0" rtlCol="0" anchor="ctr"/>
          <a:lstStyle/>
          <a:p>
            <a:pPr>
              <a:lnSpc>
                <a:spcPts val="1457"/>
              </a:lnSpc>
            </a:pPr>
            <a:r>
              <a:rPr lang="es-ES_tradnl" sz="1000" kern="0" noProof="0">
                <a:solidFill>
                  <a:srgbClr val="1A1A1A">
                    <a:alpha val="65000"/>
                  </a:srgbClr>
                </a:solidFill>
                <a:latin typeface="Arial Regular" pitchFamily="34" charset="0"/>
                <a:ea typeface="Arial Regular" pitchFamily="34" charset="-122"/>
                <a:cs typeface="Arial Regular" pitchFamily="34" charset="-120"/>
              </a:rPr>
              <a:t>Total coste de todas las licencias por usuario activo</a:t>
            </a:r>
            <a:endParaRPr lang="es-ES_tradnl" sz="1000" noProof="0"/>
          </a:p>
        </p:txBody>
      </p:sp>
      <p:pic>
        <p:nvPicPr>
          <p:cNvPr id="21" name="Picture 4" descr="Comprar acciones de Oracle este 2024: Lo que necesitas saber - The Investor  U">
            <a:extLst>
              <a:ext uri="{FF2B5EF4-FFF2-40B4-BE49-F238E27FC236}">
                <a16:creationId xmlns:a16="http://schemas.microsoft.com/office/drawing/2014/main" id="{2D9E9BB6-9484-2382-1A82-F49939DA1A4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67756" y="4999441"/>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22" name="Rectángulo 21">
            <a:extLst>
              <a:ext uri="{FF2B5EF4-FFF2-40B4-BE49-F238E27FC236}">
                <a16:creationId xmlns:a16="http://schemas.microsoft.com/office/drawing/2014/main" id="{99497E59-DFF3-D282-1735-15A1BFF0EA3E}"/>
              </a:ext>
            </a:extLst>
          </p:cNvPr>
          <p:cNvSpPr/>
          <p:nvPr/>
        </p:nvSpPr>
        <p:spPr>
          <a:xfrm>
            <a:off x="4363472" y="4655451"/>
            <a:ext cx="3480477" cy="1320586"/>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name_907K">
            <a:extLst>
              <a:ext uri="{FF2B5EF4-FFF2-40B4-BE49-F238E27FC236}">
                <a16:creationId xmlns:a16="http://schemas.microsoft.com/office/drawing/2014/main" id="{CD20DB26-17C1-0440-EC5B-7E9F7FA297EB}"/>
              </a:ext>
            </a:extLst>
          </p:cNvPr>
          <p:cNvSpPr/>
          <p:nvPr/>
        </p:nvSpPr>
        <p:spPr>
          <a:xfrm>
            <a:off x="4499259" y="5061522"/>
            <a:ext cx="1675023"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501,</a:t>
            </a:r>
            <a:r>
              <a:rPr lang="en-US" sz="2400" kern="0" spc="-75">
                <a:solidFill>
                  <a:srgbClr val="1A1A1A"/>
                </a:solidFill>
                <a:latin typeface="Arial Regular" pitchFamily="34" charset="0"/>
                <a:ea typeface="Arial Regular" pitchFamily="34" charset="-122"/>
                <a:cs typeface="Arial Regular" pitchFamily="34" charset="-120"/>
              </a:rPr>
              <a:t>37</a:t>
            </a:r>
            <a:r>
              <a:rPr lang="en-US" sz="3300" kern="0" spc="-75">
                <a:solidFill>
                  <a:srgbClr val="1A1A1A"/>
                </a:solidFill>
                <a:latin typeface="Arial Regular" pitchFamily="34" charset="0"/>
                <a:ea typeface="Arial Regular" pitchFamily="34" charset="-122"/>
                <a:cs typeface="Arial Regular" pitchFamily="34" charset="-120"/>
              </a:rPr>
              <a:t> K</a:t>
            </a:r>
            <a:endParaRPr lang="en-US" sz="3300" spc="-75"/>
          </a:p>
        </p:txBody>
      </p:sp>
      <p:pic>
        <p:nvPicPr>
          <p:cNvPr id="27" name="Picture 2" descr="Workday at Wake Forest - Workday">
            <a:extLst>
              <a:ext uri="{FF2B5EF4-FFF2-40B4-BE49-F238E27FC236}">
                <a16:creationId xmlns:a16="http://schemas.microsoft.com/office/drawing/2014/main" id="{5981D938-DB7C-13F6-AA7B-942D4D6332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46806" y="5092476"/>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28" name="Rectángulo 27">
            <a:extLst>
              <a:ext uri="{FF2B5EF4-FFF2-40B4-BE49-F238E27FC236}">
                <a16:creationId xmlns:a16="http://schemas.microsoft.com/office/drawing/2014/main" id="{E54F890B-84CE-D5D2-F25E-319EAE8058E1}"/>
              </a:ext>
            </a:extLst>
          </p:cNvPr>
          <p:cNvSpPr/>
          <p:nvPr/>
        </p:nvSpPr>
        <p:spPr>
          <a:xfrm>
            <a:off x="8256504" y="4655451"/>
            <a:ext cx="3211598" cy="1320586"/>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name_907K">
            <a:extLst>
              <a:ext uri="{FF2B5EF4-FFF2-40B4-BE49-F238E27FC236}">
                <a16:creationId xmlns:a16="http://schemas.microsoft.com/office/drawing/2014/main" id="{7F6EB65A-4244-3444-DAFB-65F048B066CB}"/>
              </a:ext>
            </a:extLst>
          </p:cNvPr>
          <p:cNvSpPr/>
          <p:nvPr/>
        </p:nvSpPr>
        <p:spPr>
          <a:xfrm>
            <a:off x="8392291" y="5061522"/>
            <a:ext cx="1834992"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239,</a:t>
            </a:r>
            <a:r>
              <a:rPr lang="en-US" sz="2400" kern="0" spc="-75">
                <a:solidFill>
                  <a:srgbClr val="1A1A1A"/>
                </a:solidFill>
                <a:latin typeface="Arial Regular" pitchFamily="34" charset="0"/>
                <a:ea typeface="Arial Regular" pitchFamily="34" charset="-122"/>
                <a:cs typeface="Arial Regular" pitchFamily="34" charset="-120"/>
              </a:rPr>
              <a:t>40</a:t>
            </a:r>
            <a:r>
              <a:rPr lang="en-US" sz="3300" kern="0" spc="-75">
                <a:solidFill>
                  <a:srgbClr val="1A1A1A"/>
                </a:solidFill>
                <a:latin typeface="Arial Regular" pitchFamily="34" charset="0"/>
                <a:ea typeface="Arial Regular" pitchFamily="34" charset="-122"/>
                <a:cs typeface="Arial Regular" pitchFamily="34" charset="-120"/>
              </a:rPr>
              <a:t> K</a:t>
            </a:r>
            <a:endParaRPr lang="en-US" sz="3300" spc="-75"/>
          </a:p>
        </p:txBody>
      </p:sp>
      <p:pic>
        <p:nvPicPr>
          <p:cNvPr id="33" name="Picture 4" descr="Qué es SAP y para qué sirve | sapfi.eu">
            <a:extLst>
              <a:ext uri="{FF2B5EF4-FFF2-40B4-BE49-F238E27FC236}">
                <a16:creationId xmlns:a16="http://schemas.microsoft.com/office/drawing/2014/main" id="{DC5969E5-F81C-1A53-8DD1-1567F62D35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0069" y="4969450"/>
            <a:ext cx="575246" cy="575246"/>
          </a:xfrm>
          <a:prstGeom prst="rect">
            <a:avLst/>
          </a:prstGeom>
          <a:noFill/>
          <a:extLst>
            <a:ext uri="{909E8E84-426E-40DD-AFC4-6F175D3DCCD1}">
              <a14:hiddenFill xmlns:a14="http://schemas.microsoft.com/office/drawing/2010/main">
                <a:solidFill>
                  <a:srgbClr val="FFFFFF"/>
                </a:solidFill>
              </a14:hiddenFill>
            </a:ext>
          </a:extLst>
        </p:spPr>
      </p:pic>
      <p:pic>
        <p:nvPicPr>
          <p:cNvPr id="35" name="Gráfico 34" descr="Impuestos con relleno sólido">
            <a:extLst>
              <a:ext uri="{FF2B5EF4-FFF2-40B4-BE49-F238E27FC236}">
                <a16:creationId xmlns:a16="http://schemas.microsoft.com/office/drawing/2014/main" id="{45E08332-B2E5-7E6C-FEFA-4ECF9784537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7603" y="4725919"/>
            <a:ext cx="246295" cy="246295"/>
          </a:xfrm>
          <a:prstGeom prst="rect">
            <a:avLst/>
          </a:prstGeom>
        </p:spPr>
      </p:pic>
      <p:pic>
        <p:nvPicPr>
          <p:cNvPr id="36" name="Gráfico 35" descr="Impuestos con relleno sólido">
            <a:extLst>
              <a:ext uri="{FF2B5EF4-FFF2-40B4-BE49-F238E27FC236}">
                <a16:creationId xmlns:a16="http://schemas.microsoft.com/office/drawing/2014/main" id="{5C256951-DB27-8C23-8DF5-CDC2C57D617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99259" y="4725919"/>
            <a:ext cx="246295" cy="246295"/>
          </a:xfrm>
          <a:prstGeom prst="rect">
            <a:avLst/>
          </a:prstGeom>
        </p:spPr>
      </p:pic>
      <p:pic>
        <p:nvPicPr>
          <p:cNvPr id="37" name="Gráfico 36" descr="Impuestos con relleno sólido">
            <a:extLst>
              <a:ext uri="{FF2B5EF4-FFF2-40B4-BE49-F238E27FC236}">
                <a16:creationId xmlns:a16="http://schemas.microsoft.com/office/drawing/2014/main" id="{DEAE44F4-A70C-0C14-6D9D-B70C4288BC7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92291" y="4723155"/>
            <a:ext cx="246295" cy="246295"/>
          </a:xfrm>
          <a:prstGeom prst="rect">
            <a:avLst/>
          </a:prstGeom>
        </p:spPr>
      </p:pic>
      <p:sp>
        <p:nvSpPr>
          <p:cNvPr id="38" name="Total asegurados">
            <a:extLst>
              <a:ext uri="{FF2B5EF4-FFF2-40B4-BE49-F238E27FC236}">
                <a16:creationId xmlns:a16="http://schemas.microsoft.com/office/drawing/2014/main" id="{BE269D96-F094-6B2D-BB7A-FF0B90944ADA}"/>
              </a:ext>
            </a:extLst>
          </p:cNvPr>
          <p:cNvSpPr/>
          <p:nvPr/>
        </p:nvSpPr>
        <p:spPr>
          <a:xfrm>
            <a:off x="8392291" y="5619509"/>
            <a:ext cx="3088894" cy="185436"/>
          </a:xfrm>
          <a:prstGeom prst="rect">
            <a:avLst/>
          </a:prstGeom>
          <a:noFill/>
          <a:ln/>
        </p:spPr>
        <p:txBody>
          <a:bodyPr wrap="square" lIns="0" tIns="0" rIns="0" bIns="0" rtlCol="0" anchor="ctr"/>
          <a:lstStyle/>
          <a:p>
            <a:pPr>
              <a:lnSpc>
                <a:spcPts val="1457"/>
              </a:lnSpc>
            </a:pPr>
            <a:r>
              <a:rPr lang="es-ES_tradnl" sz="1000" kern="0" noProof="0">
                <a:solidFill>
                  <a:srgbClr val="1A1A1A">
                    <a:alpha val="65000"/>
                  </a:srgbClr>
                </a:solidFill>
                <a:latin typeface="Arial Regular" pitchFamily="34" charset="0"/>
                <a:ea typeface="Arial Regular" pitchFamily="34" charset="-122"/>
                <a:cs typeface="Arial Regular" pitchFamily="34" charset="-120"/>
              </a:rPr>
              <a:t>Total coste de todas las licencias por usuario activo</a:t>
            </a:r>
            <a:endParaRPr lang="es-ES_tradnl" sz="1000" noProof="0"/>
          </a:p>
        </p:txBody>
      </p:sp>
      <p:sp>
        <p:nvSpPr>
          <p:cNvPr id="39" name="Total asegurados">
            <a:extLst>
              <a:ext uri="{FF2B5EF4-FFF2-40B4-BE49-F238E27FC236}">
                <a16:creationId xmlns:a16="http://schemas.microsoft.com/office/drawing/2014/main" id="{A45EA8C6-86FE-38AF-CD96-9A5C191F30BD}"/>
              </a:ext>
            </a:extLst>
          </p:cNvPr>
          <p:cNvSpPr/>
          <p:nvPr/>
        </p:nvSpPr>
        <p:spPr>
          <a:xfrm>
            <a:off x="4513112" y="5607875"/>
            <a:ext cx="3088894" cy="185436"/>
          </a:xfrm>
          <a:prstGeom prst="rect">
            <a:avLst/>
          </a:prstGeom>
          <a:noFill/>
          <a:ln/>
        </p:spPr>
        <p:txBody>
          <a:bodyPr wrap="square" lIns="0" tIns="0" rIns="0" bIns="0" rtlCol="0" anchor="ctr"/>
          <a:lstStyle/>
          <a:p>
            <a:pPr>
              <a:lnSpc>
                <a:spcPts val="1457"/>
              </a:lnSpc>
            </a:pPr>
            <a:r>
              <a:rPr lang="es-ES_tradnl" sz="1000" kern="0" noProof="0">
                <a:solidFill>
                  <a:srgbClr val="1A1A1A">
                    <a:alpha val="65000"/>
                  </a:srgbClr>
                </a:solidFill>
                <a:latin typeface="Arial Regular" pitchFamily="34" charset="0"/>
                <a:ea typeface="Arial Regular" pitchFamily="34" charset="-122"/>
                <a:cs typeface="Arial Regular" pitchFamily="34" charset="-120"/>
              </a:rPr>
              <a:t>Total coste de todas las licencias por usuario activo</a:t>
            </a:r>
            <a:endParaRPr lang="es-ES_tradnl" sz="1000" noProof="0"/>
          </a:p>
        </p:txBody>
      </p:sp>
    </p:spTree>
    <p:extLst>
      <p:ext uri="{BB962C8B-B14F-4D97-AF65-F5344CB8AC3E}">
        <p14:creationId xmlns:p14="http://schemas.microsoft.com/office/powerpoint/2010/main" val="3990248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5333-6264-7129-E50B-06FC013E3FC1}"/>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4E180618-9E07-D3EF-A818-C0F577D17BB1}"/>
              </a:ext>
            </a:extLst>
          </p:cNvPr>
          <p:cNvSpPr>
            <a:spLocks noGrp="1"/>
          </p:cNvSpPr>
          <p:nvPr>
            <p:ph type="body" sz="quarter" idx="10"/>
          </p:nvPr>
        </p:nvSpPr>
        <p:spPr>
          <a:xfrm>
            <a:off x="84080" y="184382"/>
            <a:ext cx="9667087" cy="806971"/>
          </a:xfrm>
        </p:spPr>
        <p:txBody>
          <a:bodyPr>
            <a:noAutofit/>
          </a:bodyPr>
          <a:lstStyle/>
          <a:p>
            <a:pPr>
              <a:lnSpc>
                <a:spcPts val="4798"/>
              </a:lnSpc>
            </a:pPr>
            <a:r>
              <a:rPr lang="es-ES" sz="4400" kern="0" spc="-100" noProof="0">
                <a:latin typeface="Arial Regular" pitchFamily="34" charset="0"/>
                <a:ea typeface="Arial Regular" pitchFamily="34" charset="-122"/>
                <a:cs typeface="Arial Regular" pitchFamily="34" charset="-120"/>
              </a:rPr>
              <a:t>Anexo de licencias</a:t>
            </a:r>
            <a:r>
              <a:rPr lang="es-ES" sz="4400" kern="0" spc="-100">
                <a:latin typeface="Arial Regular" pitchFamily="34" charset="0"/>
                <a:ea typeface="Arial Regular" pitchFamily="34" charset="-122"/>
                <a:cs typeface="Arial Regular" pitchFamily="34" charset="-120"/>
              </a:rPr>
              <a:t> Producto Completo</a:t>
            </a:r>
            <a:endParaRPr lang="es-ES" sz="4400" spc="-100" noProof="0"/>
          </a:p>
        </p:txBody>
      </p:sp>
      <p:sp>
        <p:nvSpPr>
          <p:cNvPr id="5" name="Marcador de texto 4">
            <a:extLst>
              <a:ext uri="{FF2B5EF4-FFF2-40B4-BE49-F238E27FC236}">
                <a16:creationId xmlns:a16="http://schemas.microsoft.com/office/drawing/2014/main" id="{50921AF0-FFF5-103F-F32A-B23536D3E2A8}"/>
              </a:ext>
            </a:extLst>
          </p:cNvPr>
          <p:cNvSpPr>
            <a:spLocks noGrp="1"/>
          </p:cNvSpPr>
          <p:nvPr>
            <p:ph type="body" sz="quarter" idx="13"/>
          </p:nvPr>
        </p:nvSpPr>
        <p:spPr/>
        <p:txBody>
          <a:bodyPr/>
          <a:lstStyle/>
          <a:p>
            <a:r>
              <a:rPr lang="es-ES" spc="-67"/>
              <a:t>Conclusiones Defensas RFI Proyecto HCM</a:t>
            </a:r>
          </a:p>
        </p:txBody>
      </p:sp>
      <p:sp>
        <p:nvSpPr>
          <p:cNvPr id="11" name="Rectángulo 10">
            <a:extLst>
              <a:ext uri="{FF2B5EF4-FFF2-40B4-BE49-F238E27FC236}">
                <a16:creationId xmlns:a16="http://schemas.microsoft.com/office/drawing/2014/main" id="{A688E3E5-D9ED-9B49-60B8-100307FC348D}"/>
              </a:ext>
            </a:extLst>
          </p:cNvPr>
          <p:cNvSpPr/>
          <p:nvPr/>
        </p:nvSpPr>
        <p:spPr>
          <a:xfrm>
            <a:off x="499440" y="957075"/>
            <a:ext cx="3480477"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name_907K">
            <a:extLst>
              <a:ext uri="{FF2B5EF4-FFF2-40B4-BE49-F238E27FC236}">
                <a16:creationId xmlns:a16="http://schemas.microsoft.com/office/drawing/2014/main" id="{002B4FA3-58F9-7153-0CAD-C3A322211BE4}"/>
              </a:ext>
            </a:extLst>
          </p:cNvPr>
          <p:cNvSpPr/>
          <p:nvPr/>
        </p:nvSpPr>
        <p:spPr>
          <a:xfrm>
            <a:off x="650591" y="1098439"/>
            <a:ext cx="1553690"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807</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14" name="Picture 4" descr="Comprar acciones de Oracle este 2024: Lo que necesitas saber - The Investor  U">
            <a:extLst>
              <a:ext uri="{FF2B5EF4-FFF2-40B4-BE49-F238E27FC236}">
                <a16:creationId xmlns:a16="http://schemas.microsoft.com/office/drawing/2014/main" id="{830A80CA-7A51-AD82-35F0-506E5EDF1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019" y="910692"/>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9E92428A-C152-AA94-890E-BD68F213A6F2}"/>
              </a:ext>
            </a:extLst>
          </p:cNvPr>
          <p:cNvSpPr/>
          <p:nvPr/>
        </p:nvSpPr>
        <p:spPr>
          <a:xfrm>
            <a:off x="4552440" y="957075"/>
            <a:ext cx="3480477"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name_907K">
            <a:extLst>
              <a:ext uri="{FF2B5EF4-FFF2-40B4-BE49-F238E27FC236}">
                <a16:creationId xmlns:a16="http://schemas.microsoft.com/office/drawing/2014/main" id="{FEF1BCD5-670D-AC73-AAD0-82DFEB85EB04}"/>
              </a:ext>
            </a:extLst>
          </p:cNvPr>
          <p:cNvSpPr/>
          <p:nvPr/>
        </p:nvSpPr>
        <p:spPr>
          <a:xfrm>
            <a:off x="4701736" y="1094934"/>
            <a:ext cx="2187940"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1.534</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18" name="Picture 2" descr="Workday at Wake Forest - Workday">
            <a:extLst>
              <a:ext uri="{FF2B5EF4-FFF2-40B4-BE49-F238E27FC236}">
                <a16:creationId xmlns:a16="http://schemas.microsoft.com/office/drawing/2014/main" id="{21016C2D-F07F-2148-B49B-CBE7F070C5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724" y="1024420"/>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32A9D978-9FBE-FFB5-C5D6-C85BCE4982FA}"/>
              </a:ext>
            </a:extLst>
          </p:cNvPr>
          <p:cNvSpPr/>
          <p:nvPr/>
        </p:nvSpPr>
        <p:spPr>
          <a:xfrm>
            <a:off x="8445472" y="957075"/>
            <a:ext cx="347640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name_907K">
            <a:extLst>
              <a:ext uri="{FF2B5EF4-FFF2-40B4-BE49-F238E27FC236}">
                <a16:creationId xmlns:a16="http://schemas.microsoft.com/office/drawing/2014/main" id="{CA11637E-C45F-DBE2-35FF-ECD14E327E3A}"/>
              </a:ext>
            </a:extLst>
          </p:cNvPr>
          <p:cNvSpPr/>
          <p:nvPr/>
        </p:nvSpPr>
        <p:spPr>
          <a:xfrm>
            <a:off x="8625508" y="1094934"/>
            <a:ext cx="1834992"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879</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22" name="Picture 4" descr="Qué es SAP y para qué sirve | sapfi.eu">
            <a:extLst>
              <a:ext uri="{FF2B5EF4-FFF2-40B4-BE49-F238E27FC236}">
                <a16:creationId xmlns:a16="http://schemas.microsoft.com/office/drawing/2014/main" id="{9641B927-2C83-4DE0-41ED-43585AF33C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3786" y="890057"/>
            <a:ext cx="575246" cy="575246"/>
          </a:xfrm>
          <a:prstGeom prst="rect">
            <a:avLst/>
          </a:prstGeom>
          <a:noFill/>
          <a:extLst>
            <a:ext uri="{909E8E84-426E-40DD-AFC4-6F175D3DCCD1}">
              <a14:hiddenFill xmlns:a14="http://schemas.microsoft.com/office/drawing/2010/main">
                <a:solidFill>
                  <a:srgbClr val="FFFFFF"/>
                </a:solidFill>
              </a14:hiddenFill>
            </a:ext>
          </a:extLst>
        </p:spPr>
      </p:pic>
      <p:pic>
        <p:nvPicPr>
          <p:cNvPr id="23" name="Gráfico 22" descr="Impuestos con relleno sólido">
            <a:extLst>
              <a:ext uri="{FF2B5EF4-FFF2-40B4-BE49-F238E27FC236}">
                <a16:creationId xmlns:a16="http://schemas.microsoft.com/office/drawing/2014/main" id="{AC32A236-D6E6-9354-7BDE-669F4AD5695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09157" y="1245576"/>
            <a:ext cx="385528" cy="385528"/>
          </a:xfrm>
          <a:prstGeom prst="rect">
            <a:avLst/>
          </a:prstGeom>
        </p:spPr>
      </p:pic>
      <p:sp>
        <p:nvSpPr>
          <p:cNvPr id="26" name="Rectángulo 25">
            <a:extLst>
              <a:ext uri="{FF2B5EF4-FFF2-40B4-BE49-F238E27FC236}">
                <a16:creationId xmlns:a16="http://schemas.microsoft.com/office/drawing/2014/main" id="{609C23B3-205E-F49F-D5C8-4266724E8CFA}"/>
              </a:ext>
            </a:extLst>
          </p:cNvPr>
          <p:cNvSpPr/>
          <p:nvPr/>
        </p:nvSpPr>
        <p:spPr>
          <a:xfrm>
            <a:off x="499440"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Total asegurados">
            <a:extLst>
              <a:ext uri="{FF2B5EF4-FFF2-40B4-BE49-F238E27FC236}">
                <a16:creationId xmlns:a16="http://schemas.microsoft.com/office/drawing/2014/main" id="{9B27938D-F168-682E-FC05-E18CEA4906F4}"/>
              </a:ext>
            </a:extLst>
          </p:cNvPr>
          <p:cNvSpPr/>
          <p:nvPr/>
        </p:nvSpPr>
        <p:spPr>
          <a:xfrm>
            <a:off x="679476" y="1862681"/>
            <a:ext cx="3300441" cy="1374378"/>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30" name="name_907K">
            <a:extLst>
              <a:ext uri="{FF2B5EF4-FFF2-40B4-BE49-F238E27FC236}">
                <a16:creationId xmlns:a16="http://schemas.microsoft.com/office/drawing/2014/main" id="{4E53DAA6-CB34-61FD-0D68-AACADFFE0C12}"/>
              </a:ext>
            </a:extLst>
          </p:cNvPr>
          <p:cNvSpPr/>
          <p:nvPr/>
        </p:nvSpPr>
        <p:spPr>
          <a:xfrm>
            <a:off x="3040719" y="261015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269 K</a:t>
            </a:r>
            <a:endParaRPr lang="en-US" sz="2400" spc="-75"/>
          </a:p>
        </p:txBody>
      </p:sp>
      <p:sp>
        <p:nvSpPr>
          <p:cNvPr id="31" name="Rectángulo 30">
            <a:extLst>
              <a:ext uri="{FF2B5EF4-FFF2-40B4-BE49-F238E27FC236}">
                <a16:creationId xmlns:a16="http://schemas.microsoft.com/office/drawing/2014/main" id="{E45D9FB4-AE36-F914-3532-A1DFD8620A4A}"/>
              </a:ext>
            </a:extLst>
          </p:cNvPr>
          <p:cNvSpPr/>
          <p:nvPr/>
        </p:nvSpPr>
        <p:spPr>
          <a:xfrm>
            <a:off x="499440"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Total asegurados">
            <a:extLst>
              <a:ext uri="{FF2B5EF4-FFF2-40B4-BE49-F238E27FC236}">
                <a16:creationId xmlns:a16="http://schemas.microsoft.com/office/drawing/2014/main" id="{46E080F8-6B0C-A1EF-9249-D3EEC3533F11}"/>
              </a:ext>
            </a:extLst>
          </p:cNvPr>
          <p:cNvSpPr/>
          <p:nvPr/>
        </p:nvSpPr>
        <p:spPr>
          <a:xfrm>
            <a:off x="679476" y="3582612"/>
            <a:ext cx="1959221"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36" name="Rectángulo 35">
            <a:extLst>
              <a:ext uri="{FF2B5EF4-FFF2-40B4-BE49-F238E27FC236}">
                <a16:creationId xmlns:a16="http://schemas.microsoft.com/office/drawing/2014/main" id="{0256BF0C-40A1-0FC3-35C5-57C55FB3DE5A}"/>
              </a:ext>
            </a:extLst>
          </p:cNvPr>
          <p:cNvSpPr/>
          <p:nvPr/>
        </p:nvSpPr>
        <p:spPr>
          <a:xfrm>
            <a:off x="499440" y="4686158"/>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Total asegurados">
            <a:extLst>
              <a:ext uri="{FF2B5EF4-FFF2-40B4-BE49-F238E27FC236}">
                <a16:creationId xmlns:a16="http://schemas.microsoft.com/office/drawing/2014/main" id="{2FB78195-8F22-AA67-B24E-411434C67AB6}"/>
              </a:ext>
            </a:extLst>
          </p:cNvPr>
          <p:cNvSpPr/>
          <p:nvPr/>
        </p:nvSpPr>
        <p:spPr>
          <a:xfrm>
            <a:off x="679476" y="4998644"/>
            <a:ext cx="1959221"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Tercer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39" name="Rectángulo 38">
            <a:extLst>
              <a:ext uri="{FF2B5EF4-FFF2-40B4-BE49-F238E27FC236}">
                <a16:creationId xmlns:a16="http://schemas.microsoft.com/office/drawing/2014/main" id="{18C15A3D-1C7D-F5AE-277F-9F648D5701BB}"/>
              </a:ext>
            </a:extLst>
          </p:cNvPr>
          <p:cNvSpPr/>
          <p:nvPr/>
        </p:nvSpPr>
        <p:spPr>
          <a:xfrm>
            <a:off x="4552440"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Total asegurados">
            <a:extLst>
              <a:ext uri="{FF2B5EF4-FFF2-40B4-BE49-F238E27FC236}">
                <a16:creationId xmlns:a16="http://schemas.microsoft.com/office/drawing/2014/main" id="{3BD63DD5-9EBD-36FB-F405-346697CD6295}"/>
              </a:ext>
            </a:extLst>
          </p:cNvPr>
          <p:cNvSpPr/>
          <p:nvPr/>
        </p:nvSpPr>
        <p:spPr>
          <a:xfrm>
            <a:off x="4732477" y="2175167"/>
            <a:ext cx="195922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42" name="Rectángulo 41">
            <a:extLst>
              <a:ext uri="{FF2B5EF4-FFF2-40B4-BE49-F238E27FC236}">
                <a16:creationId xmlns:a16="http://schemas.microsoft.com/office/drawing/2014/main" id="{2C335116-2B62-4776-23AC-46A8C278DEDD}"/>
              </a:ext>
            </a:extLst>
          </p:cNvPr>
          <p:cNvSpPr/>
          <p:nvPr/>
        </p:nvSpPr>
        <p:spPr>
          <a:xfrm>
            <a:off x="4552440"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Total asegurados">
            <a:extLst>
              <a:ext uri="{FF2B5EF4-FFF2-40B4-BE49-F238E27FC236}">
                <a16:creationId xmlns:a16="http://schemas.microsoft.com/office/drawing/2014/main" id="{76FBEAC3-A345-1F6F-C3F1-FD91BB949432}"/>
              </a:ext>
            </a:extLst>
          </p:cNvPr>
          <p:cNvSpPr/>
          <p:nvPr/>
        </p:nvSpPr>
        <p:spPr>
          <a:xfrm>
            <a:off x="4732476" y="2928135"/>
            <a:ext cx="2860414" cy="1716369"/>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 + 5% Innovación</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noProof="0"/>
          </a:p>
        </p:txBody>
      </p:sp>
      <p:sp>
        <p:nvSpPr>
          <p:cNvPr id="45" name="Rectángulo 44">
            <a:extLst>
              <a:ext uri="{FF2B5EF4-FFF2-40B4-BE49-F238E27FC236}">
                <a16:creationId xmlns:a16="http://schemas.microsoft.com/office/drawing/2014/main" id="{6DEAAA56-E9F6-E9EC-4D56-C54DF734BC6D}"/>
              </a:ext>
            </a:extLst>
          </p:cNvPr>
          <p:cNvSpPr/>
          <p:nvPr/>
        </p:nvSpPr>
        <p:spPr>
          <a:xfrm>
            <a:off x="4552440" y="4675884"/>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Total asegurados">
            <a:extLst>
              <a:ext uri="{FF2B5EF4-FFF2-40B4-BE49-F238E27FC236}">
                <a16:creationId xmlns:a16="http://schemas.microsoft.com/office/drawing/2014/main" id="{1B4AE2DC-5CF5-3FEA-737A-C1E158D15B72}"/>
              </a:ext>
            </a:extLst>
          </p:cNvPr>
          <p:cNvSpPr/>
          <p:nvPr/>
        </p:nvSpPr>
        <p:spPr>
          <a:xfrm>
            <a:off x="4736100" y="4661270"/>
            <a:ext cx="2675191"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Tercer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 + 5% Innovación</a:t>
            </a: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48" name="Rectángulo 47">
            <a:extLst>
              <a:ext uri="{FF2B5EF4-FFF2-40B4-BE49-F238E27FC236}">
                <a16:creationId xmlns:a16="http://schemas.microsoft.com/office/drawing/2014/main" id="{CA85FDF3-E16E-136E-6066-9DAC28C39FF8}"/>
              </a:ext>
            </a:extLst>
          </p:cNvPr>
          <p:cNvSpPr/>
          <p:nvPr/>
        </p:nvSpPr>
        <p:spPr>
          <a:xfrm>
            <a:off x="8445472"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Total asegurados">
            <a:extLst>
              <a:ext uri="{FF2B5EF4-FFF2-40B4-BE49-F238E27FC236}">
                <a16:creationId xmlns:a16="http://schemas.microsoft.com/office/drawing/2014/main" id="{FF57AF6F-AC33-E823-8155-3A66E6E6244A}"/>
              </a:ext>
            </a:extLst>
          </p:cNvPr>
          <p:cNvSpPr/>
          <p:nvPr/>
        </p:nvSpPr>
        <p:spPr>
          <a:xfrm>
            <a:off x="8625509" y="2175167"/>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51" name="Rectángulo 50">
            <a:extLst>
              <a:ext uri="{FF2B5EF4-FFF2-40B4-BE49-F238E27FC236}">
                <a16:creationId xmlns:a16="http://schemas.microsoft.com/office/drawing/2014/main" id="{E7188A99-FDCB-ECA4-52B7-981A57087756}"/>
              </a:ext>
            </a:extLst>
          </p:cNvPr>
          <p:cNvSpPr/>
          <p:nvPr/>
        </p:nvSpPr>
        <p:spPr>
          <a:xfrm>
            <a:off x="8445472"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Total asegurados">
            <a:extLst>
              <a:ext uri="{FF2B5EF4-FFF2-40B4-BE49-F238E27FC236}">
                <a16:creationId xmlns:a16="http://schemas.microsoft.com/office/drawing/2014/main" id="{FECC8DAE-8FD0-F8EF-294B-BBE71F0A37F4}"/>
              </a:ext>
            </a:extLst>
          </p:cNvPr>
          <p:cNvSpPr/>
          <p:nvPr/>
        </p:nvSpPr>
        <p:spPr>
          <a:xfrm>
            <a:off x="8625509" y="3387406"/>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endParaRPr lang="es-ES_tradnl" sz="1125" kern="0">
              <a:solidFill>
                <a:schemeClr val="tx1">
                  <a:alpha val="65000"/>
                </a:schemeClr>
              </a:solidFill>
              <a:latin typeface="Arial Regular" pitchFamily="34" charset="0"/>
              <a:ea typeface="Arial Regular" pitchFamily="34" charset="-122"/>
              <a:cs typeface="Arial Regular" pitchFamily="34" charset="-120"/>
            </a:endParaRPr>
          </a:p>
        </p:txBody>
      </p:sp>
      <p:sp>
        <p:nvSpPr>
          <p:cNvPr id="54" name="Rectángulo 53">
            <a:extLst>
              <a:ext uri="{FF2B5EF4-FFF2-40B4-BE49-F238E27FC236}">
                <a16:creationId xmlns:a16="http://schemas.microsoft.com/office/drawing/2014/main" id="{D989BEE1-C8DA-C1F1-3F10-66874C1F56A8}"/>
              </a:ext>
            </a:extLst>
          </p:cNvPr>
          <p:cNvSpPr/>
          <p:nvPr/>
        </p:nvSpPr>
        <p:spPr>
          <a:xfrm>
            <a:off x="8445472" y="4686158"/>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Total asegurados">
            <a:extLst>
              <a:ext uri="{FF2B5EF4-FFF2-40B4-BE49-F238E27FC236}">
                <a16:creationId xmlns:a16="http://schemas.microsoft.com/office/drawing/2014/main" id="{92815C55-23F9-4EDA-0461-0643FF3EF4F7}"/>
              </a:ext>
            </a:extLst>
          </p:cNvPr>
          <p:cNvSpPr/>
          <p:nvPr/>
        </p:nvSpPr>
        <p:spPr>
          <a:xfrm>
            <a:off x="8625509" y="4721243"/>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Tercer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pic>
        <p:nvPicPr>
          <p:cNvPr id="57" name="Gráfico 56" descr="Impuestos con relleno sólido">
            <a:extLst>
              <a:ext uri="{FF2B5EF4-FFF2-40B4-BE49-F238E27FC236}">
                <a16:creationId xmlns:a16="http://schemas.microsoft.com/office/drawing/2014/main" id="{860DFEEE-5711-D5B1-D5ED-AE519DD9FFD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92890" y="1245575"/>
            <a:ext cx="385528" cy="385528"/>
          </a:xfrm>
          <a:prstGeom prst="rect">
            <a:avLst/>
          </a:prstGeom>
        </p:spPr>
      </p:pic>
      <p:pic>
        <p:nvPicPr>
          <p:cNvPr id="58" name="Gráfico 57" descr="Impuestos con relleno sólido">
            <a:extLst>
              <a:ext uri="{FF2B5EF4-FFF2-40B4-BE49-F238E27FC236}">
                <a16:creationId xmlns:a16="http://schemas.microsoft.com/office/drawing/2014/main" id="{9BC9BC25-0A98-6324-AAFF-BD7A6025B51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529158" y="1239748"/>
            <a:ext cx="385528" cy="385528"/>
          </a:xfrm>
          <a:prstGeom prst="rect">
            <a:avLst/>
          </a:prstGeom>
        </p:spPr>
      </p:pic>
      <p:sp>
        <p:nvSpPr>
          <p:cNvPr id="59" name="name_907K">
            <a:extLst>
              <a:ext uri="{FF2B5EF4-FFF2-40B4-BE49-F238E27FC236}">
                <a16:creationId xmlns:a16="http://schemas.microsoft.com/office/drawing/2014/main" id="{4284AD43-D768-7278-5DA5-4451ED32EF83}"/>
              </a:ext>
            </a:extLst>
          </p:cNvPr>
          <p:cNvSpPr/>
          <p:nvPr/>
        </p:nvSpPr>
        <p:spPr>
          <a:xfrm>
            <a:off x="3083227" y="3979531"/>
            <a:ext cx="839310" cy="534749"/>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269 K</a:t>
            </a:r>
            <a:endParaRPr lang="en-US" sz="2400" spc="-75"/>
          </a:p>
        </p:txBody>
      </p:sp>
      <p:sp>
        <p:nvSpPr>
          <p:cNvPr id="60" name="name_907K">
            <a:extLst>
              <a:ext uri="{FF2B5EF4-FFF2-40B4-BE49-F238E27FC236}">
                <a16:creationId xmlns:a16="http://schemas.microsoft.com/office/drawing/2014/main" id="{6DCEF8FB-8030-9172-55A8-B8636B179CA2}"/>
              </a:ext>
            </a:extLst>
          </p:cNvPr>
          <p:cNvSpPr/>
          <p:nvPr/>
        </p:nvSpPr>
        <p:spPr>
          <a:xfrm>
            <a:off x="3036317" y="544372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269 K</a:t>
            </a:r>
            <a:endParaRPr lang="en-US" sz="2400" spc="-75"/>
          </a:p>
        </p:txBody>
      </p:sp>
      <p:sp>
        <p:nvSpPr>
          <p:cNvPr id="61" name="name_907K">
            <a:extLst>
              <a:ext uri="{FF2B5EF4-FFF2-40B4-BE49-F238E27FC236}">
                <a16:creationId xmlns:a16="http://schemas.microsoft.com/office/drawing/2014/main" id="{4919E5F5-8DB3-BE3F-80EC-E88C9A7A5970}"/>
              </a:ext>
            </a:extLst>
          </p:cNvPr>
          <p:cNvSpPr/>
          <p:nvPr/>
        </p:nvSpPr>
        <p:spPr>
          <a:xfrm>
            <a:off x="7104254" y="261015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501 K</a:t>
            </a:r>
            <a:endParaRPr lang="en-US" sz="2400" spc="-75"/>
          </a:p>
        </p:txBody>
      </p:sp>
      <p:sp>
        <p:nvSpPr>
          <p:cNvPr id="62" name="name_907K">
            <a:extLst>
              <a:ext uri="{FF2B5EF4-FFF2-40B4-BE49-F238E27FC236}">
                <a16:creationId xmlns:a16="http://schemas.microsoft.com/office/drawing/2014/main" id="{CFDB7DEA-4C6E-55F9-8996-3DEE2222DEAC}"/>
              </a:ext>
            </a:extLst>
          </p:cNvPr>
          <p:cNvSpPr/>
          <p:nvPr/>
        </p:nvSpPr>
        <p:spPr>
          <a:xfrm>
            <a:off x="7139108" y="4063649"/>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511 K</a:t>
            </a:r>
            <a:endParaRPr lang="en-US" sz="2400" spc="-75"/>
          </a:p>
        </p:txBody>
      </p:sp>
      <p:sp>
        <p:nvSpPr>
          <p:cNvPr id="63" name="name_907K">
            <a:extLst>
              <a:ext uri="{FF2B5EF4-FFF2-40B4-BE49-F238E27FC236}">
                <a16:creationId xmlns:a16="http://schemas.microsoft.com/office/drawing/2014/main" id="{990D4810-371A-5ECF-47C4-3073192A5537}"/>
              </a:ext>
            </a:extLst>
          </p:cNvPr>
          <p:cNvSpPr/>
          <p:nvPr/>
        </p:nvSpPr>
        <p:spPr>
          <a:xfrm>
            <a:off x="7160061" y="544372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521 K</a:t>
            </a:r>
            <a:endParaRPr lang="en-US" sz="2400" spc="-75"/>
          </a:p>
        </p:txBody>
      </p:sp>
      <p:sp>
        <p:nvSpPr>
          <p:cNvPr id="64" name="name_907K">
            <a:extLst>
              <a:ext uri="{FF2B5EF4-FFF2-40B4-BE49-F238E27FC236}">
                <a16:creationId xmlns:a16="http://schemas.microsoft.com/office/drawing/2014/main" id="{D2C3CC66-4813-3A4F-4970-D27BDD8EE6E6}"/>
              </a:ext>
            </a:extLst>
          </p:cNvPr>
          <p:cNvSpPr/>
          <p:nvPr/>
        </p:nvSpPr>
        <p:spPr>
          <a:xfrm>
            <a:off x="10989722" y="261015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293 K</a:t>
            </a:r>
            <a:endParaRPr lang="en-US" sz="2400" spc="-75"/>
          </a:p>
        </p:txBody>
      </p:sp>
      <p:sp>
        <p:nvSpPr>
          <p:cNvPr id="65" name="name_907K">
            <a:extLst>
              <a:ext uri="{FF2B5EF4-FFF2-40B4-BE49-F238E27FC236}">
                <a16:creationId xmlns:a16="http://schemas.microsoft.com/office/drawing/2014/main" id="{A08FB4A0-7A8D-6824-C69C-6F4B67857C16}"/>
              </a:ext>
            </a:extLst>
          </p:cNvPr>
          <p:cNvSpPr/>
          <p:nvPr/>
        </p:nvSpPr>
        <p:spPr>
          <a:xfrm>
            <a:off x="10991532" y="4063649"/>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293 K</a:t>
            </a:r>
            <a:endParaRPr lang="en-US" sz="2400" spc="-75"/>
          </a:p>
        </p:txBody>
      </p:sp>
      <p:sp>
        <p:nvSpPr>
          <p:cNvPr id="66" name="name_907K">
            <a:extLst>
              <a:ext uri="{FF2B5EF4-FFF2-40B4-BE49-F238E27FC236}">
                <a16:creationId xmlns:a16="http://schemas.microsoft.com/office/drawing/2014/main" id="{95F4FC7B-9DC0-44DE-4C3A-389C0D1DA539}"/>
              </a:ext>
            </a:extLst>
          </p:cNvPr>
          <p:cNvSpPr/>
          <p:nvPr/>
        </p:nvSpPr>
        <p:spPr>
          <a:xfrm>
            <a:off x="10987057" y="5449223"/>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293 K</a:t>
            </a:r>
            <a:endParaRPr lang="en-US" sz="2400" spc="-75"/>
          </a:p>
        </p:txBody>
      </p:sp>
      <p:sp>
        <p:nvSpPr>
          <p:cNvPr id="67" name="Total asegurados">
            <a:extLst>
              <a:ext uri="{FF2B5EF4-FFF2-40B4-BE49-F238E27FC236}">
                <a16:creationId xmlns:a16="http://schemas.microsoft.com/office/drawing/2014/main" id="{2672D4F9-4736-9C30-E0F8-C31728469980}"/>
              </a:ext>
            </a:extLst>
          </p:cNvPr>
          <p:cNvSpPr/>
          <p:nvPr/>
        </p:nvSpPr>
        <p:spPr>
          <a:xfrm>
            <a:off x="3117108" y="1384421"/>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68" name="Total asegurados">
            <a:extLst>
              <a:ext uri="{FF2B5EF4-FFF2-40B4-BE49-F238E27FC236}">
                <a16:creationId xmlns:a16="http://schemas.microsoft.com/office/drawing/2014/main" id="{475A7DA6-7205-A282-6E8F-F31A8F792953}"/>
              </a:ext>
            </a:extLst>
          </p:cNvPr>
          <p:cNvSpPr/>
          <p:nvPr/>
        </p:nvSpPr>
        <p:spPr>
          <a:xfrm>
            <a:off x="7090349" y="1396329"/>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69" name="Total asegurados">
            <a:extLst>
              <a:ext uri="{FF2B5EF4-FFF2-40B4-BE49-F238E27FC236}">
                <a16:creationId xmlns:a16="http://schemas.microsoft.com/office/drawing/2014/main" id="{EECCA472-0A8A-8BF2-96CD-4781B69353DB}"/>
              </a:ext>
            </a:extLst>
          </p:cNvPr>
          <p:cNvSpPr/>
          <p:nvPr/>
        </p:nvSpPr>
        <p:spPr>
          <a:xfrm>
            <a:off x="11061955" y="1383218"/>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3" name="Rectángulo 2">
            <a:extLst>
              <a:ext uri="{FF2B5EF4-FFF2-40B4-BE49-F238E27FC236}">
                <a16:creationId xmlns:a16="http://schemas.microsoft.com/office/drawing/2014/main" id="{47F4C895-8AFD-EC9F-1183-3F41F8467F29}"/>
              </a:ext>
            </a:extLst>
          </p:cNvPr>
          <p:cNvSpPr/>
          <p:nvPr/>
        </p:nvSpPr>
        <p:spPr>
          <a:xfrm rot="21340932">
            <a:off x="9764134" y="239403"/>
            <a:ext cx="1476686" cy="400110"/>
          </a:xfrm>
          <a:prstGeom prst="rect">
            <a:avLst/>
          </a:prstGeom>
          <a:noFill/>
          <a:ln w="19050">
            <a:solidFill>
              <a:srgbClr val="C00000"/>
            </a:solidFill>
          </a:ln>
          <a:effectLst>
            <a:outerShdw blurRad="50800" dist="38100" dir="5400000" algn="t" rotWithShape="0">
              <a:prstClr val="black">
                <a:alpha val="40000"/>
              </a:prstClr>
            </a:outerShdw>
          </a:effectLst>
        </p:spPr>
        <p:txBody>
          <a:bodyPr wrap="none" lIns="91440" tIns="45720" rIns="91440" bIns="45720">
            <a:spAutoFit/>
          </a:bodyPr>
          <a:lstStyle/>
          <a:p>
            <a:pPr algn="ctr"/>
            <a:r>
              <a:rPr lang="es-ES" sz="2000" b="0" cap="none" spc="0">
                <a:ln w="0"/>
                <a:solidFill>
                  <a:schemeClr val="tx1"/>
                </a:solidFill>
                <a:effectLst>
                  <a:outerShdw blurRad="38100" dist="19050" dir="2700000" algn="tl" rotWithShape="0">
                    <a:schemeClr val="dk1">
                      <a:alpha val="40000"/>
                    </a:schemeClr>
                  </a:outerShdw>
                </a:effectLst>
              </a:rPr>
              <a:t>Escenario 1</a:t>
            </a:r>
          </a:p>
        </p:txBody>
      </p:sp>
    </p:spTree>
    <p:extLst>
      <p:ext uri="{BB962C8B-B14F-4D97-AF65-F5344CB8AC3E}">
        <p14:creationId xmlns:p14="http://schemas.microsoft.com/office/powerpoint/2010/main" val="2067431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221F2-5A3F-1CF2-3F0D-35D00B4FB9C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2FC3C3E8-DAF9-8CD5-179C-05AB082199B6}"/>
              </a:ext>
            </a:extLst>
          </p:cNvPr>
          <p:cNvSpPr>
            <a:spLocks noGrp="1"/>
          </p:cNvSpPr>
          <p:nvPr>
            <p:ph type="body" sz="quarter" idx="10"/>
          </p:nvPr>
        </p:nvSpPr>
        <p:spPr/>
        <p:txBody>
          <a:bodyPr>
            <a:normAutofit/>
          </a:bodyPr>
          <a:lstStyle/>
          <a:p>
            <a:pPr>
              <a:lnSpc>
                <a:spcPts val="4798"/>
              </a:lnSpc>
            </a:pPr>
            <a:r>
              <a:rPr lang="es-ES" kern="0" spc="-100" noProof="0">
                <a:latin typeface="Arial Regular" pitchFamily="34" charset="0"/>
                <a:ea typeface="Arial Regular" pitchFamily="34" charset="-122"/>
                <a:cs typeface="Arial Regular" pitchFamily="34" charset="-120"/>
              </a:rPr>
              <a:t>Anexo de licencias por Módulos</a:t>
            </a:r>
            <a:endParaRPr lang="es-ES" spc="-100" noProof="0"/>
          </a:p>
        </p:txBody>
      </p:sp>
      <p:sp>
        <p:nvSpPr>
          <p:cNvPr id="5" name="Marcador de texto 4">
            <a:extLst>
              <a:ext uri="{FF2B5EF4-FFF2-40B4-BE49-F238E27FC236}">
                <a16:creationId xmlns:a16="http://schemas.microsoft.com/office/drawing/2014/main" id="{E9839DA4-0C1D-FF68-2412-A901BC94E293}"/>
              </a:ext>
            </a:extLst>
          </p:cNvPr>
          <p:cNvSpPr>
            <a:spLocks noGrp="1"/>
          </p:cNvSpPr>
          <p:nvPr>
            <p:ph type="body" sz="quarter" idx="13"/>
          </p:nvPr>
        </p:nvSpPr>
        <p:spPr/>
        <p:txBody>
          <a:bodyPr/>
          <a:lstStyle/>
          <a:p>
            <a:r>
              <a:rPr lang="es-ES" spc="-67" dirty="0"/>
              <a:t>Conclusiones Defensas RFI Proyecto HCM</a:t>
            </a:r>
          </a:p>
        </p:txBody>
      </p:sp>
      <p:sp>
        <p:nvSpPr>
          <p:cNvPr id="11" name="Rectángulo 10">
            <a:extLst>
              <a:ext uri="{FF2B5EF4-FFF2-40B4-BE49-F238E27FC236}">
                <a16:creationId xmlns:a16="http://schemas.microsoft.com/office/drawing/2014/main" id="{3F7538E2-AE6E-CC11-D8A7-E14A84353340}"/>
              </a:ext>
            </a:extLst>
          </p:cNvPr>
          <p:cNvSpPr/>
          <p:nvPr/>
        </p:nvSpPr>
        <p:spPr>
          <a:xfrm>
            <a:off x="499440" y="957075"/>
            <a:ext cx="3480477"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name_907K">
            <a:extLst>
              <a:ext uri="{FF2B5EF4-FFF2-40B4-BE49-F238E27FC236}">
                <a16:creationId xmlns:a16="http://schemas.microsoft.com/office/drawing/2014/main" id="{7298A618-AEDF-7E52-890F-B9FD38D25C61}"/>
              </a:ext>
            </a:extLst>
          </p:cNvPr>
          <p:cNvSpPr/>
          <p:nvPr/>
        </p:nvSpPr>
        <p:spPr>
          <a:xfrm>
            <a:off x="650591" y="1098439"/>
            <a:ext cx="1553690"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574</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14" name="Picture 4" descr="Comprar acciones de Oracle este 2024: Lo que necesitas saber - The Investor  U">
            <a:extLst>
              <a:ext uri="{FF2B5EF4-FFF2-40B4-BE49-F238E27FC236}">
                <a16:creationId xmlns:a16="http://schemas.microsoft.com/office/drawing/2014/main" id="{04F2DD88-653B-A8EE-BCBE-ADA28AB84D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019" y="910692"/>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28284872-960A-4FB6-7FD6-CC9D9035F5E1}"/>
              </a:ext>
            </a:extLst>
          </p:cNvPr>
          <p:cNvSpPr/>
          <p:nvPr/>
        </p:nvSpPr>
        <p:spPr>
          <a:xfrm>
            <a:off x="4552440" y="957075"/>
            <a:ext cx="3480477"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name_907K">
            <a:extLst>
              <a:ext uri="{FF2B5EF4-FFF2-40B4-BE49-F238E27FC236}">
                <a16:creationId xmlns:a16="http://schemas.microsoft.com/office/drawing/2014/main" id="{4EC62891-ECDD-F201-2261-FBFF85AB8E06}"/>
              </a:ext>
            </a:extLst>
          </p:cNvPr>
          <p:cNvSpPr/>
          <p:nvPr/>
        </p:nvSpPr>
        <p:spPr>
          <a:xfrm>
            <a:off x="4701736" y="1094934"/>
            <a:ext cx="2187940"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1.534</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18" name="Picture 2" descr="Workday at Wake Forest - Workday">
            <a:extLst>
              <a:ext uri="{FF2B5EF4-FFF2-40B4-BE49-F238E27FC236}">
                <a16:creationId xmlns:a16="http://schemas.microsoft.com/office/drawing/2014/main" id="{6CDF0653-B0EE-573A-5FD5-D49350DFDC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724" y="1024420"/>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395FFF95-5404-616E-B503-AD205F66C25C}"/>
              </a:ext>
            </a:extLst>
          </p:cNvPr>
          <p:cNvSpPr/>
          <p:nvPr/>
        </p:nvSpPr>
        <p:spPr>
          <a:xfrm>
            <a:off x="8445472" y="957075"/>
            <a:ext cx="347640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name_907K">
            <a:extLst>
              <a:ext uri="{FF2B5EF4-FFF2-40B4-BE49-F238E27FC236}">
                <a16:creationId xmlns:a16="http://schemas.microsoft.com/office/drawing/2014/main" id="{307113FA-BE53-12AE-CBC9-FAD22FA5CED0}"/>
              </a:ext>
            </a:extLst>
          </p:cNvPr>
          <p:cNvSpPr/>
          <p:nvPr/>
        </p:nvSpPr>
        <p:spPr>
          <a:xfrm>
            <a:off x="8625508" y="1094934"/>
            <a:ext cx="1834992" cy="457200"/>
          </a:xfrm>
          <a:prstGeom prst="rect">
            <a:avLst/>
          </a:prstGeom>
          <a:noFill/>
          <a:ln/>
        </p:spPr>
        <p:txBody>
          <a:bodyPr wrap="square" lIns="0" tIns="0" rIns="0" bIns="0" rtlCol="0" anchor="ctr"/>
          <a:lstStyle/>
          <a:p>
            <a:pPr>
              <a:lnSpc>
                <a:spcPts val="3600"/>
              </a:lnSpc>
            </a:pPr>
            <a:r>
              <a:rPr lang="en-US" sz="3300" kern="0" spc="-75">
                <a:solidFill>
                  <a:srgbClr val="1A1A1A"/>
                </a:solidFill>
                <a:latin typeface="Arial Regular" pitchFamily="34" charset="0"/>
                <a:ea typeface="Arial Regular" pitchFamily="34" charset="-122"/>
                <a:cs typeface="Arial Regular" pitchFamily="34" charset="-120"/>
              </a:rPr>
              <a:t>686</a:t>
            </a:r>
            <a:r>
              <a:rPr lang="en-US" sz="2400" kern="0" spc="-75">
                <a:solidFill>
                  <a:srgbClr val="1A1A1A"/>
                </a:solidFill>
                <a:latin typeface="Arial Regular" pitchFamily="34" charset="0"/>
                <a:ea typeface="Arial Regular" pitchFamily="34" charset="-122"/>
                <a:cs typeface="Arial Regular" pitchFamily="34" charset="-120"/>
              </a:rPr>
              <a:t> </a:t>
            </a:r>
            <a:r>
              <a:rPr lang="en-US" sz="3300" kern="0" spc="-75">
                <a:solidFill>
                  <a:srgbClr val="1A1A1A"/>
                </a:solidFill>
                <a:latin typeface="Arial Regular" pitchFamily="34" charset="0"/>
                <a:ea typeface="Arial Regular" pitchFamily="34" charset="-122"/>
                <a:cs typeface="Arial Regular" pitchFamily="34" charset="-120"/>
              </a:rPr>
              <a:t>K</a:t>
            </a:r>
            <a:endParaRPr lang="en-US" sz="3300" spc="-75"/>
          </a:p>
        </p:txBody>
      </p:sp>
      <p:pic>
        <p:nvPicPr>
          <p:cNvPr id="22" name="Picture 4" descr="Qué es SAP y para qué sirve | sapfi.eu">
            <a:extLst>
              <a:ext uri="{FF2B5EF4-FFF2-40B4-BE49-F238E27FC236}">
                <a16:creationId xmlns:a16="http://schemas.microsoft.com/office/drawing/2014/main" id="{568B886E-135F-E95B-7A3A-8790ABA3E3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3786" y="890057"/>
            <a:ext cx="575246" cy="575246"/>
          </a:xfrm>
          <a:prstGeom prst="rect">
            <a:avLst/>
          </a:prstGeom>
          <a:noFill/>
          <a:extLst>
            <a:ext uri="{909E8E84-426E-40DD-AFC4-6F175D3DCCD1}">
              <a14:hiddenFill xmlns:a14="http://schemas.microsoft.com/office/drawing/2010/main">
                <a:solidFill>
                  <a:srgbClr val="FFFFFF"/>
                </a:solidFill>
              </a14:hiddenFill>
            </a:ext>
          </a:extLst>
        </p:spPr>
      </p:pic>
      <p:pic>
        <p:nvPicPr>
          <p:cNvPr id="23" name="Gráfico 22" descr="Impuestos con relleno sólido">
            <a:extLst>
              <a:ext uri="{FF2B5EF4-FFF2-40B4-BE49-F238E27FC236}">
                <a16:creationId xmlns:a16="http://schemas.microsoft.com/office/drawing/2014/main" id="{C8F0575E-39FD-1655-1FC7-1DF2230162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09157" y="1245576"/>
            <a:ext cx="385528" cy="385528"/>
          </a:xfrm>
          <a:prstGeom prst="rect">
            <a:avLst/>
          </a:prstGeom>
        </p:spPr>
      </p:pic>
      <p:sp>
        <p:nvSpPr>
          <p:cNvPr id="26" name="Rectángulo 25">
            <a:extLst>
              <a:ext uri="{FF2B5EF4-FFF2-40B4-BE49-F238E27FC236}">
                <a16:creationId xmlns:a16="http://schemas.microsoft.com/office/drawing/2014/main" id="{0E6C71D8-F244-DF00-4C1A-17F5F2AA04D3}"/>
              </a:ext>
            </a:extLst>
          </p:cNvPr>
          <p:cNvSpPr/>
          <p:nvPr/>
        </p:nvSpPr>
        <p:spPr>
          <a:xfrm>
            <a:off x="499440"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Total asegurados">
            <a:extLst>
              <a:ext uri="{FF2B5EF4-FFF2-40B4-BE49-F238E27FC236}">
                <a16:creationId xmlns:a16="http://schemas.microsoft.com/office/drawing/2014/main" id="{E93BDF75-C66C-B329-F632-AF6D70808DC0}"/>
              </a:ext>
            </a:extLst>
          </p:cNvPr>
          <p:cNvSpPr/>
          <p:nvPr/>
        </p:nvSpPr>
        <p:spPr>
          <a:xfrm>
            <a:off x="679476" y="1862681"/>
            <a:ext cx="3300441" cy="1374378"/>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Capital Management Base (Core HR)</a:t>
            </a:r>
          </a:p>
          <a:p>
            <a:pPr marL="171450" indent="-171450">
              <a:lnSpc>
                <a:spcPts val="1457"/>
              </a:lnSpc>
              <a:buFont typeface="Arial" panose="020B0604020202020204" pitchFamily="34" charset="0"/>
              <a:buChar char="•"/>
            </a:pPr>
            <a:r>
              <a:rPr lang="es-ES_tradnl" sz="1125" kern="0" noProof="0">
                <a:solidFill>
                  <a:schemeClr val="tx1">
                    <a:alpha val="65000"/>
                  </a:schemeClr>
                </a:solidFill>
                <a:latin typeface="Arial Regular" pitchFamily="34" charset="0"/>
                <a:ea typeface="Arial Regular" pitchFamily="34" charset="-122"/>
                <a:cs typeface="Arial Regular" pitchFamily="34" charset="-120"/>
              </a:rPr>
              <a:t>Talent Management</a:t>
            </a: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30" name="name_907K">
            <a:extLst>
              <a:ext uri="{FF2B5EF4-FFF2-40B4-BE49-F238E27FC236}">
                <a16:creationId xmlns:a16="http://schemas.microsoft.com/office/drawing/2014/main" id="{B5AD8DC3-2048-81C1-7B69-ADC962796EC0}"/>
              </a:ext>
            </a:extLst>
          </p:cNvPr>
          <p:cNvSpPr/>
          <p:nvPr/>
        </p:nvSpPr>
        <p:spPr>
          <a:xfrm>
            <a:off x="1941817" y="2339551"/>
            <a:ext cx="1845746" cy="892188"/>
          </a:xfrm>
          <a:prstGeom prst="rect">
            <a:avLst/>
          </a:prstGeom>
          <a:noFill/>
          <a:ln/>
        </p:spPr>
        <p:txBody>
          <a:bodyPr wrap="square" lIns="0" tIns="0" rIns="0" bIns="0" rtlCol="0" anchor="ctr"/>
          <a:lstStyle/>
          <a:p>
            <a:pPr algn="r">
              <a:lnSpc>
                <a:spcPts val="2500"/>
              </a:lnSpc>
            </a:pPr>
            <a:r>
              <a:rPr lang="en-US" sz="1100" kern="0" spc="-75">
                <a:solidFill>
                  <a:srgbClr val="1A1A1A"/>
                </a:solidFill>
                <a:latin typeface="Arial Regular" pitchFamily="34" charset="0"/>
                <a:ea typeface="Arial Regular" pitchFamily="34" charset="-122"/>
                <a:cs typeface="Arial Regular" pitchFamily="34" charset="-120"/>
              </a:rPr>
              <a:t>76 K + 36 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112 K</a:t>
            </a:r>
            <a:endParaRPr lang="en-US" sz="2400" spc="-75"/>
          </a:p>
        </p:txBody>
      </p:sp>
      <p:sp>
        <p:nvSpPr>
          <p:cNvPr id="31" name="Rectángulo 30">
            <a:extLst>
              <a:ext uri="{FF2B5EF4-FFF2-40B4-BE49-F238E27FC236}">
                <a16:creationId xmlns:a16="http://schemas.microsoft.com/office/drawing/2014/main" id="{FB2E8B33-2834-8609-4CF6-0D910415112F}"/>
              </a:ext>
            </a:extLst>
          </p:cNvPr>
          <p:cNvSpPr/>
          <p:nvPr/>
        </p:nvSpPr>
        <p:spPr>
          <a:xfrm>
            <a:off x="499440"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Total asegurados">
            <a:extLst>
              <a:ext uri="{FF2B5EF4-FFF2-40B4-BE49-F238E27FC236}">
                <a16:creationId xmlns:a16="http://schemas.microsoft.com/office/drawing/2014/main" id="{4924679E-6D6D-195C-2EF7-183E4803E53C}"/>
              </a:ext>
            </a:extLst>
          </p:cNvPr>
          <p:cNvSpPr/>
          <p:nvPr/>
        </p:nvSpPr>
        <p:spPr>
          <a:xfrm>
            <a:off x="679476" y="3582612"/>
            <a:ext cx="1959221"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Learning</a:t>
            </a:r>
          </a:p>
          <a:p>
            <a:pPr marL="171450" indent="-171450">
              <a:lnSpc>
                <a:spcPts val="1457"/>
              </a:lnSpc>
              <a:buFont typeface="Arial" panose="020B0604020202020204" pitchFamily="34" charset="0"/>
              <a:buChar char="•"/>
            </a:pPr>
            <a:r>
              <a:rPr lang="es-ES_tradnl" sz="1125" kern="0" noProof="0">
                <a:solidFill>
                  <a:schemeClr val="tx1">
                    <a:alpha val="65000"/>
                  </a:schemeClr>
                </a:solidFill>
                <a:latin typeface="Arial Regular" pitchFamily="34" charset="0"/>
                <a:ea typeface="Arial Regular" pitchFamily="34" charset="-122"/>
                <a:cs typeface="Arial Regular" pitchFamily="34" charset="-120"/>
              </a:rPr>
              <a:t>Time and Labor</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Recruiting</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36" name="Rectángulo 35">
            <a:extLst>
              <a:ext uri="{FF2B5EF4-FFF2-40B4-BE49-F238E27FC236}">
                <a16:creationId xmlns:a16="http://schemas.microsoft.com/office/drawing/2014/main" id="{3B97688B-6213-295F-BC65-4E311CDDFF6C}"/>
              </a:ext>
            </a:extLst>
          </p:cNvPr>
          <p:cNvSpPr/>
          <p:nvPr/>
        </p:nvSpPr>
        <p:spPr>
          <a:xfrm>
            <a:off x="499440" y="4686158"/>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Total asegurados">
            <a:extLst>
              <a:ext uri="{FF2B5EF4-FFF2-40B4-BE49-F238E27FC236}">
                <a16:creationId xmlns:a16="http://schemas.microsoft.com/office/drawing/2014/main" id="{1E1BDB59-B42B-09DA-9335-61DB4003A82E}"/>
              </a:ext>
            </a:extLst>
          </p:cNvPr>
          <p:cNvSpPr/>
          <p:nvPr/>
        </p:nvSpPr>
        <p:spPr>
          <a:xfrm>
            <a:off x="679476" y="4998644"/>
            <a:ext cx="1959221" cy="1061892"/>
          </a:xfrm>
          <a:prstGeom prst="rect">
            <a:avLst/>
          </a:prstGeom>
          <a:noFill/>
          <a:ln/>
        </p:spPr>
        <p:txBody>
          <a:bodyPr wrap="square" lIns="0" tIns="0" rIns="0" bIns="0" rtlCol="0" anchor="ctr"/>
          <a:lstStyle/>
          <a:p>
            <a:pPr>
              <a:lnSpc>
                <a:spcPts val="1457"/>
              </a:lnSpc>
            </a:pPr>
            <a:r>
              <a:rPr lang="es-ES_tradnl" sz="1125" b="1" kern="0" noProof="0" dirty="0">
                <a:solidFill>
                  <a:schemeClr val="tx1">
                    <a:alpha val="65000"/>
                  </a:schemeClr>
                </a:solidFill>
                <a:latin typeface="Arial Regular" pitchFamily="34" charset="0"/>
                <a:ea typeface="Arial Regular" pitchFamily="34" charset="-122"/>
                <a:cs typeface="Arial Regular" pitchFamily="34" charset="-120"/>
              </a:rPr>
              <a:t>A partir del Tercer año</a:t>
            </a:r>
          </a:p>
          <a:p>
            <a:pPr>
              <a:lnSpc>
                <a:spcPts val="1457"/>
              </a:lnSpc>
            </a:pP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dirty="0" err="1">
                <a:solidFill>
                  <a:schemeClr val="tx1">
                    <a:alpha val="65000"/>
                  </a:schemeClr>
                </a:solidFill>
                <a:latin typeface="Arial Regular" pitchFamily="34" charset="0"/>
                <a:ea typeface="Arial Regular" pitchFamily="34" charset="-122"/>
                <a:cs typeface="Arial Regular" pitchFamily="34" charset="-120"/>
              </a:rPr>
              <a:t>Analytics</a:t>
            </a:r>
            <a:endParaRPr lang="es-ES_tradnl" sz="1125" kern="0" dirty="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dirty="0" err="1">
                <a:solidFill>
                  <a:schemeClr val="tx1">
                    <a:alpha val="65000"/>
                  </a:schemeClr>
                </a:solidFill>
                <a:latin typeface="Arial Regular" pitchFamily="34" charset="0"/>
                <a:ea typeface="Arial Regular" pitchFamily="34" charset="-122"/>
                <a:cs typeface="Arial Regular" pitchFamily="34" charset="-120"/>
              </a:rPr>
              <a:t>Compensation</a:t>
            </a:r>
            <a:endParaRPr lang="es-ES_tradnl" sz="1125" kern="0" dirty="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dirty="0" err="1">
                <a:solidFill>
                  <a:schemeClr val="tx1">
                    <a:alpha val="65000"/>
                  </a:schemeClr>
                </a:solidFill>
                <a:latin typeface="Arial Regular" pitchFamily="34" charset="0"/>
                <a:ea typeface="Arial Regular" pitchFamily="34" charset="-122"/>
                <a:cs typeface="Arial Regular" pitchFamily="34" charset="-120"/>
              </a:rPr>
              <a:t>Health</a:t>
            </a:r>
            <a:r>
              <a:rPr lang="es-ES_tradnl" sz="1125" kern="0" dirty="0">
                <a:solidFill>
                  <a:schemeClr val="tx1">
                    <a:alpha val="65000"/>
                  </a:schemeClr>
                </a:solidFill>
                <a:latin typeface="Arial Regular" pitchFamily="34" charset="0"/>
                <a:ea typeface="Arial Regular" pitchFamily="34" charset="-122"/>
                <a:cs typeface="Arial Regular" pitchFamily="34" charset="-120"/>
              </a:rPr>
              <a:t> and Safety</a:t>
            </a:r>
          </a:p>
          <a:p>
            <a:pPr marL="171450" indent="-171450">
              <a:lnSpc>
                <a:spcPts val="1457"/>
              </a:lnSpc>
              <a:buFont typeface="Arial" panose="020B0604020202020204" pitchFamily="34" charset="0"/>
              <a:buChar char="•"/>
            </a:pPr>
            <a:r>
              <a:rPr lang="es-ES_tradnl" sz="1125" i="1" kern="0" dirty="0" err="1">
                <a:solidFill>
                  <a:srgbClr val="C00000">
                    <a:alpha val="65000"/>
                  </a:srgbClr>
                </a:solidFill>
                <a:latin typeface="Arial Regular" pitchFamily="34" charset="0"/>
                <a:ea typeface="Arial Regular" pitchFamily="34" charset="-122"/>
                <a:cs typeface="Arial Regular" pitchFamily="34" charset="-120"/>
              </a:rPr>
              <a:t>Help</a:t>
            </a:r>
            <a:r>
              <a:rPr lang="es-ES_tradnl" sz="1125" i="1" kern="0" dirty="0">
                <a:solidFill>
                  <a:srgbClr val="C00000">
                    <a:alpha val="65000"/>
                  </a:srgbClr>
                </a:solidFill>
                <a:latin typeface="Arial Regular" pitchFamily="34" charset="0"/>
                <a:ea typeface="Arial Regular" pitchFamily="34" charset="-122"/>
                <a:cs typeface="Arial Regular" pitchFamily="34" charset="-120"/>
              </a:rPr>
              <a:t> </a:t>
            </a:r>
            <a:r>
              <a:rPr lang="es-ES_tradnl" sz="1125" i="1" kern="0" dirty="0" err="1">
                <a:solidFill>
                  <a:srgbClr val="C00000">
                    <a:alpha val="65000"/>
                  </a:srgbClr>
                </a:solidFill>
                <a:latin typeface="Arial Regular" pitchFamily="34" charset="0"/>
                <a:ea typeface="Arial Regular" pitchFamily="34" charset="-122"/>
                <a:cs typeface="Arial Regular" pitchFamily="34" charset="-120"/>
              </a:rPr>
              <a:t>Desk</a:t>
            </a:r>
            <a:endParaRPr lang="es-ES_tradnl" sz="1125" i="1" kern="0" dirty="0">
              <a:solidFill>
                <a:srgbClr val="C00000">
                  <a:alpha val="65000"/>
                </a:srgbClr>
              </a:solidFill>
              <a:latin typeface="Arial Regular" pitchFamily="34" charset="0"/>
              <a:ea typeface="Arial Regular" pitchFamily="34" charset="-122"/>
              <a:cs typeface="Arial Regular" pitchFamily="34" charset="-120"/>
            </a:endParaRPr>
          </a:p>
          <a:p>
            <a:pPr>
              <a:lnSpc>
                <a:spcPts val="1457"/>
              </a:lnSpc>
            </a:pPr>
            <a:endParaRPr lang="es-ES_tradnl" sz="1125" kern="0" dirty="0">
              <a:solidFill>
                <a:srgbClr val="1A1A1A">
                  <a:alpha val="65000"/>
                </a:srgbClr>
              </a:solidFill>
              <a:latin typeface="Arial Regular" pitchFamily="34" charset="0"/>
              <a:ea typeface="Arial Regular" pitchFamily="34" charset="-122"/>
            </a:endParaRPr>
          </a:p>
          <a:p>
            <a:pPr>
              <a:lnSpc>
                <a:spcPts val="1457"/>
              </a:lnSpc>
            </a:pPr>
            <a:endParaRPr lang="es-ES_tradnl" sz="1125" noProof="0" dirty="0"/>
          </a:p>
        </p:txBody>
      </p:sp>
      <p:sp>
        <p:nvSpPr>
          <p:cNvPr id="39" name="Rectángulo 38">
            <a:extLst>
              <a:ext uri="{FF2B5EF4-FFF2-40B4-BE49-F238E27FC236}">
                <a16:creationId xmlns:a16="http://schemas.microsoft.com/office/drawing/2014/main" id="{0B134C4F-6AD0-779F-8C18-7212F8B2D3F1}"/>
              </a:ext>
            </a:extLst>
          </p:cNvPr>
          <p:cNvSpPr/>
          <p:nvPr/>
        </p:nvSpPr>
        <p:spPr>
          <a:xfrm>
            <a:off x="4552440"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Total asegurados">
            <a:extLst>
              <a:ext uri="{FF2B5EF4-FFF2-40B4-BE49-F238E27FC236}">
                <a16:creationId xmlns:a16="http://schemas.microsoft.com/office/drawing/2014/main" id="{22B22DE3-65CE-C0A7-A108-1A72F01DF516}"/>
              </a:ext>
            </a:extLst>
          </p:cNvPr>
          <p:cNvSpPr/>
          <p:nvPr/>
        </p:nvSpPr>
        <p:spPr>
          <a:xfrm>
            <a:off x="4732477" y="2175167"/>
            <a:ext cx="195922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42" name="Rectángulo 41">
            <a:extLst>
              <a:ext uri="{FF2B5EF4-FFF2-40B4-BE49-F238E27FC236}">
                <a16:creationId xmlns:a16="http://schemas.microsoft.com/office/drawing/2014/main" id="{008745CB-6025-B96B-8CDA-39C4E092DEB1}"/>
              </a:ext>
            </a:extLst>
          </p:cNvPr>
          <p:cNvSpPr/>
          <p:nvPr/>
        </p:nvSpPr>
        <p:spPr>
          <a:xfrm>
            <a:off x="4552440"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Total asegurados">
            <a:extLst>
              <a:ext uri="{FF2B5EF4-FFF2-40B4-BE49-F238E27FC236}">
                <a16:creationId xmlns:a16="http://schemas.microsoft.com/office/drawing/2014/main" id="{BF5FFA21-270A-C6E6-0530-7EDA31BC8463}"/>
              </a:ext>
            </a:extLst>
          </p:cNvPr>
          <p:cNvSpPr/>
          <p:nvPr/>
        </p:nvSpPr>
        <p:spPr>
          <a:xfrm>
            <a:off x="4732476" y="2928135"/>
            <a:ext cx="2860414" cy="1716369"/>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Producto Completo + 5% Innovación</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noProof="0"/>
          </a:p>
        </p:txBody>
      </p:sp>
      <p:sp>
        <p:nvSpPr>
          <p:cNvPr id="45" name="Rectángulo 44">
            <a:extLst>
              <a:ext uri="{FF2B5EF4-FFF2-40B4-BE49-F238E27FC236}">
                <a16:creationId xmlns:a16="http://schemas.microsoft.com/office/drawing/2014/main" id="{EB302D67-2AAE-EB57-27AA-B2A680FBF3F2}"/>
              </a:ext>
            </a:extLst>
          </p:cNvPr>
          <p:cNvSpPr/>
          <p:nvPr/>
        </p:nvSpPr>
        <p:spPr>
          <a:xfrm>
            <a:off x="4552440" y="4686158"/>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Total asegurados">
            <a:extLst>
              <a:ext uri="{FF2B5EF4-FFF2-40B4-BE49-F238E27FC236}">
                <a16:creationId xmlns:a16="http://schemas.microsoft.com/office/drawing/2014/main" id="{25A9C445-BBE1-D283-E88F-400362333006}"/>
              </a:ext>
            </a:extLst>
          </p:cNvPr>
          <p:cNvSpPr/>
          <p:nvPr/>
        </p:nvSpPr>
        <p:spPr>
          <a:xfrm>
            <a:off x="4732476" y="4865082"/>
            <a:ext cx="2675191" cy="1061892"/>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A partir del Tercer año</a:t>
            </a:r>
          </a:p>
          <a:p>
            <a:pPr>
              <a:lnSpc>
                <a:spcPts val="1457"/>
              </a:lnSpc>
            </a:pP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dirty="0">
                <a:solidFill>
                  <a:schemeClr val="tx1">
                    <a:alpha val="65000"/>
                  </a:schemeClr>
                </a:solidFill>
                <a:latin typeface="Arial Regular" pitchFamily="34" charset="0"/>
                <a:ea typeface="Arial Regular" pitchFamily="34" charset="-122"/>
                <a:cs typeface="Arial Regular" pitchFamily="34" charset="-120"/>
              </a:rPr>
              <a:t>Producto Completo + 5% Innovación</a:t>
            </a:r>
            <a:endParaRPr lang="es-ES_tradnl" sz="1125" kern="0" dirty="0">
              <a:solidFill>
                <a:srgbClr val="1A1A1A">
                  <a:alpha val="65000"/>
                </a:srgbClr>
              </a:solidFill>
              <a:latin typeface="Arial Regular" pitchFamily="34" charset="0"/>
              <a:ea typeface="Arial Regular" pitchFamily="34" charset="-122"/>
            </a:endParaRPr>
          </a:p>
          <a:p>
            <a:pPr>
              <a:lnSpc>
                <a:spcPts val="1457"/>
              </a:lnSpc>
            </a:pPr>
            <a:endParaRPr lang="es-ES_tradnl" sz="1125" noProof="0" dirty="0"/>
          </a:p>
        </p:txBody>
      </p:sp>
      <p:sp>
        <p:nvSpPr>
          <p:cNvPr id="48" name="Rectángulo 47">
            <a:extLst>
              <a:ext uri="{FF2B5EF4-FFF2-40B4-BE49-F238E27FC236}">
                <a16:creationId xmlns:a16="http://schemas.microsoft.com/office/drawing/2014/main" id="{B1129429-AA90-7CA2-69FE-6FCA38FA0907}"/>
              </a:ext>
            </a:extLst>
          </p:cNvPr>
          <p:cNvSpPr/>
          <p:nvPr/>
        </p:nvSpPr>
        <p:spPr>
          <a:xfrm>
            <a:off x="8445472" y="1862681"/>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Total asegurados">
            <a:extLst>
              <a:ext uri="{FF2B5EF4-FFF2-40B4-BE49-F238E27FC236}">
                <a16:creationId xmlns:a16="http://schemas.microsoft.com/office/drawing/2014/main" id="{6184BD23-CCE2-300A-0B56-D86FD4311063}"/>
              </a:ext>
            </a:extLst>
          </p:cNvPr>
          <p:cNvSpPr/>
          <p:nvPr/>
        </p:nvSpPr>
        <p:spPr>
          <a:xfrm>
            <a:off x="8625509" y="2175167"/>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Primer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noProof="0">
                <a:solidFill>
                  <a:schemeClr val="tx1">
                    <a:alpha val="65000"/>
                  </a:schemeClr>
                </a:solidFill>
                <a:latin typeface="Arial Regular" pitchFamily="34" charset="0"/>
                <a:ea typeface="Arial Regular" pitchFamily="34" charset="-122"/>
                <a:cs typeface="Arial Regular" pitchFamily="34" charset="-120"/>
              </a:rPr>
              <a:t>Core HR</a:t>
            </a:r>
          </a:p>
          <a:p>
            <a:pPr marL="171450" indent="-171450">
              <a:lnSpc>
                <a:spcPts val="1457"/>
              </a:lnSpc>
              <a:buFont typeface="Arial" panose="020B0604020202020204" pitchFamily="34" charset="0"/>
              <a:buChar char="•"/>
            </a:pPr>
            <a:r>
              <a:rPr lang="es-ES_tradnl" sz="1125" kern="0" noProof="0">
                <a:solidFill>
                  <a:schemeClr val="tx1">
                    <a:alpha val="65000"/>
                  </a:schemeClr>
                </a:solidFill>
                <a:latin typeface="Arial Regular" pitchFamily="34" charset="0"/>
                <a:ea typeface="Arial Regular" pitchFamily="34" charset="-122"/>
                <a:cs typeface="Arial Regular" pitchFamily="34" charset="-120"/>
              </a:rPr>
              <a:t>Integration Suit</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Performance and Goat</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Carrier and Talent</a:t>
            </a:r>
          </a:p>
          <a:p>
            <a:pPr>
              <a:lnSpc>
                <a:spcPts val="1457"/>
              </a:lnSpc>
            </a:pP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sp>
        <p:nvSpPr>
          <p:cNvPr id="51" name="Rectángulo 50">
            <a:extLst>
              <a:ext uri="{FF2B5EF4-FFF2-40B4-BE49-F238E27FC236}">
                <a16:creationId xmlns:a16="http://schemas.microsoft.com/office/drawing/2014/main" id="{C83823CA-6F13-A7A2-2CE0-67F82B6D7D07}"/>
              </a:ext>
            </a:extLst>
          </p:cNvPr>
          <p:cNvSpPr/>
          <p:nvPr/>
        </p:nvSpPr>
        <p:spPr>
          <a:xfrm>
            <a:off x="8445472" y="3270126"/>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Total asegurados">
            <a:extLst>
              <a:ext uri="{FF2B5EF4-FFF2-40B4-BE49-F238E27FC236}">
                <a16:creationId xmlns:a16="http://schemas.microsoft.com/office/drawing/2014/main" id="{6DFCCF26-137F-6D94-F672-E140505C6124}"/>
              </a:ext>
            </a:extLst>
          </p:cNvPr>
          <p:cNvSpPr/>
          <p:nvPr/>
        </p:nvSpPr>
        <p:spPr>
          <a:xfrm>
            <a:off x="8625509" y="3387406"/>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Segundo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Learning</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Onboarding</a:t>
            </a: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Recruiting</a:t>
            </a:r>
          </a:p>
          <a:p>
            <a:pPr marL="171450" indent="-171450">
              <a:lnSpc>
                <a:spcPts val="1457"/>
              </a:lnSpc>
              <a:buFont typeface="Arial" panose="020B0604020202020204" pitchFamily="34" charset="0"/>
              <a:buChar char="•"/>
            </a:pPr>
            <a:endParaRPr lang="es-ES_tradnl" sz="1125" kern="0">
              <a:solidFill>
                <a:schemeClr val="tx1">
                  <a:alpha val="65000"/>
                </a:schemeClr>
              </a:solidFill>
              <a:latin typeface="Arial Regular" pitchFamily="34" charset="0"/>
              <a:ea typeface="Arial Regular" pitchFamily="34" charset="-122"/>
              <a:cs typeface="Arial Regular" pitchFamily="34" charset="-120"/>
            </a:endParaRPr>
          </a:p>
        </p:txBody>
      </p:sp>
      <p:sp>
        <p:nvSpPr>
          <p:cNvPr id="54" name="Rectángulo 53">
            <a:extLst>
              <a:ext uri="{FF2B5EF4-FFF2-40B4-BE49-F238E27FC236}">
                <a16:creationId xmlns:a16="http://schemas.microsoft.com/office/drawing/2014/main" id="{E2A10AE2-0D51-EDFD-522F-F10B8D71C7A9}"/>
              </a:ext>
            </a:extLst>
          </p:cNvPr>
          <p:cNvSpPr/>
          <p:nvPr/>
        </p:nvSpPr>
        <p:spPr>
          <a:xfrm>
            <a:off x="8445472" y="4686158"/>
            <a:ext cx="3480477"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Total asegurados">
            <a:extLst>
              <a:ext uri="{FF2B5EF4-FFF2-40B4-BE49-F238E27FC236}">
                <a16:creationId xmlns:a16="http://schemas.microsoft.com/office/drawing/2014/main" id="{BD0E64A2-50A8-0AFC-37F1-08B719AB6131}"/>
              </a:ext>
            </a:extLst>
          </p:cNvPr>
          <p:cNvSpPr/>
          <p:nvPr/>
        </p:nvSpPr>
        <p:spPr>
          <a:xfrm>
            <a:off x="8625509" y="4721243"/>
            <a:ext cx="1834992" cy="1061892"/>
          </a:xfrm>
          <a:prstGeom prst="rect">
            <a:avLst/>
          </a:prstGeom>
          <a:noFill/>
          <a:ln/>
        </p:spPr>
        <p:txBody>
          <a:bodyPr wrap="square" lIns="0" tIns="0" rIns="0" bIns="0" rtlCol="0" anchor="ctr"/>
          <a:lstStyle/>
          <a:p>
            <a:pPr>
              <a:lnSpc>
                <a:spcPts val="1457"/>
              </a:lnSpc>
            </a:pPr>
            <a:r>
              <a:rPr lang="es-ES_tradnl" sz="1125" b="1" kern="0" noProof="0">
                <a:solidFill>
                  <a:schemeClr val="tx1">
                    <a:alpha val="65000"/>
                  </a:schemeClr>
                </a:solidFill>
                <a:latin typeface="Arial Regular" pitchFamily="34" charset="0"/>
                <a:ea typeface="Arial Regular" pitchFamily="34" charset="-122"/>
                <a:cs typeface="Arial Regular" pitchFamily="34" charset="-120"/>
              </a:rPr>
              <a:t>Tercer año</a:t>
            </a:r>
          </a:p>
          <a:p>
            <a:pPr>
              <a:lnSpc>
                <a:spcPts val="1457"/>
              </a:lnSpc>
            </a:pPr>
            <a:endParaRPr lang="es-ES_tradnl" sz="1125" b="1" kern="0" noProof="0">
              <a:solidFill>
                <a:schemeClr val="tx1">
                  <a:alpha val="65000"/>
                </a:schemeClr>
              </a:solidFill>
              <a:latin typeface="Arial Regular" pitchFamily="34" charset="0"/>
              <a:ea typeface="Arial Regular" pitchFamily="34" charset="-122"/>
              <a:cs typeface="Arial Regular" pitchFamily="34" charset="-120"/>
            </a:endParaRPr>
          </a:p>
          <a:p>
            <a:pPr marL="171450" indent="-171450">
              <a:lnSpc>
                <a:spcPts val="1457"/>
              </a:lnSpc>
              <a:buFont typeface="Arial" panose="020B0604020202020204" pitchFamily="34" charset="0"/>
              <a:buChar char="•"/>
            </a:pPr>
            <a:r>
              <a:rPr lang="es-ES_tradnl" sz="1125" kern="0">
                <a:solidFill>
                  <a:schemeClr val="tx1">
                    <a:alpha val="65000"/>
                  </a:schemeClr>
                </a:solidFill>
                <a:latin typeface="Arial Regular" pitchFamily="34" charset="0"/>
                <a:ea typeface="Arial Regular" pitchFamily="34" charset="-122"/>
                <a:cs typeface="Arial Regular" pitchFamily="34" charset="-120"/>
              </a:rPr>
              <a:t>Compensation</a:t>
            </a:r>
            <a:endParaRPr lang="es-ES_tradnl" sz="1125" kern="0" noProof="0">
              <a:solidFill>
                <a:schemeClr val="tx1">
                  <a:alpha val="65000"/>
                </a:schemeClr>
              </a:solidFill>
              <a:latin typeface="Arial Regular" pitchFamily="34" charset="0"/>
              <a:ea typeface="Arial Regular" pitchFamily="34" charset="-122"/>
              <a:cs typeface="Arial Regular" pitchFamily="34" charset="-120"/>
            </a:endParaRPr>
          </a:p>
          <a:p>
            <a:pPr>
              <a:lnSpc>
                <a:spcPts val="1457"/>
              </a:lnSpc>
            </a:pPr>
            <a:endParaRPr lang="es-ES_tradnl" sz="1125" kern="0">
              <a:solidFill>
                <a:srgbClr val="1A1A1A">
                  <a:alpha val="65000"/>
                </a:srgbClr>
              </a:solidFill>
              <a:latin typeface="Arial Regular" pitchFamily="34" charset="0"/>
              <a:ea typeface="Arial Regular" pitchFamily="34" charset="-122"/>
            </a:endParaRPr>
          </a:p>
          <a:p>
            <a:pPr>
              <a:lnSpc>
                <a:spcPts val="1457"/>
              </a:lnSpc>
            </a:pPr>
            <a:endParaRPr lang="es-ES_tradnl" sz="1125" noProof="0"/>
          </a:p>
        </p:txBody>
      </p:sp>
      <p:pic>
        <p:nvPicPr>
          <p:cNvPr id="57" name="Gráfico 56" descr="Impuestos con relleno sólido">
            <a:extLst>
              <a:ext uri="{FF2B5EF4-FFF2-40B4-BE49-F238E27FC236}">
                <a16:creationId xmlns:a16="http://schemas.microsoft.com/office/drawing/2014/main" id="{1C829F76-E8BD-C155-EFAF-633F6423456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92890" y="1245575"/>
            <a:ext cx="385528" cy="385528"/>
          </a:xfrm>
          <a:prstGeom prst="rect">
            <a:avLst/>
          </a:prstGeom>
        </p:spPr>
      </p:pic>
      <p:pic>
        <p:nvPicPr>
          <p:cNvPr id="58" name="Gráfico 57" descr="Impuestos con relleno sólido">
            <a:extLst>
              <a:ext uri="{FF2B5EF4-FFF2-40B4-BE49-F238E27FC236}">
                <a16:creationId xmlns:a16="http://schemas.microsoft.com/office/drawing/2014/main" id="{7BA3A087-9E59-ED32-F9E3-1C1857B61B7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529158" y="1239748"/>
            <a:ext cx="385528" cy="385528"/>
          </a:xfrm>
          <a:prstGeom prst="rect">
            <a:avLst/>
          </a:prstGeom>
        </p:spPr>
      </p:pic>
      <p:sp>
        <p:nvSpPr>
          <p:cNvPr id="61" name="name_907K">
            <a:extLst>
              <a:ext uri="{FF2B5EF4-FFF2-40B4-BE49-F238E27FC236}">
                <a16:creationId xmlns:a16="http://schemas.microsoft.com/office/drawing/2014/main" id="{B388A389-1603-2329-7B8C-4740D019F8F3}"/>
              </a:ext>
            </a:extLst>
          </p:cNvPr>
          <p:cNvSpPr/>
          <p:nvPr/>
        </p:nvSpPr>
        <p:spPr>
          <a:xfrm>
            <a:off x="7104254" y="261015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501 K</a:t>
            </a:r>
            <a:endParaRPr lang="en-US" sz="2400" spc="-75"/>
          </a:p>
        </p:txBody>
      </p:sp>
      <p:sp>
        <p:nvSpPr>
          <p:cNvPr id="62" name="name_907K">
            <a:extLst>
              <a:ext uri="{FF2B5EF4-FFF2-40B4-BE49-F238E27FC236}">
                <a16:creationId xmlns:a16="http://schemas.microsoft.com/office/drawing/2014/main" id="{E8085432-55B3-FA40-6C5F-C171D269618F}"/>
              </a:ext>
            </a:extLst>
          </p:cNvPr>
          <p:cNvSpPr/>
          <p:nvPr/>
        </p:nvSpPr>
        <p:spPr>
          <a:xfrm>
            <a:off x="7139108" y="4063649"/>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511 K</a:t>
            </a:r>
            <a:endParaRPr lang="en-US" sz="2400" spc="-75"/>
          </a:p>
        </p:txBody>
      </p:sp>
      <p:sp>
        <p:nvSpPr>
          <p:cNvPr id="63" name="name_907K">
            <a:extLst>
              <a:ext uri="{FF2B5EF4-FFF2-40B4-BE49-F238E27FC236}">
                <a16:creationId xmlns:a16="http://schemas.microsoft.com/office/drawing/2014/main" id="{13497F3D-B078-80C9-B2AA-218D4787419A}"/>
              </a:ext>
            </a:extLst>
          </p:cNvPr>
          <p:cNvSpPr/>
          <p:nvPr/>
        </p:nvSpPr>
        <p:spPr>
          <a:xfrm>
            <a:off x="7160061" y="5443725"/>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521 K</a:t>
            </a:r>
            <a:endParaRPr lang="en-US" sz="2400" spc="-75"/>
          </a:p>
        </p:txBody>
      </p:sp>
      <p:sp>
        <p:nvSpPr>
          <p:cNvPr id="67" name="Total asegurados">
            <a:extLst>
              <a:ext uri="{FF2B5EF4-FFF2-40B4-BE49-F238E27FC236}">
                <a16:creationId xmlns:a16="http://schemas.microsoft.com/office/drawing/2014/main" id="{651C1E6C-AB3F-D247-E17D-01348B82FC7D}"/>
              </a:ext>
            </a:extLst>
          </p:cNvPr>
          <p:cNvSpPr/>
          <p:nvPr/>
        </p:nvSpPr>
        <p:spPr>
          <a:xfrm>
            <a:off x="3117108" y="1384421"/>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68" name="Total asegurados">
            <a:extLst>
              <a:ext uri="{FF2B5EF4-FFF2-40B4-BE49-F238E27FC236}">
                <a16:creationId xmlns:a16="http://schemas.microsoft.com/office/drawing/2014/main" id="{938DDA5D-9D05-5841-CF51-8480A3243547}"/>
              </a:ext>
            </a:extLst>
          </p:cNvPr>
          <p:cNvSpPr/>
          <p:nvPr/>
        </p:nvSpPr>
        <p:spPr>
          <a:xfrm>
            <a:off x="7090349" y="1396329"/>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69" name="Total asegurados">
            <a:extLst>
              <a:ext uri="{FF2B5EF4-FFF2-40B4-BE49-F238E27FC236}">
                <a16:creationId xmlns:a16="http://schemas.microsoft.com/office/drawing/2014/main" id="{D81EBBA7-0DA6-4FFB-571C-484D19298FFC}"/>
              </a:ext>
            </a:extLst>
          </p:cNvPr>
          <p:cNvSpPr/>
          <p:nvPr/>
        </p:nvSpPr>
        <p:spPr>
          <a:xfrm>
            <a:off x="11061955" y="1383218"/>
            <a:ext cx="801154" cy="155766"/>
          </a:xfrm>
          <a:prstGeom prst="rect">
            <a:avLst/>
          </a:prstGeom>
          <a:noFill/>
          <a:ln/>
        </p:spPr>
        <p:txBody>
          <a:bodyPr wrap="square" lIns="0" tIns="0" rIns="0" bIns="0" rtlCol="0" anchor="ctr"/>
          <a:lstStyle/>
          <a:p>
            <a:pPr>
              <a:lnSpc>
                <a:spcPts val="1457"/>
              </a:lnSpc>
            </a:pPr>
            <a:r>
              <a:rPr lang="es-ES_tradnl" sz="1125" i="1" kern="0" noProof="0">
                <a:solidFill>
                  <a:srgbClr val="1A1A1A">
                    <a:alpha val="65000"/>
                  </a:srgbClr>
                </a:solidFill>
                <a:latin typeface="Arial Regular" pitchFamily="34" charset="0"/>
                <a:ea typeface="Arial Regular" pitchFamily="34" charset="-122"/>
                <a:cs typeface="Arial Regular" pitchFamily="34" charset="-120"/>
              </a:rPr>
              <a:t>Total 3 años</a:t>
            </a:r>
            <a:endParaRPr lang="es-ES_tradnl" sz="1125" i="1" noProof="0"/>
          </a:p>
        </p:txBody>
      </p:sp>
      <p:sp>
        <p:nvSpPr>
          <p:cNvPr id="4" name="Rectángulo 3">
            <a:extLst>
              <a:ext uri="{FF2B5EF4-FFF2-40B4-BE49-F238E27FC236}">
                <a16:creationId xmlns:a16="http://schemas.microsoft.com/office/drawing/2014/main" id="{9671AA2A-D50C-A1A5-924D-D409619AE6CE}"/>
              </a:ext>
            </a:extLst>
          </p:cNvPr>
          <p:cNvSpPr/>
          <p:nvPr/>
        </p:nvSpPr>
        <p:spPr>
          <a:xfrm rot="21340932">
            <a:off x="9764134" y="239403"/>
            <a:ext cx="1476686" cy="400110"/>
          </a:xfrm>
          <a:prstGeom prst="rect">
            <a:avLst/>
          </a:prstGeom>
          <a:noFill/>
          <a:ln w="19050">
            <a:solidFill>
              <a:srgbClr val="C00000"/>
            </a:solidFill>
          </a:ln>
          <a:effectLst>
            <a:outerShdw blurRad="50800" dist="38100" dir="5400000" algn="t" rotWithShape="0">
              <a:prstClr val="black">
                <a:alpha val="40000"/>
              </a:prstClr>
            </a:outerShdw>
          </a:effectLst>
        </p:spPr>
        <p:txBody>
          <a:bodyPr wrap="none" lIns="91440" tIns="45720" rIns="91440" bIns="45720">
            <a:spAutoFit/>
          </a:bodyPr>
          <a:lstStyle/>
          <a:p>
            <a:pPr algn="ctr"/>
            <a:r>
              <a:rPr lang="es-ES" sz="2000" b="0" cap="none" spc="0">
                <a:ln w="0"/>
                <a:solidFill>
                  <a:schemeClr val="tx1"/>
                </a:solidFill>
                <a:effectLst>
                  <a:outerShdw blurRad="38100" dist="19050" dir="2700000" algn="tl" rotWithShape="0">
                    <a:schemeClr val="dk1">
                      <a:alpha val="40000"/>
                    </a:schemeClr>
                  </a:outerShdw>
                </a:effectLst>
              </a:rPr>
              <a:t>Escenario 2</a:t>
            </a:r>
          </a:p>
        </p:txBody>
      </p:sp>
      <p:sp>
        <p:nvSpPr>
          <p:cNvPr id="6" name="name_907K">
            <a:extLst>
              <a:ext uri="{FF2B5EF4-FFF2-40B4-BE49-F238E27FC236}">
                <a16:creationId xmlns:a16="http://schemas.microsoft.com/office/drawing/2014/main" id="{49D44BF5-034C-A6ED-EE96-8D6D0EEEBF01}"/>
              </a:ext>
            </a:extLst>
          </p:cNvPr>
          <p:cNvSpPr/>
          <p:nvPr/>
        </p:nvSpPr>
        <p:spPr>
          <a:xfrm>
            <a:off x="1941817" y="3650210"/>
            <a:ext cx="1845746" cy="892188"/>
          </a:xfrm>
          <a:prstGeom prst="rect">
            <a:avLst/>
          </a:prstGeom>
          <a:noFill/>
          <a:ln/>
        </p:spPr>
        <p:txBody>
          <a:bodyPr wrap="square" lIns="0" tIns="0" rIns="0" bIns="0" rtlCol="0" anchor="ctr"/>
          <a:lstStyle/>
          <a:p>
            <a:pPr algn="r">
              <a:lnSpc>
                <a:spcPts val="2500"/>
              </a:lnSpc>
            </a:pPr>
            <a:r>
              <a:rPr lang="en-US" sz="1100" i="1" kern="0" spc="-75">
                <a:solidFill>
                  <a:schemeClr val="accent1"/>
                </a:solidFill>
                <a:latin typeface="Arial Regular" pitchFamily="34" charset="0"/>
                <a:ea typeface="Arial Regular" pitchFamily="34" charset="-122"/>
                <a:cs typeface="Arial Regular" pitchFamily="34" charset="-120"/>
              </a:rPr>
              <a:t>112</a:t>
            </a:r>
            <a:r>
              <a:rPr lang="en-US" sz="1100" kern="0" spc="-75">
                <a:solidFill>
                  <a:schemeClr val="accent1"/>
                </a:solidFill>
                <a:latin typeface="Arial Regular" pitchFamily="34" charset="0"/>
                <a:ea typeface="Arial Regular" pitchFamily="34" charset="-122"/>
                <a:cs typeface="Arial Regular" pitchFamily="34" charset="-120"/>
              </a:rPr>
              <a:t> K </a:t>
            </a:r>
            <a:r>
              <a:rPr lang="en-US" sz="1100" kern="0" spc="-75">
                <a:solidFill>
                  <a:srgbClr val="1A1A1A"/>
                </a:solidFill>
                <a:latin typeface="Arial Regular" pitchFamily="34" charset="0"/>
                <a:ea typeface="Arial Regular" pitchFamily="34" charset="-122"/>
                <a:cs typeface="Arial Regular" pitchFamily="34" charset="-120"/>
              </a:rPr>
              <a:t>+25 K + 15 K + 41 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193 K</a:t>
            </a:r>
            <a:endParaRPr lang="en-US" sz="2400" spc="-75"/>
          </a:p>
        </p:txBody>
      </p:sp>
      <p:sp>
        <p:nvSpPr>
          <p:cNvPr id="7" name="name_907K">
            <a:extLst>
              <a:ext uri="{FF2B5EF4-FFF2-40B4-BE49-F238E27FC236}">
                <a16:creationId xmlns:a16="http://schemas.microsoft.com/office/drawing/2014/main" id="{4F56C6F5-9490-C3AB-ED52-F1503ADAD669}"/>
              </a:ext>
            </a:extLst>
          </p:cNvPr>
          <p:cNvSpPr/>
          <p:nvPr/>
        </p:nvSpPr>
        <p:spPr>
          <a:xfrm>
            <a:off x="1937367" y="5055120"/>
            <a:ext cx="1845746" cy="892188"/>
          </a:xfrm>
          <a:prstGeom prst="rect">
            <a:avLst/>
          </a:prstGeom>
          <a:noFill/>
          <a:ln/>
        </p:spPr>
        <p:txBody>
          <a:bodyPr wrap="square" lIns="0" tIns="0" rIns="0" bIns="0" rtlCol="0" anchor="ctr"/>
          <a:lstStyle/>
          <a:p>
            <a:pPr algn="r">
              <a:lnSpc>
                <a:spcPts val="2500"/>
              </a:lnSpc>
            </a:pPr>
            <a:r>
              <a:rPr lang="en-US" sz="1100" i="1" kern="0" spc="-75">
                <a:solidFill>
                  <a:schemeClr val="accent1"/>
                </a:solidFill>
                <a:latin typeface="Arial Regular" pitchFamily="34" charset="0"/>
                <a:ea typeface="Arial Regular" pitchFamily="34" charset="-122"/>
                <a:cs typeface="Arial Regular" pitchFamily="34" charset="-120"/>
              </a:rPr>
              <a:t>193</a:t>
            </a:r>
            <a:r>
              <a:rPr lang="en-US" sz="1100" kern="0" spc="-75">
                <a:solidFill>
                  <a:schemeClr val="accent1"/>
                </a:solidFill>
                <a:latin typeface="Arial Regular" pitchFamily="34" charset="0"/>
                <a:ea typeface="Arial Regular" pitchFamily="34" charset="-122"/>
                <a:cs typeface="Arial Regular" pitchFamily="34" charset="-120"/>
              </a:rPr>
              <a:t> K </a:t>
            </a:r>
            <a:r>
              <a:rPr lang="en-US" sz="1100" kern="0" spc="-75">
                <a:solidFill>
                  <a:srgbClr val="1A1A1A"/>
                </a:solidFill>
                <a:latin typeface="Arial Regular" pitchFamily="34" charset="0"/>
                <a:ea typeface="Arial Regular" pitchFamily="34" charset="-122"/>
                <a:cs typeface="Arial Regular" pitchFamily="34" charset="-120"/>
              </a:rPr>
              <a:t>+ 25 K + 20 K + 10K + </a:t>
            </a:r>
            <a:r>
              <a:rPr lang="en-US" sz="1100" kern="0" spc="-75">
                <a:solidFill>
                  <a:srgbClr val="C00000"/>
                </a:solidFill>
                <a:latin typeface="Arial Regular" pitchFamily="34" charset="0"/>
                <a:ea typeface="Arial Regular" pitchFamily="34" charset="-122"/>
                <a:cs typeface="Arial Regular" pitchFamily="34" charset="-120"/>
              </a:rPr>
              <a:t>20 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269 K</a:t>
            </a:r>
            <a:endParaRPr lang="en-US" sz="2400" spc="-75"/>
          </a:p>
        </p:txBody>
      </p:sp>
      <p:sp>
        <p:nvSpPr>
          <p:cNvPr id="8" name="name_907K">
            <a:extLst>
              <a:ext uri="{FF2B5EF4-FFF2-40B4-BE49-F238E27FC236}">
                <a16:creationId xmlns:a16="http://schemas.microsoft.com/office/drawing/2014/main" id="{BF958E75-CABF-F154-4CD9-D655DDAEF70D}"/>
              </a:ext>
            </a:extLst>
          </p:cNvPr>
          <p:cNvSpPr/>
          <p:nvPr/>
        </p:nvSpPr>
        <p:spPr>
          <a:xfrm>
            <a:off x="9686669" y="2167790"/>
            <a:ext cx="2005891" cy="892188"/>
          </a:xfrm>
          <a:prstGeom prst="rect">
            <a:avLst/>
          </a:prstGeom>
          <a:noFill/>
          <a:ln/>
        </p:spPr>
        <p:txBody>
          <a:bodyPr wrap="square" lIns="0" tIns="0" rIns="0" bIns="0" rtlCol="0" anchor="ctr"/>
          <a:lstStyle/>
          <a:p>
            <a:pPr algn="r">
              <a:lnSpc>
                <a:spcPts val="2500"/>
              </a:lnSpc>
            </a:pPr>
            <a:r>
              <a:rPr lang="en-US" sz="1100" kern="0" spc="-75">
                <a:solidFill>
                  <a:srgbClr val="1A1A1A"/>
                </a:solidFill>
                <a:latin typeface="Arial Regular" pitchFamily="34" charset="0"/>
                <a:ea typeface="Arial Regular" pitchFamily="34" charset="-122"/>
                <a:cs typeface="Arial Regular" pitchFamily="34" charset="-120"/>
              </a:rPr>
              <a:t>56 K + 27 K + 34 K + 34 K + 30K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181 K</a:t>
            </a:r>
            <a:endParaRPr lang="en-US" sz="2400" spc="-75"/>
          </a:p>
        </p:txBody>
      </p:sp>
      <p:sp>
        <p:nvSpPr>
          <p:cNvPr id="9" name="name_907K">
            <a:extLst>
              <a:ext uri="{FF2B5EF4-FFF2-40B4-BE49-F238E27FC236}">
                <a16:creationId xmlns:a16="http://schemas.microsoft.com/office/drawing/2014/main" id="{A2DAD160-50CA-B882-6175-BD0FD0758D78}"/>
              </a:ext>
            </a:extLst>
          </p:cNvPr>
          <p:cNvSpPr/>
          <p:nvPr/>
        </p:nvSpPr>
        <p:spPr>
          <a:xfrm>
            <a:off x="9890054" y="3628661"/>
            <a:ext cx="1845746" cy="892188"/>
          </a:xfrm>
          <a:prstGeom prst="rect">
            <a:avLst/>
          </a:prstGeom>
          <a:noFill/>
          <a:ln/>
        </p:spPr>
        <p:txBody>
          <a:bodyPr wrap="square" lIns="0" tIns="0" rIns="0" bIns="0" rtlCol="0" anchor="ctr"/>
          <a:lstStyle/>
          <a:p>
            <a:pPr algn="r">
              <a:lnSpc>
                <a:spcPts val="2500"/>
              </a:lnSpc>
            </a:pPr>
            <a:r>
              <a:rPr lang="en-US" sz="1100" kern="0" spc="-75">
                <a:solidFill>
                  <a:schemeClr val="accent1"/>
                </a:solidFill>
                <a:latin typeface="Arial Regular" pitchFamily="34" charset="0"/>
                <a:ea typeface="Arial Regular" pitchFamily="34" charset="-122"/>
                <a:cs typeface="Arial Regular" pitchFamily="34" charset="-120"/>
              </a:rPr>
              <a:t>177 K</a:t>
            </a:r>
            <a:r>
              <a:rPr lang="en-US" sz="1100" kern="0" spc="-75">
                <a:solidFill>
                  <a:srgbClr val="1A1A1A"/>
                </a:solidFill>
                <a:latin typeface="Arial Regular" pitchFamily="34" charset="0"/>
                <a:ea typeface="Arial Regular" pitchFamily="34" charset="-122"/>
                <a:cs typeface="Arial Regular" pitchFamily="34" charset="-120"/>
              </a:rPr>
              <a:t> +  22 K + 12 K + 32 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243 K</a:t>
            </a:r>
            <a:endParaRPr lang="en-US" sz="2400" spc="-75"/>
          </a:p>
        </p:txBody>
      </p:sp>
      <p:sp>
        <p:nvSpPr>
          <p:cNvPr id="10" name="name_907K">
            <a:extLst>
              <a:ext uri="{FF2B5EF4-FFF2-40B4-BE49-F238E27FC236}">
                <a16:creationId xmlns:a16="http://schemas.microsoft.com/office/drawing/2014/main" id="{B7806240-6BD6-697D-CC6B-3372CB4165E5}"/>
              </a:ext>
            </a:extLst>
          </p:cNvPr>
          <p:cNvSpPr/>
          <p:nvPr/>
        </p:nvSpPr>
        <p:spPr>
          <a:xfrm>
            <a:off x="9835252" y="5075755"/>
            <a:ext cx="1845746" cy="892188"/>
          </a:xfrm>
          <a:prstGeom prst="rect">
            <a:avLst/>
          </a:prstGeom>
          <a:noFill/>
          <a:ln/>
        </p:spPr>
        <p:txBody>
          <a:bodyPr wrap="square" lIns="0" tIns="0" rIns="0" bIns="0" rtlCol="0" anchor="ctr"/>
          <a:lstStyle/>
          <a:p>
            <a:pPr algn="r">
              <a:lnSpc>
                <a:spcPts val="2500"/>
              </a:lnSpc>
            </a:pPr>
            <a:r>
              <a:rPr lang="en-US" sz="1100" kern="0" spc="-75">
                <a:solidFill>
                  <a:schemeClr val="accent1"/>
                </a:solidFill>
                <a:latin typeface="Arial Regular" pitchFamily="34" charset="0"/>
                <a:ea typeface="Arial Regular" pitchFamily="34" charset="-122"/>
                <a:cs typeface="Arial Regular" pitchFamily="34" charset="-120"/>
              </a:rPr>
              <a:t>243 K</a:t>
            </a:r>
            <a:r>
              <a:rPr lang="en-US" sz="1100" kern="0" spc="-75">
                <a:solidFill>
                  <a:srgbClr val="1A1A1A"/>
                </a:solidFill>
                <a:latin typeface="Arial Regular" pitchFamily="34" charset="0"/>
                <a:ea typeface="Arial Regular" pitchFamily="34" charset="-122"/>
                <a:cs typeface="Arial Regular" pitchFamily="34" charset="-120"/>
              </a:rPr>
              <a:t> +  19  K</a:t>
            </a:r>
          </a:p>
          <a:p>
            <a:pPr algn="r">
              <a:lnSpc>
                <a:spcPts val="2500"/>
              </a:lnSpc>
            </a:pPr>
            <a:r>
              <a:rPr lang="en-US" sz="2400" kern="0" spc="-75">
                <a:solidFill>
                  <a:srgbClr val="1A1A1A"/>
                </a:solidFill>
                <a:latin typeface="Arial Regular" pitchFamily="34" charset="0"/>
                <a:ea typeface="Arial Regular" pitchFamily="34" charset="-122"/>
                <a:cs typeface="Arial Regular" pitchFamily="34" charset="-120"/>
              </a:rPr>
              <a:t>262 K</a:t>
            </a:r>
            <a:endParaRPr lang="en-US" sz="2400" spc="-75"/>
          </a:p>
        </p:txBody>
      </p:sp>
    </p:spTree>
    <p:extLst>
      <p:ext uri="{BB962C8B-B14F-4D97-AF65-F5344CB8AC3E}">
        <p14:creationId xmlns:p14="http://schemas.microsoft.com/office/powerpoint/2010/main" val="4264199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06E10-4103-BB64-19B4-ADB34CD7DF3B}"/>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74715DFE-80D5-C5BB-A1EC-34F679E86C35}"/>
              </a:ext>
            </a:extLst>
          </p:cNvPr>
          <p:cNvSpPr>
            <a:spLocks noGrp="1"/>
          </p:cNvSpPr>
          <p:nvPr>
            <p:ph type="body" sz="quarter" idx="10"/>
          </p:nvPr>
        </p:nvSpPr>
        <p:spPr>
          <a:xfrm>
            <a:off x="84080" y="184382"/>
            <a:ext cx="9667087" cy="712215"/>
          </a:xfrm>
        </p:spPr>
        <p:txBody>
          <a:bodyPr>
            <a:noAutofit/>
          </a:bodyPr>
          <a:lstStyle/>
          <a:p>
            <a:pPr>
              <a:lnSpc>
                <a:spcPct val="100000"/>
              </a:lnSpc>
            </a:pPr>
            <a:r>
              <a:rPr lang="es-ES" sz="4400" kern="0" spc="-100" noProof="0" dirty="0">
                <a:latin typeface="Arial Regular" pitchFamily="34" charset="0"/>
                <a:ea typeface="Arial Regular" pitchFamily="34" charset="-122"/>
                <a:cs typeface="Arial Regular" pitchFamily="34" charset="-120"/>
              </a:rPr>
              <a:t>Anexo de licencias</a:t>
            </a:r>
            <a:r>
              <a:rPr lang="es-ES" sz="4400" kern="0" spc="-100" dirty="0">
                <a:latin typeface="Arial Regular" pitchFamily="34" charset="0"/>
                <a:ea typeface="Arial Regular" pitchFamily="34" charset="-122"/>
                <a:cs typeface="Arial Regular" pitchFamily="34" charset="-120"/>
              </a:rPr>
              <a:t> Producto Completo</a:t>
            </a:r>
          </a:p>
          <a:p>
            <a:pPr>
              <a:lnSpc>
                <a:spcPct val="100000"/>
              </a:lnSpc>
            </a:pPr>
            <a:endParaRPr lang="es-ES" sz="2000" b="1" spc="-100" noProof="0" dirty="0"/>
          </a:p>
        </p:txBody>
      </p:sp>
      <p:sp>
        <p:nvSpPr>
          <p:cNvPr id="5" name="Marcador de texto 4">
            <a:extLst>
              <a:ext uri="{FF2B5EF4-FFF2-40B4-BE49-F238E27FC236}">
                <a16:creationId xmlns:a16="http://schemas.microsoft.com/office/drawing/2014/main" id="{1C94C177-4B7C-45D4-1C00-7C162B04A302}"/>
              </a:ext>
            </a:extLst>
          </p:cNvPr>
          <p:cNvSpPr>
            <a:spLocks noGrp="1"/>
          </p:cNvSpPr>
          <p:nvPr>
            <p:ph type="body" sz="quarter" idx="13"/>
          </p:nvPr>
        </p:nvSpPr>
        <p:spPr/>
        <p:txBody>
          <a:bodyPr/>
          <a:lstStyle/>
          <a:p>
            <a:r>
              <a:rPr lang="es-ES" spc="-67"/>
              <a:t>Conclusiones Defensas RFI Proyecto HCM</a:t>
            </a:r>
          </a:p>
        </p:txBody>
      </p:sp>
      <p:sp>
        <p:nvSpPr>
          <p:cNvPr id="11" name="Rectángulo 10">
            <a:extLst>
              <a:ext uri="{FF2B5EF4-FFF2-40B4-BE49-F238E27FC236}">
                <a16:creationId xmlns:a16="http://schemas.microsoft.com/office/drawing/2014/main" id="{A6B6C9BA-03B4-A3C3-031F-A431D17D6B90}"/>
              </a:ext>
            </a:extLst>
          </p:cNvPr>
          <p:cNvSpPr/>
          <p:nvPr/>
        </p:nvSpPr>
        <p:spPr>
          <a:xfrm>
            <a:off x="499440" y="1065938"/>
            <a:ext cx="3698465"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name_907K">
            <a:extLst>
              <a:ext uri="{FF2B5EF4-FFF2-40B4-BE49-F238E27FC236}">
                <a16:creationId xmlns:a16="http://schemas.microsoft.com/office/drawing/2014/main" id="{15E0404E-2106-CF54-E3AD-49B82D82D9A0}"/>
              </a:ext>
            </a:extLst>
          </p:cNvPr>
          <p:cNvSpPr/>
          <p:nvPr/>
        </p:nvSpPr>
        <p:spPr>
          <a:xfrm>
            <a:off x="650591" y="1207302"/>
            <a:ext cx="1553690"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436</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14" name="Picture 4" descr="Comprar acciones de Oracle este 2024: Lo que necesitas saber - The Investor  U">
            <a:extLst>
              <a:ext uri="{FF2B5EF4-FFF2-40B4-BE49-F238E27FC236}">
                <a16:creationId xmlns:a16="http://schemas.microsoft.com/office/drawing/2014/main" id="{C97143A3-77AA-67BA-0AF1-16D3BE3F9F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019" y="1019555"/>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DA6B08CD-C5B6-FE10-5E69-6E54F30000D8}"/>
              </a:ext>
            </a:extLst>
          </p:cNvPr>
          <p:cNvSpPr/>
          <p:nvPr/>
        </p:nvSpPr>
        <p:spPr>
          <a:xfrm>
            <a:off x="4552440" y="1065938"/>
            <a:ext cx="368213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name_907K">
            <a:extLst>
              <a:ext uri="{FF2B5EF4-FFF2-40B4-BE49-F238E27FC236}">
                <a16:creationId xmlns:a16="http://schemas.microsoft.com/office/drawing/2014/main" id="{91F2B163-65B9-D8FF-A09B-77DF827CFF77}"/>
              </a:ext>
            </a:extLst>
          </p:cNvPr>
          <p:cNvSpPr/>
          <p:nvPr/>
        </p:nvSpPr>
        <p:spPr>
          <a:xfrm>
            <a:off x="4701736" y="1203797"/>
            <a:ext cx="2187940"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802</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18" name="Picture 2" descr="Workday at Wake Forest - Workday">
            <a:extLst>
              <a:ext uri="{FF2B5EF4-FFF2-40B4-BE49-F238E27FC236}">
                <a16:creationId xmlns:a16="http://schemas.microsoft.com/office/drawing/2014/main" id="{CB51FDC2-4BD2-677E-60A4-3502387E80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724" y="1133283"/>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18C37E96-D006-3E97-FD3F-5BF308D15CE2}"/>
              </a:ext>
            </a:extLst>
          </p:cNvPr>
          <p:cNvSpPr/>
          <p:nvPr/>
        </p:nvSpPr>
        <p:spPr>
          <a:xfrm>
            <a:off x="8445472" y="1065938"/>
            <a:ext cx="3651092"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name_907K">
            <a:extLst>
              <a:ext uri="{FF2B5EF4-FFF2-40B4-BE49-F238E27FC236}">
                <a16:creationId xmlns:a16="http://schemas.microsoft.com/office/drawing/2014/main" id="{96510FF0-92F7-F5FA-A2CD-EE524687C4A7}"/>
              </a:ext>
            </a:extLst>
          </p:cNvPr>
          <p:cNvSpPr/>
          <p:nvPr/>
        </p:nvSpPr>
        <p:spPr>
          <a:xfrm>
            <a:off x="8625508" y="1203797"/>
            <a:ext cx="1834992"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594</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22" name="Picture 4" descr="Qué es SAP y para qué sirve | sapfi.eu">
            <a:extLst>
              <a:ext uri="{FF2B5EF4-FFF2-40B4-BE49-F238E27FC236}">
                <a16:creationId xmlns:a16="http://schemas.microsoft.com/office/drawing/2014/main" id="{3E1BDB7F-3690-75FC-5441-F6DCCA6EE4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3786" y="998920"/>
            <a:ext cx="575246" cy="575246"/>
          </a:xfrm>
          <a:prstGeom prst="rect">
            <a:avLst/>
          </a:prstGeom>
          <a:noFill/>
          <a:extLst>
            <a:ext uri="{909E8E84-426E-40DD-AFC4-6F175D3DCCD1}">
              <a14:hiddenFill xmlns:a14="http://schemas.microsoft.com/office/drawing/2010/main">
                <a:solidFill>
                  <a:srgbClr val="FFFFFF"/>
                </a:solidFill>
              </a14:hiddenFill>
            </a:ext>
          </a:extLst>
        </p:spPr>
      </p:pic>
      <p:pic>
        <p:nvPicPr>
          <p:cNvPr id="23" name="Gráfico 22" descr="Impuestos con relleno sólido">
            <a:extLst>
              <a:ext uri="{FF2B5EF4-FFF2-40B4-BE49-F238E27FC236}">
                <a16:creationId xmlns:a16="http://schemas.microsoft.com/office/drawing/2014/main" id="{696B439A-F021-1CE0-5577-4E4257660E9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09157" y="1354439"/>
            <a:ext cx="385528" cy="385528"/>
          </a:xfrm>
          <a:prstGeom prst="rect">
            <a:avLst/>
          </a:prstGeom>
        </p:spPr>
      </p:pic>
      <p:sp>
        <p:nvSpPr>
          <p:cNvPr id="26" name="Rectángulo 25">
            <a:extLst>
              <a:ext uri="{FF2B5EF4-FFF2-40B4-BE49-F238E27FC236}">
                <a16:creationId xmlns:a16="http://schemas.microsoft.com/office/drawing/2014/main" id="{564CD5FC-475F-AF3A-126A-4877B3A8C2C7}"/>
              </a:ext>
            </a:extLst>
          </p:cNvPr>
          <p:cNvSpPr/>
          <p:nvPr/>
        </p:nvSpPr>
        <p:spPr>
          <a:xfrm>
            <a:off x="499440" y="1971544"/>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name_907K">
            <a:extLst>
              <a:ext uri="{FF2B5EF4-FFF2-40B4-BE49-F238E27FC236}">
                <a16:creationId xmlns:a16="http://schemas.microsoft.com/office/drawing/2014/main" id="{59E1A389-1871-B011-120C-C4E1112D0D11}"/>
              </a:ext>
            </a:extLst>
          </p:cNvPr>
          <p:cNvSpPr/>
          <p:nvPr/>
        </p:nvSpPr>
        <p:spPr>
          <a:xfrm>
            <a:off x="1007781" y="2768816"/>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269 K</a:t>
            </a:r>
            <a:endParaRPr lang="en-US" sz="2400" spc="-75" dirty="0"/>
          </a:p>
        </p:txBody>
      </p:sp>
      <p:pic>
        <p:nvPicPr>
          <p:cNvPr id="57" name="Gráfico 56" descr="Impuestos con relleno sólido">
            <a:extLst>
              <a:ext uri="{FF2B5EF4-FFF2-40B4-BE49-F238E27FC236}">
                <a16:creationId xmlns:a16="http://schemas.microsoft.com/office/drawing/2014/main" id="{F0332D34-38D8-5675-569A-F2877BB1E2F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92890" y="1354438"/>
            <a:ext cx="385528" cy="385528"/>
          </a:xfrm>
          <a:prstGeom prst="rect">
            <a:avLst/>
          </a:prstGeom>
        </p:spPr>
      </p:pic>
      <p:pic>
        <p:nvPicPr>
          <p:cNvPr id="58" name="Gráfico 57" descr="Impuestos con relleno sólido">
            <a:extLst>
              <a:ext uri="{FF2B5EF4-FFF2-40B4-BE49-F238E27FC236}">
                <a16:creationId xmlns:a16="http://schemas.microsoft.com/office/drawing/2014/main" id="{EAFBEB44-5D37-48D6-15BC-12B4A7B5DAF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529158" y="1348611"/>
            <a:ext cx="385528" cy="385528"/>
          </a:xfrm>
          <a:prstGeom prst="rect">
            <a:avLst/>
          </a:prstGeom>
        </p:spPr>
      </p:pic>
      <p:sp>
        <p:nvSpPr>
          <p:cNvPr id="67" name="Total asegurados">
            <a:extLst>
              <a:ext uri="{FF2B5EF4-FFF2-40B4-BE49-F238E27FC236}">
                <a16:creationId xmlns:a16="http://schemas.microsoft.com/office/drawing/2014/main" id="{555AC368-01AA-D874-A66A-10F3D319A51A}"/>
              </a:ext>
            </a:extLst>
          </p:cNvPr>
          <p:cNvSpPr/>
          <p:nvPr/>
        </p:nvSpPr>
        <p:spPr>
          <a:xfrm>
            <a:off x="3117108" y="1493284"/>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a:t>
            </a:r>
            <a:r>
              <a:rPr lang="es-ES_tradnl" sz="1125" i="1" kern="0" dirty="0">
                <a:solidFill>
                  <a:srgbClr val="1A1A1A">
                    <a:alpha val="65000"/>
                  </a:srgbClr>
                </a:solidFill>
                <a:latin typeface="Arial Regular" pitchFamily="34" charset="0"/>
                <a:ea typeface="Arial Regular" pitchFamily="34" charset="-122"/>
                <a:cs typeface="Arial Regular" pitchFamily="34" charset="-120"/>
              </a:rPr>
              <a:t>2 </a:t>
            </a: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año</a:t>
            </a:r>
            <a:endParaRPr lang="es-ES_tradnl" sz="1125" i="1" noProof="0" dirty="0"/>
          </a:p>
        </p:txBody>
      </p:sp>
      <p:sp>
        <p:nvSpPr>
          <p:cNvPr id="68" name="Total asegurados">
            <a:extLst>
              <a:ext uri="{FF2B5EF4-FFF2-40B4-BE49-F238E27FC236}">
                <a16:creationId xmlns:a16="http://schemas.microsoft.com/office/drawing/2014/main" id="{FEF135EF-A3C2-A3D5-78F3-39E10E985A64}"/>
              </a:ext>
            </a:extLst>
          </p:cNvPr>
          <p:cNvSpPr/>
          <p:nvPr/>
        </p:nvSpPr>
        <p:spPr>
          <a:xfrm>
            <a:off x="7090349" y="1505192"/>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2</a:t>
            </a:r>
            <a:r>
              <a:rPr lang="es-ES_tradnl" sz="1125" i="1" kern="0" dirty="0">
                <a:solidFill>
                  <a:srgbClr val="1A1A1A">
                    <a:alpha val="65000"/>
                  </a:srgbClr>
                </a:solidFill>
                <a:latin typeface="Arial Regular" pitchFamily="34" charset="0"/>
                <a:ea typeface="Arial Regular" pitchFamily="34" charset="-122"/>
                <a:cs typeface="Arial Regular" pitchFamily="34" charset="-120"/>
              </a:rPr>
              <a:t> </a:t>
            </a: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año</a:t>
            </a:r>
            <a:endParaRPr lang="es-ES_tradnl" sz="1125" i="1" noProof="0" dirty="0"/>
          </a:p>
        </p:txBody>
      </p:sp>
      <p:sp>
        <p:nvSpPr>
          <p:cNvPr id="69" name="Total asegurados">
            <a:extLst>
              <a:ext uri="{FF2B5EF4-FFF2-40B4-BE49-F238E27FC236}">
                <a16:creationId xmlns:a16="http://schemas.microsoft.com/office/drawing/2014/main" id="{91CCFD51-F54D-A1DE-C376-0E3699A49D5A}"/>
              </a:ext>
            </a:extLst>
          </p:cNvPr>
          <p:cNvSpPr/>
          <p:nvPr/>
        </p:nvSpPr>
        <p:spPr>
          <a:xfrm>
            <a:off x="11070747" y="1492081"/>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a:t>
            </a:r>
            <a:r>
              <a:rPr lang="es-ES_tradnl" sz="1125" i="1" kern="0" dirty="0">
                <a:solidFill>
                  <a:srgbClr val="1A1A1A">
                    <a:alpha val="65000"/>
                  </a:srgbClr>
                </a:solidFill>
                <a:latin typeface="Arial Regular" pitchFamily="34" charset="0"/>
                <a:ea typeface="Arial Regular" pitchFamily="34" charset="-122"/>
                <a:cs typeface="Arial Regular" pitchFamily="34" charset="-120"/>
              </a:rPr>
              <a:t> 2 </a:t>
            </a: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año</a:t>
            </a:r>
            <a:endParaRPr lang="es-ES_tradnl" sz="1125" i="1" noProof="0" dirty="0"/>
          </a:p>
        </p:txBody>
      </p:sp>
      <p:sp>
        <p:nvSpPr>
          <p:cNvPr id="3" name="Rectángulo 2">
            <a:extLst>
              <a:ext uri="{FF2B5EF4-FFF2-40B4-BE49-F238E27FC236}">
                <a16:creationId xmlns:a16="http://schemas.microsoft.com/office/drawing/2014/main" id="{14953810-01ED-EB06-24AA-0951077CA81A}"/>
              </a:ext>
            </a:extLst>
          </p:cNvPr>
          <p:cNvSpPr/>
          <p:nvPr/>
        </p:nvSpPr>
        <p:spPr>
          <a:xfrm rot="21340932">
            <a:off x="9764134" y="239403"/>
            <a:ext cx="1476686" cy="400110"/>
          </a:xfrm>
          <a:prstGeom prst="rect">
            <a:avLst/>
          </a:prstGeom>
          <a:noFill/>
          <a:ln w="19050">
            <a:solidFill>
              <a:srgbClr val="C00000"/>
            </a:solidFill>
          </a:ln>
          <a:effectLst>
            <a:outerShdw blurRad="50800" dist="38100" dir="5400000" algn="t" rotWithShape="0">
              <a:prstClr val="black">
                <a:alpha val="40000"/>
              </a:prstClr>
            </a:outerShdw>
          </a:effectLst>
        </p:spPr>
        <p:txBody>
          <a:bodyPr wrap="none" lIns="91440" tIns="45720" rIns="91440" bIns="45720">
            <a:spAutoFit/>
          </a:bodyPr>
          <a:lstStyle/>
          <a:p>
            <a:pPr algn="ctr"/>
            <a:r>
              <a:rPr lang="es-ES" sz="2000" b="0" cap="none" spc="0" dirty="0">
                <a:ln w="0"/>
                <a:solidFill>
                  <a:schemeClr val="tx1"/>
                </a:solidFill>
                <a:effectLst>
                  <a:outerShdw blurRad="38100" dist="19050" dir="2700000" algn="tl" rotWithShape="0">
                    <a:schemeClr val="dk1">
                      <a:alpha val="40000"/>
                    </a:schemeClr>
                  </a:outerShdw>
                </a:effectLst>
              </a:rPr>
              <a:t>Escenario 3</a:t>
            </a:r>
          </a:p>
        </p:txBody>
      </p:sp>
      <p:sp>
        <p:nvSpPr>
          <p:cNvPr id="7" name="Rectángulo 6">
            <a:extLst>
              <a:ext uri="{FF2B5EF4-FFF2-40B4-BE49-F238E27FC236}">
                <a16:creationId xmlns:a16="http://schemas.microsoft.com/office/drawing/2014/main" id="{55158483-4E12-DC7B-25E5-D9C19F0BCC7E}"/>
              </a:ext>
            </a:extLst>
          </p:cNvPr>
          <p:cNvSpPr/>
          <p:nvPr/>
        </p:nvSpPr>
        <p:spPr>
          <a:xfrm>
            <a:off x="2318377" y="1937131"/>
            <a:ext cx="1879529" cy="1386133"/>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Total asegurados">
            <a:extLst>
              <a:ext uri="{FF2B5EF4-FFF2-40B4-BE49-F238E27FC236}">
                <a16:creationId xmlns:a16="http://schemas.microsoft.com/office/drawing/2014/main" id="{7185C52E-58FD-7CCE-EEC9-B85C2E40EF32}"/>
              </a:ext>
            </a:extLst>
          </p:cNvPr>
          <p:cNvSpPr/>
          <p:nvPr/>
        </p:nvSpPr>
        <p:spPr>
          <a:xfrm>
            <a:off x="499440" y="2163153"/>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HCM CLOUD</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10" name="Rectángulo 9">
            <a:extLst>
              <a:ext uri="{FF2B5EF4-FFF2-40B4-BE49-F238E27FC236}">
                <a16:creationId xmlns:a16="http://schemas.microsoft.com/office/drawing/2014/main" id="{FAAE7958-E02F-DD70-5E30-3F7E16B863D0}"/>
              </a:ext>
            </a:extLst>
          </p:cNvPr>
          <p:cNvSpPr/>
          <p:nvPr/>
        </p:nvSpPr>
        <p:spPr>
          <a:xfrm>
            <a:off x="2318377" y="3376820"/>
            <a:ext cx="1879529" cy="1156461"/>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1" name="name_907K">
            <a:extLst>
              <a:ext uri="{FF2B5EF4-FFF2-40B4-BE49-F238E27FC236}">
                <a16:creationId xmlns:a16="http://schemas.microsoft.com/office/drawing/2014/main" id="{01AB16DF-D9C1-4BA7-A401-2AA86ECD8AF5}"/>
              </a:ext>
            </a:extLst>
          </p:cNvPr>
          <p:cNvSpPr/>
          <p:nvPr/>
        </p:nvSpPr>
        <p:spPr>
          <a:xfrm>
            <a:off x="2827211" y="2499780"/>
            <a:ext cx="839310" cy="457200"/>
          </a:xfrm>
          <a:prstGeom prst="rect">
            <a:avLst/>
          </a:prstGeom>
          <a:noFill/>
          <a:ln/>
        </p:spPr>
        <p:txBody>
          <a:bodyPr wrap="square" lIns="0" tIns="0" rIns="0" bIns="0" rtlCol="0" anchor="ctr"/>
          <a:lstStyle/>
          <a:p>
            <a:pPr>
              <a:lnSpc>
                <a:spcPts val="3600"/>
              </a:lnSpc>
            </a:pPr>
            <a:r>
              <a:rPr lang="en-US" sz="2400" strike="sngStrike" kern="0" spc="-75" dirty="0">
                <a:solidFill>
                  <a:srgbClr val="1A1A1A"/>
                </a:solidFill>
                <a:latin typeface="Arial Regular" pitchFamily="34" charset="0"/>
                <a:ea typeface="Arial Regular" pitchFamily="34" charset="-122"/>
                <a:cs typeface="Arial Regular" pitchFamily="34" charset="-120"/>
              </a:rPr>
              <a:t>90 K</a:t>
            </a:r>
          </a:p>
        </p:txBody>
      </p:sp>
      <p:sp>
        <p:nvSpPr>
          <p:cNvPr id="24" name="Total asegurados">
            <a:extLst>
              <a:ext uri="{FF2B5EF4-FFF2-40B4-BE49-F238E27FC236}">
                <a16:creationId xmlns:a16="http://schemas.microsoft.com/office/drawing/2014/main" id="{910090F1-6503-E9F5-0168-C89BDCC29EE0}"/>
              </a:ext>
            </a:extLst>
          </p:cNvPr>
          <p:cNvSpPr/>
          <p:nvPr/>
        </p:nvSpPr>
        <p:spPr>
          <a:xfrm>
            <a:off x="2318870" y="2052373"/>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25" name="CuadroTexto 24">
            <a:extLst>
              <a:ext uri="{FF2B5EF4-FFF2-40B4-BE49-F238E27FC236}">
                <a16:creationId xmlns:a16="http://schemas.microsoft.com/office/drawing/2014/main" id="{C2FA5835-666F-AA0C-4512-1B001D92C3BC}"/>
              </a:ext>
            </a:extLst>
          </p:cNvPr>
          <p:cNvSpPr txBox="1"/>
          <p:nvPr/>
        </p:nvSpPr>
        <p:spPr>
          <a:xfrm>
            <a:off x="2386584" y="2896481"/>
            <a:ext cx="1608101" cy="461665"/>
          </a:xfrm>
          <a:prstGeom prst="rect">
            <a:avLst/>
          </a:prstGeom>
          <a:noFill/>
        </p:spPr>
        <p:txBody>
          <a:bodyPr wrap="square" rtlCol="0">
            <a:spAutoFit/>
          </a:bodyPr>
          <a:lstStyle/>
          <a:p>
            <a:pPr algn="ctr"/>
            <a:r>
              <a:rPr lang="es-ES" sz="1200" i="1" dirty="0">
                <a:solidFill>
                  <a:srgbClr val="C00000"/>
                </a:solidFill>
              </a:rPr>
              <a:t>Coste asumido por Oracle</a:t>
            </a:r>
          </a:p>
        </p:txBody>
      </p:sp>
      <p:sp>
        <p:nvSpPr>
          <p:cNvPr id="27" name="name_907K">
            <a:extLst>
              <a:ext uri="{FF2B5EF4-FFF2-40B4-BE49-F238E27FC236}">
                <a16:creationId xmlns:a16="http://schemas.microsoft.com/office/drawing/2014/main" id="{4F6AC375-BFC2-1C0E-9EB6-EBF37B016B56}"/>
              </a:ext>
            </a:extLst>
          </p:cNvPr>
          <p:cNvSpPr/>
          <p:nvPr/>
        </p:nvSpPr>
        <p:spPr>
          <a:xfrm>
            <a:off x="2770979" y="4078201"/>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30 K</a:t>
            </a:r>
          </a:p>
        </p:txBody>
      </p:sp>
      <p:sp>
        <p:nvSpPr>
          <p:cNvPr id="28" name="Total asegurados">
            <a:extLst>
              <a:ext uri="{FF2B5EF4-FFF2-40B4-BE49-F238E27FC236}">
                <a16:creationId xmlns:a16="http://schemas.microsoft.com/office/drawing/2014/main" id="{E6C91174-B790-22B4-021F-A3C3EC284C32}"/>
              </a:ext>
            </a:extLst>
          </p:cNvPr>
          <p:cNvSpPr/>
          <p:nvPr/>
        </p:nvSpPr>
        <p:spPr>
          <a:xfrm>
            <a:off x="2318377" y="3468982"/>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33" name="Rectángulo 32">
            <a:extLst>
              <a:ext uri="{FF2B5EF4-FFF2-40B4-BE49-F238E27FC236}">
                <a16:creationId xmlns:a16="http://schemas.microsoft.com/office/drawing/2014/main" id="{3BBD5107-5961-26E5-A773-B76124AEE8ED}"/>
              </a:ext>
            </a:extLst>
          </p:cNvPr>
          <p:cNvSpPr/>
          <p:nvPr/>
        </p:nvSpPr>
        <p:spPr>
          <a:xfrm>
            <a:off x="4536113" y="2038361"/>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name_907K">
            <a:extLst>
              <a:ext uri="{FF2B5EF4-FFF2-40B4-BE49-F238E27FC236}">
                <a16:creationId xmlns:a16="http://schemas.microsoft.com/office/drawing/2014/main" id="{08A4B85E-27F7-CCE4-3672-9E6DE1BADD59}"/>
              </a:ext>
            </a:extLst>
          </p:cNvPr>
          <p:cNvSpPr/>
          <p:nvPr/>
        </p:nvSpPr>
        <p:spPr>
          <a:xfrm>
            <a:off x="5044454" y="2835633"/>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501 K</a:t>
            </a:r>
            <a:endParaRPr lang="en-US" sz="2400" spc="-75" dirty="0"/>
          </a:p>
        </p:txBody>
      </p:sp>
      <p:sp>
        <p:nvSpPr>
          <p:cNvPr id="35" name="Rectángulo 34">
            <a:extLst>
              <a:ext uri="{FF2B5EF4-FFF2-40B4-BE49-F238E27FC236}">
                <a16:creationId xmlns:a16="http://schemas.microsoft.com/office/drawing/2014/main" id="{01E9CF61-EF10-790F-14C7-0EA9B3EE5E1D}"/>
              </a:ext>
            </a:extLst>
          </p:cNvPr>
          <p:cNvSpPr/>
          <p:nvPr/>
        </p:nvSpPr>
        <p:spPr>
          <a:xfrm>
            <a:off x="6355050" y="2003948"/>
            <a:ext cx="1879529" cy="1351046"/>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Total asegurados">
            <a:extLst>
              <a:ext uri="{FF2B5EF4-FFF2-40B4-BE49-F238E27FC236}">
                <a16:creationId xmlns:a16="http://schemas.microsoft.com/office/drawing/2014/main" id="{C808BEC3-2A7B-5C3B-7295-82B09411E72E}"/>
              </a:ext>
            </a:extLst>
          </p:cNvPr>
          <p:cNvSpPr/>
          <p:nvPr/>
        </p:nvSpPr>
        <p:spPr>
          <a:xfrm>
            <a:off x="4536113" y="2229970"/>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WORKDAY CLOUD</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41" name="Rectángulo 40">
            <a:extLst>
              <a:ext uri="{FF2B5EF4-FFF2-40B4-BE49-F238E27FC236}">
                <a16:creationId xmlns:a16="http://schemas.microsoft.com/office/drawing/2014/main" id="{831857D1-AFBA-298E-2C51-704E375E8C43}"/>
              </a:ext>
            </a:extLst>
          </p:cNvPr>
          <p:cNvSpPr/>
          <p:nvPr/>
        </p:nvSpPr>
        <p:spPr>
          <a:xfrm>
            <a:off x="6355050" y="3473532"/>
            <a:ext cx="1879529" cy="1059749"/>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4" name="name_907K">
            <a:extLst>
              <a:ext uri="{FF2B5EF4-FFF2-40B4-BE49-F238E27FC236}">
                <a16:creationId xmlns:a16="http://schemas.microsoft.com/office/drawing/2014/main" id="{392FB33B-E391-D4DB-73A3-D5FC64F0529F}"/>
              </a:ext>
            </a:extLst>
          </p:cNvPr>
          <p:cNvSpPr/>
          <p:nvPr/>
        </p:nvSpPr>
        <p:spPr>
          <a:xfrm>
            <a:off x="6863884" y="2830360"/>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90 K</a:t>
            </a:r>
          </a:p>
        </p:txBody>
      </p:sp>
      <p:sp>
        <p:nvSpPr>
          <p:cNvPr id="47" name="Total asegurados">
            <a:extLst>
              <a:ext uri="{FF2B5EF4-FFF2-40B4-BE49-F238E27FC236}">
                <a16:creationId xmlns:a16="http://schemas.microsoft.com/office/drawing/2014/main" id="{7C873542-F6C1-94A2-E3C5-33E13CE723E6}"/>
              </a:ext>
            </a:extLst>
          </p:cNvPr>
          <p:cNvSpPr/>
          <p:nvPr/>
        </p:nvSpPr>
        <p:spPr>
          <a:xfrm>
            <a:off x="6355543" y="2224697"/>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53" name="name_907K">
            <a:extLst>
              <a:ext uri="{FF2B5EF4-FFF2-40B4-BE49-F238E27FC236}">
                <a16:creationId xmlns:a16="http://schemas.microsoft.com/office/drawing/2014/main" id="{4BE3C2D1-FB8F-6524-1D35-683146F146CA}"/>
              </a:ext>
            </a:extLst>
          </p:cNvPr>
          <p:cNvSpPr/>
          <p:nvPr/>
        </p:nvSpPr>
        <p:spPr>
          <a:xfrm>
            <a:off x="6875159" y="4134291"/>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30 K</a:t>
            </a:r>
          </a:p>
        </p:txBody>
      </p:sp>
      <p:sp>
        <p:nvSpPr>
          <p:cNvPr id="56" name="Total asegurados">
            <a:extLst>
              <a:ext uri="{FF2B5EF4-FFF2-40B4-BE49-F238E27FC236}">
                <a16:creationId xmlns:a16="http://schemas.microsoft.com/office/drawing/2014/main" id="{15B52E43-56EE-592F-E56E-06EDC7ED88D3}"/>
              </a:ext>
            </a:extLst>
          </p:cNvPr>
          <p:cNvSpPr/>
          <p:nvPr/>
        </p:nvSpPr>
        <p:spPr>
          <a:xfrm>
            <a:off x="6355050" y="3545554"/>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0" name="Rectángulo 69">
            <a:extLst>
              <a:ext uri="{FF2B5EF4-FFF2-40B4-BE49-F238E27FC236}">
                <a16:creationId xmlns:a16="http://schemas.microsoft.com/office/drawing/2014/main" id="{FF1EB24D-2CE8-9573-39CB-07AB031D7587}"/>
              </a:ext>
            </a:extLst>
          </p:cNvPr>
          <p:cNvSpPr/>
          <p:nvPr/>
        </p:nvSpPr>
        <p:spPr>
          <a:xfrm>
            <a:off x="8398098" y="2034408"/>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 name="name_907K">
            <a:extLst>
              <a:ext uri="{FF2B5EF4-FFF2-40B4-BE49-F238E27FC236}">
                <a16:creationId xmlns:a16="http://schemas.microsoft.com/office/drawing/2014/main" id="{0C1A76A9-122B-391E-D6BB-1B2AD8DB96D7}"/>
              </a:ext>
            </a:extLst>
          </p:cNvPr>
          <p:cNvSpPr/>
          <p:nvPr/>
        </p:nvSpPr>
        <p:spPr>
          <a:xfrm>
            <a:off x="8906439" y="2831680"/>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293 K</a:t>
            </a:r>
            <a:endParaRPr lang="en-US" sz="2400" spc="-75" dirty="0"/>
          </a:p>
        </p:txBody>
      </p:sp>
      <p:sp>
        <p:nvSpPr>
          <p:cNvPr id="72" name="Rectángulo 71">
            <a:extLst>
              <a:ext uri="{FF2B5EF4-FFF2-40B4-BE49-F238E27FC236}">
                <a16:creationId xmlns:a16="http://schemas.microsoft.com/office/drawing/2014/main" id="{8EED124F-4900-D161-E535-8281C205B562}"/>
              </a:ext>
            </a:extLst>
          </p:cNvPr>
          <p:cNvSpPr/>
          <p:nvPr/>
        </p:nvSpPr>
        <p:spPr>
          <a:xfrm>
            <a:off x="10217035" y="1999995"/>
            <a:ext cx="1879529" cy="1358952"/>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Total asegurados">
            <a:extLst>
              <a:ext uri="{FF2B5EF4-FFF2-40B4-BE49-F238E27FC236}">
                <a16:creationId xmlns:a16="http://schemas.microsoft.com/office/drawing/2014/main" id="{0C1285C0-FA20-4F0E-43BC-1A4264A1311C}"/>
              </a:ext>
            </a:extLst>
          </p:cNvPr>
          <p:cNvSpPr/>
          <p:nvPr/>
        </p:nvSpPr>
        <p:spPr>
          <a:xfrm>
            <a:off x="8398098" y="2226017"/>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SUCCESS FACTORS</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4" name="Rectángulo 73">
            <a:extLst>
              <a:ext uri="{FF2B5EF4-FFF2-40B4-BE49-F238E27FC236}">
                <a16:creationId xmlns:a16="http://schemas.microsoft.com/office/drawing/2014/main" id="{CFD2AA46-9B2D-B2C3-AABA-A3BD0B6C9780}"/>
              </a:ext>
            </a:extLst>
          </p:cNvPr>
          <p:cNvSpPr/>
          <p:nvPr/>
        </p:nvSpPr>
        <p:spPr>
          <a:xfrm>
            <a:off x="10217035" y="3469579"/>
            <a:ext cx="1879529" cy="1121912"/>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5" name="name_907K">
            <a:extLst>
              <a:ext uri="{FF2B5EF4-FFF2-40B4-BE49-F238E27FC236}">
                <a16:creationId xmlns:a16="http://schemas.microsoft.com/office/drawing/2014/main" id="{A48FE4D2-0FA3-3DB7-42BB-11D3E4947B0F}"/>
              </a:ext>
            </a:extLst>
          </p:cNvPr>
          <p:cNvSpPr/>
          <p:nvPr/>
        </p:nvSpPr>
        <p:spPr>
          <a:xfrm>
            <a:off x="10725869" y="2826407"/>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90 K</a:t>
            </a:r>
          </a:p>
        </p:txBody>
      </p:sp>
      <p:sp>
        <p:nvSpPr>
          <p:cNvPr id="76" name="Total asegurados">
            <a:extLst>
              <a:ext uri="{FF2B5EF4-FFF2-40B4-BE49-F238E27FC236}">
                <a16:creationId xmlns:a16="http://schemas.microsoft.com/office/drawing/2014/main" id="{C6C0A2A1-9745-62F8-6C26-3246C40868F2}"/>
              </a:ext>
            </a:extLst>
          </p:cNvPr>
          <p:cNvSpPr/>
          <p:nvPr/>
        </p:nvSpPr>
        <p:spPr>
          <a:xfrm>
            <a:off x="10217528" y="2220744"/>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8" name="name_907K">
            <a:extLst>
              <a:ext uri="{FF2B5EF4-FFF2-40B4-BE49-F238E27FC236}">
                <a16:creationId xmlns:a16="http://schemas.microsoft.com/office/drawing/2014/main" id="{A0589001-40D8-E649-58FC-50F04EB11806}"/>
              </a:ext>
            </a:extLst>
          </p:cNvPr>
          <p:cNvSpPr/>
          <p:nvPr/>
        </p:nvSpPr>
        <p:spPr>
          <a:xfrm>
            <a:off x="10759479" y="4076081"/>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30 K</a:t>
            </a:r>
          </a:p>
        </p:txBody>
      </p:sp>
      <p:sp>
        <p:nvSpPr>
          <p:cNvPr id="79" name="Total asegurados">
            <a:extLst>
              <a:ext uri="{FF2B5EF4-FFF2-40B4-BE49-F238E27FC236}">
                <a16:creationId xmlns:a16="http://schemas.microsoft.com/office/drawing/2014/main" id="{52612923-AE04-1EA1-89B9-A07793A6F471}"/>
              </a:ext>
            </a:extLst>
          </p:cNvPr>
          <p:cNvSpPr/>
          <p:nvPr/>
        </p:nvSpPr>
        <p:spPr>
          <a:xfrm>
            <a:off x="10235483" y="3537340"/>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6" name="CuadroTexto 5">
            <a:extLst>
              <a:ext uri="{FF2B5EF4-FFF2-40B4-BE49-F238E27FC236}">
                <a16:creationId xmlns:a16="http://schemas.microsoft.com/office/drawing/2014/main" id="{7D576458-605C-DD0F-26B9-A1A2261504ED}"/>
              </a:ext>
            </a:extLst>
          </p:cNvPr>
          <p:cNvSpPr txBox="1"/>
          <p:nvPr/>
        </p:nvSpPr>
        <p:spPr>
          <a:xfrm>
            <a:off x="10200682" y="668412"/>
            <a:ext cx="805708" cy="369332"/>
          </a:xfrm>
          <a:prstGeom prst="rect">
            <a:avLst/>
          </a:prstGeom>
          <a:noFill/>
        </p:spPr>
        <p:txBody>
          <a:bodyPr wrap="square">
            <a:spAutoFit/>
          </a:bodyPr>
          <a:lstStyle/>
          <a:p>
            <a:pPr>
              <a:lnSpc>
                <a:spcPct val="100000"/>
              </a:lnSpc>
            </a:pPr>
            <a:r>
              <a:rPr lang="es-ES" sz="1800" b="1" kern="0" spc="-100" dirty="0">
                <a:latin typeface="Arial Regular" pitchFamily="34" charset="0"/>
                <a:ea typeface="Arial Regular" pitchFamily="34" charset="-122"/>
              </a:rPr>
              <a:t>A</a:t>
            </a:r>
            <a:r>
              <a:rPr lang="es-ES" sz="1800" b="1" kern="0" spc="-100" noProof="0" dirty="0" err="1">
                <a:latin typeface="Arial Regular" pitchFamily="34" charset="0"/>
                <a:ea typeface="Arial Regular" pitchFamily="34" charset="-122"/>
              </a:rPr>
              <a:t>ño</a:t>
            </a:r>
            <a:r>
              <a:rPr lang="es-ES" sz="1800" b="1" kern="0" spc="-100" noProof="0" dirty="0">
                <a:latin typeface="Arial Regular" pitchFamily="34" charset="0"/>
                <a:ea typeface="Arial Regular" pitchFamily="34" charset="-122"/>
              </a:rPr>
              <a:t> 1</a:t>
            </a:r>
            <a:endParaRPr lang="es-ES" sz="1800" b="1" spc="-100" noProof="0" dirty="0"/>
          </a:p>
        </p:txBody>
      </p:sp>
      <p:sp>
        <p:nvSpPr>
          <p:cNvPr id="8" name="Rectángulo 7">
            <a:extLst>
              <a:ext uri="{FF2B5EF4-FFF2-40B4-BE49-F238E27FC236}">
                <a16:creationId xmlns:a16="http://schemas.microsoft.com/office/drawing/2014/main" id="{F73EC312-5521-D2F4-FE17-DC1CD13F28A1}"/>
              </a:ext>
            </a:extLst>
          </p:cNvPr>
          <p:cNvSpPr/>
          <p:nvPr/>
        </p:nvSpPr>
        <p:spPr>
          <a:xfrm>
            <a:off x="2318376" y="4688092"/>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29" name="Rectángulo 28">
            <a:extLst>
              <a:ext uri="{FF2B5EF4-FFF2-40B4-BE49-F238E27FC236}">
                <a16:creationId xmlns:a16="http://schemas.microsoft.com/office/drawing/2014/main" id="{592A40A8-C1BD-2B18-0EDC-77093C73C15B}"/>
              </a:ext>
            </a:extLst>
          </p:cNvPr>
          <p:cNvSpPr/>
          <p:nvPr/>
        </p:nvSpPr>
        <p:spPr>
          <a:xfrm>
            <a:off x="6355050" y="4679300"/>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31" name="Rectángulo 30">
            <a:extLst>
              <a:ext uri="{FF2B5EF4-FFF2-40B4-BE49-F238E27FC236}">
                <a16:creationId xmlns:a16="http://schemas.microsoft.com/office/drawing/2014/main" id="{3B6FDE68-E4FF-1E18-8845-85D110282A9E}"/>
              </a:ext>
            </a:extLst>
          </p:cNvPr>
          <p:cNvSpPr/>
          <p:nvPr/>
        </p:nvSpPr>
        <p:spPr>
          <a:xfrm>
            <a:off x="10217035" y="4679299"/>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32" name="name_907K">
            <a:extLst>
              <a:ext uri="{FF2B5EF4-FFF2-40B4-BE49-F238E27FC236}">
                <a16:creationId xmlns:a16="http://schemas.microsoft.com/office/drawing/2014/main" id="{A464B88C-57A5-0432-B298-260A05237F57}"/>
              </a:ext>
            </a:extLst>
          </p:cNvPr>
          <p:cNvSpPr/>
          <p:nvPr/>
        </p:nvSpPr>
        <p:spPr>
          <a:xfrm>
            <a:off x="3459618" y="4742113"/>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sp>
        <p:nvSpPr>
          <p:cNvPr id="36" name="name_907K">
            <a:extLst>
              <a:ext uri="{FF2B5EF4-FFF2-40B4-BE49-F238E27FC236}">
                <a16:creationId xmlns:a16="http://schemas.microsoft.com/office/drawing/2014/main" id="{BF8F1B71-F49D-F427-85B7-289E881906B0}"/>
              </a:ext>
            </a:extLst>
          </p:cNvPr>
          <p:cNvSpPr/>
          <p:nvPr/>
        </p:nvSpPr>
        <p:spPr>
          <a:xfrm>
            <a:off x="7455246" y="4737510"/>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sp>
        <p:nvSpPr>
          <p:cNvPr id="37" name="name_907K">
            <a:extLst>
              <a:ext uri="{FF2B5EF4-FFF2-40B4-BE49-F238E27FC236}">
                <a16:creationId xmlns:a16="http://schemas.microsoft.com/office/drawing/2014/main" id="{53678514-ADAE-73AC-27C1-40E6447BAEE5}"/>
              </a:ext>
            </a:extLst>
          </p:cNvPr>
          <p:cNvSpPr/>
          <p:nvPr/>
        </p:nvSpPr>
        <p:spPr>
          <a:xfrm>
            <a:off x="11302267" y="4737510"/>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cxnSp>
        <p:nvCxnSpPr>
          <p:cNvPr id="4" name="Conector recto 3">
            <a:extLst>
              <a:ext uri="{FF2B5EF4-FFF2-40B4-BE49-F238E27FC236}">
                <a16:creationId xmlns:a16="http://schemas.microsoft.com/office/drawing/2014/main" id="{D1F3DD00-BB5B-0717-5A73-85A72030AB2B}"/>
              </a:ext>
            </a:extLst>
          </p:cNvPr>
          <p:cNvCxnSpPr>
            <a:cxnSpLocks/>
          </p:cNvCxnSpPr>
          <p:nvPr/>
        </p:nvCxnSpPr>
        <p:spPr>
          <a:xfrm>
            <a:off x="2710985" y="2763902"/>
            <a:ext cx="955536"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5954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A6590-EC63-3796-EDA7-5707040811D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0CB47308-3315-5B16-4EA2-6F4EC4B80B94}"/>
              </a:ext>
            </a:extLst>
          </p:cNvPr>
          <p:cNvSpPr>
            <a:spLocks noGrp="1"/>
          </p:cNvSpPr>
          <p:nvPr>
            <p:ph type="body" sz="quarter" idx="10"/>
          </p:nvPr>
        </p:nvSpPr>
        <p:spPr>
          <a:xfrm>
            <a:off x="84080" y="184382"/>
            <a:ext cx="9667087" cy="712215"/>
          </a:xfrm>
        </p:spPr>
        <p:txBody>
          <a:bodyPr>
            <a:noAutofit/>
          </a:bodyPr>
          <a:lstStyle/>
          <a:p>
            <a:pPr>
              <a:lnSpc>
                <a:spcPct val="100000"/>
              </a:lnSpc>
            </a:pPr>
            <a:r>
              <a:rPr lang="es-ES" sz="4400" kern="0" spc="-100" noProof="0" dirty="0">
                <a:latin typeface="Arial Regular" pitchFamily="34" charset="0"/>
                <a:ea typeface="Arial Regular" pitchFamily="34" charset="-122"/>
                <a:cs typeface="Arial Regular" pitchFamily="34" charset="-120"/>
              </a:rPr>
              <a:t>Anexo de licencias</a:t>
            </a:r>
            <a:r>
              <a:rPr lang="es-ES" sz="4400" kern="0" spc="-100" dirty="0">
                <a:latin typeface="Arial Regular" pitchFamily="34" charset="0"/>
                <a:ea typeface="Arial Regular" pitchFamily="34" charset="-122"/>
                <a:cs typeface="Arial Regular" pitchFamily="34" charset="-120"/>
              </a:rPr>
              <a:t> Producto Completo</a:t>
            </a:r>
          </a:p>
          <a:p>
            <a:pPr>
              <a:lnSpc>
                <a:spcPct val="100000"/>
              </a:lnSpc>
            </a:pPr>
            <a:endParaRPr lang="es-ES" sz="2000" b="1" spc="-100" noProof="0" dirty="0"/>
          </a:p>
        </p:txBody>
      </p:sp>
      <p:sp>
        <p:nvSpPr>
          <p:cNvPr id="5" name="Marcador de texto 4">
            <a:extLst>
              <a:ext uri="{FF2B5EF4-FFF2-40B4-BE49-F238E27FC236}">
                <a16:creationId xmlns:a16="http://schemas.microsoft.com/office/drawing/2014/main" id="{4D59CC7D-A511-335A-79D6-4963B649A825}"/>
              </a:ext>
            </a:extLst>
          </p:cNvPr>
          <p:cNvSpPr>
            <a:spLocks noGrp="1"/>
          </p:cNvSpPr>
          <p:nvPr>
            <p:ph type="body" sz="quarter" idx="13"/>
          </p:nvPr>
        </p:nvSpPr>
        <p:spPr/>
        <p:txBody>
          <a:bodyPr/>
          <a:lstStyle/>
          <a:p>
            <a:r>
              <a:rPr lang="es-ES" spc="-67"/>
              <a:t>Conclusiones Defensas RFI Proyecto HCM</a:t>
            </a:r>
          </a:p>
        </p:txBody>
      </p:sp>
      <p:sp>
        <p:nvSpPr>
          <p:cNvPr id="11" name="Rectángulo 10">
            <a:extLst>
              <a:ext uri="{FF2B5EF4-FFF2-40B4-BE49-F238E27FC236}">
                <a16:creationId xmlns:a16="http://schemas.microsoft.com/office/drawing/2014/main" id="{F8AF8BCE-DDE6-484A-0C7B-1CB5B30DE35B}"/>
              </a:ext>
            </a:extLst>
          </p:cNvPr>
          <p:cNvSpPr/>
          <p:nvPr/>
        </p:nvSpPr>
        <p:spPr>
          <a:xfrm>
            <a:off x="499440" y="1065938"/>
            <a:ext cx="3698465"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name_907K">
            <a:extLst>
              <a:ext uri="{FF2B5EF4-FFF2-40B4-BE49-F238E27FC236}">
                <a16:creationId xmlns:a16="http://schemas.microsoft.com/office/drawing/2014/main" id="{755B5558-5B00-5640-90E7-B80FC421B3EF}"/>
              </a:ext>
            </a:extLst>
          </p:cNvPr>
          <p:cNvSpPr/>
          <p:nvPr/>
        </p:nvSpPr>
        <p:spPr>
          <a:xfrm>
            <a:off x="650591" y="1207302"/>
            <a:ext cx="1553690"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296</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14" name="Picture 4" descr="Comprar acciones de Oracle este 2024: Lo que necesitas saber - The Investor  U">
            <a:extLst>
              <a:ext uri="{FF2B5EF4-FFF2-40B4-BE49-F238E27FC236}">
                <a16:creationId xmlns:a16="http://schemas.microsoft.com/office/drawing/2014/main" id="{DA724232-124F-C868-5810-64A44D06EB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019" y="1019555"/>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40F1390F-305A-0A59-C2C6-4D4690F377C3}"/>
              </a:ext>
            </a:extLst>
          </p:cNvPr>
          <p:cNvSpPr/>
          <p:nvPr/>
        </p:nvSpPr>
        <p:spPr>
          <a:xfrm>
            <a:off x="4552440" y="1065938"/>
            <a:ext cx="368213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name_907K">
            <a:extLst>
              <a:ext uri="{FF2B5EF4-FFF2-40B4-BE49-F238E27FC236}">
                <a16:creationId xmlns:a16="http://schemas.microsoft.com/office/drawing/2014/main" id="{C0B4258E-7323-952F-C9AF-47826D6BF763}"/>
              </a:ext>
            </a:extLst>
          </p:cNvPr>
          <p:cNvSpPr/>
          <p:nvPr/>
        </p:nvSpPr>
        <p:spPr>
          <a:xfrm>
            <a:off x="4701736" y="1203797"/>
            <a:ext cx="2187940"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511</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18" name="Picture 2" descr="Workday at Wake Forest - Workday">
            <a:extLst>
              <a:ext uri="{FF2B5EF4-FFF2-40B4-BE49-F238E27FC236}">
                <a16:creationId xmlns:a16="http://schemas.microsoft.com/office/drawing/2014/main" id="{C51DE618-737F-BD30-65B3-4AF9782025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724" y="1133283"/>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C5C993B4-03A0-D923-B380-E907F77CCA57}"/>
              </a:ext>
            </a:extLst>
          </p:cNvPr>
          <p:cNvSpPr/>
          <p:nvPr/>
        </p:nvSpPr>
        <p:spPr>
          <a:xfrm>
            <a:off x="8445472" y="1065938"/>
            <a:ext cx="3651092"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name_907K">
            <a:extLst>
              <a:ext uri="{FF2B5EF4-FFF2-40B4-BE49-F238E27FC236}">
                <a16:creationId xmlns:a16="http://schemas.microsoft.com/office/drawing/2014/main" id="{DB4237A7-1022-46B0-50E2-9C5F9A027555}"/>
              </a:ext>
            </a:extLst>
          </p:cNvPr>
          <p:cNvSpPr/>
          <p:nvPr/>
        </p:nvSpPr>
        <p:spPr>
          <a:xfrm>
            <a:off x="8625508" y="1203797"/>
            <a:ext cx="1834992" cy="457200"/>
          </a:xfrm>
          <a:prstGeom prst="rect">
            <a:avLst/>
          </a:prstGeom>
          <a:noFill/>
          <a:ln/>
        </p:spPr>
        <p:txBody>
          <a:bodyPr wrap="square" lIns="0" tIns="0" rIns="0" bIns="0" rtlCol="0" anchor="ctr"/>
          <a:lstStyle/>
          <a:p>
            <a:pPr>
              <a:lnSpc>
                <a:spcPts val="3600"/>
              </a:lnSpc>
            </a:pPr>
            <a:r>
              <a:rPr lang="en-US" sz="3300" kern="0" spc="-75" dirty="0">
                <a:solidFill>
                  <a:srgbClr val="1A1A1A"/>
                </a:solidFill>
                <a:latin typeface="Arial Regular" pitchFamily="34" charset="0"/>
                <a:ea typeface="Arial Regular" pitchFamily="34" charset="-122"/>
                <a:cs typeface="Arial Regular" pitchFamily="34" charset="-120"/>
              </a:rPr>
              <a:t>293</a:t>
            </a:r>
            <a:r>
              <a:rPr lang="en-US" sz="2400" kern="0" spc="-75" dirty="0">
                <a:solidFill>
                  <a:srgbClr val="1A1A1A"/>
                </a:solidFill>
                <a:latin typeface="Arial Regular" pitchFamily="34" charset="0"/>
                <a:ea typeface="Arial Regular" pitchFamily="34" charset="-122"/>
                <a:cs typeface="Arial Regular" pitchFamily="34" charset="-120"/>
              </a:rPr>
              <a:t> </a:t>
            </a:r>
            <a:r>
              <a:rPr lang="en-US" sz="3300" kern="0" spc="-75" dirty="0">
                <a:solidFill>
                  <a:srgbClr val="1A1A1A"/>
                </a:solidFill>
                <a:latin typeface="Arial Regular" pitchFamily="34" charset="0"/>
                <a:ea typeface="Arial Regular" pitchFamily="34" charset="-122"/>
                <a:cs typeface="Arial Regular" pitchFamily="34" charset="-120"/>
              </a:rPr>
              <a:t>K</a:t>
            </a:r>
            <a:endParaRPr lang="en-US" sz="3300" spc="-75" dirty="0"/>
          </a:p>
        </p:txBody>
      </p:sp>
      <p:pic>
        <p:nvPicPr>
          <p:cNvPr id="22" name="Picture 4" descr="Qué es SAP y para qué sirve | sapfi.eu">
            <a:extLst>
              <a:ext uri="{FF2B5EF4-FFF2-40B4-BE49-F238E27FC236}">
                <a16:creationId xmlns:a16="http://schemas.microsoft.com/office/drawing/2014/main" id="{80176051-58CB-0082-6C64-AFB08BD71E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3786" y="998920"/>
            <a:ext cx="575246" cy="575246"/>
          </a:xfrm>
          <a:prstGeom prst="rect">
            <a:avLst/>
          </a:prstGeom>
          <a:noFill/>
          <a:extLst>
            <a:ext uri="{909E8E84-426E-40DD-AFC4-6F175D3DCCD1}">
              <a14:hiddenFill xmlns:a14="http://schemas.microsoft.com/office/drawing/2010/main">
                <a:solidFill>
                  <a:srgbClr val="FFFFFF"/>
                </a:solidFill>
              </a14:hiddenFill>
            </a:ext>
          </a:extLst>
        </p:spPr>
      </p:pic>
      <p:pic>
        <p:nvPicPr>
          <p:cNvPr id="23" name="Gráfico 22" descr="Impuestos con relleno sólido">
            <a:extLst>
              <a:ext uri="{FF2B5EF4-FFF2-40B4-BE49-F238E27FC236}">
                <a16:creationId xmlns:a16="http://schemas.microsoft.com/office/drawing/2014/main" id="{D578E9CF-BC2B-D60F-4C13-F07DBF72FF3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09157" y="1354439"/>
            <a:ext cx="385528" cy="385528"/>
          </a:xfrm>
          <a:prstGeom prst="rect">
            <a:avLst/>
          </a:prstGeom>
        </p:spPr>
      </p:pic>
      <p:sp>
        <p:nvSpPr>
          <p:cNvPr id="26" name="Rectángulo 25">
            <a:extLst>
              <a:ext uri="{FF2B5EF4-FFF2-40B4-BE49-F238E27FC236}">
                <a16:creationId xmlns:a16="http://schemas.microsoft.com/office/drawing/2014/main" id="{36C252EA-FF0C-F5AD-FB73-D1721C7FE197}"/>
              </a:ext>
            </a:extLst>
          </p:cNvPr>
          <p:cNvSpPr/>
          <p:nvPr/>
        </p:nvSpPr>
        <p:spPr>
          <a:xfrm>
            <a:off x="499440" y="1971544"/>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name_907K">
            <a:extLst>
              <a:ext uri="{FF2B5EF4-FFF2-40B4-BE49-F238E27FC236}">
                <a16:creationId xmlns:a16="http://schemas.microsoft.com/office/drawing/2014/main" id="{ABE55CAB-7D49-5F4E-7461-C5528D93DE6E}"/>
              </a:ext>
            </a:extLst>
          </p:cNvPr>
          <p:cNvSpPr/>
          <p:nvPr/>
        </p:nvSpPr>
        <p:spPr>
          <a:xfrm>
            <a:off x="1007781" y="2768816"/>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269 K</a:t>
            </a:r>
            <a:endParaRPr lang="en-US" sz="2400" spc="-75" dirty="0"/>
          </a:p>
        </p:txBody>
      </p:sp>
      <p:pic>
        <p:nvPicPr>
          <p:cNvPr id="57" name="Gráfico 56" descr="Impuestos con relleno sólido">
            <a:extLst>
              <a:ext uri="{FF2B5EF4-FFF2-40B4-BE49-F238E27FC236}">
                <a16:creationId xmlns:a16="http://schemas.microsoft.com/office/drawing/2014/main" id="{1D40BDAE-0DD0-84AF-F410-F70D1F5661F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92890" y="1354438"/>
            <a:ext cx="385528" cy="385528"/>
          </a:xfrm>
          <a:prstGeom prst="rect">
            <a:avLst/>
          </a:prstGeom>
        </p:spPr>
      </p:pic>
      <p:pic>
        <p:nvPicPr>
          <p:cNvPr id="58" name="Gráfico 57" descr="Impuestos con relleno sólido">
            <a:extLst>
              <a:ext uri="{FF2B5EF4-FFF2-40B4-BE49-F238E27FC236}">
                <a16:creationId xmlns:a16="http://schemas.microsoft.com/office/drawing/2014/main" id="{786B1504-2E54-E474-A555-D3EC5A1226F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529158" y="1348611"/>
            <a:ext cx="385528" cy="385528"/>
          </a:xfrm>
          <a:prstGeom prst="rect">
            <a:avLst/>
          </a:prstGeom>
        </p:spPr>
      </p:pic>
      <p:sp>
        <p:nvSpPr>
          <p:cNvPr id="67" name="Total asegurados">
            <a:extLst>
              <a:ext uri="{FF2B5EF4-FFF2-40B4-BE49-F238E27FC236}">
                <a16:creationId xmlns:a16="http://schemas.microsoft.com/office/drawing/2014/main" id="{B27E7DE9-EE9D-EE66-EF07-B0AEA93892D0}"/>
              </a:ext>
            </a:extLst>
          </p:cNvPr>
          <p:cNvSpPr/>
          <p:nvPr/>
        </p:nvSpPr>
        <p:spPr>
          <a:xfrm>
            <a:off x="3117108" y="1493284"/>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2 año</a:t>
            </a:r>
            <a:endParaRPr lang="es-ES_tradnl" sz="1125" i="1" noProof="0" dirty="0"/>
          </a:p>
        </p:txBody>
      </p:sp>
      <p:sp>
        <p:nvSpPr>
          <p:cNvPr id="68" name="Total asegurados">
            <a:extLst>
              <a:ext uri="{FF2B5EF4-FFF2-40B4-BE49-F238E27FC236}">
                <a16:creationId xmlns:a16="http://schemas.microsoft.com/office/drawing/2014/main" id="{DDC7B51C-EDC1-796C-E538-BE6021D3C9BE}"/>
              </a:ext>
            </a:extLst>
          </p:cNvPr>
          <p:cNvSpPr/>
          <p:nvPr/>
        </p:nvSpPr>
        <p:spPr>
          <a:xfrm>
            <a:off x="7090349" y="1505192"/>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2</a:t>
            </a:r>
            <a:r>
              <a:rPr lang="es-ES_tradnl" sz="1125" i="1" kern="0" dirty="0">
                <a:solidFill>
                  <a:srgbClr val="1A1A1A">
                    <a:alpha val="65000"/>
                  </a:srgbClr>
                </a:solidFill>
                <a:latin typeface="Arial Regular" pitchFamily="34" charset="0"/>
                <a:ea typeface="Arial Regular" pitchFamily="34" charset="-122"/>
                <a:cs typeface="Arial Regular" pitchFamily="34" charset="-120"/>
              </a:rPr>
              <a:t> </a:t>
            </a: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año</a:t>
            </a:r>
            <a:endParaRPr lang="es-ES_tradnl" sz="1125" i="1" noProof="0" dirty="0"/>
          </a:p>
        </p:txBody>
      </p:sp>
      <p:sp>
        <p:nvSpPr>
          <p:cNvPr id="69" name="Total asegurados">
            <a:extLst>
              <a:ext uri="{FF2B5EF4-FFF2-40B4-BE49-F238E27FC236}">
                <a16:creationId xmlns:a16="http://schemas.microsoft.com/office/drawing/2014/main" id="{8AB8262C-94E8-5C60-1405-C27B61E1D8D7}"/>
              </a:ext>
            </a:extLst>
          </p:cNvPr>
          <p:cNvSpPr/>
          <p:nvPr/>
        </p:nvSpPr>
        <p:spPr>
          <a:xfrm>
            <a:off x="11061955" y="1492081"/>
            <a:ext cx="801154" cy="155766"/>
          </a:xfrm>
          <a:prstGeom prst="rect">
            <a:avLst/>
          </a:prstGeom>
          <a:noFill/>
          <a:ln/>
        </p:spPr>
        <p:txBody>
          <a:bodyPr wrap="square" lIns="0" tIns="0" rIns="0" bIns="0" rtlCol="0" anchor="ctr"/>
          <a:lstStyle/>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2 año</a:t>
            </a:r>
            <a:endParaRPr lang="es-ES_tradnl" sz="1125" i="1" noProof="0" dirty="0"/>
          </a:p>
        </p:txBody>
      </p:sp>
      <p:sp>
        <p:nvSpPr>
          <p:cNvPr id="3" name="Rectángulo 2">
            <a:extLst>
              <a:ext uri="{FF2B5EF4-FFF2-40B4-BE49-F238E27FC236}">
                <a16:creationId xmlns:a16="http://schemas.microsoft.com/office/drawing/2014/main" id="{568E72D9-21AC-36AB-F952-17786FA9954D}"/>
              </a:ext>
            </a:extLst>
          </p:cNvPr>
          <p:cNvSpPr/>
          <p:nvPr/>
        </p:nvSpPr>
        <p:spPr>
          <a:xfrm rot="21340932">
            <a:off x="9764134" y="239403"/>
            <a:ext cx="1476686" cy="400110"/>
          </a:xfrm>
          <a:prstGeom prst="rect">
            <a:avLst/>
          </a:prstGeom>
          <a:noFill/>
          <a:ln w="19050">
            <a:solidFill>
              <a:srgbClr val="C00000"/>
            </a:solidFill>
          </a:ln>
          <a:effectLst>
            <a:outerShdw blurRad="50800" dist="38100" dir="5400000" algn="t" rotWithShape="0">
              <a:prstClr val="black">
                <a:alpha val="40000"/>
              </a:prstClr>
            </a:outerShdw>
          </a:effectLst>
        </p:spPr>
        <p:txBody>
          <a:bodyPr wrap="none" lIns="91440" tIns="45720" rIns="91440" bIns="45720">
            <a:spAutoFit/>
          </a:bodyPr>
          <a:lstStyle/>
          <a:p>
            <a:pPr algn="ctr"/>
            <a:r>
              <a:rPr lang="es-ES" sz="2000" b="0" cap="none" spc="0" dirty="0">
                <a:ln w="0"/>
                <a:solidFill>
                  <a:schemeClr val="tx1"/>
                </a:solidFill>
                <a:effectLst>
                  <a:outerShdw blurRad="38100" dist="19050" dir="2700000" algn="tl" rotWithShape="0">
                    <a:schemeClr val="dk1">
                      <a:alpha val="40000"/>
                    </a:schemeClr>
                  </a:outerShdw>
                </a:effectLst>
              </a:rPr>
              <a:t>Escenario 3</a:t>
            </a:r>
          </a:p>
        </p:txBody>
      </p:sp>
      <p:sp>
        <p:nvSpPr>
          <p:cNvPr id="7" name="Rectángulo 6">
            <a:extLst>
              <a:ext uri="{FF2B5EF4-FFF2-40B4-BE49-F238E27FC236}">
                <a16:creationId xmlns:a16="http://schemas.microsoft.com/office/drawing/2014/main" id="{EF41E9FE-3C84-648A-FDCF-8F448C5C7A0E}"/>
              </a:ext>
            </a:extLst>
          </p:cNvPr>
          <p:cNvSpPr/>
          <p:nvPr/>
        </p:nvSpPr>
        <p:spPr>
          <a:xfrm>
            <a:off x="2318377" y="1937131"/>
            <a:ext cx="1879529" cy="1386133"/>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Total asegurados">
            <a:extLst>
              <a:ext uri="{FF2B5EF4-FFF2-40B4-BE49-F238E27FC236}">
                <a16:creationId xmlns:a16="http://schemas.microsoft.com/office/drawing/2014/main" id="{6AC7F77A-89E4-EDAB-0062-25693D1696F5}"/>
              </a:ext>
            </a:extLst>
          </p:cNvPr>
          <p:cNvSpPr/>
          <p:nvPr/>
        </p:nvSpPr>
        <p:spPr>
          <a:xfrm>
            <a:off x="499440" y="2163153"/>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HCM CLOUD</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10" name="Rectángulo 9">
            <a:extLst>
              <a:ext uri="{FF2B5EF4-FFF2-40B4-BE49-F238E27FC236}">
                <a16:creationId xmlns:a16="http://schemas.microsoft.com/office/drawing/2014/main" id="{66B57059-FC76-A38E-1B5A-8ABEFE1DAFDA}"/>
              </a:ext>
            </a:extLst>
          </p:cNvPr>
          <p:cNvSpPr/>
          <p:nvPr/>
        </p:nvSpPr>
        <p:spPr>
          <a:xfrm>
            <a:off x="2318377" y="3376820"/>
            <a:ext cx="1879529" cy="1156461"/>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1" name="name_907K">
            <a:extLst>
              <a:ext uri="{FF2B5EF4-FFF2-40B4-BE49-F238E27FC236}">
                <a16:creationId xmlns:a16="http://schemas.microsoft.com/office/drawing/2014/main" id="{AE99313B-B8B7-211B-705C-2B45B3E6C76F}"/>
              </a:ext>
            </a:extLst>
          </p:cNvPr>
          <p:cNvSpPr/>
          <p:nvPr/>
        </p:nvSpPr>
        <p:spPr>
          <a:xfrm>
            <a:off x="2827211" y="2499780"/>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90 K</a:t>
            </a:r>
          </a:p>
        </p:txBody>
      </p:sp>
      <p:sp>
        <p:nvSpPr>
          <p:cNvPr id="24" name="Total asegurados">
            <a:extLst>
              <a:ext uri="{FF2B5EF4-FFF2-40B4-BE49-F238E27FC236}">
                <a16:creationId xmlns:a16="http://schemas.microsoft.com/office/drawing/2014/main" id="{422E8812-2A11-5698-81F9-02DEFE4D4FC8}"/>
              </a:ext>
            </a:extLst>
          </p:cNvPr>
          <p:cNvSpPr/>
          <p:nvPr/>
        </p:nvSpPr>
        <p:spPr>
          <a:xfrm>
            <a:off x="2318870" y="2052373"/>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27" name="name_907K">
            <a:extLst>
              <a:ext uri="{FF2B5EF4-FFF2-40B4-BE49-F238E27FC236}">
                <a16:creationId xmlns:a16="http://schemas.microsoft.com/office/drawing/2014/main" id="{7C0D85FD-ABCA-BAEB-DB10-6708B3432886}"/>
              </a:ext>
            </a:extLst>
          </p:cNvPr>
          <p:cNvSpPr/>
          <p:nvPr/>
        </p:nvSpPr>
        <p:spPr>
          <a:xfrm>
            <a:off x="2770979" y="4078201"/>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30 K</a:t>
            </a:r>
          </a:p>
        </p:txBody>
      </p:sp>
      <p:sp>
        <p:nvSpPr>
          <p:cNvPr id="28" name="Total asegurados">
            <a:extLst>
              <a:ext uri="{FF2B5EF4-FFF2-40B4-BE49-F238E27FC236}">
                <a16:creationId xmlns:a16="http://schemas.microsoft.com/office/drawing/2014/main" id="{DEA7E1AD-95A4-15D1-3B40-9E63F7E8D82D}"/>
              </a:ext>
            </a:extLst>
          </p:cNvPr>
          <p:cNvSpPr/>
          <p:nvPr/>
        </p:nvSpPr>
        <p:spPr>
          <a:xfrm>
            <a:off x="2318377" y="3468982"/>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33" name="Rectángulo 32">
            <a:extLst>
              <a:ext uri="{FF2B5EF4-FFF2-40B4-BE49-F238E27FC236}">
                <a16:creationId xmlns:a16="http://schemas.microsoft.com/office/drawing/2014/main" id="{E9499DC6-C91C-359D-4F00-EE07903DD8CD}"/>
              </a:ext>
            </a:extLst>
          </p:cNvPr>
          <p:cNvSpPr/>
          <p:nvPr/>
        </p:nvSpPr>
        <p:spPr>
          <a:xfrm>
            <a:off x="4536113" y="2038361"/>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name_907K">
            <a:extLst>
              <a:ext uri="{FF2B5EF4-FFF2-40B4-BE49-F238E27FC236}">
                <a16:creationId xmlns:a16="http://schemas.microsoft.com/office/drawing/2014/main" id="{A143AB15-CE0C-24BD-3798-0A843839C060}"/>
              </a:ext>
            </a:extLst>
          </p:cNvPr>
          <p:cNvSpPr/>
          <p:nvPr/>
        </p:nvSpPr>
        <p:spPr>
          <a:xfrm>
            <a:off x="5044454" y="2835633"/>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501 K</a:t>
            </a:r>
            <a:endParaRPr lang="en-US" sz="2400" spc="-75" dirty="0"/>
          </a:p>
        </p:txBody>
      </p:sp>
      <p:sp>
        <p:nvSpPr>
          <p:cNvPr id="35" name="Rectángulo 34">
            <a:extLst>
              <a:ext uri="{FF2B5EF4-FFF2-40B4-BE49-F238E27FC236}">
                <a16:creationId xmlns:a16="http://schemas.microsoft.com/office/drawing/2014/main" id="{CE11C203-44B6-61DC-B0D8-DF5041414087}"/>
              </a:ext>
            </a:extLst>
          </p:cNvPr>
          <p:cNvSpPr/>
          <p:nvPr/>
        </p:nvSpPr>
        <p:spPr>
          <a:xfrm>
            <a:off x="6355050" y="2003948"/>
            <a:ext cx="1879529" cy="1351046"/>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Total asegurados">
            <a:extLst>
              <a:ext uri="{FF2B5EF4-FFF2-40B4-BE49-F238E27FC236}">
                <a16:creationId xmlns:a16="http://schemas.microsoft.com/office/drawing/2014/main" id="{A879780F-E4C7-A353-12F5-03474E486038}"/>
              </a:ext>
            </a:extLst>
          </p:cNvPr>
          <p:cNvSpPr/>
          <p:nvPr/>
        </p:nvSpPr>
        <p:spPr>
          <a:xfrm>
            <a:off x="4536113" y="2229970"/>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WORKDAY CLOUD</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41" name="Rectángulo 40">
            <a:extLst>
              <a:ext uri="{FF2B5EF4-FFF2-40B4-BE49-F238E27FC236}">
                <a16:creationId xmlns:a16="http://schemas.microsoft.com/office/drawing/2014/main" id="{AC71D83C-D92B-960D-0B46-A04334531BDA}"/>
              </a:ext>
            </a:extLst>
          </p:cNvPr>
          <p:cNvSpPr/>
          <p:nvPr/>
        </p:nvSpPr>
        <p:spPr>
          <a:xfrm>
            <a:off x="6355050" y="3473532"/>
            <a:ext cx="1879529" cy="1059749"/>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4" name="name_907K">
            <a:extLst>
              <a:ext uri="{FF2B5EF4-FFF2-40B4-BE49-F238E27FC236}">
                <a16:creationId xmlns:a16="http://schemas.microsoft.com/office/drawing/2014/main" id="{CDEA5681-C67C-35CC-6B71-867FABAA08F2}"/>
              </a:ext>
            </a:extLst>
          </p:cNvPr>
          <p:cNvSpPr/>
          <p:nvPr/>
        </p:nvSpPr>
        <p:spPr>
          <a:xfrm>
            <a:off x="6863884" y="2830360"/>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90 K</a:t>
            </a:r>
          </a:p>
        </p:txBody>
      </p:sp>
      <p:sp>
        <p:nvSpPr>
          <p:cNvPr id="47" name="Total asegurados">
            <a:extLst>
              <a:ext uri="{FF2B5EF4-FFF2-40B4-BE49-F238E27FC236}">
                <a16:creationId xmlns:a16="http://schemas.microsoft.com/office/drawing/2014/main" id="{00C783EC-CD8A-AB35-E5AF-652C7B63EB63}"/>
              </a:ext>
            </a:extLst>
          </p:cNvPr>
          <p:cNvSpPr/>
          <p:nvPr/>
        </p:nvSpPr>
        <p:spPr>
          <a:xfrm>
            <a:off x="6355543" y="2224697"/>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53" name="name_907K">
            <a:extLst>
              <a:ext uri="{FF2B5EF4-FFF2-40B4-BE49-F238E27FC236}">
                <a16:creationId xmlns:a16="http://schemas.microsoft.com/office/drawing/2014/main" id="{F5C2FF98-7CD3-0475-E412-C0C519C458D7}"/>
              </a:ext>
            </a:extLst>
          </p:cNvPr>
          <p:cNvSpPr/>
          <p:nvPr/>
        </p:nvSpPr>
        <p:spPr>
          <a:xfrm>
            <a:off x="6875159" y="4134291"/>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30 K</a:t>
            </a:r>
          </a:p>
        </p:txBody>
      </p:sp>
      <p:sp>
        <p:nvSpPr>
          <p:cNvPr id="56" name="Total asegurados">
            <a:extLst>
              <a:ext uri="{FF2B5EF4-FFF2-40B4-BE49-F238E27FC236}">
                <a16:creationId xmlns:a16="http://schemas.microsoft.com/office/drawing/2014/main" id="{85255581-2873-45A1-760D-9404D0D780D7}"/>
              </a:ext>
            </a:extLst>
          </p:cNvPr>
          <p:cNvSpPr/>
          <p:nvPr/>
        </p:nvSpPr>
        <p:spPr>
          <a:xfrm>
            <a:off x="6355050" y="3545554"/>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0" name="Rectángulo 69">
            <a:extLst>
              <a:ext uri="{FF2B5EF4-FFF2-40B4-BE49-F238E27FC236}">
                <a16:creationId xmlns:a16="http://schemas.microsoft.com/office/drawing/2014/main" id="{53A9841D-6EDD-4723-CA21-B0405C766ABB}"/>
              </a:ext>
            </a:extLst>
          </p:cNvPr>
          <p:cNvSpPr/>
          <p:nvPr/>
        </p:nvSpPr>
        <p:spPr>
          <a:xfrm>
            <a:off x="8398098" y="2034408"/>
            <a:ext cx="1704841" cy="1320585"/>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 name="name_907K">
            <a:extLst>
              <a:ext uri="{FF2B5EF4-FFF2-40B4-BE49-F238E27FC236}">
                <a16:creationId xmlns:a16="http://schemas.microsoft.com/office/drawing/2014/main" id="{FD765DB7-AC39-1CF6-B70D-34546E25EC1C}"/>
              </a:ext>
            </a:extLst>
          </p:cNvPr>
          <p:cNvSpPr/>
          <p:nvPr/>
        </p:nvSpPr>
        <p:spPr>
          <a:xfrm>
            <a:off x="8906439" y="2831680"/>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293 K</a:t>
            </a:r>
            <a:endParaRPr lang="en-US" sz="2400" spc="-75" dirty="0"/>
          </a:p>
        </p:txBody>
      </p:sp>
      <p:sp>
        <p:nvSpPr>
          <p:cNvPr id="72" name="Rectángulo 71">
            <a:extLst>
              <a:ext uri="{FF2B5EF4-FFF2-40B4-BE49-F238E27FC236}">
                <a16:creationId xmlns:a16="http://schemas.microsoft.com/office/drawing/2014/main" id="{D6C91E10-CFBF-DFDD-B2DE-D4B58F36050C}"/>
              </a:ext>
            </a:extLst>
          </p:cNvPr>
          <p:cNvSpPr/>
          <p:nvPr/>
        </p:nvSpPr>
        <p:spPr>
          <a:xfrm>
            <a:off x="10217035" y="1999995"/>
            <a:ext cx="1879529" cy="1358952"/>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Total asegurados">
            <a:extLst>
              <a:ext uri="{FF2B5EF4-FFF2-40B4-BE49-F238E27FC236}">
                <a16:creationId xmlns:a16="http://schemas.microsoft.com/office/drawing/2014/main" id="{11D38CF9-3191-5D65-AA5C-6996BF23E886}"/>
              </a:ext>
            </a:extLst>
          </p:cNvPr>
          <p:cNvSpPr/>
          <p:nvPr/>
        </p:nvSpPr>
        <p:spPr>
          <a:xfrm>
            <a:off x="8398098" y="2226017"/>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SUCCESS FACTORS</a:t>
            </a: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4" name="Rectángulo 73">
            <a:extLst>
              <a:ext uri="{FF2B5EF4-FFF2-40B4-BE49-F238E27FC236}">
                <a16:creationId xmlns:a16="http://schemas.microsoft.com/office/drawing/2014/main" id="{484C7A6B-C512-1574-3B5D-736EE17B5B9D}"/>
              </a:ext>
            </a:extLst>
          </p:cNvPr>
          <p:cNvSpPr/>
          <p:nvPr/>
        </p:nvSpPr>
        <p:spPr>
          <a:xfrm>
            <a:off x="10217035" y="3469579"/>
            <a:ext cx="1879529" cy="1121912"/>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5" name="name_907K">
            <a:extLst>
              <a:ext uri="{FF2B5EF4-FFF2-40B4-BE49-F238E27FC236}">
                <a16:creationId xmlns:a16="http://schemas.microsoft.com/office/drawing/2014/main" id="{A8EB7D8C-80C6-44D5-C2EC-7BE9995925ED}"/>
              </a:ext>
            </a:extLst>
          </p:cNvPr>
          <p:cNvSpPr/>
          <p:nvPr/>
        </p:nvSpPr>
        <p:spPr>
          <a:xfrm>
            <a:off x="10725869" y="2826407"/>
            <a:ext cx="839310" cy="457200"/>
          </a:xfrm>
          <a:prstGeom prst="rect">
            <a:avLst/>
          </a:prstGeom>
          <a:noFill/>
          <a:ln/>
        </p:spPr>
        <p:txBody>
          <a:bodyPr wrap="square" lIns="0" tIns="0" rIns="0" bIns="0" rtlCol="0" anchor="ctr"/>
          <a:lstStyle/>
          <a:p>
            <a:pPr>
              <a:lnSpc>
                <a:spcPts val="3600"/>
              </a:lnSpc>
            </a:pPr>
            <a:r>
              <a:rPr lang="en-US" sz="2400" kern="0" spc="-75" dirty="0">
                <a:solidFill>
                  <a:srgbClr val="1A1A1A"/>
                </a:solidFill>
                <a:latin typeface="Arial Regular" pitchFamily="34" charset="0"/>
                <a:ea typeface="Arial Regular" pitchFamily="34" charset="-122"/>
                <a:cs typeface="Arial Regular" pitchFamily="34" charset="-120"/>
              </a:rPr>
              <a:t>90 K</a:t>
            </a:r>
          </a:p>
        </p:txBody>
      </p:sp>
      <p:sp>
        <p:nvSpPr>
          <p:cNvPr id="76" name="Total asegurados">
            <a:extLst>
              <a:ext uri="{FF2B5EF4-FFF2-40B4-BE49-F238E27FC236}">
                <a16:creationId xmlns:a16="http://schemas.microsoft.com/office/drawing/2014/main" id="{C02A3D7F-1558-457A-4F3A-96B378BD805D}"/>
              </a:ext>
            </a:extLst>
          </p:cNvPr>
          <p:cNvSpPr/>
          <p:nvPr/>
        </p:nvSpPr>
        <p:spPr>
          <a:xfrm>
            <a:off x="10217528" y="2220744"/>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LICENCIAS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endParaRPr lang="es-ES_tradnl" sz="1125"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78" name="name_907K">
            <a:extLst>
              <a:ext uri="{FF2B5EF4-FFF2-40B4-BE49-F238E27FC236}">
                <a16:creationId xmlns:a16="http://schemas.microsoft.com/office/drawing/2014/main" id="{1AC11B2F-C4F7-C95D-97B0-38DC046F40CC}"/>
              </a:ext>
            </a:extLst>
          </p:cNvPr>
          <p:cNvSpPr/>
          <p:nvPr/>
        </p:nvSpPr>
        <p:spPr>
          <a:xfrm>
            <a:off x="10759479" y="4076081"/>
            <a:ext cx="839310" cy="457200"/>
          </a:xfrm>
          <a:prstGeom prst="rect">
            <a:avLst/>
          </a:prstGeom>
          <a:noFill/>
          <a:ln/>
        </p:spPr>
        <p:txBody>
          <a:bodyPr wrap="square" lIns="0" tIns="0" rIns="0" bIns="0" rtlCol="0" anchor="ctr"/>
          <a:lstStyle/>
          <a:p>
            <a:pPr>
              <a:lnSpc>
                <a:spcPts val="3600"/>
              </a:lnSpc>
            </a:pPr>
            <a:r>
              <a:rPr lang="en-US" sz="2400" kern="0" spc="-75">
                <a:solidFill>
                  <a:srgbClr val="1A1A1A"/>
                </a:solidFill>
                <a:latin typeface="Arial Regular" pitchFamily="34" charset="0"/>
                <a:ea typeface="Arial Regular" pitchFamily="34" charset="-122"/>
                <a:cs typeface="Arial Regular" pitchFamily="34" charset="-120"/>
              </a:rPr>
              <a:t>30 </a:t>
            </a:r>
            <a:r>
              <a:rPr lang="en-US" sz="2400" kern="0" spc="-75" dirty="0">
                <a:solidFill>
                  <a:srgbClr val="1A1A1A"/>
                </a:solidFill>
                <a:latin typeface="Arial Regular" pitchFamily="34" charset="0"/>
                <a:ea typeface="Arial Regular" pitchFamily="34" charset="-122"/>
                <a:cs typeface="Arial Regular" pitchFamily="34" charset="-120"/>
              </a:rPr>
              <a:t>K</a:t>
            </a:r>
          </a:p>
        </p:txBody>
      </p:sp>
      <p:sp>
        <p:nvSpPr>
          <p:cNvPr id="79" name="Total asegurados">
            <a:extLst>
              <a:ext uri="{FF2B5EF4-FFF2-40B4-BE49-F238E27FC236}">
                <a16:creationId xmlns:a16="http://schemas.microsoft.com/office/drawing/2014/main" id="{789D20FF-2BBF-6078-5DE8-A2978AC83BD7}"/>
              </a:ext>
            </a:extLst>
          </p:cNvPr>
          <p:cNvSpPr/>
          <p:nvPr/>
        </p:nvSpPr>
        <p:spPr>
          <a:xfrm>
            <a:off x="10235483" y="3537340"/>
            <a:ext cx="1704841" cy="543158"/>
          </a:xfrm>
          <a:prstGeom prst="rect">
            <a:avLst/>
          </a:prstGeom>
          <a:noFill/>
          <a:ln/>
        </p:spPr>
        <p:txBody>
          <a:bodyPr wrap="square" lIns="0" tIns="0" rIns="0" bIns="0" rtlCol="0" anchor="ctr"/>
          <a:lstStyle/>
          <a:p>
            <a:pPr algn="ctr">
              <a:lnSpc>
                <a:spcPts val="1457"/>
              </a:lnSpc>
            </a:pPr>
            <a:r>
              <a:rPr lang="es-ES_tradnl" sz="1125" b="1" i="1" kern="0" noProof="0" dirty="0">
                <a:solidFill>
                  <a:srgbClr val="1A1A1A">
                    <a:alpha val="65000"/>
                  </a:srgbClr>
                </a:solidFill>
                <a:latin typeface="Arial Regular" pitchFamily="34" charset="0"/>
                <a:ea typeface="Arial Regular" pitchFamily="34" charset="-122"/>
                <a:cs typeface="Arial Regular" pitchFamily="34" charset="-120"/>
              </a:rPr>
              <a:t>SERVIDORES </a:t>
            </a:r>
          </a:p>
          <a:p>
            <a:pPr algn="ctr">
              <a:lnSpc>
                <a:spcPts val="1457"/>
              </a:lnSpc>
            </a:pPr>
            <a:r>
              <a:rPr lang="es-ES_tradnl" sz="1125" b="1" i="1" kern="0" dirty="0">
                <a:solidFill>
                  <a:srgbClr val="1A1A1A">
                    <a:alpha val="65000"/>
                  </a:srgbClr>
                </a:solidFill>
                <a:latin typeface="Arial Regular" pitchFamily="34" charset="0"/>
                <a:ea typeface="Arial Regular" pitchFamily="34" charset="-122"/>
                <a:cs typeface="Arial Regular" pitchFamily="34" charset="-120"/>
              </a:rPr>
              <a:t>Peoplesoft</a:t>
            </a:r>
            <a:endParaRPr lang="es-ES_tradnl" sz="1125" b="1" i="1" kern="0" noProof="0" dirty="0">
              <a:solidFill>
                <a:srgbClr val="1A1A1A">
                  <a:alpha val="65000"/>
                </a:srgbClr>
              </a:solidFill>
              <a:latin typeface="Arial Regular" pitchFamily="34" charset="0"/>
              <a:ea typeface="Arial Regular" pitchFamily="34" charset="-122"/>
              <a:cs typeface="Arial Regular" pitchFamily="34" charset="-120"/>
            </a:endParaRPr>
          </a:p>
          <a:p>
            <a:pPr algn="ct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p:txBody>
      </p:sp>
      <p:sp>
        <p:nvSpPr>
          <p:cNvPr id="6" name="CuadroTexto 5">
            <a:extLst>
              <a:ext uri="{FF2B5EF4-FFF2-40B4-BE49-F238E27FC236}">
                <a16:creationId xmlns:a16="http://schemas.microsoft.com/office/drawing/2014/main" id="{669CD3B9-A9ED-D341-0696-1A1FFC9741E7}"/>
              </a:ext>
            </a:extLst>
          </p:cNvPr>
          <p:cNvSpPr txBox="1"/>
          <p:nvPr/>
        </p:nvSpPr>
        <p:spPr>
          <a:xfrm>
            <a:off x="10200682" y="668412"/>
            <a:ext cx="805708" cy="369332"/>
          </a:xfrm>
          <a:prstGeom prst="rect">
            <a:avLst/>
          </a:prstGeom>
          <a:noFill/>
        </p:spPr>
        <p:txBody>
          <a:bodyPr wrap="square">
            <a:spAutoFit/>
          </a:bodyPr>
          <a:lstStyle/>
          <a:p>
            <a:pPr>
              <a:lnSpc>
                <a:spcPct val="100000"/>
              </a:lnSpc>
            </a:pPr>
            <a:r>
              <a:rPr lang="es-ES" sz="1800" b="1" kern="0" spc="-100" dirty="0">
                <a:latin typeface="Arial Regular" pitchFamily="34" charset="0"/>
                <a:ea typeface="Arial Regular" pitchFamily="34" charset="-122"/>
              </a:rPr>
              <a:t>A</a:t>
            </a:r>
            <a:r>
              <a:rPr lang="es-ES" sz="1800" b="1" kern="0" spc="-100" noProof="0" dirty="0" err="1">
                <a:latin typeface="Arial Regular" pitchFamily="34" charset="0"/>
                <a:ea typeface="Arial Regular" pitchFamily="34" charset="-122"/>
              </a:rPr>
              <a:t>ño</a:t>
            </a:r>
            <a:r>
              <a:rPr lang="es-ES" sz="1800" b="1" kern="0" spc="-100" noProof="0" dirty="0">
                <a:latin typeface="Arial Regular" pitchFamily="34" charset="0"/>
                <a:ea typeface="Arial Regular" pitchFamily="34" charset="-122"/>
              </a:rPr>
              <a:t> 2</a:t>
            </a:r>
            <a:endParaRPr lang="es-ES" sz="1800" b="1" spc="-100" noProof="0" dirty="0"/>
          </a:p>
        </p:txBody>
      </p:sp>
      <p:sp>
        <p:nvSpPr>
          <p:cNvPr id="8" name="Rectángulo 7">
            <a:extLst>
              <a:ext uri="{FF2B5EF4-FFF2-40B4-BE49-F238E27FC236}">
                <a16:creationId xmlns:a16="http://schemas.microsoft.com/office/drawing/2014/main" id="{1EF8AB48-4044-76E5-FF7B-E8F930F362D7}"/>
              </a:ext>
            </a:extLst>
          </p:cNvPr>
          <p:cNvSpPr/>
          <p:nvPr/>
        </p:nvSpPr>
        <p:spPr>
          <a:xfrm>
            <a:off x="2318376" y="4688092"/>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29" name="Rectángulo 28">
            <a:extLst>
              <a:ext uri="{FF2B5EF4-FFF2-40B4-BE49-F238E27FC236}">
                <a16:creationId xmlns:a16="http://schemas.microsoft.com/office/drawing/2014/main" id="{574E98F2-1BDE-A27B-9AB2-E7A16EBEBE23}"/>
              </a:ext>
            </a:extLst>
          </p:cNvPr>
          <p:cNvSpPr/>
          <p:nvPr/>
        </p:nvSpPr>
        <p:spPr>
          <a:xfrm>
            <a:off x="6355050" y="4679300"/>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31" name="Rectángulo 30">
            <a:extLst>
              <a:ext uri="{FF2B5EF4-FFF2-40B4-BE49-F238E27FC236}">
                <a16:creationId xmlns:a16="http://schemas.microsoft.com/office/drawing/2014/main" id="{3BAB2DAC-66F2-8A5B-705D-2976AE9F91A1}"/>
              </a:ext>
            </a:extLst>
          </p:cNvPr>
          <p:cNvSpPr/>
          <p:nvPr/>
        </p:nvSpPr>
        <p:spPr>
          <a:xfrm>
            <a:off x="10217035" y="4679299"/>
            <a:ext cx="1879529" cy="1320585"/>
          </a:xfrm>
          <a:prstGeom prst="rect">
            <a:avLst/>
          </a:prstGeom>
          <a:solidFill>
            <a:srgbClr val="FFFFFF"/>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57"/>
              </a:lnSpc>
            </a:pPr>
            <a:r>
              <a:rPr lang="es-ES_tradnl" sz="1125" b="1" i="1" kern="0" dirty="0">
                <a:solidFill>
                  <a:srgbClr val="1A1A1A">
                    <a:alpha val="65000"/>
                  </a:srgbClr>
                </a:solidFill>
                <a:latin typeface="Arial Regular" pitchFamily="34" charset="0"/>
                <a:ea typeface="Arial Regular" pitchFamily="34" charset="-122"/>
              </a:rPr>
              <a:t>PLATAFORMAS SATELITES</a:t>
            </a:r>
          </a:p>
          <a:p>
            <a:pPr>
              <a:lnSpc>
                <a:spcPts val="1457"/>
              </a:lnSpc>
            </a:pPr>
            <a:r>
              <a:rPr lang="es-ES_tradnl" sz="1125" i="1" kern="0" noProof="0" dirty="0">
                <a:solidFill>
                  <a:srgbClr val="1A1A1A">
                    <a:alpha val="65000"/>
                  </a:srgbClr>
                </a:solidFill>
                <a:latin typeface="Arial Regular" pitchFamily="34" charset="0"/>
                <a:ea typeface="Arial Regular" pitchFamily="34" charset="-122"/>
                <a:cs typeface="Arial Regular" pitchFamily="34" charset="-120"/>
              </a:rPr>
              <a:t>Total 1 año</a:t>
            </a:r>
            <a:endParaRPr lang="es-ES_tradnl" sz="1125" i="1" noProof="0" dirty="0"/>
          </a:p>
          <a:p>
            <a:pPr>
              <a:lnSpc>
                <a:spcPts val="1457"/>
              </a:lnSpc>
            </a:pPr>
            <a:endParaRPr lang="es-ES_tradnl" sz="1125" b="1" i="1" kern="0" dirty="0">
              <a:solidFill>
                <a:srgbClr val="1A1A1A">
                  <a:alpha val="65000"/>
                </a:srgbClr>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OKN    </a:t>
            </a:r>
            <a:r>
              <a:rPr lang="es-ES_tradnl" sz="1100" b="1" i="1" kern="0" dirty="0">
                <a:solidFill>
                  <a:srgbClr val="1A1A1A">
                    <a:alpha val="65000"/>
                  </a:srgbClr>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a:p>
            <a:pPr>
              <a:lnSpc>
                <a:spcPts val="1457"/>
              </a:lnSpc>
            </a:pPr>
            <a:r>
              <a:rPr lang="es-ES_tradnl" sz="1125" i="1" kern="0" dirty="0">
                <a:solidFill>
                  <a:srgbClr val="1A1A1A">
                    <a:alpha val="65000"/>
                  </a:srgbClr>
                </a:solidFill>
                <a:latin typeface="Arial Regular" pitchFamily="34" charset="0"/>
                <a:ea typeface="Arial Regular" pitchFamily="34" charset="-122"/>
              </a:rPr>
              <a:t>APP Onboarding      </a:t>
            </a:r>
            <a:r>
              <a:rPr lang="es-ES_tradnl" sz="1200" kern="0" spc="-75" dirty="0">
                <a:solidFill>
                  <a:srgbClr val="1A1A1A"/>
                </a:solidFill>
                <a:latin typeface="Arial Regular" pitchFamily="34" charset="0"/>
                <a:ea typeface="Arial Regular" pitchFamily="34" charset="-122"/>
              </a:rPr>
              <a:t>10 K</a:t>
            </a:r>
          </a:p>
          <a:p>
            <a:pPr>
              <a:lnSpc>
                <a:spcPts val="1457"/>
              </a:lnSpc>
            </a:pPr>
            <a:r>
              <a:rPr lang="es-ES_tradnl" sz="1125" i="1" kern="0" dirty="0" err="1">
                <a:solidFill>
                  <a:srgbClr val="1A1A1A">
                    <a:alpha val="65000"/>
                  </a:srgbClr>
                </a:solidFill>
                <a:latin typeface="Arial Regular" pitchFamily="34" charset="0"/>
                <a:ea typeface="Arial Regular" pitchFamily="34" charset="-122"/>
              </a:rPr>
              <a:t>Talent</a:t>
            </a:r>
            <a:r>
              <a:rPr lang="es-ES_tradnl" sz="1125" i="1" kern="0" dirty="0">
                <a:solidFill>
                  <a:srgbClr val="1A1A1A">
                    <a:alpha val="65000"/>
                  </a:srgbClr>
                </a:solidFill>
                <a:latin typeface="Arial Regular" pitchFamily="34" charset="0"/>
                <a:ea typeface="Arial Regular" pitchFamily="34" charset="-122"/>
              </a:rPr>
              <a:t> Link</a:t>
            </a:r>
            <a:r>
              <a:rPr lang="es-ES_tradnl" sz="1200" kern="0" spc="-75" dirty="0">
                <a:solidFill>
                  <a:srgbClr val="1A1A1A"/>
                </a:solidFill>
                <a:latin typeface="Arial Regular" pitchFamily="34" charset="0"/>
                <a:ea typeface="Arial Regular" pitchFamily="34" charset="-122"/>
              </a:rPr>
              <a:t>     </a:t>
            </a:r>
            <a:r>
              <a:rPr lang="es-ES_tradnl" sz="1600" kern="0" spc="-75" dirty="0">
                <a:solidFill>
                  <a:srgbClr val="1A1A1A"/>
                </a:solidFill>
                <a:latin typeface="Arial Regular" pitchFamily="34" charset="0"/>
                <a:ea typeface="Arial Regular" pitchFamily="34" charset="-122"/>
              </a:rPr>
              <a:t>         </a:t>
            </a:r>
            <a:r>
              <a:rPr lang="es-ES_tradnl" sz="1200" kern="0" spc="-75" dirty="0">
                <a:solidFill>
                  <a:srgbClr val="1A1A1A"/>
                </a:solidFill>
                <a:latin typeface="Arial Regular" pitchFamily="34" charset="0"/>
                <a:ea typeface="Arial Regular" pitchFamily="34" charset="-122"/>
              </a:rPr>
              <a:t>17 K</a:t>
            </a:r>
            <a:endParaRPr lang="es-ES_tradnl" sz="1600" kern="0" spc="-75" dirty="0">
              <a:solidFill>
                <a:srgbClr val="1A1A1A"/>
              </a:solidFill>
              <a:latin typeface="Arial Regular" pitchFamily="34" charset="0"/>
              <a:ea typeface="Arial Regular" pitchFamily="34" charset="-122"/>
            </a:endParaRPr>
          </a:p>
        </p:txBody>
      </p:sp>
      <p:sp>
        <p:nvSpPr>
          <p:cNvPr id="32" name="name_907K">
            <a:extLst>
              <a:ext uri="{FF2B5EF4-FFF2-40B4-BE49-F238E27FC236}">
                <a16:creationId xmlns:a16="http://schemas.microsoft.com/office/drawing/2014/main" id="{AF0936F8-E68D-E303-E11E-F814484990ED}"/>
              </a:ext>
            </a:extLst>
          </p:cNvPr>
          <p:cNvSpPr/>
          <p:nvPr/>
        </p:nvSpPr>
        <p:spPr>
          <a:xfrm>
            <a:off x="3459618" y="4742113"/>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sp>
        <p:nvSpPr>
          <p:cNvPr id="36" name="name_907K">
            <a:extLst>
              <a:ext uri="{FF2B5EF4-FFF2-40B4-BE49-F238E27FC236}">
                <a16:creationId xmlns:a16="http://schemas.microsoft.com/office/drawing/2014/main" id="{0B099177-9A53-A3C2-FBC9-72D557399425}"/>
              </a:ext>
            </a:extLst>
          </p:cNvPr>
          <p:cNvSpPr/>
          <p:nvPr/>
        </p:nvSpPr>
        <p:spPr>
          <a:xfrm>
            <a:off x="7455246" y="4737510"/>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sp>
        <p:nvSpPr>
          <p:cNvPr id="37" name="name_907K">
            <a:extLst>
              <a:ext uri="{FF2B5EF4-FFF2-40B4-BE49-F238E27FC236}">
                <a16:creationId xmlns:a16="http://schemas.microsoft.com/office/drawing/2014/main" id="{A1254100-0768-5F95-3AD9-6154E4996DBB}"/>
              </a:ext>
            </a:extLst>
          </p:cNvPr>
          <p:cNvSpPr/>
          <p:nvPr/>
        </p:nvSpPr>
        <p:spPr>
          <a:xfrm>
            <a:off x="11302267" y="4737510"/>
            <a:ext cx="839310" cy="457200"/>
          </a:xfrm>
          <a:prstGeom prst="rect">
            <a:avLst/>
          </a:prstGeom>
          <a:noFill/>
          <a:ln/>
        </p:spPr>
        <p:txBody>
          <a:bodyPr wrap="square" lIns="0" tIns="0" rIns="0" bIns="0" rtlCol="0" anchor="ctr"/>
          <a:lstStyle/>
          <a:p>
            <a:pPr>
              <a:lnSpc>
                <a:spcPts val="3600"/>
              </a:lnSpc>
            </a:pPr>
            <a:r>
              <a:rPr lang="en-US" kern="0" spc="-75" dirty="0">
                <a:solidFill>
                  <a:srgbClr val="1A1A1A"/>
                </a:solidFill>
                <a:latin typeface="Arial Regular" pitchFamily="34" charset="0"/>
                <a:ea typeface="Arial Regular" pitchFamily="34" charset="-122"/>
                <a:cs typeface="Arial Regular" pitchFamily="34" charset="-120"/>
              </a:rPr>
              <a:t>  </a:t>
            </a:r>
            <a:r>
              <a:rPr lang="en-US" sz="2400" kern="0" spc="-75" dirty="0">
                <a:solidFill>
                  <a:srgbClr val="1A1A1A"/>
                </a:solidFill>
                <a:latin typeface="Arial Regular" pitchFamily="34" charset="0"/>
                <a:ea typeface="Arial Regular" pitchFamily="34" charset="-122"/>
                <a:cs typeface="Arial Regular" pitchFamily="34" charset="-120"/>
              </a:rPr>
              <a:t>44 K</a:t>
            </a:r>
            <a:endParaRPr lang="en-US" kern="0" spc="-75" dirty="0">
              <a:solidFill>
                <a:srgbClr val="1A1A1A"/>
              </a:solidFill>
              <a:latin typeface="Arial Regular" pitchFamily="34" charset="0"/>
              <a:ea typeface="Arial Regular" pitchFamily="34" charset="-122"/>
              <a:cs typeface="Arial Regular" pitchFamily="34" charset="-120"/>
            </a:endParaRPr>
          </a:p>
        </p:txBody>
      </p:sp>
      <p:cxnSp>
        <p:nvCxnSpPr>
          <p:cNvPr id="17" name="Conector recto 16">
            <a:extLst>
              <a:ext uri="{FF2B5EF4-FFF2-40B4-BE49-F238E27FC236}">
                <a16:creationId xmlns:a16="http://schemas.microsoft.com/office/drawing/2014/main" id="{54102BFD-1A09-C695-32A0-AAE5F9BD0322}"/>
              </a:ext>
            </a:extLst>
          </p:cNvPr>
          <p:cNvCxnSpPr>
            <a:cxnSpLocks/>
          </p:cNvCxnSpPr>
          <p:nvPr/>
        </p:nvCxnSpPr>
        <p:spPr>
          <a:xfrm flipV="1">
            <a:off x="2731421" y="2748884"/>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5" name="Conector recto 64">
            <a:extLst>
              <a:ext uri="{FF2B5EF4-FFF2-40B4-BE49-F238E27FC236}">
                <a16:creationId xmlns:a16="http://schemas.microsoft.com/office/drawing/2014/main" id="{951F109E-ACCB-000A-340B-5382B0855349}"/>
              </a:ext>
            </a:extLst>
          </p:cNvPr>
          <p:cNvCxnSpPr>
            <a:cxnSpLocks/>
          </p:cNvCxnSpPr>
          <p:nvPr/>
        </p:nvCxnSpPr>
        <p:spPr>
          <a:xfrm flipV="1">
            <a:off x="2673168" y="4321808"/>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6" name="Conector recto 65">
            <a:extLst>
              <a:ext uri="{FF2B5EF4-FFF2-40B4-BE49-F238E27FC236}">
                <a16:creationId xmlns:a16="http://schemas.microsoft.com/office/drawing/2014/main" id="{2A7E2C8C-7F06-2999-BA6E-58CD7020FE77}"/>
              </a:ext>
            </a:extLst>
          </p:cNvPr>
          <p:cNvCxnSpPr>
            <a:cxnSpLocks/>
          </p:cNvCxnSpPr>
          <p:nvPr/>
        </p:nvCxnSpPr>
        <p:spPr>
          <a:xfrm>
            <a:off x="3502092" y="5036271"/>
            <a:ext cx="67216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0" name="Conector recto 79">
            <a:extLst>
              <a:ext uri="{FF2B5EF4-FFF2-40B4-BE49-F238E27FC236}">
                <a16:creationId xmlns:a16="http://schemas.microsoft.com/office/drawing/2014/main" id="{C8BB644A-D880-45A9-8EEC-7417F671B024}"/>
              </a:ext>
            </a:extLst>
          </p:cNvPr>
          <p:cNvCxnSpPr>
            <a:cxnSpLocks/>
          </p:cNvCxnSpPr>
          <p:nvPr/>
        </p:nvCxnSpPr>
        <p:spPr>
          <a:xfrm flipV="1">
            <a:off x="6739920" y="4365090"/>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1" name="Conector recto 80">
            <a:extLst>
              <a:ext uri="{FF2B5EF4-FFF2-40B4-BE49-F238E27FC236}">
                <a16:creationId xmlns:a16="http://schemas.microsoft.com/office/drawing/2014/main" id="{388F74DB-E02C-53DE-7B67-415B7B59AC4C}"/>
              </a:ext>
            </a:extLst>
          </p:cNvPr>
          <p:cNvCxnSpPr>
            <a:cxnSpLocks/>
          </p:cNvCxnSpPr>
          <p:nvPr/>
        </p:nvCxnSpPr>
        <p:spPr>
          <a:xfrm flipV="1">
            <a:off x="6764632" y="3097438"/>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2" name="Conector recto 81">
            <a:extLst>
              <a:ext uri="{FF2B5EF4-FFF2-40B4-BE49-F238E27FC236}">
                <a16:creationId xmlns:a16="http://schemas.microsoft.com/office/drawing/2014/main" id="{0CFF5B75-8708-2A69-19F3-2CB947126030}"/>
              </a:ext>
            </a:extLst>
          </p:cNvPr>
          <p:cNvCxnSpPr>
            <a:cxnSpLocks/>
          </p:cNvCxnSpPr>
          <p:nvPr/>
        </p:nvCxnSpPr>
        <p:spPr>
          <a:xfrm flipV="1">
            <a:off x="10625239" y="3084557"/>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3" name="Conector recto 82">
            <a:extLst>
              <a:ext uri="{FF2B5EF4-FFF2-40B4-BE49-F238E27FC236}">
                <a16:creationId xmlns:a16="http://schemas.microsoft.com/office/drawing/2014/main" id="{4BFF493D-6A91-4F59-1599-18A34B9B6737}"/>
              </a:ext>
            </a:extLst>
          </p:cNvPr>
          <p:cNvCxnSpPr>
            <a:cxnSpLocks/>
          </p:cNvCxnSpPr>
          <p:nvPr/>
        </p:nvCxnSpPr>
        <p:spPr>
          <a:xfrm flipV="1">
            <a:off x="10625239" y="4302282"/>
            <a:ext cx="935100" cy="23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4" name="Conector recto 83">
            <a:extLst>
              <a:ext uri="{FF2B5EF4-FFF2-40B4-BE49-F238E27FC236}">
                <a16:creationId xmlns:a16="http://schemas.microsoft.com/office/drawing/2014/main" id="{5C0C01AA-7D2B-57E5-435F-58859B388261}"/>
              </a:ext>
            </a:extLst>
          </p:cNvPr>
          <p:cNvCxnSpPr>
            <a:cxnSpLocks/>
          </p:cNvCxnSpPr>
          <p:nvPr/>
        </p:nvCxnSpPr>
        <p:spPr>
          <a:xfrm>
            <a:off x="7529821" y="4966331"/>
            <a:ext cx="67216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5" name="Conector recto 84">
            <a:extLst>
              <a:ext uri="{FF2B5EF4-FFF2-40B4-BE49-F238E27FC236}">
                <a16:creationId xmlns:a16="http://schemas.microsoft.com/office/drawing/2014/main" id="{E63C952B-2758-C0C2-FEBB-FA65B435D7E6}"/>
              </a:ext>
            </a:extLst>
          </p:cNvPr>
          <p:cNvCxnSpPr>
            <a:cxnSpLocks/>
          </p:cNvCxnSpPr>
          <p:nvPr/>
        </p:nvCxnSpPr>
        <p:spPr>
          <a:xfrm>
            <a:off x="11336018" y="4966110"/>
            <a:ext cx="67216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6144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FCCD-A4F3-7C03-622C-727F425A72CD}"/>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A45FF86A-CB07-1510-19FC-A05FFE29F6C5}"/>
              </a:ext>
            </a:extLst>
          </p:cNvPr>
          <p:cNvSpPr>
            <a:spLocks noGrp="1"/>
          </p:cNvSpPr>
          <p:nvPr>
            <p:ph type="body" sz="quarter" idx="10"/>
          </p:nvPr>
        </p:nvSpPr>
        <p:spPr>
          <a:xfrm>
            <a:off x="84080" y="184382"/>
            <a:ext cx="11669556" cy="806971"/>
          </a:xfrm>
        </p:spPr>
        <p:txBody>
          <a:bodyPr>
            <a:noAutofit/>
          </a:bodyPr>
          <a:lstStyle/>
          <a:p>
            <a:pPr>
              <a:lnSpc>
                <a:spcPts val="4798"/>
              </a:lnSpc>
            </a:pPr>
            <a:r>
              <a:rPr lang="es-ES" sz="3200" kern="0" spc="-100">
                <a:latin typeface="Arial Regular" pitchFamily="34" charset="0"/>
                <a:ea typeface="Arial Regular" pitchFamily="34" charset="-122"/>
                <a:cs typeface="Arial Regular" pitchFamily="34" charset="-120"/>
              </a:rPr>
              <a:t>Conclusiones – Recomendación de solución HCM</a:t>
            </a:r>
            <a:endParaRPr lang="en-US" sz="3200" spc="-100"/>
          </a:p>
        </p:txBody>
      </p:sp>
      <p:sp>
        <p:nvSpPr>
          <p:cNvPr id="3" name="Marcador de texto 2">
            <a:extLst>
              <a:ext uri="{FF2B5EF4-FFF2-40B4-BE49-F238E27FC236}">
                <a16:creationId xmlns:a16="http://schemas.microsoft.com/office/drawing/2014/main" id="{0200DC99-42F2-EB96-D388-C0586D548FB4}"/>
              </a:ext>
            </a:extLst>
          </p:cNvPr>
          <p:cNvSpPr>
            <a:spLocks noGrp="1"/>
          </p:cNvSpPr>
          <p:nvPr>
            <p:ph type="body" sz="quarter" idx="12"/>
          </p:nvPr>
        </p:nvSpPr>
        <p:spPr>
          <a:xfrm>
            <a:off x="84080" y="1092767"/>
            <a:ext cx="12107920" cy="806971"/>
          </a:xfrm>
        </p:spPr>
        <p:txBody>
          <a:bodyPr>
            <a:normAutofit fontScale="92500"/>
          </a:bodyPr>
          <a:lstStyle/>
          <a:p>
            <a:pPr>
              <a:lnSpc>
                <a:spcPts val="1942"/>
              </a:lnSpc>
            </a:pPr>
            <a:r>
              <a:rPr lang="es-ES" sz="1599" kern="0" dirty="0">
                <a:latin typeface="Arial Regular" pitchFamily="34" charset="0"/>
                <a:ea typeface="Arial Regular" pitchFamily="34" charset="-122"/>
                <a:cs typeface="Arial Regular" pitchFamily="34" charset="-120"/>
              </a:rPr>
              <a:t>Tras el análisis comparativo de las tres soluciones presentadas en la RFI (Oracle Cloud HCM, Workday HCM y SAP </a:t>
            </a:r>
            <a:r>
              <a:rPr lang="es-ES" sz="1599" kern="0" dirty="0" err="1">
                <a:latin typeface="Arial Regular" pitchFamily="34" charset="0"/>
                <a:ea typeface="Arial Regular" pitchFamily="34" charset="-122"/>
                <a:cs typeface="Arial Regular" pitchFamily="34" charset="-120"/>
              </a:rPr>
              <a:t>SuccessFactors</a:t>
            </a:r>
            <a:r>
              <a:rPr lang="es-ES" sz="1599" kern="0" dirty="0">
                <a:latin typeface="Arial Regular" pitchFamily="34" charset="0"/>
                <a:ea typeface="Arial Regular" pitchFamily="34" charset="-122"/>
                <a:cs typeface="Arial Regular" pitchFamily="34" charset="-120"/>
              </a:rPr>
              <a:t>), se concluye que la </a:t>
            </a:r>
            <a:r>
              <a:rPr lang="es-ES" sz="1599" b="1" kern="0" dirty="0">
                <a:solidFill>
                  <a:srgbClr val="C00000"/>
                </a:solidFill>
                <a:latin typeface="Arial Regular" pitchFamily="34" charset="0"/>
                <a:ea typeface="Arial Regular" pitchFamily="34" charset="-122"/>
                <a:cs typeface="Arial Regular" pitchFamily="34" charset="-120"/>
              </a:rPr>
              <a:t>opción más adecuada para Línea Directa Aseguradora </a:t>
            </a:r>
            <a:r>
              <a:rPr lang="es-ES" sz="1599" kern="0" dirty="0">
                <a:latin typeface="Arial Regular" pitchFamily="34" charset="0"/>
                <a:ea typeface="Arial Regular" pitchFamily="34" charset="-122"/>
                <a:cs typeface="Arial Regular" pitchFamily="34" charset="-120"/>
              </a:rPr>
              <a:t>es </a:t>
            </a:r>
            <a:r>
              <a:rPr lang="es-ES" sz="1599" b="1" kern="0" dirty="0">
                <a:solidFill>
                  <a:srgbClr val="C00000"/>
                </a:solidFill>
                <a:latin typeface="Arial Regular" pitchFamily="34" charset="0"/>
                <a:ea typeface="Arial Regular" pitchFamily="34" charset="-122"/>
                <a:cs typeface="Arial Regular" pitchFamily="34" charset="-120"/>
              </a:rPr>
              <a:t>Oracle Cloud HCM </a:t>
            </a:r>
            <a:r>
              <a:rPr lang="es-ES" sz="1599" kern="0" dirty="0">
                <a:latin typeface="Arial Regular" pitchFamily="34" charset="0"/>
                <a:ea typeface="Arial Regular" pitchFamily="34" charset="-122"/>
                <a:cs typeface="Arial Regular" pitchFamily="34" charset="-120"/>
              </a:rPr>
              <a:t>por los siguientes motivos:</a:t>
            </a:r>
          </a:p>
          <a:p>
            <a:pPr>
              <a:lnSpc>
                <a:spcPts val="1942"/>
              </a:lnSpc>
            </a:pPr>
            <a:endParaRPr lang="es-ES" sz="1599" kern="0" dirty="0">
              <a:latin typeface="Arial Regular" pitchFamily="34" charset="0"/>
              <a:ea typeface="Arial Regular" pitchFamily="34" charset="-122"/>
              <a:cs typeface="Arial Regular" pitchFamily="34" charset="-120"/>
            </a:endParaRPr>
          </a:p>
          <a:p>
            <a:pPr>
              <a:lnSpc>
                <a:spcPts val="1942"/>
              </a:lnSpc>
            </a:pPr>
            <a:endParaRPr lang="es-ES" sz="1599" kern="0" dirty="0">
              <a:latin typeface="Arial Regular" pitchFamily="34" charset="0"/>
              <a:ea typeface="Arial Regular" pitchFamily="34" charset="-122"/>
              <a:cs typeface="Arial Regular" pitchFamily="34" charset="-120"/>
            </a:endParaRPr>
          </a:p>
          <a:p>
            <a:pPr>
              <a:lnSpc>
                <a:spcPts val="1942"/>
              </a:lnSpc>
            </a:pPr>
            <a:endParaRPr lang="en-US" sz="1599" dirty="0"/>
          </a:p>
        </p:txBody>
      </p:sp>
      <p:sp>
        <p:nvSpPr>
          <p:cNvPr id="5" name="Marcador de texto 4">
            <a:extLst>
              <a:ext uri="{FF2B5EF4-FFF2-40B4-BE49-F238E27FC236}">
                <a16:creationId xmlns:a16="http://schemas.microsoft.com/office/drawing/2014/main" id="{0D241C92-2C3E-F688-B441-E1095F9605FD}"/>
              </a:ext>
            </a:extLst>
          </p:cNvPr>
          <p:cNvSpPr>
            <a:spLocks noGrp="1"/>
          </p:cNvSpPr>
          <p:nvPr>
            <p:ph type="body" sz="quarter" idx="13"/>
          </p:nvPr>
        </p:nvSpPr>
        <p:spPr/>
        <p:txBody>
          <a:bodyPr/>
          <a:lstStyle/>
          <a:p>
            <a:r>
              <a:rPr lang="es-ES" spc="-67"/>
              <a:t>Conclusiones Defensas RFI Proyecto HCM</a:t>
            </a:r>
          </a:p>
        </p:txBody>
      </p:sp>
      <p:sp>
        <p:nvSpPr>
          <p:cNvPr id="6" name="CuadroTexto 5">
            <a:extLst>
              <a:ext uri="{FF2B5EF4-FFF2-40B4-BE49-F238E27FC236}">
                <a16:creationId xmlns:a16="http://schemas.microsoft.com/office/drawing/2014/main" id="{D3BED841-5F35-7B91-B185-9F55F612E7C7}"/>
              </a:ext>
            </a:extLst>
          </p:cNvPr>
          <p:cNvSpPr txBox="1"/>
          <p:nvPr/>
        </p:nvSpPr>
        <p:spPr>
          <a:xfrm>
            <a:off x="1181525" y="2001153"/>
            <a:ext cx="2784297" cy="1785104"/>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Continuidad funcional y menor riesgo de transición</a:t>
            </a:r>
          </a:p>
          <a:p>
            <a:pPr algn="just"/>
            <a:endParaRPr lang="es-ES" sz="1100"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Oracle Cloud HCM representa la evolución natural de nuestro sistema actual (PeopleSoft), lo que facilita la migración, reduce la curva de aprendizaje y garantiza la coherencia de datos y estructuras ya consolidadas en la organización.</a:t>
            </a:r>
          </a:p>
        </p:txBody>
      </p:sp>
      <p:sp>
        <p:nvSpPr>
          <p:cNvPr id="7" name="CuadroTexto 6">
            <a:extLst>
              <a:ext uri="{FF2B5EF4-FFF2-40B4-BE49-F238E27FC236}">
                <a16:creationId xmlns:a16="http://schemas.microsoft.com/office/drawing/2014/main" id="{FD0187C4-5F24-C432-EE01-26A2085D7AA3}"/>
              </a:ext>
            </a:extLst>
          </p:cNvPr>
          <p:cNvSpPr txBox="1"/>
          <p:nvPr/>
        </p:nvSpPr>
        <p:spPr>
          <a:xfrm>
            <a:off x="4703849" y="2001153"/>
            <a:ext cx="2784297" cy="2292935"/>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Cobertura funcional completa y madura</a:t>
            </a:r>
          </a:p>
          <a:p>
            <a:pPr algn="just"/>
            <a:endParaRPr lang="es-ES" sz="1100" b="1"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Es la única solución que cubre casi el 100 % de los módulos requeridos sin depender de extensiones externas. Todos los procesos clave (Core HR, Talento, Compensación, Desempeño, Formación, Tiempo, Salud laboral, Analítica y más) están consolidados, con mejores prácticas integradas y una suite robusta y testada en sectores regulados como el nuestro.</a:t>
            </a:r>
          </a:p>
        </p:txBody>
      </p:sp>
      <p:sp>
        <p:nvSpPr>
          <p:cNvPr id="8" name="CuadroTexto 7">
            <a:extLst>
              <a:ext uri="{FF2B5EF4-FFF2-40B4-BE49-F238E27FC236}">
                <a16:creationId xmlns:a16="http://schemas.microsoft.com/office/drawing/2014/main" id="{BCA70305-CE7C-366D-79F2-9EB1C4D86229}"/>
              </a:ext>
            </a:extLst>
          </p:cNvPr>
          <p:cNvSpPr txBox="1"/>
          <p:nvPr/>
        </p:nvSpPr>
        <p:spPr>
          <a:xfrm>
            <a:off x="8226178" y="2001152"/>
            <a:ext cx="2784297" cy="2123658"/>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 Implantación escalonada y control de costes</a:t>
            </a:r>
          </a:p>
          <a:p>
            <a:pPr algn="just"/>
            <a:endParaRPr lang="es-ES" sz="1100" b="1"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Oracle permite una implantación modular real, que nos da flexibilidad para migrar por fases, mantener PeopleSoft parcialmente en paralelo y pagar únicamente por los módulos implantados. </a:t>
            </a:r>
          </a:p>
          <a:p>
            <a:pPr algn="just"/>
            <a:endParaRPr lang="es-ES" sz="1100"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Este modelo es ideal para ajustarnos al presupuesto 2026 sin comprometer el alcance funcional del proyecto.</a:t>
            </a:r>
          </a:p>
        </p:txBody>
      </p:sp>
      <p:sp>
        <p:nvSpPr>
          <p:cNvPr id="9" name="CuadroTexto 8">
            <a:extLst>
              <a:ext uri="{FF2B5EF4-FFF2-40B4-BE49-F238E27FC236}">
                <a16:creationId xmlns:a16="http://schemas.microsoft.com/office/drawing/2014/main" id="{A485113B-EA22-29A7-CF35-500EB2BC73A5}"/>
              </a:ext>
            </a:extLst>
          </p:cNvPr>
          <p:cNvSpPr txBox="1"/>
          <p:nvPr/>
        </p:nvSpPr>
        <p:spPr>
          <a:xfrm>
            <a:off x="1181524" y="4124810"/>
            <a:ext cx="2784297" cy="1615827"/>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Herramientas propias de migración y aceleradores de implantación</a:t>
            </a:r>
          </a:p>
          <a:p>
            <a:pPr algn="just"/>
            <a:endParaRPr lang="es-ES" sz="1100" b="1"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Oracle ofrece herramientas exclusivas como SOAR y el Cloud </a:t>
            </a:r>
            <a:r>
              <a:rPr lang="es-ES" sz="1100" kern="0" dirty="0" err="1">
                <a:solidFill>
                  <a:schemeClr val="tx1">
                    <a:lumMod val="50000"/>
                    <a:lumOff val="50000"/>
                  </a:schemeClr>
                </a:solidFill>
                <a:latin typeface="Arial Regular" pitchFamily="34" charset="0"/>
                <a:ea typeface="Arial Regular" pitchFamily="34" charset="-122"/>
              </a:rPr>
              <a:t>Adoption</a:t>
            </a:r>
            <a:r>
              <a:rPr lang="es-ES" sz="1100" kern="0" dirty="0">
                <a:solidFill>
                  <a:schemeClr val="tx1">
                    <a:lumMod val="50000"/>
                    <a:lumOff val="50000"/>
                  </a:schemeClr>
                </a:solidFill>
                <a:latin typeface="Arial Regular" pitchFamily="34" charset="0"/>
                <a:ea typeface="Arial Regular" pitchFamily="34" charset="-122"/>
              </a:rPr>
              <a:t> </a:t>
            </a:r>
            <a:r>
              <a:rPr lang="es-ES" sz="1100" kern="0" dirty="0" err="1">
                <a:solidFill>
                  <a:schemeClr val="tx1">
                    <a:lumMod val="50000"/>
                    <a:lumOff val="50000"/>
                  </a:schemeClr>
                </a:solidFill>
                <a:latin typeface="Arial Regular" pitchFamily="34" charset="0"/>
                <a:ea typeface="Arial Regular" pitchFamily="34" charset="-122"/>
              </a:rPr>
              <a:t>Toolkit</a:t>
            </a:r>
            <a:r>
              <a:rPr lang="es-ES" sz="1100" kern="0" dirty="0">
                <a:solidFill>
                  <a:schemeClr val="tx1">
                    <a:lumMod val="50000"/>
                    <a:lumOff val="50000"/>
                  </a:schemeClr>
                </a:solidFill>
                <a:latin typeface="Arial Regular" pitchFamily="34" charset="0"/>
                <a:ea typeface="Arial Regular" pitchFamily="34" charset="-122"/>
              </a:rPr>
              <a:t>, que automatizan gran parte del traspaso de datos, configuración y </a:t>
            </a:r>
            <a:r>
              <a:rPr lang="es-ES" sz="1100" kern="0" dirty="0" err="1">
                <a:solidFill>
                  <a:schemeClr val="tx1">
                    <a:lumMod val="50000"/>
                    <a:lumOff val="50000"/>
                  </a:schemeClr>
                </a:solidFill>
                <a:latin typeface="Arial Regular" pitchFamily="34" charset="0"/>
                <a:ea typeface="Arial Regular" pitchFamily="34" charset="-122"/>
              </a:rPr>
              <a:t>testing</a:t>
            </a:r>
            <a:r>
              <a:rPr lang="es-ES" sz="1100" kern="0" dirty="0">
                <a:solidFill>
                  <a:schemeClr val="tx1">
                    <a:lumMod val="50000"/>
                    <a:lumOff val="50000"/>
                  </a:schemeClr>
                </a:solidFill>
                <a:latin typeface="Arial Regular" pitchFamily="34" charset="0"/>
                <a:ea typeface="Arial Regular" pitchFamily="34" charset="-122"/>
              </a:rPr>
              <a:t>, lo que reduce tiempos, riesgos y dependencia de recursos internos.</a:t>
            </a:r>
          </a:p>
        </p:txBody>
      </p:sp>
      <p:sp>
        <p:nvSpPr>
          <p:cNvPr id="10" name="CuadroTexto 9">
            <a:extLst>
              <a:ext uri="{FF2B5EF4-FFF2-40B4-BE49-F238E27FC236}">
                <a16:creationId xmlns:a16="http://schemas.microsoft.com/office/drawing/2014/main" id="{84431893-837D-09CB-E388-3CF1B16E62C9}"/>
              </a:ext>
            </a:extLst>
          </p:cNvPr>
          <p:cNvSpPr txBox="1"/>
          <p:nvPr/>
        </p:nvSpPr>
        <p:spPr>
          <a:xfrm>
            <a:off x="4703849" y="4450978"/>
            <a:ext cx="2784297" cy="1107996"/>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IA integrada, analítica potente y ecosistema alineado</a:t>
            </a:r>
          </a:p>
          <a:p>
            <a:pPr algn="just"/>
            <a:endParaRPr lang="es-ES" sz="1100" b="1"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Oracle Cloud HCM incorpora IA nativa, asistentes digitales y analítica en tiempo real, directamente integradas en la suite.</a:t>
            </a:r>
          </a:p>
        </p:txBody>
      </p:sp>
      <p:sp>
        <p:nvSpPr>
          <p:cNvPr id="11" name="CuadroTexto 10">
            <a:extLst>
              <a:ext uri="{FF2B5EF4-FFF2-40B4-BE49-F238E27FC236}">
                <a16:creationId xmlns:a16="http://schemas.microsoft.com/office/drawing/2014/main" id="{E1D3F4CD-232C-3B9D-DDBC-607C692A6C01}"/>
              </a:ext>
            </a:extLst>
          </p:cNvPr>
          <p:cNvSpPr txBox="1"/>
          <p:nvPr/>
        </p:nvSpPr>
        <p:spPr>
          <a:xfrm>
            <a:off x="8226178" y="4245498"/>
            <a:ext cx="2784297" cy="1785104"/>
          </a:xfrm>
          <a:prstGeom prst="rect">
            <a:avLst/>
          </a:prstGeom>
          <a:noFill/>
        </p:spPr>
        <p:txBody>
          <a:bodyPr wrap="square" rtlCol="0">
            <a:spAutoFit/>
          </a:bodyPr>
          <a:lstStyle/>
          <a:p>
            <a:pPr algn="just"/>
            <a:r>
              <a:rPr lang="es-ES" sz="1100" b="1" kern="0" dirty="0">
                <a:solidFill>
                  <a:schemeClr val="tx1">
                    <a:lumMod val="50000"/>
                    <a:lumOff val="50000"/>
                  </a:schemeClr>
                </a:solidFill>
                <a:latin typeface="Arial Regular" pitchFamily="34" charset="0"/>
                <a:ea typeface="Arial Regular" pitchFamily="34" charset="-122"/>
              </a:rPr>
              <a:t>Sólido respaldo técnico y de mercado</a:t>
            </a:r>
          </a:p>
          <a:p>
            <a:pPr algn="just"/>
            <a:endParaRPr lang="es-ES" sz="1100" b="1" kern="0" dirty="0">
              <a:solidFill>
                <a:schemeClr val="tx1">
                  <a:lumMod val="50000"/>
                  <a:lumOff val="50000"/>
                </a:schemeClr>
              </a:solidFill>
              <a:latin typeface="Arial Regular" pitchFamily="34" charset="0"/>
              <a:ea typeface="Arial Regular" pitchFamily="34" charset="-122"/>
            </a:endParaRPr>
          </a:p>
          <a:p>
            <a:pPr algn="just"/>
            <a:r>
              <a:rPr lang="es-ES" sz="1100" kern="0" dirty="0">
                <a:solidFill>
                  <a:schemeClr val="tx1">
                    <a:lumMod val="50000"/>
                    <a:lumOff val="50000"/>
                  </a:schemeClr>
                </a:solidFill>
                <a:latin typeface="Arial Regular" pitchFamily="34" charset="0"/>
                <a:ea typeface="Arial Regular" pitchFamily="34" charset="-122"/>
              </a:rPr>
              <a:t>Oracle es líder consolidado en el Cuadrante Mágico de Gartner con +2.800 clientes en HCM y una posición destacada en sectores con alta exigencia normativa. Su red de partners especializados en migraciones desde PeopleSoft refuerza aún más la viabilidad del proyecto.</a:t>
            </a:r>
          </a:p>
        </p:txBody>
      </p:sp>
    </p:spTree>
    <p:extLst>
      <p:ext uri="{BB962C8B-B14F-4D97-AF65-F5344CB8AC3E}">
        <p14:creationId xmlns:p14="http://schemas.microsoft.com/office/powerpoint/2010/main" val="3828755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1C5AF-F0B7-0D8B-E341-8C8442C52E83}"/>
            </a:ext>
          </a:extLst>
        </p:cNvPr>
        <p:cNvGrpSpPr/>
        <p:nvPr/>
      </p:nvGrpSpPr>
      <p:grpSpPr>
        <a:xfrm>
          <a:off x="0" y="0"/>
          <a:ext cx="0" cy="0"/>
          <a:chOff x="0" y="0"/>
          <a:chExt cx="0" cy="0"/>
        </a:xfrm>
      </p:grpSpPr>
      <p:sp>
        <p:nvSpPr>
          <p:cNvPr id="57" name="Rectángulo 56">
            <a:extLst>
              <a:ext uri="{FF2B5EF4-FFF2-40B4-BE49-F238E27FC236}">
                <a16:creationId xmlns:a16="http://schemas.microsoft.com/office/drawing/2014/main" id="{2AFA094F-B0CB-0A21-2904-8223D164741F}"/>
              </a:ext>
            </a:extLst>
          </p:cNvPr>
          <p:cNvSpPr/>
          <p:nvPr/>
        </p:nvSpPr>
        <p:spPr>
          <a:xfrm>
            <a:off x="10227864" y="2666773"/>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Rectángulo 53">
            <a:extLst>
              <a:ext uri="{FF2B5EF4-FFF2-40B4-BE49-F238E27FC236}">
                <a16:creationId xmlns:a16="http://schemas.microsoft.com/office/drawing/2014/main" id="{E52A6251-8862-ADD8-EE3B-8439B60A32F0}"/>
              </a:ext>
            </a:extLst>
          </p:cNvPr>
          <p:cNvSpPr/>
          <p:nvPr/>
        </p:nvSpPr>
        <p:spPr>
          <a:xfrm>
            <a:off x="10227864" y="1111777"/>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Marcador de texto 1">
            <a:extLst>
              <a:ext uri="{FF2B5EF4-FFF2-40B4-BE49-F238E27FC236}">
                <a16:creationId xmlns:a16="http://schemas.microsoft.com/office/drawing/2014/main" id="{6EAC754A-34FF-BF6A-9090-6A941A1483A3}"/>
              </a:ext>
            </a:extLst>
          </p:cNvPr>
          <p:cNvSpPr>
            <a:spLocks noGrp="1"/>
          </p:cNvSpPr>
          <p:nvPr>
            <p:ph type="body" sz="quarter" idx="10"/>
          </p:nvPr>
        </p:nvSpPr>
        <p:spPr>
          <a:xfrm>
            <a:off x="84080" y="184382"/>
            <a:ext cx="11669556" cy="806971"/>
          </a:xfrm>
        </p:spPr>
        <p:txBody>
          <a:bodyPr>
            <a:noAutofit/>
          </a:bodyPr>
          <a:lstStyle/>
          <a:p>
            <a:pPr>
              <a:lnSpc>
                <a:spcPts val="4798"/>
              </a:lnSpc>
            </a:pPr>
            <a:r>
              <a:rPr lang="es-ES" sz="3200" kern="0" spc="-100" dirty="0">
                <a:latin typeface="Arial Regular" pitchFamily="34" charset="0"/>
                <a:ea typeface="Arial Regular" pitchFamily="34" charset="-122"/>
                <a:cs typeface="Arial Regular" pitchFamily="34" charset="-120"/>
              </a:rPr>
              <a:t>Conclusiones de departamentos del área.</a:t>
            </a:r>
            <a:endParaRPr lang="en-US" sz="3200" kern="0" spc="-100" dirty="0">
              <a:latin typeface="Arial Regular" pitchFamily="34" charset="0"/>
              <a:ea typeface="Arial Regular" pitchFamily="34" charset="-122"/>
              <a:cs typeface="Arial Regular" pitchFamily="34" charset="-120"/>
            </a:endParaRPr>
          </a:p>
        </p:txBody>
      </p:sp>
      <p:sp>
        <p:nvSpPr>
          <p:cNvPr id="5" name="Marcador de texto 4">
            <a:extLst>
              <a:ext uri="{FF2B5EF4-FFF2-40B4-BE49-F238E27FC236}">
                <a16:creationId xmlns:a16="http://schemas.microsoft.com/office/drawing/2014/main" id="{8403F3D8-952E-6D66-88AF-A0F61C3CE200}"/>
              </a:ext>
            </a:extLst>
          </p:cNvPr>
          <p:cNvSpPr>
            <a:spLocks noGrp="1"/>
          </p:cNvSpPr>
          <p:nvPr>
            <p:ph type="body" sz="quarter" idx="13"/>
          </p:nvPr>
        </p:nvSpPr>
        <p:spPr/>
        <p:txBody>
          <a:bodyPr/>
          <a:lstStyle/>
          <a:p>
            <a:r>
              <a:rPr lang="es-ES" spc="-67"/>
              <a:t>Conclusiones Defensas RFI Proyecto HCM</a:t>
            </a:r>
          </a:p>
        </p:txBody>
      </p:sp>
      <p:sp>
        <p:nvSpPr>
          <p:cNvPr id="13" name="Rectángulo 12">
            <a:extLst>
              <a:ext uri="{FF2B5EF4-FFF2-40B4-BE49-F238E27FC236}">
                <a16:creationId xmlns:a16="http://schemas.microsoft.com/office/drawing/2014/main" id="{14EC8FFB-900E-FECC-384C-274D7096436C}"/>
              </a:ext>
            </a:extLst>
          </p:cNvPr>
          <p:cNvSpPr/>
          <p:nvPr/>
        </p:nvSpPr>
        <p:spPr>
          <a:xfrm>
            <a:off x="307417" y="1103379"/>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a:extLst>
              <a:ext uri="{FF2B5EF4-FFF2-40B4-BE49-F238E27FC236}">
                <a16:creationId xmlns:a16="http://schemas.microsoft.com/office/drawing/2014/main" id="{439E471C-C0EF-0353-82DD-3AAD6343BFDF}"/>
              </a:ext>
            </a:extLst>
          </p:cNvPr>
          <p:cNvSpPr/>
          <p:nvPr/>
        </p:nvSpPr>
        <p:spPr>
          <a:xfrm>
            <a:off x="2098020" y="1103379"/>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Total asegurados">
            <a:extLst>
              <a:ext uri="{FF2B5EF4-FFF2-40B4-BE49-F238E27FC236}">
                <a16:creationId xmlns:a16="http://schemas.microsoft.com/office/drawing/2014/main" id="{411B4F84-48A1-5243-4FA0-5FB3F1A8B439}"/>
              </a:ext>
            </a:extLst>
          </p:cNvPr>
          <p:cNvSpPr/>
          <p:nvPr/>
        </p:nvSpPr>
        <p:spPr>
          <a:xfrm>
            <a:off x="450876" y="1244667"/>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Desarrollo y Talento</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16" name="Rectángulo 15">
            <a:extLst>
              <a:ext uri="{FF2B5EF4-FFF2-40B4-BE49-F238E27FC236}">
                <a16:creationId xmlns:a16="http://schemas.microsoft.com/office/drawing/2014/main" id="{7A610E5D-ED64-9F2E-C2D8-5642DADA0C00}"/>
              </a:ext>
            </a:extLst>
          </p:cNvPr>
          <p:cNvSpPr/>
          <p:nvPr/>
        </p:nvSpPr>
        <p:spPr>
          <a:xfrm>
            <a:off x="307417" y="1885076"/>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Total asegurados">
            <a:extLst>
              <a:ext uri="{FF2B5EF4-FFF2-40B4-BE49-F238E27FC236}">
                <a16:creationId xmlns:a16="http://schemas.microsoft.com/office/drawing/2014/main" id="{F067F287-DC4C-6273-A24F-06DA79012D62}"/>
              </a:ext>
            </a:extLst>
          </p:cNvPr>
          <p:cNvSpPr/>
          <p:nvPr/>
        </p:nvSpPr>
        <p:spPr>
          <a:xfrm>
            <a:off x="450876" y="2017220"/>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Selección</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18" name="Rectángulo 17">
            <a:extLst>
              <a:ext uri="{FF2B5EF4-FFF2-40B4-BE49-F238E27FC236}">
                <a16:creationId xmlns:a16="http://schemas.microsoft.com/office/drawing/2014/main" id="{A59E6DF9-5564-866F-18D4-223A1DE3D7C6}"/>
              </a:ext>
            </a:extLst>
          </p:cNvPr>
          <p:cNvSpPr/>
          <p:nvPr/>
        </p:nvSpPr>
        <p:spPr>
          <a:xfrm>
            <a:off x="307417" y="2666773"/>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Total asegurados">
            <a:extLst>
              <a:ext uri="{FF2B5EF4-FFF2-40B4-BE49-F238E27FC236}">
                <a16:creationId xmlns:a16="http://schemas.microsoft.com/office/drawing/2014/main" id="{70C409E2-E3BE-1F16-7B79-0C2F20C365BC}"/>
              </a:ext>
            </a:extLst>
          </p:cNvPr>
          <p:cNvSpPr/>
          <p:nvPr/>
        </p:nvSpPr>
        <p:spPr>
          <a:xfrm>
            <a:off x="450876" y="2808061"/>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Compensación</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20" name="Rectángulo 19">
            <a:extLst>
              <a:ext uri="{FF2B5EF4-FFF2-40B4-BE49-F238E27FC236}">
                <a16:creationId xmlns:a16="http://schemas.microsoft.com/office/drawing/2014/main" id="{ECD675B1-9DC9-BC6F-858D-F4B91EB6003E}"/>
              </a:ext>
            </a:extLst>
          </p:cNvPr>
          <p:cNvSpPr/>
          <p:nvPr/>
        </p:nvSpPr>
        <p:spPr>
          <a:xfrm>
            <a:off x="307414" y="4219379"/>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Total asegurados">
            <a:extLst>
              <a:ext uri="{FF2B5EF4-FFF2-40B4-BE49-F238E27FC236}">
                <a16:creationId xmlns:a16="http://schemas.microsoft.com/office/drawing/2014/main" id="{01A290F7-A664-4BD0-7997-F557D713A2A6}"/>
              </a:ext>
            </a:extLst>
          </p:cNvPr>
          <p:cNvSpPr/>
          <p:nvPr/>
        </p:nvSpPr>
        <p:spPr>
          <a:xfrm>
            <a:off x="450875" y="4339566"/>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Análisis</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22" name="Rectángulo 21">
            <a:extLst>
              <a:ext uri="{FF2B5EF4-FFF2-40B4-BE49-F238E27FC236}">
                <a16:creationId xmlns:a16="http://schemas.microsoft.com/office/drawing/2014/main" id="{5B20A978-B810-DCC7-EC9F-41B4D8A7FFA2}"/>
              </a:ext>
            </a:extLst>
          </p:cNvPr>
          <p:cNvSpPr/>
          <p:nvPr/>
        </p:nvSpPr>
        <p:spPr>
          <a:xfrm>
            <a:off x="2111238" y="1878438"/>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22">
            <a:extLst>
              <a:ext uri="{FF2B5EF4-FFF2-40B4-BE49-F238E27FC236}">
                <a16:creationId xmlns:a16="http://schemas.microsoft.com/office/drawing/2014/main" id="{9A612243-8887-11B4-6403-4C315F22C851}"/>
              </a:ext>
            </a:extLst>
          </p:cNvPr>
          <p:cNvSpPr/>
          <p:nvPr/>
        </p:nvSpPr>
        <p:spPr>
          <a:xfrm>
            <a:off x="2111238" y="2653497"/>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Rectángulo 23">
            <a:extLst>
              <a:ext uri="{FF2B5EF4-FFF2-40B4-BE49-F238E27FC236}">
                <a16:creationId xmlns:a16="http://schemas.microsoft.com/office/drawing/2014/main" id="{C73FEEA9-3496-055F-AC03-1809DDCEBAFA}"/>
              </a:ext>
            </a:extLst>
          </p:cNvPr>
          <p:cNvSpPr/>
          <p:nvPr/>
        </p:nvSpPr>
        <p:spPr>
          <a:xfrm>
            <a:off x="2111238" y="4210759"/>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6" name="Picture 4" descr="Comprar acciones de Oracle este 2024: Lo que necesitas saber - The Investor  U">
            <a:extLst>
              <a:ext uri="{FF2B5EF4-FFF2-40B4-BE49-F238E27FC236}">
                <a16:creationId xmlns:a16="http://schemas.microsoft.com/office/drawing/2014/main" id="{3311479A-4925-B754-BFBA-6424DA35D9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8128" y="2745373"/>
            <a:ext cx="875718" cy="4925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Workday at Wake Forest - Workday">
            <a:extLst>
              <a:ext uri="{FF2B5EF4-FFF2-40B4-BE49-F238E27FC236}">
                <a16:creationId xmlns:a16="http://schemas.microsoft.com/office/drawing/2014/main" id="{664AA670-0F94-E0F0-1EEE-3F4726B838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21890" y="1275810"/>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31" name="Total asegurados">
            <a:extLst>
              <a:ext uri="{FF2B5EF4-FFF2-40B4-BE49-F238E27FC236}">
                <a16:creationId xmlns:a16="http://schemas.microsoft.com/office/drawing/2014/main" id="{75D9006C-A925-1E5E-FBA6-AFCBCDDCBC48}"/>
              </a:ext>
            </a:extLst>
          </p:cNvPr>
          <p:cNvSpPr/>
          <p:nvPr/>
        </p:nvSpPr>
        <p:spPr>
          <a:xfrm>
            <a:off x="2258340" y="1244443"/>
            <a:ext cx="7553172" cy="355533"/>
          </a:xfrm>
          <a:prstGeom prst="rect">
            <a:avLst/>
          </a:prstGeom>
          <a:noFill/>
          <a:ln/>
        </p:spPr>
        <p:txBody>
          <a:bodyPr wrap="square" lIns="0" tIns="0" rIns="0" bIns="0" rtlCol="0" anchor="ctr"/>
          <a:lstStyle/>
          <a:p>
            <a:r>
              <a:rPr lang="es-ES" sz="1100" dirty="0">
                <a:effectLst/>
                <a:latin typeface="Aptos" panose="020B0004020202020204" pitchFamily="34" charset="0"/>
                <a:ea typeface="Aptos" panose="020B0004020202020204" pitchFamily="34" charset="0"/>
                <a:cs typeface="Aptos" panose="020B0004020202020204" pitchFamily="34" charset="0"/>
              </a:rPr>
              <a:t>Workday responde más a las necesidades del departamento ya que bajo su criterio su interfaz es intuitiva y moderna, hace especial foco en las personas y realiza análisis predictivos para identificar tendencias y patrones de datos de talento.</a:t>
            </a:r>
          </a:p>
        </p:txBody>
      </p:sp>
      <p:sp>
        <p:nvSpPr>
          <p:cNvPr id="33" name="Total asegurados">
            <a:extLst>
              <a:ext uri="{FF2B5EF4-FFF2-40B4-BE49-F238E27FC236}">
                <a16:creationId xmlns:a16="http://schemas.microsoft.com/office/drawing/2014/main" id="{FA22534F-71E2-B70F-1B96-CF7754983809}"/>
              </a:ext>
            </a:extLst>
          </p:cNvPr>
          <p:cNvSpPr/>
          <p:nvPr/>
        </p:nvSpPr>
        <p:spPr>
          <a:xfrm>
            <a:off x="2306196" y="2017220"/>
            <a:ext cx="7553172" cy="355533"/>
          </a:xfrm>
          <a:prstGeom prst="rect">
            <a:avLst/>
          </a:prstGeom>
          <a:noFill/>
          <a:ln/>
        </p:spPr>
        <p:txBody>
          <a:bodyPr wrap="square" lIns="0" tIns="0" rIns="0" bIns="0" rtlCol="0" anchor="ctr"/>
          <a:lstStyle/>
          <a:p>
            <a:r>
              <a:rPr lang="es-ES" sz="1100" dirty="0">
                <a:effectLst/>
                <a:latin typeface="Aptos" panose="020B0004020202020204" pitchFamily="34" charset="0"/>
                <a:ea typeface="Aptos" panose="020B0004020202020204" pitchFamily="34" charset="0"/>
                <a:cs typeface="Aptos" panose="020B0004020202020204" pitchFamily="34" charset="0"/>
              </a:rPr>
              <a:t>El departamento considera que es más sencilla de utilizar y atractiva la parte de Talento la herramienta de Workday. </a:t>
            </a:r>
            <a:r>
              <a:rPr lang="es-ES" sz="1100" dirty="0">
                <a:latin typeface="Aptos" panose="020B0004020202020204" pitchFamily="34" charset="0"/>
                <a:ea typeface="Aptos" panose="020B0004020202020204" pitchFamily="34" charset="0"/>
                <a:cs typeface="Aptos" panose="020B0004020202020204" pitchFamily="34" charset="0"/>
              </a:rPr>
              <a:t>Además, les gusta la experiencia de usuario al ser muy intuitiva y tener integraciones con terceros como Linkedin.</a:t>
            </a:r>
            <a:endParaRPr lang="es-ES" sz="1100" dirty="0">
              <a:effectLst/>
              <a:latin typeface="Aptos" panose="020B0004020202020204" pitchFamily="34" charset="0"/>
              <a:ea typeface="Aptos" panose="020B0004020202020204" pitchFamily="34" charset="0"/>
              <a:cs typeface="Aptos" panose="020B0004020202020204" pitchFamily="34" charset="0"/>
            </a:endParaRPr>
          </a:p>
        </p:txBody>
      </p:sp>
      <p:sp>
        <p:nvSpPr>
          <p:cNvPr id="34" name="Rectángulo 33">
            <a:extLst>
              <a:ext uri="{FF2B5EF4-FFF2-40B4-BE49-F238E27FC236}">
                <a16:creationId xmlns:a16="http://schemas.microsoft.com/office/drawing/2014/main" id="{FF3D03E9-2974-D876-0EB5-1E137DF1E082}"/>
              </a:ext>
            </a:extLst>
          </p:cNvPr>
          <p:cNvSpPr/>
          <p:nvPr/>
        </p:nvSpPr>
        <p:spPr>
          <a:xfrm>
            <a:off x="2111238" y="3432128"/>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2662B832-F96C-6060-D0EB-AC74B628B704}"/>
              </a:ext>
            </a:extLst>
          </p:cNvPr>
          <p:cNvSpPr/>
          <p:nvPr/>
        </p:nvSpPr>
        <p:spPr>
          <a:xfrm>
            <a:off x="307415" y="3441651"/>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Total asegurados">
            <a:extLst>
              <a:ext uri="{FF2B5EF4-FFF2-40B4-BE49-F238E27FC236}">
                <a16:creationId xmlns:a16="http://schemas.microsoft.com/office/drawing/2014/main" id="{66A4F333-B2DE-4C71-76BC-3D604B6D9B22}"/>
              </a:ext>
            </a:extLst>
          </p:cNvPr>
          <p:cNvSpPr/>
          <p:nvPr/>
        </p:nvSpPr>
        <p:spPr>
          <a:xfrm>
            <a:off x="450874" y="3582939"/>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Att. personas</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38" name="Rectángulo 37">
            <a:extLst>
              <a:ext uri="{FF2B5EF4-FFF2-40B4-BE49-F238E27FC236}">
                <a16:creationId xmlns:a16="http://schemas.microsoft.com/office/drawing/2014/main" id="{8ECF8274-57D6-1C30-C16D-314E7ECA4A71}"/>
              </a:ext>
            </a:extLst>
          </p:cNvPr>
          <p:cNvSpPr/>
          <p:nvPr/>
        </p:nvSpPr>
        <p:spPr>
          <a:xfrm>
            <a:off x="303340" y="4993543"/>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Total asegurados">
            <a:extLst>
              <a:ext uri="{FF2B5EF4-FFF2-40B4-BE49-F238E27FC236}">
                <a16:creationId xmlns:a16="http://schemas.microsoft.com/office/drawing/2014/main" id="{686F0E86-7AC2-B863-6C12-4DAE950E9676}"/>
              </a:ext>
            </a:extLst>
          </p:cNvPr>
          <p:cNvSpPr/>
          <p:nvPr/>
        </p:nvSpPr>
        <p:spPr>
          <a:xfrm>
            <a:off x="446801" y="5113730"/>
            <a:ext cx="1432788" cy="355533"/>
          </a:xfrm>
          <a:prstGeom prst="rect">
            <a:avLst/>
          </a:prstGeom>
          <a:noFill/>
          <a:ln/>
        </p:spPr>
        <p:txBody>
          <a:bodyPr wrap="square" lIns="0" tIns="0" rIns="0" bIns="0" rtlCol="0" anchor="ctr"/>
          <a:lstStyle/>
          <a:p>
            <a:pPr>
              <a:lnSpc>
                <a:spcPts val="1457"/>
              </a:lnSpc>
            </a:pPr>
            <a:r>
              <a:rPr lang="es-ES_tradnl" sz="1125" b="1" kern="0" dirty="0">
                <a:solidFill>
                  <a:schemeClr val="tx1">
                    <a:alpha val="65000"/>
                  </a:schemeClr>
                </a:solidFill>
                <a:latin typeface="Arial Regular" pitchFamily="34" charset="0"/>
                <a:ea typeface="Arial Regular" pitchFamily="34" charset="-122"/>
                <a:cs typeface="Arial Regular" pitchFamily="34" charset="-120"/>
              </a:rPr>
              <a:t>Procesos</a:t>
            </a:r>
            <a:endParaRPr lang="es-ES_tradnl" sz="1125" b="1" kern="0" noProof="0" dirty="0">
              <a:solidFill>
                <a:schemeClr val="tx1">
                  <a:alpha val="65000"/>
                </a:schemeClr>
              </a:solidFill>
              <a:latin typeface="Arial Regular" pitchFamily="34" charset="0"/>
              <a:ea typeface="Arial Regular" pitchFamily="34" charset="-122"/>
              <a:cs typeface="Arial Regular" pitchFamily="34" charset="-120"/>
            </a:endParaRPr>
          </a:p>
        </p:txBody>
      </p:sp>
      <p:sp>
        <p:nvSpPr>
          <p:cNvPr id="40" name="Rectángulo 39">
            <a:extLst>
              <a:ext uri="{FF2B5EF4-FFF2-40B4-BE49-F238E27FC236}">
                <a16:creationId xmlns:a16="http://schemas.microsoft.com/office/drawing/2014/main" id="{9BDB371D-D456-84E5-AC32-179D0457D359}"/>
              </a:ext>
            </a:extLst>
          </p:cNvPr>
          <p:cNvSpPr/>
          <p:nvPr/>
        </p:nvSpPr>
        <p:spPr>
          <a:xfrm>
            <a:off x="2107164" y="4984923"/>
            <a:ext cx="7969524"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Total asegurados">
            <a:extLst>
              <a:ext uri="{FF2B5EF4-FFF2-40B4-BE49-F238E27FC236}">
                <a16:creationId xmlns:a16="http://schemas.microsoft.com/office/drawing/2014/main" id="{B92AD4AE-9D7E-6CEF-6980-E874924CC794}"/>
              </a:ext>
            </a:extLst>
          </p:cNvPr>
          <p:cNvSpPr/>
          <p:nvPr/>
        </p:nvSpPr>
        <p:spPr>
          <a:xfrm>
            <a:off x="2319414" y="2808061"/>
            <a:ext cx="7553172" cy="355533"/>
          </a:xfrm>
          <a:prstGeom prst="rect">
            <a:avLst/>
          </a:prstGeom>
          <a:noFill/>
          <a:ln/>
        </p:spPr>
        <p:txBody>
          <a:bodyPr wrap="square" lIns="0" tIns="0" rIns="0" bIns="0" rtlCol="0" anchor="ctr"/>
          <a:lstStyle/>
          <a:p>
            <a:r>
              <a:rPr lang="es-ES" sz="1100" dirty="0">
                <a:effectLst/>
                <a:latin typeface="Aptos" panose="020B0004020202020204" pitchFamily="34" charset="0"/>
                <a:ea typeface="Aptos" panose="020B0004020202020204" pitchFamily="34" charset="0"/>
                <a:cs typeface="Aptos" panose="020B0004020202020204" pitchFamily="34" charset="0"/>
              </a:rPr>
              <a:t>El departamento considera a la hora abordar el proyecto de cambio de HCM, el proyecto sería mas simple con Oracle. El histórico va a ser mas sencillo de migrar gracias a su herramienta y se podría abarcar el proyecto de forma faseada por módulos sin necesidad de hacerlo todo al mismo tiem</a:t>
            </a:r>
            <a:r>
              <a:rPr lang="es-ES" sz="1100" dirty="0">
                <a:latin typeface="Aptos" panose="020B0004020202020204" pitchFamily="34" charset="0"/>
                <a:ea typeface="Aptos" panose="020B0004020202020204" pitchFamily="34" charset="0"/>
                <a:cs typeface="Aptos" panose="020B0004020202020204" pitchFamily="34" charset="0"/>
              </a:rPr>
              <a:t>po.</a:t>
            </a:r>
            <a:endParaRPr lang="es-ES" sz="1100" dirty="0">
              <a:effectLst/>
              <a:latin typeface="Aptos" panose="020B0004020202020204" pitchFamily="34" charset="0"/>
              <a:ea typeface="Aptos" panose="020B0004020202020204" pitchFamily="34" charset="0"/>
              <a:cs typeface="Aptos" panose="020B0004020202020204" pitchFamily="34" charset="0"/>
            </a:endParaRPr>
          </a:p>
        </p:txBody>
      </p:sp>
      <p:sp>
        <p:nvSpPr>
          <p:cNvPr id="51" name="Total asegurados">
            <a:extLst>
              <a:ext uri="{FF2B5EF4-FFF2-40B4-BE49-F238E27FC236}">
                <a16:creationId xmlns:a16="http://schemas.microsoft.com/office/drawing/2014/main" id="{6B931CDE-EF14-F86A-A7F1-2783D02BAF95}"/>
              </a:ext>
            </a:extLst>
          </p:cNvPr>
          <p:cNvSpPr/>
          <p:nvPr/>
        </p:nvSpPr>
        <p:spPr>
          <a:xfrm>
            <a:off x="2319414" y="3552985"/>
            <a:ext cx="7553172" cy="355533"/>
          </a:xfrm>
          <a:prstGeom prst="rect">
            <a:avLst/>
          </a:prstGeom>
          <a:noFill/>
          <a:ln/>
        </p:spPr>
        <p:txBody>
          <a:bodyPr wrap="square" lIns="0" tIns="0" rIns="0" bIns="0" rtlCol="0" anchor="ctr"/>
          <a:lstStyle/>
          <a:p>
            <a:r>
              <a:rPr lang="es-ES" sz="1100" dirty="0">
                <a:effectLst/>
                <a:latin typeface="Aptos" panose="020B0004020202020204" pitchFamily="34" charset="0"/>
                <a:ea typeface="Aptos" panose="020B0004020202020204" pitchFamily="34" charset="0"/>
                <a:cs typeface="Aptos" panose="020B0004020202020204" pitchFamily="34" charset="0"/>
              </a:rPr>
              <a:t>El departamento considera que la opción más sólida y segura es la presentada por Oracle. Destaca que la base de People Soft será más fácil de trasladar a un nuevo producto de su mismo creador que a otro distinto.</a:t>
            </a:r>
          </a:p>
        </p:txBody>
      </p:sp>
      <p:sp>
        <p:nvSpPr>
          <p:cNvPr id="52" name="Total asegurados">
            <a:extLst>
              <a:ext uri="{FF2B5EF4-FFF2-40B4-BE49-F238E27FC236}">
                <a16:creationId xmlns:a16="http://schemas.microsoft.com/office/drawing/2014/main" id="{75C800DB-9169-2F80-42F9-86540A861BED}"/>
              </a:ext>
            </a:extLst>
          </p:cNvPr>
          <p:cNvSpPr/>
          <p:nvPr/>
        </p:nvSpPr>
        <p:spPr>
          <a:xfrm>
            <a:off x="2258340" y="4331444"/>
            <a:ext cx="7745196" cy="355533"/>
          </a:xfrm>
          <a:prstGeom prst="rect">
            <a:avLst/>
          </a:prstGeom>
          <a:noFill/>
          <a:ln/>
        </p:spPr>
        <p:txBody>
          <a:bodyPr wrap="square" lIns="0" tIns="0" rIns="0" bIns="0" rtlCol="0" anchor="ctr"/>
          <a:lstStyle/>
          <a:p>
            <a:r>
              <a:rPr lang="es-ES" sz="1000" dirty="0">
                <a:effectLst/>
                <a:latin typeface="Aptos" panose="020B0004020202020204" pitchFamily="34" charset="0"/>
                <a:ea typeface="Aptos" panose="020B0004020202020204" pitchFamily="34" charset="0"/>
                <a:cs typeface="Aptos" panose="020B0004020202020204" pitchFamily="34" charset="0"/>
              </a:rPr>
              <a:t>El departamento analiza que todas las herramientas evaluadas ofrecen capacidades de análisis. Oracle le ofrece una carga de datos históricos automatizada mientras que Workday podría presentar cierta dificultad o aumento de coste. El departamento concluye que Oracle tiene un conocimiento profundo de nuestro producto actual, lo cual facilita su implementación y reduce potenciales contratiempos</a:t>
            </a:r>
          </a:p>
        </p:txBody>
      </p:sp>
      <p:sp>
        <p:nvSpPr>
          <p:cNvPr id="53" name="Total asegurados">
            <a:extLst>
              <a:ext uri="{FF2B5EF4-FFF2-40B4-BE49-F238E27FC236}">
                <a16:creationId xmlns:a16="http://schemas.microsoft.com/office/drawing/2014/main" id="{71ED2993-7719-7077-4C56-EC2B090C873E}"/>
              </a:ext>
            </a:extLst>
          </p:cNvPr>
          <p:cNvSpPr/>
          <p:nvPr/>
        </p:nvSpPr>
        <p:spPr>
          <a:xfrm>
            <a:off x="2258340" y="5092521"/>
            <a:ext cx="7553172" cy="355533"/>
          </a:xfrm>
          <a:prstGeom prst="rect">
            <a:avLst/>
          </a:prstGeom>
          <a:noFill/>
          <a:ln/>
        </p:spPr>
        <p:txBody>
          <a:bodyPr wrap="square" lIns="0" tIns="0" rIns="0" bIns="0" rtlCol="0" anchor="ctr"/>
          <a:lstStyle/>
          <a:p>
            <a:r>
              <a:rPr lang="es-ES" sz="1000" dirty="0">
                <a:effectLst/>
                <a:latin typeface="Aptos" panose="020B0004020202020204" pitchFamily="34" charset="0"/>
                <a:ea typeface="Aptos" panose="020B0004020202020204" pitchFamily="34" charset="0"/>
                <a:cs typeface="Aptos" panose="020B0004020202020204" pitchFamily="34" charset="0"/>
              </a:rPr>
              <a:t>Desde el departamento de procesos, comprobamos que Oracle sería la solución natural de evolución desde PeopleSoft al ser del mismo fabricante y cubre ampliamente por encima de sus competidores las funcionalidades actuales de PeopleSoft incluyendo innovación y mejora tecnológica en todas ellas</a:t>
            </a:r>
            <a:r>
              <a:rPr lang="es-ES" sz="1100" dirty="0">
                <a:effectLst/>
                <a:latin typeface="Aptos" panose="020B0004020202020204" pitchFamily="34" charset="0"/>
                <a:ea typeface="Aptos" panose="020B0004020202020204" pitchFamily="34" charset="0"/>
                <a:cs typeface="Aptos" panose="020B0004020202020204" pitchFamily="34" charset="0"/>
              </a:rPr>
              <a:t>.</a:t>
            </a:r>
          </a:p>
        </p:txBody>
      </p:sp>
      <p:sp>
        <p:nvSpPr>
          <p:cNvPr id="55" name="Rectángulo 54">
            <a:extLst>
              <a:ext uri="{FF2B5EF4-FFF2-40B4-BE49-F238E27FC236}">
                <a16:creationId xmlns:a16="http://schemas.microsoft.com/office/drawing/2014/main" id="{E4624F5E-74F8-2AC8-667A-6D1798C2920B}"/>
              </a:ext>
            </a:extLst>
          </p:cNvPr>
          <p:cNvSpPr/>
          <p:nvPr/>
        </p:nvSpPr>
        <p:spPr>
          <a:xfrm>
            <a:off x="10232480" y="1873047"/>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6" name="Picture 2" descr="Workday at Wake Forest - Workday">
            <a:extLst>
              <a:ext uri="{FF2B5EF4-FFF2-40B4-BE49-F238E27FC236}">
                <a16:creationId xmlns:a16="http://schemas.microsoft.com/office/drawing/2014/main" id="{012AEEBB-5A73-583B-E570-608CB6D318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26506" y="2037080"/>
            <a:ext cx="788195" cy="306520"/>
          </a:xfrm>
          <a:prstGeom prst="rect">
            <a:avLst/>
          </a:prstGeom>
          <a:noFill/>
          <a:extLst>
            <a:ext uri="{909E8E84-426E-40DD-AFC4-6F175D3DCCD1}">
              <a14:hiddenFill xmlns:a14="http://schemas.microsoft.com/office/drawing/2010/main">
                <a:solidFill>
                  <a:srgbClr val="FFFFFF"/>
                </a:solidFill>
              </a14:hiddenFill>
            </a:ext>
          </a:extLst>
        </p:spPr>
      </p:pic>
      <p:sp>
        <p:nvSpPr>
          <p:cNvPr id="59" name="Rectángulo 58">
            <a:extLst>
              <a:ext uri="{FF2B5EF4-FFF2-40B4-BE49-F238E27FC236}">
                <a16:creationId xmlns:a16="http://schemas.microsoft.com/office/drawing/2014/main" id="{72FADC8D-10A9-BE28-90B8-C1C8D9E08184}"/>
              </a:ext>
            </a:extLst>
          </p:cNvPr>
          <p:cNvSpPr/>
          <p:nvPr/>
        </p:nvSpPr>
        <p:spPr>
          <a:xfrm>
            <a:off x="10227864" y="3426287"/>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0" name="Picture 4" descr="Comprar acciones de Oracle este 2024: Lo que necesitas saber - The Investor  U">
            <a:extLst>
              <a:ext uri="{FF2B5EF4-FFF2-40B4-BE49-F238E27FC236}">
                <a16:creationId xmlns:a16="http://schemas.microsoft.com/office/drawing/2014/main" id="{722C0237-015D-DEC6-E894-F3B12B1FCE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8128" y="3504887"/>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61" name="Rectángulo 60">
            <a:extLst>
              <a:ext uri="{FF2B5EF4-FFF2-40B4-BE49-F238E27FC236}">
                <a16:creationId xmlns:a16="http://schemas.microsoft.com/office/drawing/2014/main" id="{167AE73B-83E9-C908-5860-5BFDABF8687B}"/>
              </a:ext>
            </a:extLst>
          </p:cNvPr>
          <p:cNvSpPr/>
          <p:nvPr/>
        </p:nvSpPr>
        <p:spPr>
          <a:xfrm>
            <a:off x="10227864" y="4194049"/>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2" name="Picture 4" descr="Comprar acciones de Oracle este 2024: Lo que necesitas saber - The Investor  U">
            <a:extLst>
              <a:ext uri="{FF2B5EF4-FFF2-40B4-BE49-F238E27FC236}">
                <a16:creationId xmlns:a16="http://schemas.microsoft.com/office/drawing/2014/main" id="{1EED71E3-553E-71B3-854F-425FCF960C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8128" y="4272649"/>
            <a:ext cx="875718" cy="492591"/>
          </a:xfrm>
          <a:prstGeom prst="rect">
            <a:avLst/>
          </a:prstGeom>
          <a:noFill/>
          <a:extLst>
            <a:ext uri="{909E8E84-426E-40DD-AFC4-6F175D3DCCD1}">
              <a14:hiddenFill xmlns:a14="http://schemas.microsoft.com/office/drawing/2010/main">
                <a:solidFill>
                  <a:srgbClr val="FFFFFF"/>
                </a:solidFill>
              </a14:hiddenFill>
            </a:ext>
          </a:extLst>
        </p:spPr>
      </p:pic>
      <p:sp>
        <p:nvSpPr>
          <p:cNvPr id="63" name="Rectángulo 62">
            <a:extLst>
              <a:ext uri="{FF2B5EF4-FFF2-40B4-BE49-F238E27FC236}">
                <a16:creationId xmlns:a16="http://schemas.microsoft.com/office/drawing/2014/main" id="{B331BBAB-4D6B-BF57-EA25-09992FE273B0}"/>
              </a:ext>
            </a:extLst>
          </p:cNvPr>
          <p:cNvSpPr/>
          <p:nvPr/>
        </p:nvSpPr>
        <p:spPr>
          <a:xfrm>
            <a:off x="10236216" y="4961811"/>
            <a:ext cx="1576248" cy="651383"/>
          </a:xfrm>
          <a:prstGeom prst="rect">
            <a:avLst/>
          </a:prstGeom>
          <a:solidFill>
            <a:schemeClr val="bg1">
              <a:lumMod val="95000"/>
            </a:schemeClr>
          </a:solidFill>
          <a:ln>
            <a:solidFill>
              <a:schemeClr val="bg1">
                <a:lumMod val="95000"/>
              </a:schemeClr>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4" name="Picture 4" descr="Comprar acciones de Oracle este 2024: Lo que necesitas saber - The Investor  U">
            <a:extLst>
              <a:ext uri="{FF2B5EF4-FFF2-40B4-BE49-F238E27FC236}">
                <a16:creationId xmlns:a16="http://schemas.microsoft.com/office/drawing/2014/main" id="{DD2491A5-1C0C-2A12-F8C0-4474FB8CC3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6480" y="5040411"/>
            <a:ext cx="875718" cy="492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22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E3426-1EF5-9994-E2CF-E9A226D0534C}"/>
            </a:ext>
          </a:extLst>
        </p:cNvPr>
        <p:cNvGrpSpPr/>
        <p:nvPr/>
      </p:nvGrpSpPr>
      <p:grpSpPr>
        <a:xfrm>
          <a:off x="0" y="0"/>
          <a:ext cx="0" cy="0"/>
          <a:chOff x="0" y="0"/>
          <a:chExt cx="0" cy="0"/>
        </a:xfrm>
      </p:grpSpPr>
      <p:sp>
        <p:nvSpPr>
          <p:cNvPr id="8" name="CuadroTexto 7">
            <a:extLst>
              <a:ext uri="{FF2B5EF4-FFF2-40B4-BE49-F238E27FC236}">
                <a16:creationId xmlns:a16="http://schemas.microsoft.com/office/drawing/2014/main" id="{8610A718-7E97-BBAC-EBFE-DBF4641EB06F}"/>
              </a:ext>
            </a:extLst>
          </p:cNvPr>
          <p:cNvSpPr txBox="1"/>
          <p:nvPr/>
        </p:nvSpPr>
        <p:spPr>
          <a:xfrm>
            <a:off x="8186795" y="822150"/>
            <a:ext cx="3924726" cy="4878259"/>
          </a:xfrm>
          <a:prstGeom prst="rect">
            <a:avLst/>
          </a:prstGeom>
          <a:noFill/>
        </p:spPr>
        <p:txBody>
          <a:bodyPr wrap="square" rtlCol="0">
            <a:spAutoFit/>
          </a:bodyPr>
          <a:lstStyle/>
          <a:p>
            <a:pPr algn="just"/>
            <a:r>
              <a:rPr lang="es-ES" sz="1200" b="1" kern="0" dirty="0">
                <a:solidFill>
                  <a:schemeClr val="tx1">
                    <a:lumMod val="50000"/>
                    <a:lumOff val="50000"/>
                  </a:schemeClr>
                </a:solidFill>
                <a:latin typeface="Arial Regular" pitchFamily="34" charset="0"/>
                <a:ea typeface="Arial Regular" pitchFamily="34" charset="-122"/>
              </a:rPr>
              <a:t> Reflexión</a:t>
            </a:r>
          </a:p>
          <a:p>
            <a:pPr algn="just"/>
            <a:endParaRPr lang="es-ES" sz="1100" kern="0" dirty="0">
              <a:solidFill>
                <a:schemeClr val="tx1">
                  <a:lumMod val="50000"/>
                  <a:lumOff val="50000"/>
                </a:schemeClr>
              </a:solidFill>
              <a:latin typeface="Arial Regular" pitchFamily="34" charset="0"/>
              <a:ea typeface="Arial Regular" pitchFamily="34" charset="-122"/>
            </a:endParaRPr>
          </a:p>
          <a:p>
            <a:pPr algn="just"/>
            <a:r>
              <a:rPr lang="es-ES" sz="1200" kern="0" dirty="0">
                <a:solidFill>
                  <a:schemeClr val="tx1">
                    <a:lumMod val="50000"/>
                    <a:lumOff val="50000"/>
                  </a:schemeClr>
                </a:solidFill>
                <a:latin typeface="Arial Regular" pitchFamily="34" charset="0"/>
                <a:ea typeface="Arial Regular" pitchFamily="34" charset="-122"/>
              </a:rPr>
              <a:t>A veces, una primera impresión visual no refleja todo lo que ofrece una herramienta. Lo importante es valorar la experiencia completa: cómo se accede a la información, cómo se completan tareas, cómo se reduce el número de clics y cómo se adaptan los flujos al rol de cada usuario.</a:t>
            </a:r>
          </a:p>
          <a:p>
            <a:pPr algn="just"/>
            <a:endParaRPr lang="es-ES" sz="1200" kern="0" dirty="0">
              <a:solidFill>
                <a:schemeClr val="tx1">
                  <a:lumMod val="50000"/>
                  <a:lumOff val="50000"/>
                </a:schemeClr>
              </a:solidFill>
              <a:latin typeface="Arial Regular" pitchFamily="34" charset="0"/>
              <a:ea typeface="Arial Regular" pitchFamily="34" charset="-122"/>
            </a:endParaRPr>
          </a:p>
          <a:p>
            <a:pPr marL="87313" algn="just">
              <a:tabLst>
                <a:tab pos="176213" algn="l"/>
              </a:tabLst>
            </a:pPr>
            <a:r>
              <a:rPr lang="es-ES" sz="1200" i="1" kern="0" dirty="0">
                <a:solidFill>
                  <a:schemeClr val="tx1">
                    <a:lumMod val="50000"/>
                    <a:lumOff val="50000"/>
                  </a:schemeClr>
                </a:solidFill>
                <a:latin typeface="Arial Regular" pitchFamily="34" charset="0"/>
                <a:ea typeface="Arial Regular" pitchFamily="34" charset="-122"/>
              </a:rPr>
              <a:t>La experiencia actual de Oracle Cloud HCM no tiene nada que ver con lo que conocemos de PeopleSoft.</a:t>
            </a:r>
          </a:p>
          <a:p>
            <a:pPr marL="87313" algn="just">
              <a:tabLst>
                <a:tab pos="176213" algn="l"/>
              </a:tabLst>
            </a:pPr>
            <a:r>
              <a:rPr lang="es-ES" sz="1200" i="1" kern="0" dirty="0">
                <a:solidFill>
                  <a:schemeClr val="tx1">
                    <a:lumMod val="50000"/>
                    <a:lumOff val="50000"/>
                  </a:schemeClr>
                </a:solidFill>
                <a:latin typeface="Arial Regular" pitchFamily="34" charset="0"/>
                <a:ea typeface="Arial Regular" pitchFamily="34" charset="-122"/>
              </a:rPr>
              <a:t>Su interfaz esta plenamente a la altura de los mejores productos del mercado, tanto en diseño como en funcionalidad.</a:t>
            </a:r>
          </a:p>
          <a:p>
            <a:pPr marL="87313" algn="just">
              <a:tabLst>
                <a:tab pos="176213" algn="l"/>
              </a:tabLst>
            </a:pPr>
            <a:endParaRPr lang="es-ES" sz="1200" i="1" kern="0" dirty="0">
              <a:solidFill>
                <a:schemeClr val="tx1">
                  <a:lumMod val="50000"/>
                  <a:lumOff val="50000"/>
                </a:schemeClr>
              </a:solidFill>
              <a:latin typeface="Arial Regular" pitchFamily="34" charset="0"/>
              <a:ea typeface="Arial Regular" pitchFamily="34" charset="-122"/>
            </a:endParaRPr>
          </a:p>
          <a:p>
            <a:r>
              <a:rPr lang="es-ES" sz="1200" b="1" kern="0" dirty="0">
                <a:solidFill>
                  <a:schemeClr val="tx1">
                    <a:lumMod val="50000"/>
                    <a:lumOff val="50000"/>
                  </a:schemeClr>
                </a:solidFill>
                <a:latin typeface="Arial Regular" pitchFamily="34" charset="0"/>
                <a:ea typeface="Arial Regular" pitchFamily="34" charset="-122"/>
              </a:rPr>
              <a:t>    </a:t>
            </a:r>
          </a:p>
          <a:p>
            <a:r>
              <a:rPr lang="es-ES" sz="1200" b="1" kern="0" dirty="0">
                <a:solidFill>
                  <a:schemeClr val="tx1">
                    <a:lumMod val="50000"/>
                    <a:lumOff val="50000"/>
                  </a:schemeClr>
                </a:solidFill>
                <a:latin typeface="Arial Regular" pitchFamily="34" charset="0"/>
                <a:ea typeface="Arial Regular" pitchFamily="34" charset="-122"/>
              </a:rPr>
              <a:t>        Nota final</a:t>
            </a:r>
          </a:p>
          <a:p>
            <a:pPr algn="ctr"/>
            <a:endParaRPr lang="es-ES" sz="1200" kern="0" dirty="0">
              <a:solidFill>
                <a:schemeClr val="tx1">
                  <a:lumMod val="50000"/>
                  <a:lumOff val="50000"/>
                </a:schemeClr>
              </a:solidFill>
              <a:latin typeface="Arial Regular" pitchFamily="34" charset="0"/>
              <a:ea typeface="Arial Regular" pitchFamily="34" charset="-122"/>
            </a:endParaRPr>
          </a:p>
          <a:p>
            <a:pPr algn="just"/>
            <a:r>
              <a:rPr lang="es-ES" sz="1200" i="1" kern="0" dirty="0">
                <a:solidFill>
                  <a:schemeClr val="tx1">
                    <a:lumMod val="50000"/>
                    <a:lumOff val="50000"/>
                  </a:schemeClr>
                </a:solidFill>
                <a:latin typeface="Arial Regular" pitchFamily="34" charset="0"/>
                <a:ea typeface="Arial Regular" pitchFamily="34" charset="-122"/>
              </a:rPr>
              <a:t>Estas aclaraciones no significan que Oracle sea la opción elegida, ni que estemos cerrando una decisión.</a:t>
            </a:r>
          </a:p>
          <a:p>
            <a:pPr algn="just"/>
            <a:r>
              <a:rPr lang="es-ES" sz="1200" i="1" kern="0" dirty="0">
                <a:solidFill>
                  <a:schemeClr val="tx1">
                    <a:lumMod val="50000"/>
                    <a:lumOff val="50000"/>
                  </a:schemeClr>
                </a:solidFill>
                <a:latin typeface="Arial Regular" pitchFamily="34" charset="0"/>
                <a:ea typeface="Arial Regular" pitchFamily="34" charset="-122"/>
              </a:rPr>
              <a:t>Solo buscamos actualizar la imagen que tenemos de cada producto antes de avanzar a las siguientes fases. </a:t>
            </a:r>
            <a:r>
              <a:rPr lang="es-ES" sz="1200" b="1" i="1" kern="0" dirty="0">
                <a:solidFill>
                  <a:schemeClr val="tx1">
                    <a:lumMod val="50000"/>
                    <a:lumOff val="50000"/>
                  </a:schemeClr>
                </a:solidFill>
                <a:latin typeface="Arial Regular" pitchFamily="34" charset="0"/>
                <a:ea typeface="Arial Regular" pitchFamily="34" charset="-122"/>
              </a:rPr>
              <a:t>El objetivo es tomar decisiones con la visión mas realista y completa posible. </a:t>
            </a:r>
          </a:p>
          <a:p>
            <a:pPr marL="87313" algn="just">
              <a:tabLst>
                <a:tab pos="176213" algn="l"/>
              </a:tabLst>
            </a:pPr>
            <a:endParaRPr lang="es-ES" sz="1200" i="1" kern="0" dirty="0">
              <a:solidFill>
                <a:schemeClr val="tx1">
                  <a:lumMod val="50000"/>
                  <a:lumOff val="50000"/>
                </a:schemeClr>
              </a:solidFill>
              <a:latin typeface="Arial Regular" pitchFamily="34" charset="0"/>
              <a:ea typeface="Arial Regular" pitchFamily="34" charset="-122"/>
            </a:endParaRPr>
          </a:p>
          <a:p>
            <a:pPr algn="just"/>
            <a:endParaRPr lang="es-ES" sz="1200" kern="0" dirty="0">
              <a:solidFill>
                <a:schemeClr val="tx1">
                  <a:lumMod val="50000"/>
                  <a:lumOff val="50000"/>
                </a:schemeClr>
              </a:solidFill>
              <a:latin typeface="Arial Regular" pitchFamily="34" charset="0"/>
              <a:ea typeface="Arial Regular" pitchFamily="34" charset="-122"/>
            </a:endParaRPr>
          </a:p>
        </p:txBody>
      </p:sp>
      <p:sp>
        <p:nvSpPr>
          <p:cNvPr id="2" name="Marcador de texto 1">
            <a:extLst>
              <a:ext uri="{FF2B5EF4-FFF2-40B4-BE49-F238E27FC236}">
                <a16:creationId xmlns:a16="http://schemas.microsoft.com/office/drawing/2014/main" id="{62E120CA-B69C-C968-56BD-8749B4832739}"/>
              </a:ext>
            </a:extLst>
          </p:cNvPr>
          <p:cNvSpPr>
            <a:spLocks noGrp="1"/>
          </p:cNvSpPr>
          <p:nvPr>
            <p:ph type="body" sz="quarter" idx="10"/>
          </p:nvPr>
        </p:nvSpPr>
        <p:spPr>
          <a:xfrm>
            <a:off x="84080" y="184382"/>
            <a:ext cx="11669556" cy="806971"/>
          </a:xfrm>
        </p:spPr>
        <p:txBody>
          <a:bodyPr>
            <a:noAutofit/>
          </a:bodyPr>
          <a:lstStyle/>
          <a:p>
            <a:pPr>
              <a:lnSpc>
                <a:spcPts val="4798"/>
              </a:lnSpc>
            </a:pPr>
            <a:r>
              <a:rPr lang="es-ES" sz="3200" kern="0" spc="-100" dirty="0">
                <a:latin typeface="Arial Regular" pitchFamily="34" charset="0"/>
                <a:ea typeface="Arial Regular" pitchFamily="34" charset="-122"/>
                <a:cs typeface="Arial Regular" pitchFamily="34" charset="-120"/>
              </a:rPr>
              <a:t>Aclaraciones User Interface HCM</a:t>
            </a:r>
            <a:endParaRPr lang="en-US" sz="3200" kern="0" spc="-100" dirty="0">
              <a:latin typeface="Arial Regular" pitchFamily="34" charset="0"/>
              <a:ea typeface="Arial Regular" pitchFamily="34" charset="-122"/>
              <a:cs typeface="Arial Regular" pitchFamily="34" charset="-120"/>
            </a:endParaRPr>
          </a:p>
        </p:txBody>
      </p:sp>
      <p:sp>
        <p:nvSpPr>
          <p:cNvPr id="5" name="Marcador de texto 4">
            <a:extLst>
              <a:ext uri="{FF2B5EF4-FFF2-40B4-BE49-F238E27FC236}">
                <a16:creationId xmlns:a16="http://schemas.microsoft.com/office/drawing/2014/main" id="{6F047C5F-A6EE-DD80-4275-C50A38A84A8A}"/>
              </a:ext>
            </a:extLst>
          </p:cNvPr>
          <p:cNvSpPr>
            <a:spLocks noGrp="1"/>
          </p:cNvSpPr>
          <p:nvPr>
            <p:ph type="body" sz="quarter" idx="13"/>
          </p:nvPr>
        </p:nvSpPr>
        <p:spPr>
          <a:xfrm>
            <a:off x="84080" y="6331629"/>
            <a:ext cx="5494417" cy="329637"/>
          </a:xfrm>
        </p:spPr>
        <p:txBody>
          <a:bodyPr/>
          <a:lstStyle/>
          <a:p>
            <a:r>
              <a:rPr lang="es-ES" spc="-67"/>
              <a:t>Conclusiones Defensas RFI Proyecto HCM</a:t>
            </a:r>
          </a:p>
        </p:txBody>
      </p:sp>
      <p:sp>
        <p:nvSpPr>
          <p:cNvPr id="4" name="CuadroTexto 3">
            <a:extLst>
              <a:ext uri="{FF2B5EF4-FFF2-40B4-BE49-F238E27FC236}">
                <a16:creationId xmlns:a16="http://schemas.microsoft.com/office/drawing/2014/main" id="{BBAAFE84-F53A-D1E5-0EFF-4E755937D110}"/>
              </a:ext>
            </a:extLst>
          </p:cNvPr>
          <p:cNvSpPr txBox="1"/>
          <p:nvPr/>
        </p:nvSpPr>
        <p:spPr>
          <a:xfrm>
            <a:off x="368157" y="822150"/>
            <a:ext cx="3616501" cy="5447645"/>
          </a:xfrm>
          <a:prstGeom prst="rect">
            <a:avLst/>
          </a:prstGeom>
          <a:noFill/>
        </p:spPr>
        <p:txBody>
          <a:bodyPr wrap="square" rtlCol="0">
            <a:spAutoFit/>
          </a:bodyPr>
          <a:lstStyle/>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En base al feedback recibido creemos importante aclarar alguna percepción que ha surgido en algunas conversaciones, que la interfaz de Oracle es menos moderna que la de Workday. Esta impresión parece estar </a:t>
            </a:r>
            <a:r>
              <a:rPr lang="es-ES" sz="1200" b="1" kern="0" dirty="0">
                <a:solidFill>
                  <a:schemeClr val="tx1">
                    <a:lumMod val="50000"/>
                    <a:lumOff val="50000"/>
                  </a:schemeClr>
                </a:solidFill>
                <a:latin typeface="Arial Regular" pitchFamily="34" charset="0"/>
                <a:ea typeface="Arial Regular" pitchFamily="34" charset="-122"/>
              </a:rPr>
              <a:t>influida por la experiencia previa con PeopleSoft, pero no refleja la realidad actual del producto.</a:t>
            </a:r>
          </a:p>
          <a:p>
            <a:pPr algn="just">
              <a:spcAft>
                <a:spcPts val="600"/>
              </a:spcAft>
            </a:pPr>
            <a:r>
              <a:rPr lang="es-ES" sz="1200" b="1" kern="0" dirty="0">
                <a:solidFill>
                  <a:schemeClr val="tx1">
                    <a:lumMod val="50000"/>
                    <a:lumOff val="50000"/>
                  </a:schemeClr>
                </a:solidFill>
                <a:latin typeface="Arial Regular" pitchFamily="34" charset="0"/>
                <a:ea typeface="Arial Regular" pitchFamily="34" charset="-122"/>
              </a:rPr>
              <a:t>Oracle Fusion Cloud HCM ha sido rediseñado por completo en los últimos años</a:t>
            </a:r>
            <a:r>
              <a:rPr lang="es-ES" sz="1200" kern="0" dirty="0">
                <a:solidFill>
                  <a:schemeClr val="tx1">
                    <a:lumMod val="50000"/>
                    <a:lumOff val="50000"/>
                  </a:schemeClr>
                </a:solidFill>
                <a:latin typeface="Arial Regular" pitchFamily="34" charset="0"/>
                <a:ea typeface="Arial Regular" pitchFamily="34" charset="-122"/>
              </a:rPr>
              <a:t>, incorporando las mejores prácticas de experiencia de usuario (UX) y diseño responsivo. Su enfoque es claro: simplificar, hacer mas accesibles los procesos y adaptarse a perfiles muy distintos dentro de la organización.</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Oracle utiliza Redwood UX, su framework visual actual,  que sigue principios muy similares a los de Workday:</a:t>
            </a:r>
          </a:p>
          <a:p>
            <a:pPr marL="174625" lvl="1" indent="-92075">
              <a:spcAft>
                <a:spcPts val="300"/>
              </a:spcAft>
              <a:buFont typeface="Arial" panose="020B0604020202020204" pitchFamily="34" charset="0"/>
              <a:buChar char="•"/>
            </a:pPr>
            <a:r>
              <a:rPr lang="es-ES" sz="1200" kern="0" dirty="0">
                <a:solidFill>
                  <a:schemeClr val="tx1">
                    <a:lumMod val="50000"/>
                    <a:lumOff val="50000"/>
                  </a:schemeClr>
                </a:solidFill>
                <a:latin typeface="Arial Regular" pitchFamily="34" charset="0"/>
                <a:ea typeface="Arial Regular" pitchFamily="34" charset="-122"/>
              </a:rPr>
              <a:t>Pantallas limpias, orientadas a tareas.</a:t>
            </a:r>
          </a:p>
          <a:p>
            <a:pPr marL="174625" lvl="1" indent="-92075">
              <a:spcAft>
                <a:spcPts val="300"/>
              </a:spcAft>
              <a:buFont typeface="Arial" panose="020B0604020202020204" pitchFamily="34" charset="0"/>
              <a:buChar char="•"/>
            </a:pPr>
            <a:r>
              <a:rPr lang="es-ES" sz="1200" kern="0" dirty="0">
                <a:solidFill>
                  <a:schemeClr val="tx1">
                    <a:lumMod val="50000"/>
                    <a:lumOff val="50000"/>
                  </a:schemeClr>
                </a:solidFill>
                <a:latin typeface="Arial Regular" pitchFamily="34" charset="0"/>
                <a:ea typeface="Arial Regular" pitchFamily="34" charset="-122"/>
              </a:rPr>
              <a:t>Navegación guiada, por pasos, con acciones destacadas.</a:t>
            </a:r>
          </a:p>
          <a:p>
            <a:pPr marL="174625" lvl="1" indent="-92075">
              <a:spcAft>
                <a:spcPts val="300"/>
              </a:spcAft>
              <a:buFont typeface="Arial" panose="020B0604020202020204" pitchFamily="34" charset="0"/>
              <a:buChar char="•"/>
            </a:pPr>
            <a:r>
              <a:rPr lang="es-ES" sz="1200" kern="0" dirty="0">
                <a:solidFill>
                  <a:schemeClr val="tx1">
                    <a:lumMod val="50000"/>
                    <a:lumOff val="50000"/>
                  </a:schemeClr>
                </a:solidFill>
                <a:latin typeface="Arial Regular" pitchFamily="34" charset="0"/>
                <a:ea typeface="Arial Regular" pitchFamily="34" charset="-122"/>
              </a:rPr>
              <a:t>Adaptabilidad a dispositivos móviles (responsive) y accesos directos personalizables.</a:t>
            </a:r>
          </a:p>
          <a:p>
            <a:pPr marL="174625" lvl="1" indent="-92075">
              <a:spcAft>
                <a:spcPts val="300"/>
              </a:spcAft>
              <a:buFont typeface="Arial" panose="020B0604020202020204" pitchFamily="34" charset="0"/>
              <a:buChar char="•"/>
            </a:pPr>
            <a:r>
              <a:rPr lang="es-ES" sz="1200" kern="0" dirty="0">
                <a:solidFill>
                  <a:schemeClr val="tx1">
                    <a:lumMod val="50000"/>
                    <a:lumOff val="50000"/>
                  </a:schemeClr>
                </a:solidFill>
                <a:latin typeface="Arial Regular" pitchFamily="34" charset="0"/>
                <a:ea typeface="Arial Regular" pitchFamily="34" charset="-122"/>
              </a:rPr>
              <a:t>Uso de asistentes inteligentes (Oracle Digital Assistant) integrados en la experiencia de usuario.</a:t>
            </a:r>
          </a:p>
          <a:p>
            <a:pPr algn="just"/>
            <a:endParaRPr lang="es-ES" sz="1100" kern="0" dirty="0">
              <a:solidFill>
                <a:schemeClr val="tx1">
                  <a:lumMod val="50000"/>
                  <a:lumOff val="50000"/>
                </a:schemeClr>
              </a:solidFill>
              <a:latin typeface="Arial Regular" pitchFamily="34" charset="0"/>
              <a:ea typeface="Arial Regular" pitchFamily="34" charset="-122"/>
            </a:endParaRPr>
          </a:p>
        </p:txBody>
      </p:sp>
      <p:sp>
        <p:nvSpPr>
          <p:cNvPr id="7" name="CuadroTexto 6">
            <a:extLst>
              <a:ext uri="{FF2B5EF4-FFF2-40B4-BE49-F238E27FC236}">
                <a16:creationId xmlns:a16="http://schemas.microsoft.com/office/drawing/2014/main" id="{55C96DB9-EF94-6809-97B1-E45C3907E8C7}"/>
              </a:ext>
            </a:extLst>
          </p:cNvPr>
          <p:cNvSpPr txBox="1"/>
          <p:nvPr/>
        </p:nvSpPr>
        <p:spPr>
          <a:xfrm>
            <a:off x="4159325" y="822150"/>
            <a:ext cx="3924726" cy="4016484"/>
          </a:xfrm>
          <a:prstGeom prst="rect">
            <a:avLst/>
          </a:prstGeom>
          <a:noFill/>
        </p:spPr>
        <p:txBody>
          <a:bodyPr wrap="square" rtlCol="0">
            <a:spAutoFit/>
          </a:bodyPr>
          <a:lstStyle/>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Por su parte, Workday fue diseñado desde el inicio como un producto cloud-first, lo que le dio ventaja inicial en percepción visual. Y es cierto: su interfaz es intuitiva, bien valorada y moderna. </a:t>
            </a:r>
            <a:r>
              <a:rPr lang="es-ES" sz="1200" b="1" i="1" kern="0" dirty="0">
                <a:solidFill>
                  <a:schemeClr val="tx1">
                    <a:lumMod val="50000"/>
                    <a:lumOff val="50000"/>
                  </a:schemeClr>
                </a:solidFill>
                <a:latin typeface="Arial Regular" pitchFamily="34" charset="0"/>
                <a:ea typeface="Arial Regular" pitchFamily="34" charset="-122"/>
              </a:rPr>
              <a:t>Pero es importante recalcar que la distancia entre ambas experiencias hoy es mínima</a:t>
            </a:r>
            <a:r>
              <a:rPr lang="es-ES" sz="1200" kern="0" dirty="0">
                <a:solidFill>
                  <a:schemeClr val="tx1">
                    <a:lumMod val="50000"/>
                    <a:lumOff val="50000"/>
                  </a:schemeClr>
                </a:solidFill>
                <a:latin typeface="Arial Regular" pitchFamily="34" charset="0"/>
                <a:ea typeface="Arial Regular" pitchFamily="34" charset="-122"/>
              </a:rPr>
              <a:t>. </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En muchos aspectos, Oracle ha alcanzado un nivel de experiencia visual y funcional muy similar, con un diseño muy pensado para </a:t>
            </a:r>
            <a:r>
              <a:rPr lang="es-ES" sz="1200" b="1" kern="0" dirty="0">
                <a:solidFill>
                  <a:schemeClr val="tx1">
                    <a:lumMod val="50000"/>
                    <a:lumOff val="50000"/>
                  </a:schemeClr>
                </a:solidFill>
                <a:latin typeface="Arial Regular" pitchFamily="34" charset="0"/>
                <a:ea typeface="Arial Regular" pitchFamily="34" charset="-122"/>
              </a:rPr>
              <a:t>hacer el trabajo mas sencillo y natural</a:t>
            </a:r>
            <a:r>
              <a:rPr lang="es-ES" sz="1200" kern="0" dirty="0">
                <a:solidFill>
                  <a:schemeClr val="tx1">
                    <a:lumMod val="50000"/>
                    <a:lumOff val="50000"/>
                  </a:schemeClr>
                </a:solidFill>
                <a:latin typeface="Arial Regular" pitchFamily="34" charset="0"/>
                <a:ea typeface="Arial Regular" pitchFamily="34" charset="-122"/>
              </a:rPr>
              <a:t>, sobre todo en organizaciones con </a:t>
            </a:r>
            <a:r>
              <a:rPr lang="es-ES" sz="1200" b="1" kern="0" dirty="0">
                <a:solidFill>
                  <a:schemeClr val="tx1">
                    <a:lumMod val="50000"/>
                    <a:lumOff val="50000"/>
                  </a:schemeClr>
                </a:solidFill>
                <a:latin typeface="Arial Regular" pitchFamily="34" charset="0"/>
                <a:ea typeface="Arial Regular" pitchFamily="34" charset="-122"/>
              </a:rPr>
              <a:t>roles diversos y flujos distintos</a:t>
            </a:r>
            <a:r>
              <a:rPr lang="es-ES" sz="1200" kern="0" dirty="0">
                <a:solidFill>
                  <a:schemeClr val="tx1">
                    <a:lumMod val="50000"/>
                    <a:lumOff val="50000"/>
                  </a:schemeClr>
                </a:solidFill>
                <a:latin typeface="Arial Regular" pitchFamily="34" charset="0"/>
                <a:ea typeface="Arial Regular" pitchFamily="34" charset="-122"/>
              </a:rPr>
              <a:t>.</a:t>
            </a:r>
          </a:p>
          <a:p>
            <a:pPr algn="just">
              <a:spcBef>
                <a:spcPts val="600"/>
              </a:spcBef>
            </a:pPr>
            <a:endParaRPr lang="es-ES" sz="1200" kern="0" dirty="0">
              <a:solidFill>
                <a:schemeClr val="tx1">
                  <a:lumMod val="50000"/>
                  <a:lumOff val="50000"/>
                </a:schemeClr>
              </a:solidFill>
              <a:latin typeface="Arial Regular" pitchFamily="34" charset="0"/>
              <a:ea typeface="Arial Regular" pitchFamily="34" charset="-122"/>
            </a:endParaRPr>
          </a:p>
          <a:p>
            <a:pPr marL="87313" algn="just">
              <a:spcBef>
                <a:spcPts val="600"/>
              </a:spcBef>
            </a:pPr>
            <a:r>
              <a:rPr lang="es-ES" sz="1200" i="1" kern="0" dirty="0">
                <a:solidFill>
                  <a:schemeClr val="tx1">
                    <a:lumMod val="50000"/>
                    <a:lumOff val="50000"/>
                  </a:schemeClr>
                </a:solidFill>
                <a:latin typeface="Arial Regular" pitchFamily="34" charset="0"/>
                <a:ea typeface="Arial Regular" pitchFamily="34" charset="-122"/>
              </a:rPr>
              <a:t>La fuerza de una UX no está solo en lo estético, sino en cómo se adapta al flujo real del trabajo, cómo guía al usuario paso a paso y como facilita completar de forma sencilla y lógica. En eso, Oracle ha avanzado con paso firme, combinando diseño y funcionalidad con un enfoque muy orientado a simplificar la experiencia de uso en organizaciones con múltiples perfiles y necesidades distintas.</a:t>
            </a:r>
          </a:p>
        </p:txBody>
      </p:sp>
      <p:cxnSp>
        <p:nvCxnSpPr>
          <p:cNvPr id="6" name="Conector recto 5">
            <a:extLst>
              <a:ext uri="{FF2B5EF4-FFF2-40B4-BE49-F238E27FC236}">
                <a16:creationId xmlns:a16="http://schemas.microsoft.com/office/drawing/2014/main" id="{7F7942DA-F61F-26F1-795D-8BC2FD51B2D3}"/>
              </a:ext>
            </a:extLst>
          </p:cNvPr>
          <p:cNvCxnSpPr>
            <a:cxnSpLocks/>
          </p:cNvCxnSpPr>
          <p:nvPr/>
        </p:nvCxnSpPr>
        <p:spPr>
          <a:xfrm>
            <a:off x="8264769" y="2497018"/>
            <a:ext cx="0" cy="931982"/>
          </a:xfrm>
          <a:prstGeom prst="line">
            <a:avLst/>
          </a:prstGeom>
          <a:ln w="2857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pic>
        <p:nvPicPr>
          <p:cNvPr id="13" name="Gráfico 12" descr="Anclar con relleno sólido">
            <a:extLst>
              <a:ext uri="{FF2B5EF4-FFF2-40B4-BE49-F238E27FC236}">
                <a16:creationId xmlns:a16="http://schemas.microsoft.com/office/drawing/2014/main" id="{A9ED708A-EFE3-E6D7-ED75-A1AF26BA64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86253" y="3726558"/>
            <a:ext cx="282733" cy="282733"/>
          </a:xfrm>
          <a:prstGeom prst="rect">
            <a:avLst/>
          </a:prstGeom>
        </p:spPr>
      </p:pic>
      <p:cxnSp>
        <p:nvCxnSpPr>
          <p:cNvPr id="14" name="Conector recto 13">
            <a:extLst>
              <a:ext uri="{FF2B5EF4-FFF2-40B4-BE49-F238E27FC236}">
                <a16:creationId xmlns:a16="http://schemas.microsoft.com/office/drawing/2014/main" id="{E95108F2-B7AB-AB7F-EB5A-C03A20715B93}"/>
              </a:ext>
            </a:extLst>
          </p:cNvPr>
          <p:cNvCxnSpPr>
            <a:cxnSpLocks/>
          </p:cNvCxnSpPr>
          <p:nvPr/>
        </p:nvCxnSpPr>
        <p:spPr>
          <a:xfrm>
            <a:off x="4258407" y="3308842"/>
            <a:ext cx="0" cy="1512208"/>
          </a:xfrm>
          <a:prstGeom prst="line">
            <a:avLst/>
          </a:prstGeom>
          <a:ln w="2857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0385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80F0C-1BC3-0E9C-CF69-C9A7549E2625}"/>
            </a:ext>
          </a:extLst>
        </p:cNvPr>
        <p:cNvGrpSpPr/>
        <p:nvPr/>
      </p:nvGrpSpPr>
      <p:grpSpPr>
        <a:xfrm>
          <a:off x="0" y="0"/>
          <a:ext cx="0" cy="0"/>
          <a:chOff x="0" y="0"/>
          <a:chExt cx="0" cy="0"/>
        </a:xfrm>
      </p:grpSpPr>
      <p:sp>
        <p:nvSpPr>
          <p:cNvPr id="8" name="CuadroTexto 7">
            <a:extLst>
              <a:ext uri="{FF2B5EF4-FFF2-40B4-BE49-F238E27FC236}">
                <a16:creationId xmlns:a16="http://schemas.microsoft.com/office/drawing/2014/main" id="{FF9800EE-D8B3-D6B5-964A-B8320FA58912}"/>
              </a:ext>
            </a:extLst>
          </p:cNvPr>
          <p:cNvSpPr txBox="1"/>
          <p:nvPr/>
        </p:nvSpPr>
        <p:spPr>
          <a:xfrm>
            <a:off x="8186795" y="1121087"/>
            <a:ext cx="3924726" cy="3385542"/>
          </a:xfrm>
          <a:prstGeom prst="rect">
            <a:avLst/>
          </a:prstGeom>
          <a:noFill/>
        </p:spPr>
        <p:txBody>
          <a:bodyPr wrap="square" rtlCol="0">
            <a:spAutoFit/>
          </a:bodyPr>
          <a:lstStyle/>
          <a:p>
            <a:pPr algn="just">
              <a:spcBef>
                <a:spcPts val="600"/>
              </a:spcBef>
            </a:pPr>
            <a:r>
              <a:rPr lang="es-ES" sz="1200" b="1" kern="0" dirty="0">
                <a:solidFill>
                  <a:schemeClr val="tx1">
                    <a:lumMod val="50000"/>
                    <a:lumOff val="50000"/>
                  </a:schemeClr>
                </a:solidFill>
                <a:latin typeface="Arial Regular" pitchFamily="34" charset="0"/>
                <a:ea typeface="Arial Regular" pitchFamily="34" charset="-122"/>
              </a:rPr>
              <a:t>Igual en móvil que en escritorio</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Redwood está pensado para verse y usarse igual de bien en un portátil, un móvil o una Tablet.</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Todo es responsive, es decir, se adapta automáticamente al tamaño del dispositivo sin perder funcionalidad.</a:t>
            </a:r>
            <a:endParaRPr lang="es-ES" sz="1200" b="1" kern="0" dirty="0">
              <a:solidFill>
                <a:schemeClr val="tx1">
                  <a:lumMod val="50000"/>
                  <a:lumOff val="50000"/>
                </a:schemeClr>
              </a:solidFill>
              <a:latin typeface="Arial Regular" pitchFamily="34" charset="0"/>
              <a:ea typeface="Arial Regular" pitchFamily="34" charset="-122"/>
            </a:endParaRPr>
          </a:p>
          <a:p>
            <a:pPr algn="just"/>
            <a:endParaRPr lang="es-ES" sz="1200" b="1" kern="0" dirty="0">
              <a:solidFill>
                <a:schemeClr val="tx1">
                  <a:lumMod val="50000"/>
                  <a:lumOff val="50000"/>
                </a:schemeClr>
              </a:solidFill>
              <a:latin typeface="Arial Regular" pitchFamily="34" charset="0"/>
              <a:ea typeface="Arial Regular" pitchFamily="34" charset="-122"/>
            </a:endParaRPr>
          </a:p>
          <a:p>
            <a:pPr algn="just"/>
            <a:r>
              <a:rPr lang="es-ES" sz="1200" b="1" kern="0" dirty="0">
                <a:solidFill>
                  <a:schemeClr val="tx1">
                    <a:lumMod val="50000"/>
                    <a:lumOff val="50000"/>
                  </a:schemeClr>
                </a:solidFill>
                <a:latin typeface="Arial Regular" pitchFamily="34" charset="0"/>
                <a:ea typeface="Arial Regular" pitchFamily="34" charset="-122"/>
              </a:rPr>
              <a:t>En resumen</a:t>
            </a:r>
          </a:p>
          <a:p>
            <a:pPr algn="just"/>
            <a:r>
              <a:rPr lang="es-ES" sz="1200" kern="0" dirty="0">
                <a:solidFill>
                  <a:schemeClr val="tx1">
                    <a:lumMod val="50000"/>
                    <a:lumOff val="50000"/>
                  </a:schemeClr>
                </a:solidFill>
                <a:latin typeface="Arial Regular" pitchFamily="34" charset="0"/>
                <a:ea typeface="Arial Regular" pitchFamily="34" charset="-122"/>
              </a:rPr>
              <a:t>Redwood UX no es solo una interfaz bonita. Es una forma de trabajar más clara, rápida y centrada en las personas.</a:t>
            </a:r>
          </a:p>
          <a:p>
            <a:pPr algn="just"/>
            <a:endParaRPr lang="es-ES" sz="1200" kern="0" dirty="0">
              <a:solidFill>
                <a:schemeClr val="tx1">
                  <a:lumMod val="50000"/>
                  <a:lumOff val="50000"/>
                </a:schemeClr>
              </a:solidFill>
              <a:latin typeface="Arial Regular" pitchFamily="34" charset="0"/>
              <a:ea typeface="Arial Regular" pitchFamily="34" charset="-122"/>
            </a:endParaRPr>
          </a:p>
          <a:p>
            <a:pPr algn="just"/>
            <a:r>
              <a:rPr lang="es-ES" sz="1200" kern="0" dirty="0">
                <a:solidFill>
                  <a:schemeClr val="tx1">
                    <a:lumMod val="50000"/>
                    <a:lumOff val="50000"/>
                  </a:schemeClr>
                </a:solidFill>
                <a:latin typeface="Arial Regular" pitchFamily="34" charset="0"/>
                <a:ea typeface="Arial Regular" pitchFamily="34" charset="-122"/>
              </a:rPr>
              <a:t>Con Oracle Cloud HCM, esta experiencia ya está integrada, lo que facilita que los usuarios se adapten rápidamente, incluso los que vienen de entornos más tradicionales.</a:t>
            </a:r>
          </a:p>
          <a:p>
            <a:pPr algn="just"/>
            <a:endParaRPr lang="es-ES" sz="1200" kern="0" dirty="0">
              <a:solidFill>
                <a:schemeClr val="tx1">
                  <a:lumMod val="50000"/>
                  <a:lumOff val="50000"/>
                </a:schemeClr>
              </a:solidFill>
              <a:latin typeface="Arial Regular" pitchFamily="34" charset="0"/>
              <a:ea typeface="Arial Regular" pitchFamily="34" charset="-122"/>
            </a:endParaRPr>
          </a:p>
        </p:txBody>
      </p:sp>
      <p:sp>
        <p:nvSpPr>
          <p:cNvPr id="2" name="Marcador de texto 1">
            <a:extLst>
              <a:ext uri="{FF2B5EF4-FFF2-40B4-BE49-F238E27FC236}">
                <a16:creationId xmlns:a16="http://schemas.microsoft.com/office/drawing/2014/main" id="{511D86D1-50B6-0E29-0717-13EE802E4CA2}"/>
              </a:ext>
            </a:extLst>
          </p:cNvPr>
          <p:cNvSpPr>
            <a:spLocks noGrp="1"/>
          </p:cNvSpPr>
          <p:nvPr>
            <p:ph type="body" sz="quarter" idx="10"/>
          </p:nvPr>
        </p:nvSpPr>
        <p:spPr>
          <a:xfrm>
            <a:off x="84080" y="184382"/>
            <a:ext cx="11669556" cy="806971"/>
          </a:xfrm>
        </p:spPr>
        <p:txBody>
          <a:bodyPr>
            <a:noAutofit/>
          </a:bodyPr>
          <a:lstStyle/>
          <a:p>
            <a:pPr>
              <a:lnSpc>
                <a:spcPts val="4798"/>
              </a:lnSpc>
            </a:pPr>
            <a:r>
              <a:rPr lang="es-ES" sz="3200" kern="0" spc="-100" dirty="0">
                <a:latin typeface="Arial Regular" pitchFamily="34" charset="0"/>
                <a:ea typeface="Arial Regular" pitchFamily="34" charset="-122"/>
              </a:rPr>
              <a:t>Anexo framework Redwood UX</a:t>
            </a:r>
            <a:endParaRPr lang="en-US" sz="3200" kern="0" spc="-100" dirty="0">
              <a:latin typeface="Arial Regular" pitchFamily="34" charset="0"/>
              <a:ea typeface="Arial Regular" pitchFamily="34" charset="-122"/>
            </a:endParaRPr>
          </a:p>
        </p:txBody>
      </p:sp>
      <p:sp>
        <p:nvSpPr>
          <p:cNvPr id="5" name="Marcador de texto 4">
            <a:extLst>
              <a:ext uri="{FF2B5EF4-FFF2-40B4-BE49-F238E27FC236}">
                <a16:creationId xmlns:a16="http://schemas.microsoft.com/office/drawing/2014/main" id="{13C2E9BD-BB07-D65A-9495-9EF6D878D3D1}"/>
              </a:ext>
            </a:extLst>
          </p:cNvPr>
          <p:cNvSpPr>
            <a:spLocks noGrp="1"/>
          </p:cNvSpPr>
          <p:nvPr>
            <p:ph type="body" sz="quarter" idx="13"/>
          </p:nvPr>
        </p:nvSpPr>
        <p:spPr>
          <a:xfrm>
            <a:off x="84080" y="6331629"/>
            <a:ext cx="5494417" cy="329637"/>
          </a:xfrm>
        </p:spPr>
        <p:txBody>
          <a:bodyPr/>
          <a:lstStyle/>
          <a:p>
            <a:r>
              <a:rPr lang="es-ES" spc="-67"/>
              <a:t>Conclusiones Defensas RFI Proyecto HCM</a:t>
            </a:r>
          </a:p>
        </p:txBody>
      </p:sp>
      <p:sp>
        <p:nvSpPr>
          <p:cNvPr id="4" name="CuadroTexto 3">
            <a:extLst>
              <a:ext uri="{FF2B5EF4-FFF2-40B4-BE49-F238E27FC236}">
                <a16:creationId xmlns:a16="http://schemas.microsoft.com/office/drawing/2014/main" id="{831960DE-4F66-BEAE-26B5-D5A4C9AD0A3D}"/>
              </a:ext>
            </a:extLst>
          </p:cNvPr>
          <p:cNvSpPr txBox="1"/>
          <p:nvPr/>
        </p:nvSpPr>
        <p:spPr>
          <a:xfrm>
            <a:off x="368157" y="1121087"/>
            <a:ext cx="3616501" cy="4355038"/>
          </a:xfrm>
          <a:prstGeom prst="rect">
            <a:avLst/>
          </a:prstGeom>
          <a:noFill/>
        </p:spPr>
        <p:txBody>
          <a:bodyPr wrap="square" rtlCol="0">
            <a:spAutoFit/>
          </a:bodyPr>
          <a:lstStyle/>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Oracle Redwood UX es el nuevo estándar de diseño de Oracle para todas sus aplicaciones cloud. No solo moderniza la interfaz visual, sino que transforma la experiencia de uso con un enfoque centrado en la persona, accesible, claro y adaptado a distintos perfiles profesionales. </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Ha sido reconocido con premios internacionales como el San Francisco Design Week Award y el pasado año 2024 obtuvo el Indigo Design Award, y ha sido nombrado finalista en eventos como Cannes Lions, mostrando su impacto no solo en el entorno empresarial sino también en el diseño creativo.</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Lo que refuerza que estamos ante una experiencia de usuario premiada, no solo funcional. </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Su objetivo es hacer que las herramientas empresariales dejen de sentirse “corporativas” y empiecen a sentirse intuitivas, humanas y agradables de usar en el día a día.</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a:t>
            </a:r>
          </a:p>
          <a:p>
            <a:pPr algn="just">
              <a:spcAft>
                <a:spcPts val="600"/>
              </a:spcAft>
            </a:pPr>
            <a:endParaRPr lang="es-ES" sz="1200" kern="0" dirty="0">
              <a:solidFill>
                <a:schemeClr val="tx1">
                  <a:lumMod val="50000"/>
                  <a:lumOff val="50000"/>
                </a:schemeClr>
              </a:solidFill>
              <a:latin typeface="Arial Regular" pitchFamily="34" charset="0"/>
              <a:ea typeface="Arial Regular" pitchFamily="34" charset="-122"/>
            </a:endParaRPr>
          </a:p>
        </p:txBody>
      </p:sp>
      <p:sp>
        <p:nvSpPr>
          <p:cNvPr id="7" name="CuadroTexto 6">
            <a:extLst>
              <a:ext uri="{FF2B5EF4-FFF2-40B4-BE49-F238E27FC236}">
                <a16:creationId xmlns:a16="http://schemas.microsoft.com/office/drawing/2014/main" id="{F41F4C88-4985-B067-8AD6-EA256BEF87E4}"/>
              </a:ext>
            </a:extLst>
          </p:cNvPr>
          <p:cNvSpPr txBox="1"/>
          <p:nvPr/>
        </p:nvSpPr>
        <p:spPr>
          <a:xfrm>
            <a:off x="4159325" y="1121087"/>
            <a:ext cx="3924726" cy="4555093"/>
          </a:xfrm>
          <a:prstGeom prst="rect">
            <a:avLst/>
          </a:prstGeom>
          <a:noFill/>
        </p:spPr>
        <p:txBody>
          <a:bodyPr wrap="square" rtlCol="0">
            <a:spAutoFit/>
          </a:bodyPr>
          <a:lstStyle/>
          <a:p>
            <a:pPr algn="just">
              <a:spcAft>
                <a:spcPts val="600"/>
              </a:spcAft>
            </a:pPr>
            <a:r>
              <a:rPr lang="es-ES" sz="1200" b="1" kern="0" dirty="0">
                <a:solidFill>
                  <a:schemeClr val="tx1">
                    <a:lumMod val="50000"/>
                    <a:lumOff val="50000"/>
                  </a:schemeClr>
                </a:solidFill>
                <a:latin typeface="Arial Regular" pitchFamily="34" charset="0"/>
                <a:ea typeface="Arial Regular" pitchFamily="34" charset="-122"/>
              </a:rPr>
              <a:t>Claridad visual</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Todo está pensado para que el usuario vea solo lo que necesita en cada momento.</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Pantallas limpias, sin ruido ni botones innecesarios. Se eliminan los menús complejos de antes y se sustituyen por rutas claras y visuales</a:t>
            </a:r>
            <a:endParaRPr lang="es-ES" sz="1200" b="1" kern="0" dirty="0">
              <a:solidFill>
                <a:schemeClr val="tx1">
                  <a:lumMod val="50000"/>
                  <a:lumOff val="50000"/>
                </a:schemeClr>
              </a:solidFill>
              <a:latin typeface="Arial Regular" pitchFamily="34" charset="0"/>
              <a:ea typeface="Arial Regular" pitchFamily="34" charset="-122"/>
            </a:endParaRPr>
          </a:p>
          <a:p>
            <a:pPr algn="just">
              <a:spcAft>
                <a:spcPts val="600"/>
              </a:spcAft>
            </a:pPr>
            <a:r>
              <a:rPr lang="es-ES" sz="1200" b="1" kern="0" dirty="0">
                <a:solidFill>
                  <a:schemeClr val="tx1">
                    <a:lumMod val="50000"/>
                    <a:lumOff val="50000"/>
                  </a:schemeClr>
                </a:solidFill>
                <a:latin typeface="Arial Regular" pitchFamily="34" charset="0"/>
                <a:ea typeface="Arial Regular" pitchFamily="34" charset="-122"/>
              </a:rPr>
              <a:t>Diseño centrado en la persona</a:t>
            </a:r>
          </a:p>
          <a:p>
            <a:pPr algn="just">
              <a:spcAft>
                <a:spcPts val="600"/>
              </a:spcAft>
            </a:pPr>
            <a:r>
              <a:rPr lang="es-ES" sz="1200" kern="0" dirty="0">
                <a:solidFill>
                  <a:schemeClr val="tx1">
                    <a:lumMod val="50000"/>
                    <a:lumOff val="50000"/>
                  </a:schemeClr>
                </a:solidFill>
                <a:latin typeface="Arial Regular" pitchFamily="34" charset="0"/>
                <a:ea typeface="Arial Regular" pitchFamily="34" charset="-122"/>
              </a:rPr>
              <a:t>Redwood está adaptado a los distintos tipos de usuarios: un manager ve lo que le importa, un empleado ve lo que necesita, y todo está diseñado para que las acciones más habituales estén a un clic.</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Es un diseño que entiende el “rol” de quien está delante de la pantalla.</a:t>
            </a:r>
          </a:p>
          <a:p>
            <a:pPr algn="just">
              <a:spcBef>
                <a:spcPts val="600"/>
              </a:spcBef>
            </a:pPr>
            <a:r>
              <a:rPr lang="es-ES" sz="1200" b="1" kern="0" dirty="0">
                <a:solidFill>
                  <a:schemeClr val="tx1">
                    <a:lumMod val="50000"/>
                    <a:lumOff val="50000"/>
                  </a:schemeClr>
                </a:solidFill>
                <a:latin typeface="Arial Regular" pitchFamily="34" charset="0"/>
                <a:ea typeface="Arial Regular" pitchFamily="34" charset="-122"/>
              </a:rPr>
              <a:t>Fluidez y ayuda inteligente</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Con Redwood, muchas tareas están guiadas paso a paso o incluso sugeridas por el sistema (gracias a asistentes inteligentes como Oracle Digital Assistant).</a:t>
            </a:r>
          </a:p>
          <a:p>
            <a:pPr algn="just">
              <a:spcBef>
                <a:spcPts val="600"/>
              </a:spcBef>
            </a:pPr>
            <a:r>
              <a:rPr lang="es-ES" sz="1200" kern="0" dirty="0">
                <a:solidFill>
                  <a:schemeClr val="tx1">
                    <a:lumMod val="50000"/>
                    <a:lumOff val="50000"/>
                  </a:schemeClr>
                </a:solidFill>
                <a:latin typeface="Arial Regular" pitchFamily="34" charset="0"/>
                <a:ea typeface="Arial Regular" pitchFamily="34" charset="-122"/>
              </a:rPr>
              <a:t>Esto hace que hasta procesos complejos se vuelvan manejables, incluso para personas no técnicas.</a:t>
            </a:r>
          </a:p>
          <a:p>
            <a:pPr algn="just">
              <a:spcBef>
                <a:spcPts val="600"/>
              </a:spcBef>
            </a:pPr>
            <a:endParaRPr lang="es-ES" sz="1200" kern="0" dirty="0">
              <a:solidFill>
                <a:schemeClr val="tx1">
                  <a:lumMod val="50000"/>
                  <a:lumOff val="50000"/>
                </a:schemeClr>
              </a:solidFill>
              <a:latin typeface="Arial Regular" pitchFamily="34" charset="0"/>
              <a:ea typeface="Arial Regular" pitchFamily="34" charset="-122"/>
            </a:endParaRPr>
          </a:p>
        </p:txBody>
      </p:sp>
    </p:spTree>
    <p:extLst>
      <p:ext uri="{BB962C8B-B14F-4D97-AF65-F5344CB8AC3E}">
        <p14:creationId xmlns:p14="http://schemas.microsoft.com/office/powerpoint/2010/main" val="1620478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1CE091B0-519C-C29E-86AF-E5A295096849}"/>
              </a:ext>
            </a:extLst>
          </p:cNvPr>
          <p:cNvSpPr>
            <a:spLocks noGrp="1"/>
          </p:cNvSpPr>
          <p:nvPr>
            <p:ph type="body" sz="quarter" idx="10"/>
          </p:nvPr>
        </p:nvSpPr>
        <p:spPr/>
        <p:txBody>
          <a:bodyPr/>
          <a:lstStyle/>
          <a:p>
            <a:r>
              <a:rPr lang="en-US" kern="0" spc="-100" dirty="0">
                <a:solidFill>
                  <a:srgbClr val="FFFFFF"/>
                </a:solidFill>
                <a:latin typeface="Arial Regular" pitchFamily="34" charset="0"/>
                <a:ea typeface="Arial Regular" pitchFamily="34" charset="-122"/>
                <a:cs typeface="Arial Regular" pitchFamily="34" charset="-120"/>
              </a:rPr>
              <a:t>Evidencia del cierre de RFI</a:t>
            </a:r>
            <a:endParaRPr lang="en-US" spc="-100" dirty="0"/>
          </a:p>
        </p:txBody>
      </p:sp>
      <p:sp>
        <p:nvSpPr>
          <p:cNvPr id="3" name="Marcador de texto 2">
            <a:extLst>
              <a:ext uri="{FF2B5EF4-FFF2-40B4-BE49-F238E27FC236}">
                <a16:creationId xmlns:a16="http://schemas.microsoft.com/office/drawing/2014/main" id="{36CA8D57-512C-D058-F147-E78F185EC5E7}"/>
              </a:ext>
            </a:extLst>
          </p:cNvPr>
          <p:cNvSpPr>
            <a:spLocks noGrp="1"/>
          </p:cNvSpPr>
          <p:nvPr>
            <p:ph type="body" sz="quarter" idx="13"/>
          </p:nvPr>
        </p:nvSpPr>
        <p:spPr/>
        <p:txBody>
          <a:bodyPr/>
          <a:lstStyle/>
          <a:p>
            <a:r>
              <a:rPr lang="es-ES" dirty="0"/>
              <a:t>Evidencia del cierre </a:t>
            </a:r>
            <a:r>
              <a:rPr lang="es-ES"/>
              <a:t>del concurso.</a:t>
            </a:r>
            <a:endParaRPr lang="es-ES" dirty="0"/>
          </a:p>
        </p:txBody>
      </p:sp>
      <p:pic>
        <p:nvPicPr>
          <p:cNvPr id="1026" name="Picture 2">
            <a:extLst>
              <a:ext uri="{FF2B5EF4-FFF2-40B4-BE49-F238E27FC236}">
                <a16:creationId xmlns:a16="http://schemas.microsoft.com/office/drawing/2014/main" id="{12B01139-3DF8-07DE-37B5-CE988DEE6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252" y="1585713"/>
            <a:ext cx="11132067" cy="431367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Marcador de texto 3">
            <a:extLst>
              <a:ext uri="{FF2B5EF4-FFF2-40B4-BE49-F238E27FC236}">
                <a16:creationId xmlns:a16="http://schemas.microsoft.com/office/drawing/2014/main" id="{229D63CD-C862-C3AA-11F9-B4EE29E13CBE}"/>
              </a:ext>
            </a:extLst>
          </p:cNvPr>
          <p:cNvSpPr txBox="1">
            <a:spLocks/>
          </p:cNvSpPr>
          <p:nvPr/>
        </p:nvSpPr>
        <p:spPr>
          <a:xfrm>
            <a:off x="174871" y="958610"/>
            <a:ext cx="6911729" cy="4876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kern="0" dirty="0">
                <a:solidFill>
                  <a:srgbClr val="FFFFFF">
                    <a:alpha val="70000"/>
                  </a:srgbClr>
                </a:solidFill>
                <a:latin typeface="Arial Regular" pitchFamily="34" charset="0"/>
                <a:ea typeface="Arial Regular" pitchFamily="34" charset="-122"/>
                <a:cs typeface="Arial Regular" pitchFamily="34" charset="-120"/>
              </a:rPr>
              <a:t>Fecha de cierre del concurso: 12/06/2025</a:t>
            </a:r>
            <a:endParaRPr lang="en-US" sz="2400" dirty="0"/>
          </a:p>
        </p:txBody>
      </p:sp>
    </p:spTree>
    <p:extLst>
      <p:ext uri="{BB962C8B-B14F-4D97-AF65-F5344CB8AC3E}">
        <p14:creationId xmlns:p14="http://schemas.microsoft.com/office/powerpoint/2010/main" val="3773876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387D4-3DD1-40ED-2D13-8B0132E2FC94}"/>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4E57ACD0-A6F7-CED5-2884-A7AD10050182}"/>
              </a:ext>
            </a:extLst>
          </p:cNvPr>
          <p:cNvSpPr>
            <a:spLocks noGrp="1"/>
          </p:cNvSpPr>
          <p:nvPr>
            <p:ph type="body" sz="quarter" idx="10"/>
          </p:nvPr>
        </p:nvSpPr>
        <p:spPr/>
        <p:txBody>
          <a:bodyPr/>
          <a:lstStyle/>
          <a:p>
            <a:r>
              <a:rPr lang="en-US" kern="0" spc="-100">
                <a:solidFill>
                  <a:srgbClr val="FFFFFF"/>
                </a:solidFill>
                <a:latin typeface="Arial Regular" pitchFamily="34" charset="0"/>
                <a:ea typeface="Arial Regular" pitchFamily="34" charset="-122"/>
                <a:cs typeface="Arial Regular" pitchFamily="34" charset="-120"/>
              </a:rPr>
              <a:t>Conclusion final</a:t>
            </a:r>
            <a:endParaRPr lang="en-US" spc="-100"/>
          </a:p>
        </p:txBody>
      </p:sp>
      <p:sp>
        <p:nvSpPr>
          <p:cNvPr id="7" name="Marcador de texto 6">
            <a:extLst>
              <a:ext uri="{FF2B5EF4-FFF2-40B4-BE49-F238E27FC236}">
                <a16:creationId xmlns:a16="http://schemas.microsoft.com/office/drawing/2014/main" id="{82430BAF-6088-1179-EA2C-922CB89CB55C}"/>
              </a:ext>
            </a:extLst>
          </p:cNvPr>
          <p:cNvSpPr>
            <a:spLocks noGrp="1"/>
          </p:cNvSpPr>
          <p:nvPr>
            <p:ph type="body" sz="quarter" idx="13"/>
          </p:nvPr>
        </p:nvSpPr>
        <p:spPr/>
        <p:txBody>
          <a:bodyPr/>
          <a:lstStyle/>
          <a:p>
            <a:r>
              <a:rPr lang="es-ES" spc="-67"/>
              <a:t>Conclusiones Defensas RFI Proyecto HCM</a:t>
            </a:r>
          </a:p>
        </p:txBody>
      </p:sp>
      <p:sp>
        <p:nvSpPr>
          <p:cNvPr id="4" name="Marcador de texto 3">
            <a:extLst>
              <a:ext uri="{FF2B5EF4-FFF2-40B4-BE49-F238E27FC236}">
                <a16:creationId xmlns:a16="http://schemas.microsoft.com/office/drawing/2014/main" id="{5003749B-01E0-7BEE-8553-BBA248B042CA}"/>
              </a:ext>
            </a:extLst>
          </p:cNvPr>
          <p:cNvSpPr>
            <a:spLocks noGrp="1"/>
          </p:cNvSpPr>
          <p:nvPr>
            <p:ph type="body" sz="quarter" idx="18"/>
          </p:nvPr>
        </p:nvSpPr>
        <p:spPr>
          <a:xfrm>
            <a:off x="174871" y="819975"/>
            <a:ext cx="5312833" cy="3825747"/>
          </a:xfrm>
        </p:spPr>
        <p:txBody>
          <a:bodyPr/>
          <a:lstStyle/>
          <a:p>
            <a:r>
              <a:rPr lang="es-ES" kern="0" dirty="0">
                <a:solidFill>
                  <a:srgbClr val="FFFFFF">
                    <a:alpha val="70000"/>
                  </a:srgbClr>
                </a:solidFill>
                <a:latin typeface="Arial Regular" pitchFamily="34" charset="0"/>
                <a:ea typeface="Arial Regular" pitchFamily="34" charset="-122"/>
                <a:cs typeface="Arial Regular" pitchFamily="34" charset="-120"/>
              </a:rPr>
              <a:t>Oracle Cloud HCM combina funcionalidad, control presupuestario, solidez tecnológica y continuidad operativa, posicionándose como la opción más segura, eficiente y estratégica para abordar la modernización de nuestra plataforma HCM en 2026.</a:t>
            </a:r>
          </a:p>
          <a:p>
            <a:endParaRPr lang="es-ES" kern="0" dirty="0">
              <a:solidFill>
                <a:srgbClr val="FFFFFF">
                  <a:alpha val="70000"/>
                </a:srgbClr>
              </a:solidFill>
              <a:latin typeface="Arial Regular" pitchFamily="34" charset="0"/>
              <a:ea typeface="Arial Regular" pitchFamily="34" charset="-122"/>
              <a:cs typeface="Arial Regular" pitchFamily="34" charset="-120"/>
            </a:endParaRPr>
          </a:p>
          <a:p>
            <a:r>
              <a:rPr lang="es-ES" kern="0" dirty="0">
                <a:solidFill>
                  <a:srgbClr val="FFFFFF">
                    <a:alpha val="70000"/>
                  </a:srgbClr>
                </a:solidFill>
                <a:latin typeface="Arial Regular" pitchFamily="34" charset="0"/>
                <a:ea typeface="Arial Regular" pitchFamily="34" charset="-122"/>
                <a:cs typeface="Arial Regular" pitchFamily="34" charset="-120"/>
              </a:rPr>
              <a:t>Recomendamos avanzar con Oracle Cloud HCM y Workday a la siguiente fase (RFQ), estructurando un plan de implantación gradual por módulos clave, comenzando por Core HR.</a:t>
            </a:r>
            <a:endParaRPr lang="en-US" dirty="0"/>
          </a:p>
        </p:txBody>
      </p:sp>
    </p:spTree>
    <p:extLst>
      <p:ext uri="{BB962C8B-B14F-4D97-AF65-F5344CB8AC3E}">
        <p14:creationId xmlns:p14="http://schemas.microsoft.com/office/powerpoint/2010/main" val="6186886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668942D5D55AD54889B97A5804CC7CB7" ma:contentTypeVersion="10" ma:contentTypeDescription="Crear nuevo documento." ma:contentTypeScope="" ma:versionID="65a49e707d813719fd6006cd9f10aec9">
  <xsd:schema xmlns:xsd="http://www.w3.org/2001/XMLSchema" xmlns:xs="http://www.w3.org/2001/XMLSchema" xmlns:p="http://schemas.microsoft.com/office/2006/metadata/properties" xmlns:ns2="403c840e-fe4b-4cab-81e0-53fe22c61228" xmlns:ns3="13612990-49cb-4353-8a68-985d58aaefb8" targetNamespace="http://schemas.microsoft.com/office/2006/metadata/properties" ma:root="true" ma:fieldsID="a459d74f8292fb60e644389fec71094f" ns2:_="" ns3:_="">
    <xsd:import namespace="403c840e-fe4b-4cab-81e0-53fe22c61228"/>
    <xsd:import namespace="13612990-49cb-4353-8a68-985d58aaefb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3c840e-fe4b-4cab-81e0-53fe22c612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3612990-49cb-4353-8a68-985d58aaefb8"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920378-BE08-4BD2-8409-74B40C9787EE}">
  <ds:schemaRefs>
    <ds:schemaRef ds:uri="http://purl.org/dc/dcmitype/"/>
    <ds:schemaRef ds:uri="http://schemas.microsoft.com/office/2006/documentManagement/types"/>
    <ds:schemaRef ds:uri="http://purl.org/dc/elements/1.1/"/>
    <ds:schemaRef ds:uri="http://purl.org/dc/terms/"/>
    <ds:schemaRef ds:uri="403c840e-fe4b-4cab-81e0-53fe22c61228"/>
    <ds:schemaRef ds:uri="http://schemas.openxmlformats.org/package/2006/metadata/core-properties"/>
    <ds:schemaRef ds:uri="http://schemas.microsoft.com/office/infopath/2007/PartnerControls"/>
    <ds:schemaRef ds:uri="13612990-49cb-4353-8a68-985d58aaefb8"/>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44B76041-D91D-407A-9B3F-5341C4036C88}"/>
</file>

<file path=customXml/itemProps3.xml><?xml version="1.0" encoding="utf-8"?>
<ds:datastoreItem xmlns:ds="http://schemas.openxmlformats.org/officeDocument/2006/customXml" ds:itemID="{4508A075-0987-4612-AE56-E428F608A82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175</TotalTime>
  <Words>5957</Words>
  <Application>Microsoft Office PowerPoint</Application>
  <PresentationFormat>Panorámica</PresentationFormat>
  <Paragraphs>537</Paragraphs>
  <Slides>22</Slides>
  <Notes>21</Notes>
  <HiddenSlides>3</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22</vt:i4>
      </vt:variant>
    </vt:vector>
  </HeadingPairs>
  <TitlesOfParts>
    <vt:vector size="29" baseType="lpstr">
      <vt:lpstr>Aptos</vt:lpstr>
      <vt:lpstr>Aptos Display</vt:lpstr>
      <vt:lpstr>Arial</vt:lpstr>
      <vt:lpstr>Arial Regular</vt:lpstr>
      <vt:lpstr>Segoe UI</vt:lpstr>
      <vt:lpstr>Tema de Office</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ENRIQUE CID CALERO</dc:creator>
  <cp:lastModifiedBy>EDUARDO CASTRO FERNANDEZ</cp:lastModifiedBy>
  <cp:revision>1</cp:revision>
  <dcterms:created xsi:type="dcterms:W3CDTF">2025-06-04T09:50:56Z</dcterms:created>
  <dcterms:modified xsi:type="dcterms:W3CDTF">2025-10-24T10:47:28Z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0x010100668942D5D55AD54889B97A5804CC7CB7</vt:lpwstr>
  </property>
</Properties>
</file>