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3"/>
  </p:notesMasterIdLst>
  <p:sldIdLst>
    <p:sldId id="262" r:id="rId5"/>
    <p:sldId id="267" r:id="rId6"/>
    <p:sldId id="266" r:id="rId7"/>
    <p:sldId id="273" r:id="rId8"/>
    <p:sldId id="272" r:id="rId9"/>
    <p:sldId id="275" r:id="rId10"/>
    <p:sldId id="271" r:id="rId11"/>
    <p:sldId id="269" r:id="rId12"/>
  </p:sldIdLst>
  <p:sldSz cx="10058400" cy="7772400"/>
  <p:notesSz cx="10058400" cy="7772400"/>
  <p:embeddedFontLst>
    <p:embeddedFont>
      <p:font typeface="Calibri" panose="020F0502020204030204" pitchFamily="34" charset="0"/>
      <p:regular r:id="rId14"/>
      <p:bold r:id="rId15"/>
      <p:italic r:id="rId16"/>
      <p:boldItalic r:id="rId17"/>
    </p:embeddedFont>
    <p:embeddedFont>
      <p:font typeface="Gadugi" panose="020B0502040204020203" pitchFamily="34" charset="0"/>
      <p:regular r:id="rId18"/>
      <p:bold r:id="rId19"/>
    </p:embeddedFont>
    <p:embeddedFont>
      <p:font typeface="Segoe UI" panose="020B0502040204020203" pitchFamily="34" charset="0"/>
      <p:regular r:id="rId20"/>
      <p:bold r:id="rId21"/>
      <p:italic r:id="rId22"/>
      <p:boldItalic r:id="rId23"/>
    </p:embeddedFont>
    <p:embeddedFont>
      <p:font typeface="Segoe UI Light" panose="020B0502040204020203" pitchFamily="34" charset="0"/>
      <p:regular r:id="rId24"/>
      <p:italic r:id="rId25"/>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1FC225-EF37-4C3E-8949-B975D26ADE21}" v="163" dt="2020-03-20T13:35:00.343"/>
    <p1510:client id="{DC82197B-9946-487B-BA7B-0D433687FB7C}" v="2" dt="2020-03-25T16:59:07.72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712" autoAdjust="0"/>
  </p:normalViewPr>
  <p:slideViewPr>
    <p:cSldViewPr>
      <p:cViewPr varScale="1">
        <p:scale>
          <a:sx n="76" d="100"/>
          <a:sy n="76" d="100"/>
        </p:scale>
        <p:origin x="101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1.fntdata"/><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81BCB8B5-4596-479F-9BFB-1DF036571CDE}" type="datetimeFigureOut">
              <a:rPr lang="es-ES" smtClean="0"/>
              <a:t>25/03/2020</a:t>
            </a:fld>
            <a:endParaRPr lang="es-ES"/>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3604F048-580A-4815-8A32-8E5A4704B61D}" type="slidenum">
              <a:rPr lang="es-ES" smtClean="0"/>
              <a:t>‹#›</a:t>
            </a:fld>
            <a:endParaRPr lang="es-ES"/>
          </a:p>
        </p:txBody>
      </p:sp>
    </p:spTree>
    <p:extLst>
      <p:ext uri="{BB962C8B-B14F-4D97-AF65-F5344CB8AC3E}">
        <p14:creationId xmlns:p14="http://schemas.microsoft.com/office/powerpoint/2010/main" val="1616411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04F048-580A-4815-8A32-8E5A4704B61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118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3604F048-580A-4815-8A32-8E5A4704B61D}" type="slidenum">
              <a:rPr lang="es-ES" smtClean="0"/>
              <a:t>3</a:t>
            </a:fld>
            <a:endParaRPr lang="es-ES"/>
          </a:p>
        </p:txBody>
      </p:sp>
    </p:spTree>
    <p:extLst>
      <p:ext uri="{BB962C8B-B14F-4D97-AF65-F5344CB8AC3E}">
        <p14:creationId xmlns:p14="http://schemas.microsoft.com/office/powerpoint/2010/main" val="1981522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04F048-580A-4815-8A32-8E5A4704B61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5517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04F048-580A-4815-8A32-8E5A4704B61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148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04F048-580A-4815-8A32-8E5A4704B61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010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3604F048-580A-4815-8A32-8E5A4704B61D}" type="slidenum">
              <a:rPr lang="es-ES" smtClean="0"/>
              <a:t>7</a:t>
            </a:fld>
            <a:endParaRPr lang="es-ES"/>
          </a:p>
        </p:txBody>
      </p:sp>
    </p:spTree>
    <p:extLst>
      <p:ext uri="{BB962C8B-B14F-4D97-AF65-F5344CB8AC3E}">
        <p14:creationId xmlns:p14="http://schemas.microsoft.com/office/powerpoint/2010/main" val="543764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0058400" cy="914400"/>
          </a:xfrm>
          <a:custGeom>
            <a:avLst/>
            <a:gdLst/>
            <a:ahLst/>
            <a:cxnLst/>
            <a:rect l="l" t="t" r="r" b="b"/>
            <a:pathLst>
              <a:path w="10058400" h="914400">
                <a:moveTo>
                  <a:pt x="10058400" y="914400"/>
                </a:moveTo>
                <a:lnTo>
                  <a:pt x="0" y="914400"/>
                </a:lnTo>
                <a:lnTo>
                  <a:pt x="0" y="0"/>
                </a:lnTo>
                <a:lnTo>
                  <a:pt x="10058400" y="0"/>
                </a:lnTo>
                <a:lnTo>
                  <a:pt x="10058400" y="914400"/>
                </a:lnTo>
                <a:close/>
              </a:path>
            </a:pathLst>
          </a:custGeom>
          <a:solidFill>
            <a:srgbClr val="6264A7"/>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chemeClr val="bg1"/>
                </a:solidFill>
                <a:latin typeface="Gadugi"/>
                <a:cs typeface="Gadug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Gadugi"/>
                <a:cs typeface="Gadugi"/>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220687" y="3311100"/>
            <a:ext cx="4509134" cy="4123690"/>
          </a:xfrm>
          <a:prstGeom prst="rect">
            <a:avLst/>
          </a:prstGeom>
        </p:spPr>
        <p:txBody>
          <a:bodyPr wrap="square" lIns="0" tIns="0" rIns="0" bIns="0">
            <a:spAutoFit/>
          </a:bodyPr>
          <a:lstStyle>
            <a:lvl1pPr>
              <a:defRPr sz="2750" b="0" i="0">
                <a:solidFill>
                  <a:srgbClr val="6264A7"/>
                </a:solidFill>
                <a:latin typeface="Segoe UI Light"/>
                <a:cs typeface="Segoe UI Light"/>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3/25/2020</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Gadugi"/>
                <a:cs typeface="Gadug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3/25/2020</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3/25/2020</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26674" y="147378"/>
            <a:ext cx="9605051" cy="635000"/>
          </a:xfrm>
          <a:prstGeom prst="rect">
            <a:avLst/>
          </a:prstGeom>
        </p:spPr>
        <p:txBody>
          <a:bodyPr wrap="square" lIns="0" tIns="0" rIns="0" bIns="0">
            <a:spAutoFit/>
          </a:bodyPr>
          <a:lstStyle>
            <a:lvl1pPr>
              <a:defRPr sz="4000" b="0" i="0">
                <a:solidFill>
                  <a:schemeClr val="bg1"/>
                </a:solidFill>
                <a:latin typeface="Gadugi"/>
                <a:cs typeface="Gadugi"/>
              </a:defRPr>
            </a:lvl1pPr>
          </a:lstStyle>
          <a:p>
            <a:endParaRPr/>
          </a:p>
        </p:txBody>
      </p:sp>
      <p:sp>
        <p:nvSpPr>
          <p:cNvPr id="3" name="Holder 3"/>
          <p:cNvSpPr>
            <a:spLocks noGrp="1"/>
          </p:cNvSpPr>
          <p:nvPr>
            <p:ph type="body" idx="1"/>
          </p:nvPr>
        </p:nvSpPr>
        <p:spPr>
          <a:xfrm>
            <a:off x="502920" y="1787652"/>
            <a:ext cx="9052560"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3/25/2020</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s://support.office.com/en-us/article/get-started-with-microsoft-teams-live-events-d077fec2-a058-483e-9ab5-1494afda578a#bkmk_getstarted" TargetMode="External"/><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docs.microsoft.com/stream/live-encoder-setup" TargetMode="Externa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886711" y="3025139"/>
            <a:ext cx="7627619" cy="4174235"/>
          </a:xfrm>
          <a:prstGeom prst="rect">
            <a:avLst/>
          </a:prstGeom>
          <a:blipFill>
            <a:blip r:embed="rId2" cstate="print"/>
            <a:stretch>
              <a:fillRect/>
            </a:stretch>
          </a:blipFill>
        </p:spPr>
        <p:txBody>
          <a:bodyPr wrap="square" lIns="0" tIns="0" rIns="0" bIns="0" rtlCol="0"/>
          <a:lstStyle/>
          <a:p>
            <a:endParaRPr lang="es-ES"/>
          </a:p>
        </p:txBody>
      </p:sp>
      <p:pic>
        <p:nvPicPr>
          <p:cNvPr id="6" name="Picture 5">
            <a:extLst>
              <a:ext uri="{FF2B5EF4-FFF2-40B4-BE49-F238E27FC236}">
                <a16:creationId xmlns:a16="http://schemas.microsoft.com/office/drawing/2014/main" id="{35441C4E-2631-4CBE-ADDC-65E238391F43}"/>
              </a:ext>
            </a:extLst>
          </p:cNvPr>
          <p:cNvPicPr>
            <a:picLocks noChangeAspect="1"/>
          </p:cNvPicPr>
          <p:nvPr/>
        </p:nvPicPr>
        <p:blipFill>
          <a:blip r:embed="rId3"/>
          <a:stretch>
            <a:fillRect/>
          </a:stretch>
        </p:blipFill>
        <p:spPr>
          <a:xfrm>
            <a:off x="2018238" y="3074670"/>
            <a:ext cx="7427840" cy="4010568"/>
          </a:xfrm>
          <a:prstGeom prst="rect">
            <a:avLst/>
          </a:prstGeom>
        </p:spPr>
      </p:pic>
      <p:sp>
        <p:nvSpPr>
          <p:cNvPr id="25" name="object 25"/>
          <p:cNvSpPr/>
          <p:nvPr/>
        </p:nvSpPr>
        <p:spPr>
          <a:xfrm>
            <a:off x="9583802" y="2842260"/>
            <a:ext cx="48765" cy="1105164"/>
          </a:xfrm>
          <a:custGeom>
            <a:avLst/>
            <a:gdLst/>
            <a:ahLst/>
            <a:cxnLst/>
            <a:rect l="l" t="t" r="r" b="b"/>
            <a:pathLst>
              <a:path w="38100" h="603885">
                <a:moveTo>
                  <a:pt x="28955" y="603504"/>
                </a:moveTo>
                <a:lnTo>
                  <a:pt x="0" y="601980"/>
                </a:lnTo>
                <a:lnTo>
                  <a:pt x="9144" y="0"/>
                </a:lnTo>
                <a:lnTo>
                  <a:pt x="38100" y="0"/>
                </a:lnTo>
                <a:lnTo>
                  <a:pt x="28955" y="603504"/>
                </a:lnTo>
                <a:close/>
              </a:path>
            </a:pathLst>
          </a:custGeom>
          <a:solidFill>
            <a:srgbClr val="6264A7"/>
          </a:solidFill>
        </p:spPr>
        <p:txBody>
          <a:bodyPr wrap="square" lIns="0" tIns="0" rIns="0" bIns="0" rtlCol="0"/>
          <a:lstStyle/>
          <a:p>
            <a:endParaRPr lang="es-ES"/>
          </a:p>
        </p:txBody>
      </p:sp>
      <p:sp>
        <p:nvSpPr>
          <p:cNvPr id="2" name="object 2"/>
          <p:cNvSpPr txBox="1"/>
          <p:nvPr/>
        </p:nvSpPr>
        <p:spPr>
          <a:xfrm>
            <a:off x="257010" y="979896"/>
            <a:ext cx="9648990" cy="1054776"/>
          </a:xfrm>
          <a:prstGeom prst="rect">
            <a:avLst/>
          </a:prstGeom>
        </p:spPr>
        <p:txBody>
          <a:bodyPr vert="horz" wrap="square" lIns="0" tIns="158115" rIns="0" bIns="0" rtlCol="0">
            <a:spAutoFit/>
          </a:bodyPr>
          <a:lstStyle/>
          <a:p>
            <a:pPr marL="12700">
              <a:lnSpc>
                <a:spcPct val="100000"/>
              </a:lnSpc>
              <a:spcBef>
                <a:spcPts val="1245"/>
              </a:spcBef>
            </a:pPr>
            <a:r>
              <a:rPr lang="es-ES" sz="2800" b="0" spc="-5" dirty="0">
                <a:solidFill>
                  <a:srgbClr val="6264A7"/>
                </a:solidFill>
                <a:latin typeface="Segoe UI Light"/>
                <a:cs typeface="Segoe UI Light"/>
              </a:rPr>
              <a:t>Convocar un evento en directo (broadcast) desde Teams</a:t>
            </a:r>
            <a:endParaRPr sz="2800" dirty="0">
              <a:latin typeface="Segoe UI Light"/>
              <a:cs typeface="Segoe UI Light"/>
            </a:endParaRPr>
          </a:p>
          <a:p>
            <a:pPr marL="12700">
              <a:lnSpc>
                <a:spcPct val="100000"/>
              </a:lnSpc>
              <a:spcBef>
                <a:spcPts val="525"/>
              </a:spcBef>
            </a:pPr>
            <a:r>
              <a:rPr sz="1300" spc="-10" dirty="0">
                <a:solidFill>
                  <a:srgbClr val="505050"/>
                </a:solidFill>
                <a:latin typeface="Gadugi"/>
                <a:cs typeface="Gadugi"/>
              </a:rPr>
              <a:t>¿Es </a:t>
            </a:r>
            <a:r>
              <a:rPr sz="1300" spc="-5" dirty="0">
                <a:solidFill>
                  <a:srgbClr val="505050"/>
                </a:solidFill>
                <a:latin typeface="Gadugi"/>
                <a:cs typeface="Gadugi"/>
              </a:rPr>
              <a:t>la </a:t>
            </a:r>
            <a:r>
              <a:rPr sz="1300" spc="-10" dirty="0">
                <a:solidFill>
                  <a:srgbClr val="505050"/>
                </a:solidFill>
                <a:latin typeface="Gadugi"/>
                <a:cs typeface="Gadugi"/>
              </a:rPr>
              <a:t>primera vez </a:t>
            </a:r>
            <a:r>
              <a:rPr sz="1300" spc="-5" dirty="0">
                <a:solidFill>
                  <a:srgbClr val="505050"/>
                </a:solidFill>
                <a:latin typeface="Gadugi"/>
                <a:cs typeface="Gadugi"/>
              </a:rPr>
              <a:t>que </a:t>
            </a:r>
            <a:r>
              <a:rPr lang="es-ES" sz="1300" spc="-5" dirty="0">
                <a:solidFill>
                  <a:srgbClr val="505050"/>
                </a:solidFill>
                <a:latin typeface="Gadugi"/>
                <a:cs typeface="Gadugi"/>
              </a:rPr>
              <a:t>convoca un evento en directo desde</a:t>
            </a:r>
            <a:r>
              <a:rPr sz="1300" spc="-5" dirty="0">
                <a:solidFill>
                  <a:srgbClr val="505050"/>
                </a:solidFill>
                <a:latin typeface="Gadugi"/>
                <a:cs typeface="Gadugi"/>
              </a:rPr>
              <a:t> Microsoft </a:t>
            </a:r>
            <a:r>
              <a:rPr sz="1300" spc="-30" dirty="0">
                <a:solidFill>
                  <a:srgbClr val="505050"/>
                </a:solidFill>
                <a:latin typeface="Gadugi"/>
                <a:cs typeface="Gadugi"/>
              </a:rPr>
              <a:t>Teams? </a:t>
            </a:r>
            <a:r>
              <a:rPr lang="es-ES" sz="1300" spc="-10" dirty="0">
                <a:solidFill>
                  <a:srgbClr val="505050"/>
                </a:solidFill>
                <a:latin typeface="Gadugi"/>
                <a:cs typeface="Gadugi"/>
              </a:rPr>
              <a:t>Con esta </a:t>
            </a:r>
            <a:r>
              <a:rPr lang="es-ES" sz="1300" spc="-5" dirty="0">
                <a:solidFill>
                  <a:srgbClr val="505050"/>
                </a:solidFill>
                <a:latin typeface="Gadugi"/>
                <a:cs typeface="Gadugi"/>
              </a:rPr>
              <a:t>guía </a:t>
            </a:r>
            <a:r>
              <a:rPr lang="es-ES" sz="1300" spc="-10" dirty="0">
                <a:solidFill>
                  <a:srgbClr val="505050"/>
                </a:solidFill>
                <a:latin typeface="Gadugi"/>
                <a:cs typeface="Gadugi"/>
              </a:rPr>
              <a:t>aprenderá a convocarlo y a determinar cuáles roles debe jugar su equipo en la producción y moderación del evento. </a:t>
            </a:r>
            <a:endParaRPr sz="1300" dirty="0">
              <a:latin typeface="Gadugi"/>
              <a:cs typeface="Gadugi"/>
            </a:endParaRPr>
          </a:p>
        </p:txBody>
      </p:sp>
      <p:sp>
        <p:nvSpPr>
          <p:cNvPr id="3" name="object 3"/>
          <p:cNvSpPr txBox="1">
            <a:spLocks noGrp="1"/>
          </p:cNvSpPr>
          <p:nvPr>
            <p:ph type="title"/>
          </p:nvPr>
        </p:nvSpPr>
        <p:spPr>
          <a:xfrm>
            <a:off x="226674" y="147378"/>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4" name="object 4"/>
          <p:cNvSpPr/>
          <p:nvPr/>
        </p:nvSpPr>
        <p:spPr>
          <a:xfrm>
            <a:off x="8711183" y="0"/>
            <a:ext cx="1331975" cy="598932"/>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8402955" y="2182615"/>
            <a:ext cx="1503045" cy="671979"/>
          </a:xfrm>
          <a:prstGeom prst="rect">
            <a:avLst/>
          </a:prstGeom>
          <a:solidFill>
            <a:schemeClr val="accent4">
              <a:lumMod val="40000"/>
              <a:lumOff val="60000"/>
            </a:schemeClr>
          </a:solidFill>
        </p:spPr>
        <p:txBody>
          <a:bodyPr vert="horz" wrap="square" lIns="0" tIns="71120" rIns="0" bIns="0" rtlCol="0">
            <a:spAutoFit/>
          </a:bodyPr>
          <a:lstStyle/>
          <a:p>
            <a:pPr marL="123189" marR="142875">
              <a:lnSpc>
                <a:spcPct val="100000"/>
              </a:lnSpc>
              <a:spcBef>
                <a:spcPts val="560"/>
              </a:spcBef>
            </a:pPr>
            <a:r>
              <a:rPr lang="es-ES" sz="650" b="1" spc="-5" dirty="0">
                <a:latin typeface="Gadugi"/>
                <a:cs typeface="Gadugi"/>
              </a:rPr>
              <a:t>Programar un Evento en Directo</a:t>
            </a:r>
            <a:endParaRPr lang="es-ES" sz="650" dirty="0">
              <a:latin typeface="Gadugi"/>
              <a:cs typeface="Gadugi"/>
            </a:endParaRPr>
          </a:p>
          <a:p>
            <a:pPr marL="123189" marR="237490">
              <a:lnSpc>
                <a:spcPct val="100000"/>
              </a:lnSpc>
            </a:pPr>
            <a:r>
              <a:rPr lang="es-ES" sz="650" spc="-5" dirty="0">
                <a:solidFill>
                  <a:srgbClr val="505050"/>
                </a:solidFill>
                <a:latin typeface="Gadugi"/>
                <a:cs typeface="Gadugi"/>
              </a:rPr>
              <a:t>Desplegando el Combo Box de Nueva reunión puede seleccionar Evento en Directo. </a:t>
            </a:r>
          </a:p>
          <a:p>
            <a:pPr marL="123189" marR="237490">
              <a:lnSpc>
                <a:spcPct val="100000"/>
              </a:lnSpc>
            </a:pPr>
            <a:endParaRPr lang="es-ES" sz="650" spc="-5" dirty="0">
              <a:solidFill>
                <a:srgbClr val="505050"/>
              </a:solidFill>
              <a:latin typeface="Gadugi"/>
              <a:cs typeface="Gadugi"/>
            </a:endParaRPr>
          </a:p>
          <a:p>
            <a:pPr marL="123189" marR="237490">
              <a:lnSpc>
                <a:spcPct val="100000"/>
              </a:lnSpc>
            </a:pPr>
            <a:endParaRPr lang="es-ES" sz="650" dirty="0">
              <a:latin typeface="Gadugi"/>
              <a:cs typeface="Gadugi"/>
            </a:endParaRPr>
          </a:p>
        </p:txBody>
      </p:sp>
      <p:sp>
        <p:nvSpPr>
          <p:cNvPr id="13" name="object 13"/>
          <p:cNvSpPr txBox="1"/>
          <p:nvPr/>
        </p:nvSpPr>
        <p:spPr>
          <a:xfrm>
            <a:off x="3659122" y="2214498"/>
            <a:ext cx="1263650" cy="682879"/>
          </a:xfrm>
          <a:prstGeom prst="rect">
            <a:avLst/>
          </a:prstGeom>
          <a:solidFill>
            <a:srgbClr val="E6E6E6"/>
          </a:solidFill>
        </p:spPr>
        <p:txBody>
          <a:bodyPr vert="horz" wrap="square" lIns="0" tIns="43815" rIns="0" bIns="0" rtlCol="0">
            <a:spAutoFit/>
          </a:bodyPr>
          <a:lstStyle/>
          <a:p>
            <a:pPr marL="109220" marR="140335">
              <a:lnSpc>
                <a:spcPct val="100000"/>
              </a:lnSpc>
              <a:spcBef>
                <a:spcPts val="345"/>
              </a:spcBef>
            </a:pPr>
            <a:r>
              <a:rPr lang="es-ES" sz="650" b="1" spc="-5">
                <a:latin typeface="Gadugi"/>
                <a:cs typeface="Gadugi"/>
              </a:rPr>
              <a:t>Use la Barra de Comandos para más ayuda</a:t>
            </a:r>
          </a:p>
          <a:p>
            <a:pPr marL="109220" marR="140335">
              <a:lnSpc>
                <a:spcPct val="100000"/>
              </a:lnSpc>
              <a:spcBef>
                <a:spcPts val="345"/>
              </a:spcBef>
            </a:pPr>
            <a:r>
              <a:rPr lang="es-ES" sz="650" spc="-5">
                <a:solidFill>
                  <a:srgbClr val="505050"/>
                </a:solidFill>
                <a:latin typeface="Gadugi"/>
                <a:cs typeface="Gadugi"/>
              </a:rPr>
              <a:t>Teclee /Ayuda en la barra de comandos para acceder a la ayuda Online</a:t>
            </a:r>
          </a:p>
          <a:p>
            <a:pPr marL="109220" marR="140335">
              <a:lnSpc>
                <a:spcPct val="100000"/>
              </a:lnSpc>
              <a:spcBef>
                <a:spcPts val="345"/>
              </a:spcBef>
            </a:pPr>
            <a:endParaRPr lang="es-ES" sz="400" spc="-5">
              <a:solidFill>
                <a:srgbClr val="505050"/>
              </a:solidFill>
              <a:latin typeface="Gadugi"/>
              <a:cs typeface="Gadugi"/>
            </a:endParaRPr>
          </a:p>
        </p:txBody>
      </p:sp>
      <p:sp>
        <p:nvSpPr>
          <p:cNvPr id="17" name="object 17"/>
          <p:cNvSpPr txBox="1"/>
          <p:nvPr/>
        </p:nvSpPr>
        <p:spPr>
          <a:xfrm>
            <a:off x="2057400" y="2212975"/>
            <a:ext cx="1443226" cy="682879"/>
          </a:xfrm>
          <a:prstGeom prst="rect">
            <a:avLst/>
          </a:prstGeom>
          <a:solidFill>
            <a:srgbClr val="E6E6E6"/>
          </a:solidFill>
        </p:spPr>
        <p:txBody>
          <a:bodyPr vert="horz" wrap="square" lIns="0" tIns="43815" rIns="0" bIns="0" rtlCol="0">
            <a:spAutoFit/>
          </a:bodyPr>
          <a:lstStyle/>
          <a:p>
            <a:pPr marL="86360" marR="88265">
              <a:lnSpc>
                <a:spcPct val="100000"/>
              </a:lnSpc>
              <a:spcBef>
                <a:spcPts val="345"/>
              </a:spcBef>
            </a:pPr>
            <a:r>
              <a:rPr lang="es-ES" sz="650" b="1" spc="-5">
                <a:latin typeface="Gadugi"/>
                <a:cs typeface="Gadugi"/>
              </a:rPr>
              <a:t>Muévase en la Línea de tiempo </a:t>
            </a:r>
            <a:r>
              <a:rPr lang="es-ES" sz="650" spc="-5">
                <a:solidFill>
                  <a:srgbClr val="505050"/>
                </a:solidFill>
                <a:latin typeface="Gadugi"/>
                <a:cs typeface="Gadugi"/>
              </a:rPr>
              <a:t>Haga clic en </a:t>
            </a:r>
            <a:r>
              <a:rPr lang="es-ES" sz="650">
                <a:solidFill>
                  <a:srgbClr val="505050"/>
                </a:solidFill>
                <a:latin typeface="Gadugi"/>
                <a:cs typeface="Gadugi"/>
              </a:rPr>
              <a:t>uno </a:t>
            </a:r>
            <a:r>
              <a:rPr lang="es-ES" sz="650" spc="-5">
                <a:solidFill>
                  <a:srgbClr val="505050"/>
                </a:solidFill>
                <a:latin typeface="Gadugi"/>
                <a:cs typeface="Gadugi"/>
              </a:rPr>
              <a:t>para ver </a:t>
            </a:r>
            <a:r>
              <a:rPr lang="es-ES" sz="650">
                <a:solidFill>
                  <a:srgbClr val="505050"/>
                </a:solidFill>
                <a:latin typeface="Gadugi"/>
                <a:cs typeface="Gadugi"/>
              </a:rPr>
              <a:t>los  </a:t>
            </a:r>
            <a:r>
              <a:rPr lang="es-ES" sz="650" spc="-5">
                <a:solidFill>
                  <a:srgbClr val="505050"/>
                </a:solidFill>
                <a:latin typeface="Gadugi"/>
                <a:cs typeface="Gadugi"/>
              </a:rPr>
              <a:t>archivos y </a:t>
            </a:r>
            <a:r>
              <a:rPr lang="es-ES" sz="650" spc="-10">
                <a:solidFill>
                  <a:srgbClr val="505050"/>
                </a:solidFill>
                <a:latin typeface="Gadugi"/>
                <a:cs typeface="Gadugi"/>
              </a:rPr>
              <a:t>las </a:t>
            </a:r>
            <a:r>
              <a:rPr lang="es-ES" sz="650" spc="-5">
                <a:solidFill>
                  <a:srgbClr val="505050"/>
                </a:solidFill>
                <a:latin typeface="Gadugi"/>
                <a:cs typeface="Gadugi"/>
              </a:rPr>
              <a:t>conversaciones sobre  ese tema, departamento o</a:t>
            </a:r>
            <a:r>
              <a:rPr lang="es-ES" sz="650" spc="-35">
                <a:solidFill>
                  <a:srgbClr val="505050"/>
                </a:solidFill>
                <a:latin typeface="Gadugi"/>
                <a:cs typeface="Gadugi"/>
              </a:rPr>
              <a:t> </a:t>
            </a:r>
            <a:r>
              <a:rPr lang="es-ES" sz="650" spc="-5">
                <a:solidFill>
                  <a:srgbClr val="505050"/>
                </a:solidFill>
                <a:latin typeface="Gadugi"/>
                <a:cs typeface="Gadugi"/>
              </a:rPr>
              <a:t>proyecto.</a:t>
            </a:r>
          </a:p>
          <a:p>
            <a:pPr marL="86360" marR="88265">
              <a:lnSpc>
                <a:spcPct val="100000"/>
              </a:lnSpc>
              <a:spcBef>
                <a:spcPts val="345"/>
              </a:spcBef>
            </a:pPr>
            <a:endParaRPr lang="es-ES" sz="650" spc="-5">
              <a:solidFill>
                <a:srgbClr val="505050"/>
              </a:solidFill>
              <a:latin typeface="Gadugi"/>
              <a:cs typeface="Gadugi"/>
            </a:endParaRPr>
          </a:p>
        </p:txBody>
      </p:sp>
      <p:sp>
        <p:nvSpPr>
          <p:cNvPr id="18" name="object 18"/>
          <p:cNvSpPr/>
          <p:nvPr/>
        </p:nvSpPr>
        <p:spPr>
          <a:xfrm>
            <a:off x="9286494" y="3891280"/>
            <a:ext cx="105156" cy="105156"/>
          </a:xfrm>
          <a:prstGeom prst="rect">
            <a:avLst/>
          </a:prstGeom>
          <a:blipFill>
            <a:blip r:embed="rId5" cstate="print"/>
            <a:stretch>
              <a:fillRect/>
            </a:stretch>
          </a:blipFill>
        </p:spPr>
        <p:txBody>
          <a:bodyPr wrap="square" lIns="0" tIns="0" rIns="0" bIns="0" rtlCol="0"/>
          <a:lstStyle/>
          <a:p>
            <a:endParaRPr lang="es-ES"/>
          </a:p>
        </p:txBody>
      </p:sp>
      <p:sp>
        <p:nvSpPr>
          <p:cNvPr id="20" name="object 20"/>
          <p:cNvSpPr/>
          <p:nvPr/>
        </p:nvSpPr>
        <p:spPr>
          <a:xfrm>
            <a:off x="4191000" y="3145535"/>
            <a:ext cx="105156" cy="103632"/>
          </a:xfrm>
          <a:prstGeom prst="rect">
            <a:avLst/>
          </a:prstGeom>
          <a:blipFill>
            <a:blip r:embed="rId6" cstate="print"/>
            <a:stretch>
              <a:fillRect/>
            </a:stretch>
          </a:blipFill>
        </p:spPr>
        <p:txBody>
          <a:bodyPr wrap="square" lIns="0" tIns="0" rIns="0" bIns="0" rtlCol="0"/>
          <a:lstStyle/>
          <a:p>
            <a:endParaRPr lang="es-ES"/>
          </a:p>
        </p:txBody>
      </p:sp>
      <p:sp>
        <p:nvSpPr>
          <p:cNvPr id="22" name="object 22"/>
          <p:cNvSpPr/>
          <p:nvPr/>
        </p:nvSpPr>
        <p:spPr>
          <a:xfrm>
            <a:off x="4229479" y="2909316"/>
            <a:ext cx="32384" cy="28956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24" name="object 24"/>
          <p:cNvSpPr/>
          <p:nvPr/>
        </p:nvSpPr>
        <p:spPr>
          <a:xfrm>
            <a:off x="3323844" y="3628644"/>
            <a:ext cx="105156" cy="103632"/>
          </a:xfrm>
          <a:prstGeom prst="rect">
            <a:avLst/>
          </a:prstGeom>
          <a:blipFill>
            <a:blip r:embed="rId7" cstate="print"/>
            <a:stretch>
              <a:fillRect/>
            </a:stretch>
          </a:blipFill>
        </p:spPr>
        <p:txBody>
          <a:bodyPr wrap="square" lIns="0" tIns="0" rIns="0" bIns="0" rtlCol="0"/>
          <a:lstStyle/>
          <a:p>
            <a:endParaRPr lang="es-ES"/>
          </a:p>
        </p:txBody>
      </p:sp>
      <p:sp>
        <p:nvSpPr>
          <p:cNvPr id="33" name="object 33"/>
          <p:cNvSpPr/>
          <p:nvPr/>
        </p:nvSpPr>
        <p:spPr>
          <a:xfrm>
            <a:off x="7063931" y="3462341"/>
            <a:ext cx="103632" cy="105156"/>
          </a:xfrm>
          <a:prstGeom prst="rect">
            <a:avLst/>
          </a:prstGeom>
          <a:blipFill>
            <a:blip r:embed="rId8" cstate="print"/>
            <a:stretch>
              <a:fillRect/>
            </a:stretch>
          </a:blipFill>
        </p:spPr>
        <p:txBody>
          <a:bodyPr wrap="square" lIns="0" tIns="0" rIns="0" bIns="0" rtlCol="0"/>
          <a:lstStyle/>
          <a:p>
            <a:endParaRPr lang="es-ES"/>
          </a:p>
        </p:txBody>
      </p:sp>
      <p:sp>
        <p:nvSpPr>
          <p:cNvPr id="34" name="object 34"/>
          <p:cNvSpPr/>
          <p:nvPr/>
        </p:nvSpPr>
        <p:spPr>
          <a:xfrm>
            <a:off x="6400800" y="3505200"/>
            <a:ext cx="737870" cy="29209"/>
          </a:xfrm>
          <a:custGeom>
            <a:avLst/>
            <a:gdLst/>
            <a:ahLst/>
            <a:cxnLst/>
            <a:rect l="l" t="t" r="r" b="b"/>
            <a:pathLst>
              <a:path w="737870" h="29210">
                <a:moveTo>
                  <a:pt x="737616" y="28956"/>
                </a:moveTo>
                <a:lnTo>
                  <a:pt x="0" y="28956"/>
                </a:lnTo>
                <a:lnTo>
                  <a:pt x="0" y="0"/>
                </a:lnTo>
                <a:lnTo>
                  <a:pt x="737616" y="0"/>
                </a:lnTo>
                <a:lnTo>
                  <a:pt x="737616" y="28956"/>
                </a:lnTo>
                <a:close/>
              </a:path>
            </a:pathLst>
          </a:custGeom>
          <a:solidFill>
            <a:srgbClr val="6264A7"/>
          </a:solidFill>
        </p:spPr>
        <p:txBody>
          <a:bodyPr wrap="square" lIns="0" tIns="0" rIns="0" bIns="0" rtlCol="0"/>
          <a:lstStyle/>
          <a:p>
            <a:endParaRPr lang="es-ES"/>
          </a:p>
        </p:txBody>
      </p:sp>
      <p:sp>
        <p:nvSpPr>
          <p:cNvPr id="35" name="object 35"/>
          <p:cNvSpPr/>
          <p:nvPr/>
        </p:nvSpPr>
        <p:spPr>
          <a:xfrm>
            <a:off x="6400800" y="2783840"/>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39" name="object 39"/>
          <p:cNvSpPr/>
          <p:nvPr/>
        </p:nvSpPr>
        <p:spPr>
          <a:xfrm>
            <a:off x="4572763" y="6676644"/>
            <a:ext cx="103632" cy="105156"/>
          </a:xfrm>
          <a:prstGeom prst="rect">
            <a:avLst/>
          </a:prstGeom>
          <a:blipFill>
            <a:blip r:embed="rId9" cstate="print"/>
            <a:stretch>
              <a:fillRect/>
            </a:stretch>
          </a:blipFill>
        </p:spPr>
        <p:txBody>
          <a:bodyPr wrap="square" lIns="0" tIns="0" rIns="0" bIns="0" rtlCol="0"/>
          <a:lstStyle/>
          <a:p>
            <a:endParaRPr lang="es-ES"/>
          </a:p>
        </p:txBody>
      </p:sp>
      <p:sp>
        <p:nvSpPr>
          <p:cNvPr id="43" name="object 43"/>
          <p:cNvSpPr/>
          <p:nvPr/>
        </p:nvSpPr>
        <p:spPr>
          <a:xfrm>
            <a:off x="8237854" y="3332353"/>
            <a:ext cx="105156" cy="105156"/>
          </a:xfrm>
          <a:prstGeom prst="rect">
            <a:avLst/>
          </a:prstGeom>
          <a:blipFill>
            <a:blip r:embed="rId10" cstate="print"/>
            <a:stretch>
              <a:fillRect/>
            </a:stretch>
          </a:blipFill>
        </p:spPr>
        <p:txBody>
          <a:bodyPr wrap="square" lIns="0" tIns="0" rIns="0" bIns="0" rtlCol="0"/>
          <a:lstStyle/>
          <a:p>
            <a:endParaRPr lang="es-ES"/>
          </a:p>
        </p:txBody>
      </p:sp>
      <p:sp>
        <p:nvSpPr>
          <p:cNvPr id="47" name="object 47"/>
          <p:cNvSpPr txBox="1"/>
          <p:nvPr/>
        </p:nvSpPr>
        <p:spPr>
          <a:xfrm>
            <a:off x="196595" y="4556759"/>
            <a:ext cx="1470660" cy="682879"/>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Pulse en Calendario para tener una vista de sus reuniones</a:t>
            </a:r>
          </a:p>
          <a:p>
            <a:pPr marL="92710" marR="103505">
              <a:lnSpc>
                <a:spcPct val="100000"/>
              </a:lnSpc>
              <a:spcBef>
                <a:spcPts val="345"/>
              </a:spcBef>
            </a:pPr>
            <a:r>
              <a:rPr lang="es-ES" sz="650" spc="-5" dirty="0">
                <a:solidFill>
                  <a:srgbClr val="505050"/>
                </a:solidFill>
                <a:latin typeface="Gadugi"/>
                <a:cs typeface="Gadugi"/>
              </a:rPr>
              <a:t>Este calendario está integrado con su calendario de Outlook. Todo lo que Ud. haga allí se verá reflejado en esta vista, y viceversa.</a:t>
            </a:r>
            <a:endParaRPr lang="es-ES" sz="650" dirty="0">
              <a:latin typeface="Gadugi"/>
              <a:cs typeface="Gadugi"/>
            </a:endParaRPr>
          </a:p>
        </p:txBody>
      </p:sp>
      <p:sp>
        <p:nvSpPr>
          <p:cNvPr id="48" name="object 48"/>
          <p:cNvSpPr/>
          <p:nvPr/>
        </p:nvSpPr>
        <p:spPr>
          <a:xfrm>
            <a:off x="1647444" y="6640067"/>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49" name="object 49"/>
          <p:cNvSpPr/>
          <p:nvPr/>
        </p:nvSpPr>
        <p:spPr>
          <a:xfrm>
            <a:off x="1876044" y="6606540"/>
            <a:ext cx="103632" cy="105156"/>
          </a:xfrm>
          <a:prstGeom prst="rect">
            <a:avLst/>
          </a:prstGeom>
          <a:blipFill>
            <a:blip r:embed="rId11" cstate="print"/>
            <a:stretch>
              <a:fillRect/>
            </a:stretch>
          </a:blipFill>
        </p:spPr>
        <p:txBody>
          <a:bodyPr wrap="square" lIns="0" tIns="0" rIns="0" bIns="0" rtlCol="0"/>
          <a:lstStyle/>
          <a:p>
            <a:endParaRPr lang="es-ES"/>
          </a:p>
        </p:txBody>
      </p:sp>
      <p:sp>
        <p:nvSpPr>
          <p:cNvPr id="50" name="object 50"/>
          <p:cNvSpPr txBox="1"/>
          <p:nvPr/>
        </p:nvSpPr>
        <p:spPr>
          <a:xfrm>
            <a:off x="178307" y="6324600"/>
            <a:ext cx="1469390" cy="445635"/>
          </a:xfrm>
          <a:prstGeom prst="rect">
            <a:avLst/>
          </a:prstGeom>
          <a:solidFill>
            <a:srgbClr val="E6E6E6"/>
          </a:solidFill>
        </p:spPr>
        <p:txBody>
          <a:bodyPr vert="horz" wrap="square" lIns="0" tIns="45085" rIns="0" bIns="0" rtlCol="0">
            <a:spAutoFit/>
          </a:bodyPr>
          <a:lstStyle/>
          <a:p>
            <a:pPr marL="91440" algn="just">
              <a:lnSpc>
                <a:spcPct val="100000"/>
              </a:lnSpc>
              <a:spcBef>
                <a:spcPts val="355"/>
              </a:spcBef>
            </a:pPr>
            <a:r>
              <a:rPr lang="es-ES" sz="650" b="1" spc="-10">
                <a:latin typeface="Gadugi"/>
                <a:cs typeface="Gadugi"/>
              </a:rPr>
              <a:t>Ayuda</a:t>
            </a:r>
            <a:endParaRPr lang="es-ES" sz="650">
              <a:latin typeface="Gadugi"/>
              <a:cs typeface="Gadugi"/>
            </a:endParaRPr>
          </a:p>
          <a:p>
            <a:pPr marL="91440" marR="239395" algn="just">
              <a:lnSpc>
                <a:spcPct val="100000"/>
              </a:lnSpc>
            </a:pPr>
            <a:r>
              <a:rPr lang="es-ES" sz="650" spc="-5">
                <a:solidFill>
                  <a:srgbClr val="505050"/>
                </a:solidFill>
                <a:latin typeface="Gadugi"/>
                <a:cs typeface="Gadugi"/>
              </a:rPr>
              <a:t>Para mayor información puede acceder a la Ayuda Online de Teams.</a:t>
            </a:r>
            <a:endParaRPr lang="es-ES" sz="650">
              <a:latin typeface="Gadugi"/>
              <a:cs typeface="Gadugi"/>
            </a:endParaRPr>
          </a:p>
        </p:txBody>
      </p:sp>
      <p:sp>
        <p:nvSpPr>
          <p:cNvPr id="51" name="object 51"/>
          <p:cNvSpPr/>
          <p:nvPr/>
        </p:nvSpPr>
        <p:spPr>
          <a:xfrm>
            <a:off x="1671827" y="4613148"/>
            <a:ext cx="262128" cy="103632"/>
          </a:xfrm>
          <a:prstGeom prst="rect">
            <a:avLst/>
          </a:prstGeom>
          <a:blipFill>
            <a:blip r:embed="rId12" cstate="print"/>
            <a:stretch>
              <a:fillRect/>
            </a:stretch>
          </a:blipFill>
        </p:spPr>
        <p:txBody>
          <a:bodyPr wrap="square" lIns="0" tIns="0" rIns="0" bIns="0" rtlCol="0"/>
          <a:lstStyle/>
          <a:p>
            <a:endParaRPr lang="es-ES"/>
          </a:p>
        </p:txBody>
      </p:sp>
      <p:sp>
        <p:nvSpPr>
          <p:cNvPr id="53" name="object 48">
            <a:extLst>
              <a:ext uri="{FF2B5EF4-FFF2-40B4-BE49-F238E27FC236}">
                <a16:creationId xmlns:a16="http://schemas.microsoft.com/office/drawing/2014/main" id="{4A64C8F1-B483-4B4B-BAE0-19DA2B034522}"/>
              </a:ext>
            </a:extLst>
          </p:cNvPr>
          <p:cNvSpPr/>
          <p:nvPr/>
        </p:nvSpPr>
        <p:spPr>
          <a:xfrm>
            <a:off x="9372600" y="3928110"/>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55" name="object 21">
            <a:extLst>
              <a:ext uri="{FF2B5EF4-FFF2-40B4-BE49-F238E27FC236}">
                <a16:creationId xmlns:a16="http://schemas.microsoft.com/office/drawing/2014/main" id="{0AF019A3-9EC9-4816-B98A-9B280210ECE4}"/>
              </a:ext>
            </a:extLst>
          </p:cNvPr>
          <p:cNvSpPr/>
          <p:nvPr/>
        </p:nvSpPr>
        <p:spPr>
          <a:xfrm>
            <a:off x="7699375" y="2987675"/>
            <a:ext cx="600710" cy="35560"/>
          </a:xfrm>
          <a:custGeom>
            <a:avLst/>
            <a:gdLst/>
            <a:ahLst/>
            <a:cxnLst/>
            <a:rect l="l" t="t" r="r" b="b"/>
            <a:pathLst>
              <a:path w="600710" h="35560">
                <a:moveTo>
                  <a:pt x="0" y="35051"/>
                </a:moveTo>
                <a:lnTo>
                  <a:pt x="0" y="6095"/>
                </a:lnTo>
                <a:lnTo>
                  <a:pt x="600455" y="0"/>
                </a:lnTo>
                <a:lnTo>
                  <a:pt x="600455" y="27432"/>
                </a:lnTo>
                <a:lnTo>
                  <a:pt x="0" y="35051"/>
                </a:lnTo>
                <a:close/>
              </a:path>
            </a:pathLst>
          </a:custGeom>
          <a:solidFill>
            <a:srgbClr val="6264A7"/>
          </a:solidFill>
        </p:spPr>
        <p:txBody>
          <a:bodyPr wrap="square" lIns="0" tIns="0" rIns="0" bIns="0" rtlCol="0"/>
          <a:lstStyle/>
          <a:p>
            <a:endParaRPr lang="es-ES"/>
          </a:p>
        </p:txBody>
      </p:sp>
      <p:sp>
        <p:nvSpPr>
          <p:cNvPr id="56" name="object 22">
            <a:extLst>
              <a:ext uri="{FF2B5EF4-FFF2-40B4-BE49-F238E27FC236}">
                <a16:creationId xmlns:a16="http://schemas.microsoft.com/office/drawing/2014/main" id="{8EA7F9B0-1EA2-47C5-BC24-3F91501129AA}"/>
              </a:ext>
            </a:extLst>
          </p:cNvPr>
          <p:cNvSpPr/>
          <p:nvPr/>
        </p:nvSpPr>
        <p:spPr>
          <a:xfrm>
            <a:off x="7696200" y="2709292"/>
            <a:ext cx="32384" cy="28956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57" name="object 42">
            <a:extLst>
              <a:ext uri="{FF2B5EF4-FFF2-40B4-BE49-F238E27FC236}">
                <a16:creationId xmlns:a16="http://schemas.microsoft.com/office/drawing/2014/main" id="{AB339944-3D5D-455D-9A7D-B215F27832B2}"/>
              </a:ext>
            </a:extLst>
          </p:cNvPr>
          <p:cNvSpPr/>
          <p:nvPr/>
        </p:nvSpPr>
        <p:spPr>
          <a:xfrm>
            <a:off x="8274050" y="3010535"/>
            <a:ext cx="30480" cy="326390"/>
          </a:xfrm>
          <a:custGeom>
            <a:avLst/>
            <a:gdLst/>
            <a:ahLst/>
            <a:cxnLst/>
            <a:rect l="l" t="t" r="r" b="b"/>
            <a:pathLst>
              <a:path w="30479" h="326390">
                <a:moveTo>
                  <a:pt x="30480" y="326135"/>
                </a:moveTo>
                <a:lnTo>
                  <a:pt x="1524" y="326135"/>
                </a:lnTo>
                <a:lnTo>
                  <a:pt x="0" y="1524"/>
                </a:lnTo>
                <a:lnTo>
                  <a:pt x="27432" y="0"/>
                </a:lnTo>
                <a:lnTo>
                  <a:pt x="30480" y="326135"/>
                </a:lnTo>
                <a:close/>
              </a:path>
            </a:pathLst>
          </a:custGeom>
          <a:solidFill>
            <a:srgbClr val="6264A7"/>
          </a:solidFill>
        </p:spPr>
        <p:txBody>
          <a:bodyPr wrap="square" lIns="0" tIns="0" rIns="0" bIns="0" rtlCol="0"/>
          <a:lstStyle/>
          <a:p>
            <a:endParaRPr lang="es-ES"/>
          </a:p>
        </p:txBody>
      </p:sp>
      <p:sp>
        <p:nvSpPr>
          <p:cNvPr id="12" name="object 12"/>
          <p:cNvSpPr txBox="1"/>
          <p:nvPr/>
        </p:nvSpPr>
        <p:spPr>
          <a:xfrm>
            <a:off x="6647306" y="2057400"/>
            <a:ext cx="1503045" cy="782907"/>
          </a:xfrm>
          <a:prstGeom prst="rect">
            <a:avLst/>
          </a:prstGeom>
          <a:solidFill>
            <a:srgbClr val="E6E6E6"/>
          </a:solidFill>
        </p:spPr>
        <p:txBody>
          <a:bodyPr vert="horz" wrap="square" lIns="0" tIns="43815" rIns="0" bIns="0" rtlCol="0">
            <a:spAutoFit/>
          </a:bodyPr>
          <a:lstStyle/>
          <a:p>
            <a:pPr marL="115570" marR="130175">
              <a:lnSpc>
                <a:spcPct val="100000"/>
              </a:lnSpc>
              <a:spcBef>
                <a:spcPts val="345"/>
              </a:spcBef>
            </a:pPr>
            <a:r>
              <a:rPr lang="es-ES" sz="650" b="1" spc="-5" dirty="0">
                <a:latin typeface="Gadugi"/>
                <a:cs typeface="Gadugi"/>
              </a:rPr>
              <a:t>Convocar una nueva reunión para un día en el calendario</a:t>
            </a:r>
          </a:p>
          <a:p>
            <a:pPr marL="115570" marR="130175">
              <a:lnSpc>
                <a:spcPct val="100000"/>
              </a:lnSpc>
              <a:spcBef>
                <a:spcPts val="345"/>
              </a:spcBef>
            </a:pPr>
            <a:r>
              <a:rPr lang="es-ES" sz="650" spc="-5" dirty="0">
                <a:solidFill>
                  <a:srgbClr val="505050"/>
                </a:solidFill>
                <a:latin typeface="Gadugi"/>
                <a:cs typeface="Gadugi"/>
              </a:rPr>
              <a:t>Seleccione la opción Nueva Reunión para añadir una reunión en su calendario / O seleccione un Evento en Directo si quiere transmitir broadcast</a:t>
            </a:r>
            <a:endParaRPr lang="es-ES" sz="650" dirty="0">
              <a:latin typeface="Gadugi"/>
              <a:cs typeface="Gadugi"/>
            </a:endParaRPr>
          </a:p>
        </p:txBody>
      </p:sp>
      <p:sp>
        <p:nvSpPr>
          <p:cNvPr id="58" name="object 35">
            <a:extLst>
              <a:ext uri="{FF2B5EF4-FFF2-40B4-BE49-F238E27FC236}">
                <a16:creationId xmlns:a16="http://schemas.microsoft.com/office/drawing/2014/main" id="{83CFAD9C-257B-46F3-8C6A-A3A9317FB201}"/>
              </a:ext>
            </a:extLst>
          </p:cNvPr>
          <p:cNvSpPr/>
          <p:nvPr/>
        </p:nvSpPr>
        <p:spPr>
          <a:xfrm>
            <a:off x="4614367" y="5999480"/>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8" name="object 8"/>
          <p:cNvSpPr txBox="1"/>
          <p:nvPr/>
        </p:nvSpPr>
        <p:spPr>
          <a:xfrm>
            <a:off x="4131263" y="5618480"/>
            <a:ext cx="1199688" cy="676467"/>
          </a:xfrm>
          <a:prstGeom prst="rect">
            <a:avLst/>
          </a:prstGeom>
          <a:solidFill>
            <a:srgbClr val="E6E6E6"/>
          </a:solidFill>
        </p:spPr>
        <p:txBody>
          <a:bodyPr vert="horz" wrap="square" lIns="0" tIns="75565" rIns="0" bIns="0" rtlCol="0">
            <a:spAutoFit/>
          </a:bodyPr>
          <a:lstStyle/>
          <a:p>
            <a:pPr marL="90805">
              <a:lnSpc>
                <a:spcPct val="100000"/>
              </a:lnSpc>
              <a:spcBef>
                <a:spcPts val="595"/>
              </a:spcBef>
            </a:pPr>
            <a:r>
              <a:rPr lang="es-ES" sz="650" b="1" spc="-10" dirty="0">
                <a:latin typeface="Gadugi"/>
                <a:cs typeface="Gadugi"/>
              </a:rPr>
              <a:t>Pulse en un Evento para entrar en los detalles</a:t>
            </a:r>
            <a:endParaRPr lang="es-ES" sz="650" dirty="0">
              <a:latin typeface="Gadugi"/>
              <a:cs typeface="Gadugi"/>
            </a:endParaRPr>
          </a:p>
          <a:p>
            <a:pPr marL="90805" marR="247650">
              <a:lnSpc>
                <a:spcPct val="100000"/>
              </a:lnSpc>
            </a:pPr>
            <a:r>
              <a:rPr lang="es-ES" sz="650" spc="-5" dirty="0">
                <a:solidFill>
                  <a:srgbClr val="505050"/>
                </a:solidFill>
                <a:latin typeface="Gadugi"/>
                <a:cs typeface="Gadugi"/>
              </a:rPr>
              <a:t>Haga </a:t>
            </a:r>
            <a:r>
              <a:rPr lang="es-ES" sz="650" spc="-5" dirty="0" err="1">
                <a:solidFill>
                  <a:srgbClr val="505050"/>
                </a:solidFill>
                <a:latin typeface="Gadugi"/>
                <a:cs typeface="Gadugi"/>
              </a:rPr>
              <a:t>click</a:t>
            </a:r>
            <a:r>
              <a:rPr lang="es-ES" sz="650" spc="-5" dirty="0">
                <a:solidFill>
                  <a:srgbClr val="505050"/>
                </a:solidFill>
                <a:latin typeface="Gadugi"/>
                <a:cs typeface="Gadugi"/>
              </a:rPr>
              <a:t> en un evento para entrar en el detalle del mismo y conectarse a su reunión</a:t>
            </a:r>
            <a:endParaRPr lang="es-ES" sz="650" dirty="0">
              <a:latin typeface="Gadugi"/>
              <a:cs typeface="Gadugi"/>
            </a:endParaRPr>
          </a:p>
        </p:txBody>
      </p:sp>
      <p:sp>
        <p:nvSpPr>
          <p:cNvPr id="61" name="object 33">
            <a:extLst>
              <a:ext uri="{FF2B5EF4-FFF2-40B4-BE49-F238E27FC236}">
                <a16:creationId xmlns:a16="http://schemas.microsoft.com/office/drawing/2014/main" id="{90F75FE7-D536-44B7-AC9B-477A28FCE46B}"/>
              </a:ext>
            </a:extLst>
          </p:cNvPr>
          <p:cNvSpPr/>
          <p:nvPr/>
        </p:nvSpPr>
        <p:spPr>
          <a:xfrm>
            <a:off x="7753350" y="4882134"/>
            <a:ext cx="103632" cy="105156"/>
          </a:xfrm>
          <a:prstGeom prst="rect">
            <a:avLst/>
          </a:prstGeom>
          <a:blipFill>
            <a:blip r:embed="rId8" cstate="print"/>
            <a:stretch>
              <a:fillRect/>
            </a:stretch>
          </a:blipFill>
        </p:spPr>
        <p:txBody>
          <a:bodyPr wrap="square" lIns="0" tIns="0" rIns="0" bIns="0" rtlCol="0"/>
          <a:lstStyle/>
          <a:p>
            <a:endParaRPr lang="es-ES"/>
          </a:p>
        </p:txBody>
      </p:sp>
      <p:sp>
        <p:nvSpPr>
          <p:cNvPr id="63" name="object 35">
            <a:extLst>
              <a:ext uri="{FF2B5EF4-FFF2-40B4-BE49-F238E27FC236}">
                <a16:creationId xmlns:a16="http://schemas.microsoft.com/office/drawing/2014/main" id="{86F899E5-FEC9-4B36-9C05-7CDA86B9305C}"/>
              </a:ext>
            </a:extLst>
          </p:cNvPr>
          <p:cNvSpPr/>
          <p:nvPr/>
        </p:nvSpPr>
        <p:spPr>
          <a:xfrm>
            <a:off x="3364735" y="2910840"/>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15" name="object 15"/>
          <p:cNvSpPr txBox="1"/>
          <p:nvPr/>
        </p:nvSpPr>
        <p:spPr>
          <a:xfrm>
            <a:off x="5100320" y="2073030"/>
            <a:ext cx="1452880" cy="748923"/>
          </a:xfrm>
          <a:prstGeom prst="rect">
            <a:avLst/>
          </a:prstGeom>
          <a:solidFill>
            <a:srgbClr val="E6E6E6"/>
          </a:solidFill>
        </p:spPr>
        <p:txBody>
          <a:bodyPr vert="horz" wrap="square" lIns="0" tIns="48260" rIns="0" bIns="0" rtlCol="0">
            <a:spAutoFit/>
          </a:bodyPr>
          <a:lstStyle/>
          <a:p>
            <a:pPr marL="120014">
              <a:lnSpc>
                <a:spcPct val="100000"/>
              </a:lnSpc>
              <a:spcBef>
                <a:spcPts val="380"/>
              </a:spcBef>
            </a:pPr>
            <a:r>
              <a:rPr lang="es-ES" sz="650" b="1" spc="-10">
                <a:latin typeface="Gadugi"/>
                <a:cs typeface="Gadugi"/>
              </a:rPr>
              <a:t>Cree una Reunión Instantánea</a:t>
            </a:r>
            <a:endParaRPr lang="es-ES" sz="650">
              <a:latin typeface="Gadugi"/>
              <a:cs typeface="Gadugi"/>
            </a:endParaRPr>
          </a:p>
          <a:p>
            <a:pPr marL="120014" marR="107314">
              <a:lnSpc>
                <a:spcPct val="100000"/>
              </a:lnSpc>
            </a:pPr>
            <a:r>
              <a:rPr lang="es-ES" sz="650" spc="-5">
                <a:solidFill>
                  <a:srgbClr val="505050"/>
                </a:solidFill>
                <a:latin typeface="Gadugi"/>
                <a:cs typeface="Gadugi"/>
              </a:rPr>
              <a:t>Marque una reunión instantánea e invite sobre la marcha a las personas con las que se desea reunir.</a:t>
            </a:r>
          </a:p>
          <a:p>
            <a:pPr marL="120014" marR="107314">
              <a:lnSpc>
                <a:spcPct val="100000"/>
              </a:lnSpc>
            </a:pPr>
            <a:endParaRPr lang="es-ES" sz="650" spc="-5">
              <a:solidFill>
                <a:srgbClr val="505050"/>
              </a:solidFill>
              <a:latin typeface="Gadugi"/>
              <a:cs typeface="Gadugi"/>
            </a:endParaRPr>
          </a:p>
          <a:p>
            <a:pPr marL="120014" marR="107314">
              <a:lnSpc>
                <a:spcPct val="100000"/>
              </a:lnSpc>
            </a:pPr>
            <a:endParaRPr lang="es-ES" sz="650">
              <a:latin typeface="Gadugi"/>
              <a:cs typeface="Gadugi"/>
            </a:endParaRPr>
          </a:p>
        </p:txBody>
      </p:sp>
      <p:sp>
        <p:nvSpPr>
          <p:cNvPr id="38" name="object 35">
            <a:extLst>
              <a:ext uri="{FF2B5EF4-FFF2-40B4-BE49-F238E27FC236}">
                <a16:creationId xmlns:a16="http://schemas.microsoft.com/office/drawing/2014/main" id="{F2C9BCFE-E972-44AF-B1D2-344FB9DCC83A}"/>
              </a:ext>
            </a:extLst>
          </p:cNvPr>
          <p:cNvSpPr/>
          <p:nvPr/>
        </p:nvSpPr>
        <p:spPr>
          <a:xfrm>
            <a:off x="7796175" y="4917440"/>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60" name="object 8">
            <a:extLst>
              <a:ext uri="{FF2B5EF4-FFF2-40B4-BE49-F238E27FC236}">
                <a16:creationId xmlns:a16="http://schemas.microsoft.com/office/drawing/2014/main" id="{D7A14D85-A3EE-4EEB-94AA-E6FE2556D395}"/>
              </a:ext>
            </a:extLst>
          </p:cNvPr>
          <p:cNvSpPr txBox="1"/>
          <p:nvPr/>
        </p:nvSpPr>
        <p:spPr>
          <a:xfrm>
            <a:off x="6812280" y="5476623"/>
            <a:ext cx="1199688" cy="1076577"/>
          </a:xfrm>
          <a:prstGeom prst="rect">
            <a:avLst/>
          </a:prstGeom>
          <a:solidFill>
            <a:srgbClr val="E6E6E6"/>
          </a:solidFill>
        </p:spPr>
        <p:txBody>
          <a:bodyPr vert="horz" wrap="square" lIns="0" tIns="75565" rIns="0" bIns="0" rtlCol="0">
            <a:spAutoFit/>
          </a:bodyPr>
          <a:lstStyle/>
          <a:p>
            <a:pPr marL="90805">
              <a:lnSpc>
                <a:spcPct val="100000"/>
              </a:lnSpc>
              <a:spcBef>
                <a:spcPts val="595"/>
              </a:spcBef>
            </a:pPr>
            <a:r>
              <a:rPr lang="es-ES" sz="650" b="1" spc="-10" dirty="0">
                <a:latin typeface="Gadugi"/>
                <a:cs typeface="Gadugi"/>
              </a:rPr>
              <a:t>Pulse en UNIRSE si la reunión está en curso </a:t>
            </a:r>
            <a:endParaRPr lang="es-ES" sz="650" dirty="0">
              <a:latin typeface="Gadugi"/>
              <a:cs typeface="Gadugi"/>
            </a:endParaRPr>
          </a:p>
          <a:p>
            <a:pPr marL="90805" marR="247650">
              <a:lnSpc>
                <a:spcPct val="100000"/>
              </a:lnSpc>
            </a:pPr>
            <a:r>
              <a:rPr lang="es-ES" sz="650" spc="-5" dirty="0">
                <a:solidFill>
                  <a:srgbClr val="505050"/>
                </a:solidFill>
                <a:latin typeface="Gadugi"/>
                <a:cs typeface="Gadugi"/>
              </a:rPr>
              <a:t>Haga </a:t>
            </a:r>
            <a:r>
              <a:rPr lang="es-ES" sz="650" spc="-5" dirty="0" err="1">
                <a:solidFill>
                  <a:srgbClr val="505050"/>
                </a:solidFill>
                <a:latin typeface="Gadugi"/>
                <a:cs typeface="Gadugi"/>
              </a:rPr>
              <a:t>click</a:t>
            </a:r>
            <a:r>
              <a:rPr lang="es-ES" sz="650" spc="-5" dirty="0">
                <a:solidFill>
                  <a:srgbClr val="505050"/>
                </a:solidFill>
                <a:latin typeface="Gadugi"/>
                <a:cs typeface="Gadugi"/>
              </a:rPr>
              <a:t> en el botón de Unirse para entrar en la reunión. Este botón sólo se activa para las reuniones que se están efectuando en el momento de la consulta del calendario</a:t>
            </a:r>
            <a:endParaRPr lang="es-ES" sz="650" dirty="0">
              <a:latin typeface="Gadugi"/>
              <a:cs typeface="Gadugi"/>
            </a:endParaRPr>
          </a:p>
        </p:txBody>
      </p:sp>
      <p:sp>
        <p:nvSpPr>
          <p:cNvPr id="9" name="Rectangle 8">
            <a:extLst>
              <a:ext uri="{FF2B5EF4-FFF2-40B4-BE49-F238E27FC236}">
                <a16:creationId xmlns:a16="http://schemas.microsoft.com/office/drawing/2014/main" id="{FFDF779A-5829-4D27-9DB2-3BE25CA26790}"/>
              </a:ext>
            </a:extLst>
          </p:cNvPr>
          <p:cNvSpPr/>
          <p:nvPr/>
        </p:nvSpPr>
        <p:spPr>
          <a:xfrm>
            <a:off x="226164" y="7199374"/>
            <a:ext cx="3916393" cy="369332"/>
          </a:xfrm>
          <a:prstGeom prst="rect">
            <a:avLst/>
          </a:prstGeom>
        </p:spPr>
        <p:txBody>
          <a:bodyPr wrap="none">
            <a:spAutoFit/>
          </a:bodyPr>
          <a:lstStyle/>
          <a:p>
            <a:r>
              <a:rPr lang="en-US" spc="-5" dirty="0">
                <a:solidFill>
                  <a:srgbClr val="6264A7"/>
                </a:solidFill>
                <a:latin typeface="Segoe UI Light"/>
                <a:cs typeface="Segoe UI Light"/>
                <a:hlinkClick r:id="rId13"/>
              </a:rPr>
              <a:t>More Info at https://support.office.com</a:t>
            </a:r>
            <a:endParaRPr lang="es-ES" dirty="0"/>
          </a:p>
        </p:txBody>
      </p:sp>
    </p:spTree>
    <p:extLst>
      <p:ext uri="{BB962C8B-B14F-4D97-AF65-F5344CB8AC3E}">
        <p14:creationId xmlns:p14="http://schemas.microsoft.com/office/powerpoint/2010/main" val="4157175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6570" y="1084656"/>
            <a:ext cx="4371963" cy="44307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Seleccione Evento en Directo</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p:txBody>
      </p:sp>
      <p:sp>
        <p:nvSpPr>
          <p:cNvPr id="3" name="object 3"/>
          <p:cNvSpPr txBox="1"/>
          <p:nvPr/>
        </p:nvSpPr>
        <p:spPr>
          <a:xfrm>
            <a:off x="226559" y="1685052"/>
            <a:ext cx="4446905" cy="115929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kumimoji="0" lang="es-ES" sz="900" b="0" i="0" u="none" strike="noStrike" kern="1200" cap="none" spc="0" normalizeH="0" baseline="0" noProof="0" dirty="0">
                <a:ln>
                  <a:noFill/>
                </a:ln>
                <a:solidFill>
                  <a:prstClr val="black"/>
                </a:solidFill>
                <a:effectLst/>
                <a:uLnTx/>
                <a:uFillTx/>
                <a:latin typeface="Gadugi"/>
                <a:ea typeface="+mn-ea"/>
                <a:cs typeface="Gadugi"/>
              </a:rPr>
              <a:t>En el desplegable de Nueva Reunión, seleccione </a:t>
            </a:r>
            <a:r>
              <a:rPr kumimoji="0" lang="es-ES" sz="900" b="1" i="0" u="none" strike="noStrike" kern="1200" cap="none" spc="-5" normalizeH="0" baseline="0" noProof="0" dirty="0">
                <a:ln>
                  <a:noFill/>
                </a:ln>
                <a:solidFill>
                  <a:prstClr val="black"/>
                </a:solidFill>
                <a:effectLst/>
                <a:uLnTx/>
                <a:uFillTx/>
                <a:latin typeface="Gadugi"/>
                <a:ea typeface="+mn-ea"/>
                <a:cs typeface="Gadugi"/>
              </a:rPr>
              <a:t>Evento en Directo </a:t>
            </a:r>
            <a:r>
              <a:rPr kumimoji="0" lang="es-ES" sz="900" b="0" i="0" u="none" strike="noStrike" kern="1200" cap="none" spc="-5" normalizeH="0" baseline="0" noProof="0" dirty="0">
                <a:ln>
                  <a:noFill/>
                </a:ln>
                <a:solidFill>
                  <a:prstClr val="black"/>
                </a:solidFill>
                <a:effectLst/>
                <a:uLnTx/>
                <a:uFillTx/>
                <a:latin typeface="Gadugi"/>
                <a:ea typeface="+mn-ea"/>
                <a:cs typeface="Gadugi"/>
              </a:rPr>
              <a:t>y se abrirá la siguiente ventana. Configure su evento añadiendo el Título; el Horario del Evento y detalles del evento que se publicarán en su calendario</a:t>
            </a:r>
          </a:p>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kumimoji="0" lang="es-ES" sz="900" b="0" i="0" u="none" strike="noStrike" kern="1200" cap="none" spc="-5" normalizeH="0" baseline="0" noProof="0" dirty="0">
                <a:ln>
                  <a:noFill/>
                </a:ln>
                <a:solidFill>
                  <a:prstClr val="black"/>
                </a:solidFill>
                <a:effectLst/>
                <a:uLnTx/>
                <a:uFillTx/>
                <a:latin typeface="Gadugi"/>
                <a:ea typeface="+mn-ea"/>
                <a:cs typeface="Gadugi"/>
              </a:rPr>
              <a:t>Invite a las personas a colaborar en el Evento con los roles de: </a:t>
            </a:r>
          </a:p>
          <a:p>
            <a:pPr marL="1841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tab pos="1865630" algn="l"/>
              </a:tabLst>
              <a:defRPr/>
            </a:pPr>
            <a:r>
              <a:rPr kumimoji="0" lang="es-ES" sz="900" b="1" i="0" u="none" strike="noStrike" kern="1200" cap="none" spc="-5" normalizeH="0" baseline="0" noProof="0" dirty="0">
                <a:ln>
                  <a:noFill/>
                </a:ln>
                <a:solidFill>
                  <a:prstClr val="black"/>
                </a:solidFill>
                <a:effectLst/>
                <a:uLnTx/>
                <a:uFillTx/>
                <a:latin typeface="Gadugi"/>
                <a:ea typeface="+mn-ea"/>
                <a:cs typeface="Gadugi"/>
              </a:rPr>
              <a:t>Presentador</a:t>
            </a:r>
            <a:r>
              <a:rPr kumimoji="0" lang="es-ES" sz="900" b="0" i="0" u="none" strike="noStrike" kern="1200" cap="none" spc="-5" normalizeH="0" baseline="0" noProof="0" dirty="0">
                <a:ln>
                  <a:noFill/>
                </a:ln>
                <a:solidFill>
                  <a:prstClr val="black"/>
                </a:solidFill>
                <a:effectLst/>
                <a:uLnTx/>
                <a:uFillTx/>
                <a:latin typeface="Gadugi"/>
                <a:ea typeface="+mn-ea"/>
                <a:cs typeface="Gadugi"/>
              </a:rPr>
              <a:t>: será el encargado de la realización del evento. Decide y gestiona el contenido a proyectar (puede haber más de uno)</a:t>
            </a:r>
          </a:p>
          <a:p>
            <a:pPr marL="1841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tab pos="1865630" algn="l"/>
              </a:tabLst>
              <a:defRPr/>
            </a:pPr>
            <a:r>
              <a:rPr kumimoji="0" lang="es-ES" sz="900" b="1" i="0" u="none" strike="noStrike" kern="1200" cap="none" spc="-5" normalizeH="0" baseline="0" noProof="0" dirty="0">
                <a:ln>
                  <a:noFill/>
                </a:ln>
                <a:solidFill>
                  <a:prstClr val="black"/>
                </a:solidFill>
                <a:effectLst/>
                <a:uLnTx/>
                <a:uFillTx/>
                <a:latin typeface="Gadugi"/>
                <a:ea typeface="+mn-ea"/>
                <a:cs typeface="Gadugi"/>
              </a:rPr>
              <a:t>Moderador</a:t>
            </a:r>
            <a:r>
              <a:rPr kumimoji="0" lang="es-ES" sz="900" b="0" i="0" u="none" strike="noStrike" kern="1200" cap="none" spc="-5" normalizeH="0" baseline="0" noProof="0" dirty="0">
                <a:ln>
                  <a:noFill/>
                </a:ln>
                <a:solidFill>
                  <a:prstClr val="black"/>
                </a:solidFill>
                <a:effectLst/>
                <a:uLnTx/>
                <a:uFillTx/>
                <a:latin typeface="Gadugi"/>
                <a:ea typeface="+mn-ea"/>
                <a:cs typeface="Gadugi"/>
              </a:rPr>
              <a:t>: participa en el evento con la capacidad de moderar las Q&amp;A (puede haber más de uno)</a:t>
            </a:r>
            <a:endParaRPr kumimoji="0" sz="900" b="0" i="0" u="none" strike="noStrike" kern="1200" cap="none" spc="0" normalizeH="0" baseline="0" noProof="0" dirty="0">
              <a:ln>
                <a:noFill/>
              </a:ln>
              <a:solidFill>
                <a:prstClr val="black"/>
              </a:solidFill>
              <a:effectLst/>
              <a:uLnTx/>
              <a:uFillTx/>
              <a:latin typeface="Gadugi"/>
              <a:ea typeface="+mn-ea"/>
              <a:cs typeface="Gadugi"/>
            </a:endParaRPr>
          </a:p>
        </p:txBody>
      </p:sp>
      <p:sp>
        <p:nvSpPr>
          <p:cNvPr id="4" name="object 4"/>
          <p:cNvSpPr/>
          <p:nvPr/>
        </p:nvSpPr>
        <p:spPr>
          <a:xfrm>
            <a:off x="5012435" y="1231391"/>
            <a:ext cx="0" cy="6172200"/>
          </a:xfrm>
          <a:custGeom>
            <a:avLst/>
            <a:gdLst/>
            <a:ahLst/>
            <a:cxnLst/>
            <a:rect l="l" t="t" r="r" b="b"/>
            <a:pathLst>
              <a:path h="6172200">
                <a:moveTo>
                  <a:pt x="0" y="0"/>
                </a:moveTo>
                <a:lnTo>
                  <a:pt x="0" y="6172200"/>
                </a:lnTo>
              </a:path>
            </a:pathLst>
          </a:custGeom>
          <a:ln w="4572">
            <a:solidFill>
              <a:srgbClr val="50505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226559" y="6172200"/>
            <a:ext cx="4640580" cy="1104790"/>
          </a:xfrm>
          <a:prstGeom prst="rect">
            <a:avLst/>
          </a:prstGeom>
        </p:spPr>
        <p:txBody>
          <a:bodyPr vert="horz" wrap="square" lIns="0" tIns="12065" rIns="0" bIns="0" rtlCol="0">
            <a:spAutoFit/>
          </a:bodyPr>
          <a:lstStyle/>
          <a:p>
            <a:pPr marL="12700" marR="324485" lvl="0" indent="0" algn="l" defTabSz="914400" rtl="0" eaLnBrk="1" fontAlgn="auto" latinLnBrk="0" hangingPunct="1">
              <a:lnSpc>
                <a:spcPct val="100000"/>
              </a:lnSpc>
              <a:spcBef>
                <a:spcPts val="685"/>
              </a:spcBef>
              <a:spcAft>
                <a:spcPts val="0"/>
              </a:spcAft>
              <a:buClrTx/>
              <a:buSzTx/>
              <a:buFontTx/>
              <a:buNone/>
              <a:tabLst>
                <a:tab pos="2318385" algn="l"/>
              </a:tabLst>
              <a:defRPr/>
            </a:pPr>
            <a:r>
              <a:rPr kumimoji="0" lang="es-ES" sz="900" b="0" i="1" u="none" strike="noStrike" kern="1200" cap="none" spc="-5" normalizeH="0" baseline="0" noProof="0" dirty="0">
                <a:ln>
                  <a:noFill/>
                </a:ln>
                <a:solidFill>
                  <a:prstClr val="black"/>
                </a:solidFill>
                <a:effectLst/>
                <a:uLnTx/>
                <a:uFillTx/>
                <a:latin typeface="Segoe UI"/>
                <a:ea typeface="+mn-ea"/>
                <a:cs typeface="Segoe UI"/>
              </a:rPr>
              <a:t>Aunque Ud. esté programando un evento que será emitido sólo para personas que se encuentran en su organización, puede añadir personas con el rol de Presentador o de Moderador, que se encuentren fuera de su organización añadiendo su correo electrónico en las invitaciones. Estas personas deberán tener</a:t>
            </a:r>
            <a:r>
              <a:rPr lang="es-ES" sz="900" i="1" spc="-5" dirty="0">
                <a:solidFill>
                  <a:prstClr val="black"/>
                </a:solidFill>
                <a:latin typeface="Segoe UI"/>
                <a:cs typeface="Segoe UI"/>
              </a:rPr>
              <a:t> acceso al </a:t>
            </a:r>
            <a:r>
              <a:rPr lang="es-ES" sz="900" i="1" spc="-5" dirty="0" err="1">
                <a:solidFill>
                  <a:prstClr val="black"/>
                </a:solidFill>
                <a:latin typeface="Segoe UI"/>
                <a:cs typeface="Segoe UI"/>
              </a:rPr>
              <a:t>tenant</a:t>
            </a:r>
            <a:r>
              <a:rPr lang="es-ES" sz="900" i="1" spc="-5" dirty="0">
                <a:solidFill>
                  <a:prstClr val="black"/>
                </a:solidFill>
                <a:latin typeface="Segoe UI"/>
                <a:cs typeface="Segoe UI"/>
              </a:rPr>
              <a:t> de su Organización para poder acceder al evento. </a:t>
            </a:r>
            <a:endParaRPr kumimoji="0" sz="900" b="0" i="0" u="none" strike="noStrike" kern="1200" cap="none" spc="0" normalizeH="0" baseline="0" noProof="0" dirty="0">
              <a:ln>
                <a:noFill/>
              </a:ln>
              <a:solidFill>
                <a:prstClr val="black"/>
              </a:solidFill>
              <a:effectLst/>
              <a:uLnTx/>
              <a:uFillTx/>
              <a:latin typeface="Gadugi"/>
              <a:ea typeface="+mn-ea"/>
              <a:cs typeface="Gadugi"/>
            </a:endParaRPr>
          </a:p>
          <a:p>
            <a:pPr marL="0" marR="0" lvl="0" indent="0" algn="l" defTabSz="914400" rtl="0" eaLnBrk="1" fontAlgn="auto" latinLnBrk="0" hangingPunct="1">
              <a:lnSpc>
                <a:spcPct val="100000"/>
              </a:lnSpc>
              <a:spcBef>
                <a:spcPts val="15"/>
              </a:spcBef>
              <a:spcAft>
                <a:spcPts val="0"/>
              </a:spcAft>
              <a:buClrTx/>
              <a:buSzTx/>
              <a:buFontTx/>
              <a:buNone/>
              <a:tabLst/>
              <a:defRPr/>
            </a:pPr>
            <a:endParaRPr kumimoji="0" sz="800" b="0" i="0" u="none" strike="noStrike" kern="1200" cap="none" spc="0" normalizeH="0" baseline="0" noProof="0" dirty="0">
              <a:ln>
                <a:noFill/>
              </a:ln>
              <a:solidFill>
                <a:prstClr val="black"/>
              </a:solidFill>
              <a:effectLst/>
              <a:uLnTx/>
              <a:uFillTx/>
              <a:latin typeface="Gadugi"/>
              <a:ea typeface="+mn-ea"/>
              <a:cs typeface="Gadugi"/>
            </a:endParaRPr>
          </a:p>
          <a:p>
            <a:pPr marL="12700" marR="5080" lvl="0" indent="0" algn="l" defTabSz="914400" rtl="0" eaLnBrk="1" fontAlgn="auto" latinLnBrk="0" hangingPunct="1">
              <a:lnSpc>
                <a:spcPct val="100000"/>
              </a:lnSpc>
              <a:spcBef>
                <a:spcPts val="5"/>
              </a:spcBef>
              <a:spcAft>
                <a:spcPts val="0"/>
              </a:spcAft>
              <a:buClrTx/>
              <a:buSzTx/>
              <a:buFontTx/>
              <a:buNone/>
              <a:tabLst>
                <a:tab pos="2955290" algn="l"/>
                <a:tab pos="3740150" algn="l"/>
              </a:tabLst>
              <a:defRPr/>
            </a:pPr>
            <a:r>
              <a:rPr kumimoji="0" lang="es-ES" sz="900" b="0" i="1" u="none" strike="noStrike" kern="1200" cap="none" spc="-5" normalizeH="0" baseline="0" noProof="0" dirty="0">
                <a:ln>
                  <a:noFill/>
                </a:ln>
                <a:solidFill>
                  <a:prstClr val="black"/>
                </a:solidFill>
                <a:effectLst/>
                <a:uLnTx/>
                <a:uFillTx/>
                <a:latin typeface="Segoe UI"/>
                <a:ea typeface="+mn-ea"/>
                <a:cs typeface="Segoe UI"/>
              </a:rPr>
              <a:t>En esta ventana UD. Esta configurando SOLO a los miembros del equipo organizador. Aun no está agregando asistentes al evento. </a:t>
            </a:r>
            <a:r>
              <a:rPr kumimoji="0" sz="900" b="1" i="0" u="none" strike="noStrike" kern="1200" cap="none" spc="-5" normalizeH="0" baseline="0" noProof="0" dirty="0">
                <a:ln>
                  <a:noFill/>
                </a:ln>
                <a:solidFill>
                  <a:prstClr val="black"/>
                </a:solidFill>
                <a:effectLst/>
                <a:uLnTx/>
                <a:uFillTx/>
                <a:latin typeface="Gadugi"/>
                <a:ea typeface="+mn-ea"/>
                <a:cs typeface="Gadugi"/>
              </a:rPr>
              <a:t>	</a:t>
            </a:r>
            <a:r>
              <a:rPr kumimoji="0" sz="900" b="0" i="0" u="none" strike="noStrike" kern="1200" cap="none" spc="0" normalizeH="0" baseline="0" noProof="0" dirty="0">
                <a:ln>
                  <a:noFill/>
                </a:ln>
                <a:solidFill>
                  <a:prstClr val="black"/>
                </a:solidFill>
                <a:effectLst/>
                <a:uLnTx/>
                <a:uFillTx/>
                <a:latin typeface="Gadugi"/>
                <a:ea typeface="+mn-ea"/>
                <a:cs typeface="Gadugi"/>
              </a:rPr>
              <a:t>.</a:t>
            </a:r>
          </a:p>
        </p:txBody>
      </p:sp>
      <p:sp>
        <p:nvSpPr>
          <p:cNvPr id="11" name="object 11"/>
          <p:cNvSpPr/>
          <p:nvPr/>
        </p:nvSpPr>
        <p:spPr>
          <a:xfrm>
            <a:off x="0" y="0"/>
            <a:ext cx="10058400" cy="914400"/>
          </a:xfrm>
          <a:custGeom>
            <a:avLst/>
            <a:gdLst/>
            <a:ahLst/>
            <a:cxnLst/>
            <a:rect l="l" t="t" r="r" b="b"/>
            <a:pathLst>
              <a:path w="10058400" h="914400">
                <a:moveTo>
                  <a:pt x="10058400" y="914400"/>
                </a:moveTo>
                <a:lnTo>
                  <a:pt x="0" y="914400"/>
                </a:lnTo>
                <a:lnTo>
                  <a:pt x="0" y="0"/>
                </a:lnTo>
                <a:lnTo>
                  <a:pt x="10058400" y="0"/>
                </a:lnTo>
                <a:lnTo>
                  <a:pt x="10058400" y="914400"/>
                </a:lnTo>
                <a:close/>
              </a:path>
            </a:pathLst>
          </a:custGeom>
          <a:solidFill>
            <a:srgbClr val="6264A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txBox="1">
            <a:spLocks noGrp="1"/>
          </p:cNvSpPr>
          <p:nvPr>
            <p:ph type="title"/>
          </p:nvPr>
        </p:nvSpPr>
        <p:spPr>
          <a:xfrm>
            <a:off x="226674" y="145891"/>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pic>
        <p:nvPicPr>
          <p:cNvPr id="25" name="Picture 24">
            <a:extLst>
              <a:ext uri="{FF2B5EF4-FFF2-40B4-BE49-F238E27FC236}">
                <a16:creationId xmlns:a16="http://schemas.microsoft.com/office/drawing/2014/main" id="{A37662F3-0D10-4A5F-8AFA-DB547DE2B1DD}"/>
              </a:ext>
            </a:extLst>
          </p:cNvPr>
          <p:cNvPicPr>
            <a:picLocks noChangeAspect="1"/>
          </p:cNvPicPr>
          <p:nvPr/>
        </p:nvPicPr>
        <p:blipFill>
          <a:blip r:embed="rId3"/>
          <a:stretch>
            <a:fillRect/>
          </a:stretch>
        </p:blipFill>
        <p:spPr>
          <a:xfrm>
            <a:off x="228600" y="2971800"/>
            <a:ext cx="4554994" cy="3048000"/>
          </a:xfrm>
          <a:prstGeom prst="rect">
            <a:avLst/>
          </a:prstGeom>
        </p:spPr>
      </p:pic>
      <p:pic>
        <p:nvPicPr>
          <p:cNvPr id="5" name="Picture 4">
            <a:extLst>
              <a:ext uri="{FF2B5EF4-FFF2-40B4-BE49-F238E27FC236}">
                <a16:creationId xmlns:a16="http://schemas.microsoft.com/office/drawing/2014/main" id="{B8BE17BB-8B4C-4C78-8B9F-E6B8E5C22010}"/>
              </a:ext>
            </a:extLst>
          </p:cNvPr>
          <p:cNvPicPr>
            <a:picLocks noChangeAspect="1"/>
          </p:cNvPicPr>
          <p:nvPr/>
        </p:nvPicPr>
        <p:blipFill>
          <a:blip r:embed="rId4"/>
          <a:stretch>
            <a:fillRect/>
          </a:stretch>
        </p:blipFill>
        <p:spPr>
          <a:xfrm>
            <a:off x="5232472" y="1231390"/>
            <a:ext cx="4384080" cy="3035810"/>
          </a:xfrm>
          <a:prstGeom prst="rect">
            <a:avLst/>
          </a:prstGeom>
        </p:spPr>
      </p:pic>
      <p:pic>
        <p:nvPicPr>
          <p:cNvPr id="8" name="Picture 7">
            <a:extLst>
              <a:ext uri="{FF2B5EF4-FFF2-40B4-BE49-F238E27FC236}">
                <a16:creationId xmlns:a16="http://schemas.microsoft.com/office/drawing/2014/main" id="{CA0EFB32-C893-42B9-B980-33E2D3997421}"/>
              </a:ext>
            </a:extLst>
          </p:cNvPr>
          <p:cNvPicPr>
            <a:picLocks noChangeAspect="1"/>
          </p:cNvPicPr>
          <p:nvPr/>
        </p:nvPicPr>
        <p:blipFill>
          <a:blip r:embed="rId5"/>
          <a:stretch>
            <a:fillRect/>
          </a:stretch>
        </p:blipFill>
        <p:spPr>
          <a:xfrm>
            <a:off x="5266456" y="4419600"/>
            <a:ext cx="4384074" cy="2997155"/>
          </a:xfrm>
          <a:prstGeom prst="rect">
            <a:avLst/>
          </a:prstGeom>
        </p:spPr>
      </p:pic>
    </p:spTree>
    <p:extLst>
      <p:ext uri="{BB962C8B-B14F-4D97-AF65-F5344CB8AC3E}">
        <p14:creationId xmlns:p14="http://schemas.microsoft.com/office/powerpoint/2010/main" val="1528002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867400" y="1231391"/>
            <a:ext cx="0" cy="6172200"/>
          </a:xfrm>
          <a:custGeom>
            <a:avLst/>
            <a:gdLst/>
            <a:ahLst/>
            <a:cxnLst/>
            <a:rect l="l" t="t" r="r" b="b"/>
            <a:pathLst>
              <a:path h="6172200">
                <a:moveTo>
                  <a:pt x="0" y="0"/>
                </a:moveTo>
                <a:lnTo>
                  <a:pt x="0" y="6172200"/>
                </a:lnTo>
              </a:path>
            </a:pathLst>
          </a:custGeom>
          <a:ln w="4572">
            <a:solidFill>
              <a:srgbClr val="50505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txBox="1"/>
          <p:nvPr/>
        </p:nvSpPr>
        <p:spPr>
          <a:xfrm>
            <a:off x="226672" y="1100559"/>
            <a:ext cx="5640727" cy="3114186"/>
          </a:xfrm>
          <a:prstGeom prst="rect">
            <a:avLst/>
          </a:prstGeom>
        </p:spPr>
        <p:txBody>
          <a:bodyPr vert="horz" wrap="square" lIns="0" tIns="12065" rIns="0" bIns="0" rtlCol="0">
            <a:spAutoFit/>
          </a:bodyPr>
          <a:lstStyle/>
          <a:p>
            <a:pPr marL="12700" marR="79883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Conceda los permisos al evento</a:t>
            </a: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2800" dirty="0">
              <a:solidFill>
                <a:prstClr val="black"/>
              </a:solidFill>
              <a:latin typeface="Segoe UI Light"/>
              <a:cs typeface="Segoe UI Light"/>
            </a:endParaRPr>
          </a:p>
          <a:p>
            <a:pPr marL="12700" marR="5080" lvl="0" indent="0" algn="l" defTabSz="914400" rtl="0" eaLnBrk="1" fontAlgn="auto" latinLnBrk="0" hangingPunct="1">
              <a:lnSpc>
                <a:spcPts val="1080"/>
              </a:lnSpc>
              <a:spcBef>
                <a:spcPts val="25"/>
              </a:spcBef>
              <a:spcAft>
                <a:spcPts val="0"/>
              </a:spcAft>
              <a:buClrTx/>
              <a:buSzTx/>
              <a:buFontTx/>
              <a:buNone/>
              <a:tabLst/>
              <a:defRPr/>
            </a:pPr>
            <a:r>
              <a:rPr kumimoji="0" lang="es-ES" sz="900" b="0" i="0" u="none" strike="noStrike" kern="1200" cap="none" spc="0" normalizeH="0" baseline="0" noProof="0" dirty="0">
                <a:ln>
                  <a:noFill/>
                </a:ln>
                <a:solidFill>
                  <a:prstClr val="black"/>
                </a:solidFill>
                <a:effectLst/>
                <a:uLnTx/>
                <a:uFillTx/>
                <a:latin typeface="Gadugi"/>
                <a:ea typeface="+mn-ea"/>
                <a:cs typeface="Gadugi"/>
              </a:rPr>
              <a:t>Seleccione Cómo </a:t>
            </a:r>
            <a:r>
              <a:rPr lang="es-ES" sz="900" spc="-5" dirty="0">
                <a:solidFill>
                  <a:prstClr val="black"/>
                </a:solidFill>
                <a:latin typeface="Gadugi"/>
                <a:cs typeface="Gadugi"/>
              </a:rPr>
              <a:t>piensa distribuir en enlace del evento: </a:t>
            </a:r>
          </a:p>
          <a:p>
            <a:pPr marL="12700" marR="5080" lvl="0" indent="0" algn="l" defTabSz="914400" rtl="0" eaLnBrk="1" fontAlgn="auto" latinLnBrk="0" hangingPunct="1">
              <a:lnSpc>
                <a:spcPts val="1080"/>
              </a:lnSpc>
              <a:spcBef>
                <a:spcPts val="25"/>
              </a:spcBef>
              <a:spcAft>
                <a:spcPts val="0"/>
              </a:spcAft>
              <a:buClrTx/>
              <a:buSzTx/>
              <a:buFontTx/>
              <a:buNone/>
              <a:tabLst/>
              <a:defRPr/>
            </a:pPr>
            <a:r>
              <a:rPr kumimoji="0" lang="es-ES" sz="900" b="0" u="sng" strike="noStrike" kern="1200" cap="none" spc="-5" normalizeH="0" baseline="0" noProof="0" dirty="0">
                <a:ln>
                  <a:noFill/>
                </a:ln>
                <a:solidFill>
                  <a:prstClr val="black"/>
                </a:solidFill>
                <a:effectLst/>
                <a:uLnTx/>
                <a:uFillTx/>
                <a:latin typeface="Gadugi"/>
                <a:ea typeface="+mn-ea"/>
                <a:cs typeface="Gadugi"/>
              </a:rPr>
              <a:t>A un grupo de Personas determinadas</a:t>
            </a:r>
            <a:r>
              <a:rPr kumimoji="0" lang="es-ES" sz="900" b="0" i="0" u="none" strike="noStrike" kern="1200" cap="none" spc="-5" normalizeH="0" baseline="0" noProof="0" dirty="0">
                <a:ln>
                  <a:noFill/>
                </a:ln>
                <a:solidFill>
                  <a:prstClr val="black"/>
                </a:solidFill>
                <a:effectLst/>
                <a:uLnTx/>
                <a:uFillTx/>
                <a:latin typeface="Gadugi"/>
                <a:ea typeface="+mn-ea"/>
                <a:cs typeface="Gadugi"/>
              </a:rPr>
              <a:t>: Debe especificar el nombre de cada uno de los participantes</a:t>
            </a: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900" spc="-5" dirty="0">
              <a:solidFill>
                <a:prstClr val="black"/>
              </a:solidFill>
              <a:latin typeface="Gadugi"/>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900" spc="-5" dirty="0">
              <a:solidFill>
                <a:prstClr val="black"/>
              </a:solidFill>
              <a:latin typeface="Gadugi"/>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900" spc="-5" dirty="0">
              <a:solidFill>
                <a:prstClr val="black"/>
              </a:solidFill>
              <a:latin typeface="Gadugi"/>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900" spc="-5" dirty="0">
              <a:solidFill>
                <a:prstClr val="black"/>
              </a:solidFill>
              <a:latin typeface="Gadugi"/>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900" spc="-5" dirty="0">
              <a:solidFill>
                <a:prstClr val="black"/>
              </a:solidFill>
              <a:latin typeface="Gadugi"/>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900" spc="-5" dirty="0">
              <a:solidFill>
                <a:prstClr val="black"/>
              </a:solidFill>
              <a:latin typeface="Gadugi"/>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r>
              <a:rPr lang="es-ES" sz="900" u="sng" spc="-5" dirty="0">
                <a:solidFill>
                  <a:prstClr val="black"/>
                </a:solidFill>
                <a:latin typeface="Gadugi"/>
                <a:cs typeface="Gadugi"/>
              </a:rPr>
              <a:t>A Toda la Organización: </a:t>
            </a:r>
            <a:r>
              <a:rPr lang="es-ES" sz="900" spc="-5" dirty="0">
                <a:solidFill>
                  <a:prstClr val="black"/>
                </a:solidFill>
                <a:latin typeface="Gadugi"/>
                <a:cs typeface="Gadugi"/>
              </a:rPr>
              <a:t>Cualquier persona de la Organización que tenga el link podrá acceder al evento como asistente</a:t>
            </a:r>
          </a:p>
          <a:p>
            <a:pPr marL="12700" marR="5080" lvl="0" indent="0" algn="l" defTabSz="914400" rtl="0" eaLnBrk="1" fontAlgn="auto" latinLnBrk="0" hangingPunct="1">
              <a:lnSpc>
                <a:spcPts val="1080"/>
              </a:lnSpc>
              <a:spcBef>
                <a:spcPts val="25"/>
              </a:spcBef>
              <a:spcAft>
                <a:spcPts val="0"/>
              </a:spcAft>
              <a:buClrTx/>
              <a:buSzTx/>
              <a:buFontTx/>
              <a:buNone/>
              <a:tabLst/>
              <a:defRPr/>
            </a:pPr>
            <a:endParaRPr kumimoji="0" lang="es-ES" sz="900" b="0" i="0" u="sng" strike="noStrike" kern="1200" cap="none" spc="-5" normalizeH="0" baseline="0" noProof="0" dirty="0">
              <a:ln>
                <a:noFill/>
              </a:ln>
              <a:solidFill>
                <a:prstClr val="black"/>
              </a:solidFill>
              <a:effectLst/>
              <a:uLnTx/>
              <a:uFillTx/>
              <a:latin typeface="Gadugi"/>
              <a:ea typeface="+mn-ea"/>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r>
              <a:rPr kumimoji="0" lang="es-ES" sz="900" b="0" i="0" u="sng" strike="noStrike" kern="1200" cap="none" spc="-5" normalizeH="0" baseline="0" noProof="0" dirty="0">
                <a:ln>
                  <a:noFill/>
                </a:ln>
                <a:solidFill>
                  <a:prstClr val="black"/>
                </a:solidFill>
                <a:effectLst/>
                <a:uLnTx/>
                <a:uFillTx/>
                <a:latin typeface="Gadugi"/>
                <a:ea typeface="+mn-ea"/>
                <a:cs typeface="Gadugi"/>
              </a:rPr>
              <a:t>Al Público en general: </a:t>
            </a:r>
            <a:r>
              <a:rPr kumimoji="0" lang="es-ES" sz="900" b="0" i="0" u="none" strike="noStrike" kern="1200" cap="none" spc="-5" normalizeH="0" baseline="0" noProof="0" dirty="0">
                <a:ln>
                  <a:noFill/>
                </a:ln>
                <a:solidFill>
                  <a:prstClr val="black"/>
                </a:solidFill>
                <a:effectLst/>
                <a:uLnTx/>
                <a:uFillTx/>
                <a:latin typeface="Gadugi"/>
                <a:ea typeface="+mn-ea"/>
                <a:cs typeface="Gadugi"/>
              </a:rPr>
              <a:t>Cualquier persona de cualquier Organización que tenga el link podrá acceder al evento como asistente. Tenga en cuenta que en muchas Organizaciones esta opción se encuentra deshabilitada por decisiones</a:t>
            </a:r>
            <a:r>
              <a:rPr lang="es-ES" sz="900" spc="-5" dirty="0">
                <a:solidFill>
                  <a:prstClr val="black"/>
                </a:solidFill>
                <a:latin typeface="Gadugi"/>
                <a:cs typeface="Gadugi"/>
              </a:rPr>
              <a:t>s de TI. </a:t>
            </a:r>
            <a:endParaRPr kumimoji="0" sz="900" b="0" i="0" u="none" strike="noStrike" kern="1200" cap="none" spc="0" normalizeH="0" baseline="0" noProof="0" dirty="0">
              <a:ln>
                <a:noFill/>
              </a:ln>
              <a:solidFill>
                <a:prstClr val="black"/>
              </a:solidFill>
              <a:effectLst/>
              <a:uLnTx/>
              <a:uFillTx/>
              <a:latin typeface="Gadugi"/>
              <a:ea typeface="+mn-ea"/>
              <a:cs typeface="Gadugi"/>
            </a:endParaRPr>
          </a:p>
        </p:txBody>
      </p:sp>
      <p:sp>
        <p:nvSpPr>
          <p:cNvPr id="11" name="object 11"/>
          <p:cNvSpPr/>
          <p:nvPr/>
        </p:nvSpPr>
        <p:spPr>
          <a:xfrm>
            <a:off x="0" y="0"/>
            <a:ext cx="10058400" cy="914400"/>
          </a:xfrm>
          <a:custGeom>
            <a:avLst/>
            <a:gdLst/>
            <a:ahLst/>
            <a:cxnLst/>
            <a:rect l="l" t="t" r="r" b="b"/>
            <a:pathLst>
              <a:path w="10058400" h="914400">
                <a:moveTo>
                  <a:pt x="10058400" y="914400"/>
                </a:moveTo>
                <a:lnTo>
                  <a:pt x="0" y="914400"/>
                </a:lnTo>
                <a:lnTo>
                  <a:pt x="0" y="0"/>
                </a:lnTo>
                <a:lnTo>
                  <a:pt x="10058400" y="0"/>
                </a:lnTo>
                <a:lnTo>
                  <a:pt x="10058400" y="914400"/>
                </a:lnTo>
                <a:close/>
              </a:path>
            </a:pathLst>
          </a:custGeom>
          <a:solidFill>
            <a:srgbClr val="6264A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txBox="1">
            <a:spLocks noGrp="1"/>
          </p:cNvSpPr>
          <p:nvPr>
            <p:ph type="title"/>
          </p:nvPr>
        </p:nvSpPr>
        <p:spPr>
          <a:xfrm>
            <a:off x="226674" y="145891"/>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pic>
        <p:nvPicPr>
          <p:cNvPr id="29" name="Picture 28">
            <a:extLst>
              <a:ext uri="{FF2B5EF4-FFF2-40B4-BE49-F238E27FC236}">
                <a16:creationId xmlns:a16="http://schemas.microsoft.com/office/drawing/2014/main" id="{3C9C2C47-E0CA-481D-8FBF-C8448FFC9A2F}"/>
              </a:ext>
            </a:extLst>
          </p:cNvPr>
          <p:cNvPicPr>
            <a:picLocks noChangeAspect="1"/>
          </p:cNvPicPr>
          <p:nvPr/>
        </p:nvPicPr>
        <p:blipFill>
          <a:blip r:embed="rId3"/>
          <a:stretch>
            <a:fillRect/>
          </a:stretch>
        </p:blipFill>
        <p:spPr>
          <a:xfrm>
            <a:off x="6048828" y="936171"/>
            <a:ext cx="3657595" cy="6531180"/>
          </a:xfrm>
          <a:prstGeom prst="rect">
            <a:avLst/>
          </a:prstGeom>
        </p:spPr>
      </p:pic>
      <p:pic>
        <p:nvPicPr>
          <p:cNvPr id="34" name="Picture 33">
            <a:extLst>
              <a:ext uri="{FF2B5EF4-FFF2-40B4-BE49-F238E27FC236}">
                <a16:creationId xmlns:a16="http://schemas.microsoft.com/office/drawing/2014/main" id="{D172C9C8-70EC-4658-A05D-9F4F42167AB0}"/>
              </a:ext>
            </a:extLst>
          </p:cNvPr>
          <p:cNvPicPr>
            <a:picLocks noChangeAspect="1"/>
          </p:cNvPicPr>
          <p:nvPr/>
        </p:nvPicPr>
        <p:blipFill>
          <a:blip r:embed="rId4"/>
          <a:stretch>
            <a:fillRect/>
          </a:stretch>
        </p:blipFill>
        <p:spPr>
          <a:xfrm>
            <a:off x="457200" y="2057400"/>
            <a:ext cx="4267200" cy="1182146"/>
          </a:xfrm>
          <a:prstGeom prst="rect">
            <a:avLst/>
          </a:prstGeom>
        </p:spPr>
      </p:pic>
      <p:sp>
        <p:nvSpPr>
          <p:cNvPr id="35" name="object 4">
            <a:extLst>
              <a:ext uri="{FF2B5EF4-FFF2-40B4-BE49-F238E27FC236}">
                <a16:creationId xmlns:a16="http://schemas.microsoft.com/office/drawing/2014/main" id="{E254F073-E1E1-4EEB-A690-BEF92379D03C}"/>
              </a:ext>
            </a:extLst>
          </p:cNvPr>
          <p:cNvSpPr/>
          <p:nvPr/>
        </p:nvSpPr>
        <p:spPr>
          <a:xfrm rot="16200000" flipH="1">
            <a:off x="2921827" y="2297873"/>
            <a:ext cx="61845" cy="4152900"/>
          </a:xfrm>
          <a:custGeom>
            <a:avLst/>
            <a:gdLst/>
            <a:ahLst/>
            <a:cxnLst/>
            <a:rect l="l" t="t" r="r" b="b"/>
            <a:pathLst>
              <a:path h="6172200">
                <a:moveTo>
                  <a:pt x="0" y="0"/>
                </a:moveTo>
                <a:lnTo>
                  <a:pt x="0" y="6172200"/>
                </a:lnTo>
              </a:path>
            </a:pathLst>
          </a:custGeom>
          <a:ln w="4572">
            <a:solidFill>
              <a:srgbClr val="50505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5">
            <a:extLst>
              <a:ext uri="{FF2B5EF4-FFF2-40B4-BE49-F238E27FC236}">
                <a16:creationId xmlns:a16="http://schemas.microsoft.com/office/drawing/2014/main" id="{C2CF318C-D001-42D8-9193-316C718347C6}"/>
              </a:ext>
            </a:extLst>
          </p:cNvPr>
          <p:cNvSpPr txBox="1"/>
          <p:nvPr/>
        </p:nvSpPr>
        <p:spPr>
          <a:xfrm>
            <a:off x="150473" y="4495800"/>
            <a:ext cx="5640727" cy="2973122"/>
          </a:xfrm>
          <a:prstGeom prst="rect">
            <a:avLst/>
          </a:prstGeom>
        </p:spPr>
        <p:txBody>
          <a:bodyPr vert="horz" wrap="square" lIns="0" tIns="12065" rIns="0" bIns="0" rtlCol="0">
            <a:spAutoFit/>
          </a:bodyPr>
          <a:lstStyle/>
          <a:p>
            <a:pPr marL="12700" marR="79883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Configure el resto de opciones</a:t>
            </a: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2800" dirty="0">
              <a:solidFill>
                <a:prstClr val="black"/>
              </a:solidFill>
              <a:latin typeface="Segoe UI Light"/>
              <a:cs typeface="Segoe UI Light"/>
            </a:endParaRPr>
          </a:p>
          <a:p>
            <a:pPr marL="12700" marR="5080" lvl="0" indent="0" algn="l" defTabSz="914400" rtl="0" eaLnBrk="1" fontAlgn="auto" latinLnBrk="0" hangingPunct="1">
              <a:lnSpc>
                <a:spcPts val="1080"/>
              </a:lnSpc>
              <a:spcBef>
                <a:spcPts val="25"/>
              </a:spcBef>
              <a:spcAft>
                <a:spcPts val="0"/>
              </a:spcAft>
              <a:buClrTx/>
              <a:buSzTx/>
              <a:buFontTx/>
              <a:buNone/>
              <a:tabLst/>
              <a:defRPr/>
            </a:pPr>
            <a:r>
              <a:rPr kumimoji="0" lang="es-ES" sz="900" b="0" i="0" u="sng" strike="noStrike" kern="1200" cap="none" spc="0" normalizeH="0" baseline="0" noProof="0" dirty="0">
                <a:ln>
                  <a:noFill/>
                </a:ln>
                <a:solidFill>
                  <a:prstClr val="black"/>
                </a:solidFill>
                <a:effectLst/>
                <a:uLnTx/>
                <a:uFillTx/>
                <a:latin typeface="Gadugi"/>
                <a:ea typeface="+mn-ea"/>
                <a:cs typeface="Gadugi"/>
              </a:rPr>
              <a:t>Habilite la Grabación para los asistentes</a:t>
            </a:r>
            <a:r>
              <a:rPr kumimoji="0" lang="es-ES" sz="900" b="0" i="0" u="none" strike="noStrike" kern="1200" cap="none" spc="-5" normalizeH="0" baseline="0" noProof="0" dirty="0">
                <a:ln>
                  <a:noFill/>
                </a:ln>
                <a:solidFill>
                  <a:prstClr val="black"/>
                </a:solidFill>
                <a:effectLst/>
                <a:uLnTx/>
                <a:uFillTx/>
                <a:latin typeface="Gadugi"/>
                <a:ea typeface="+mn-ea"/>
                <a:cs typeface="Gadugi"/>
              </a:rPr>
              <a:t>: El evento en directo se grabará para que los asistentes puedan verlo más tarde. </a:t>
            </a:r>
          </a:p>
          <a:p>
            <a:pPr marL="12700" marR="5080" lvl="0" indent="0" algn="l" defTabSz="914400" rtl="0" eaLnBrk="1" fontAlgn="auto" latinLnBrk="0" hangingPunct="1">
              <a:lnSpc>
                <a:spcPts val="1080"/>
              </a:lnSpc>
              <a:spcBef>
                <a:spcPts val="25"/>
              </a:spcBef>
              <a:spcAft>
                <a:spcPts val="0"/>
              </a:spcAft>
              <a:buClrTx/>
              <a:buSzTx/>
              <a:buFontTx/>
              <a:buNone/>
              <a:tabLst/>
              <a:defRPr/>
            </a:pPr>
            <a:endParaRPr lang="es-ES" sz="900" spc="-5" dirty="0">
              <a:solidFill>
                <a:prstClr val="black"/>
              </a:solidFill>
              <a:latin typeface="Gadugi"/>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r>
              <a:rPr lang="es-ES" sz="900" u="sng" spc="-5" dirty="0">
                <a:solidFill>
                  <a:prstClr val="black"/>
                </a:solidFill>
                <a:latin typeface="Gadugi"/>
                <a:cs typeface="Gadugi"/>
              </a:rPr>
              <a:t>Habilite el Informe de Contratación de Asistentes:</a:t>
            </a:r>
            <a:r>
              <a:rPr lang="es-ES" sz="900" spc="-5" dirty="0">
                <a:solidFill>
                  <a:prstClr val="black"/>
                </a:solidFill>
                <a:latin typeface="Gadugi"/>
                <a:cs typeface="Gadugi"/>
              </a:rPr>
              <a:t> Al finalizar el evento, el productor del evento podrá descargar un fichero con el detalle de los asistentes al evento. </a:t>
            </a:r>
          </a:p>
          <a:p>
            <a:pPr marL="12700" marR="5080" lvl="0" indent="0" algn="l" defTabSz="914400" rtl="0" eaLnBrk="1" fontAlgn="auto" latinLnBrk="0" hangingPunct="1">
              <a:lnSpc>
                <a:spcPts val="1080"/>
              </a:lnSpc>
              <a:spcBef>
                <a:spcPts val="25"/>
              </a:spcBef>
              <a:spcAft>
                <a:spcPts val="0"/>
              </a:spcAft>
              <a:buClrTx/>
              <a:buSzTx/>
              <a:buFontTx/>
              <a:buNone/>
              <a:tabLst/>
              <a:defRPr/>
            </a:pPr>
            <a:endParaRPr kumimoji="0" lang="es-ES" sz="900" b="0" i="0" u="sng" strike="noStrike" kern="1200" cap="none" spc="-5" normalizeH="0" baseline="0" noProof="0" dirty="0">
              <a:ln>
                <a:noFill/>
              </a:ln>
              <a:solidFill>
                <a:prstClr val="black"/>
              </a:solidFill>
              <a:effectLst/>
              <a:uLnTx/>
              <a:uFillTx/>
              <a:latin typeface="Gadugi"/>
              <a:ea typeface="+mn-ea"/>
              <a:cs typeface="Gadugi"/>
            </a:endParaRPr>
          </a:p>
          <a:p>
            <a:pPr marL="12700" marR="5080" lvl="0" indent="0" algn="l" defTabSz="914400" rtl="0" eaLnBrk="1" fontAlgn="auto" latinLnBrk="0" hangingPunct="1">
              <a:lnSpc>
                <a:spcPts val="1080"/>
              </a:lnSpc>
              <a:spcBef>
                <a:spcPts val="25"/>
              </a:spcBef>
              <a:spcAft>
                <a:spcPts val="0"/>
              </a:spcAft>
              <a:buClrTx/>
              <a:buSzTx/>
              <a:buFontTx/>
              <a:buNone/>
              <a:tabLst/>
              <a:defRPr/>
            </a:pPr>
            <a:r>
              <a:rPr kumimoji="0" lang="es-ES" sz="900" b="0" i="0" u="sng" strike="noStrike" kern="1200" cap="none" spc="-5" normalizeH="0" baseline="0" noProof="0" dirty="0">
                <a:ln>
                  <a:noFill/>
                </a:ln>
                <a:solidFill>
                  <a:prstClr val="black"/>
                </a:solidFill>
                <a:effectLst/>
                <a:uLnTx/>
                <a:uFillTx/>
                <a:latin typeface="Gadugi"/>
                <a:ea typeface="+mn-ea"/>
                <a:cs typeface="Gadugi"/>
              </a:rPr>
              <a:t>Habilite las Preguntas y Respuestas:</a:t>
            </a:r>
            <a:r>
              <a:rPr kumimoji="0" lang="es-ES" sz="900" b="0" i="0" strike="noStrike" kern="1200" cap="none" spc="-5" normalizeH="0" baseline="0" noProof="0" dirty="0">
                <a:ln>
                  <a:noFill/>
                </a:ln>
                <a:solidFill>
                  <a:prstClr val="black"/>
                </a:solidFill>
                <a:effectLst/>
                <a:uLnTx/>
                <a:uFillTx/>
                <a:latin typeface="Gadugi"/>
                <a:ea typeface="+mn-ea"/>
                <a:cs typeface="Gadugi"/>
              </a:rPr>
              <a:t> </a:t>
            </a:r>
            <a:r>
              <a:rPr kumimoji="0" lang="es-ES" sz="900" b="0" i="0" u="none" strike="noStrike" kern="1200" cap="none" spc="-5" normalizeH="0" baseline="0" noProof="0" dirty="0">
                <a:ln>
                  <a:noFill/>
                </a:ln>
                <a:solidFill>
                  <a:prstClr val="black"/>
                </a:solidFill>
                <a:effectLst/>
                <a:uLnTx/>
                <a:uFillTx/>
                <a:latin typeface="Gadugi"/>
                <a:ea typeface="+mn-ea"/>
                <a:cs typeface="Gadugi"/>
              </a:rPr>
              <a:t>De esta forma, los asistentes podrán interactuar en el evento a través de una ventana de Preguntas y Respuestas que el Moderador podrá ir contestando a lo largo del evento. Recuerde que para los roles de Moderador y Presentador, además de este componente, siempre estará habilitada una ventana de Chat que no será visible para los asistentes. </a:t>
            </a:r>
            <a:r>
              <a:rPr lang="es-ES" sz="900" spc="-5" dirty="0">
                <a:solidFill>
                  <a:prstClr val="black"/>
                </a:solidFill>
                <a:latin typeface="Gadugi"/>
                <a:cs typeface="Gadugi"/>
              </a:rPr>
              <a:t> </a:t>
            </a:r>
          </a:p>
          <a:p>
            <a:pPr marL="12700" marR="5080" lvl="0" indent="0" algn="l" defTabSz="914400" rtl="0" eaLnBrk="1" fontAlgn="auto" latinLnBrk="0" hangingPunct="1">
              <a:lnSpc>
                <a:spcPts val="1080"/>
              </a:lnSpc>
              <a:spcBef>
                <a:spcPts val="25"/>
              </a:spcBef>
              <a:spcAft>
                <a:spcPts val="0"/>
              </a:spcAft>
              <a:buClrTx/>
              <a:buSzTx/>
              <a:buFontTx/>
              <a:buNone/>
              <a:tabLst/>
              <a:defRPr/>
            </a:pP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a:p>
            <a:pPr marL="12700" marR="5080" lvl="0">
              <a:lnSpc>
                <a:spcPts val="1080"/>
              </a:lnSpc>
              <a:spcBef>
                <a:spcPts val="25"/>
              </a:spcBef>
            </a:pPr>
            <a:r>
              <a:rPr lang="es-ES" sz="900" u="sng" spc="-5" dirty="0">
                <a:solidFill>
                  <a:prstClr val="black"/>
                </a:solidFill>
                <a:latin typeface="Gadugi"/>
              </a:rPr>
              <a:t>Seleccione una Aplicación o Dispositivo Externo (si aplica)</a:t>
            </a:r>
            <a:r>
              <a:rPr lang="es-ES" sz="900" spc="-5" dirty="0">
                <a:solidFill>
                  <a:prstClr val="black"/>
                </a:solidFill>
                <a:latin typeface="Gadugi"/>
              </a:rPr>
              <a:t>: En un evento de Teams Live, puede transmitir vídeo desde un codificador externo a Microsoft Stream si su codificador admite el protocolo de mensajería en tiempo real (RTMP). Si necesita algunas sugerencias para configurar los codificadores externos, vea </a:t>
            </a:r>
            <a:r>
              <a:rPr lang="es-ES" sz="900" dirty="0">
                <a:hlinkClick r:id="rId5"/>
              </a:rPr>
              <a:t>esta lista de codificadores compatibles</a:t>
            </a:r>
            <a:r>
              <a:rPr lang="es-ES" sz="900" dirty="0"/>
              <a:t>. </a:t>
            </a:r>
          </a:p>
          <a:p>
            <a:pPr marL="12700" marR="5080" lvl="0">
              <a:lnSpc>
                <a:spcPts val="1080"/>
              </a:lnSpc>
              <a:spcBef>
                <a:spcPts val="25"/>
              </a:spcBef>
            </a:pPr>
            <a:endParaRPr kumimoji="0" lang="es-ES" sz="900" b="0" i="0" u="none" strike="noStrike" kern="1200" cap="none" spc="0" normalizeH="0" baseline="0" noProof="0" dirty="0">
              <a:ln>
                <a:noFill/>
              </a:ln>
              <a:solidFill>
                <a:prstClr val="black"/>
              </a:solidFill>
              <a:effectLst/>
              <a:uLnTx/>
              <a:uFillTx/>
              <a:latin typeface="Gadugi"/>
              <a:ea typeface="+mn-ea"/>
              <a:cs typeface="Gadugi"/>
            </a:endParaRPr>
          </a:p>
          <a:p>
            <a:pPr marL="12700" marR="5080" lvl="0">
              <a:lnSpc>
                <a:spcPts val="1080"/>
              </a:lnSpc>
              <a:spcBef>
                <a:spcPts val="25"/>
              </a:spcBef>
            </a:pPr>
            <a:r>
              <a:rPr lang="es-ES" sz="900" dirty="0">
                <a:solidFill>
                  <a:prstClr val="black"/>
                </a:solidFill>
                <a:latin typeface="Gadugi"/>
                <a:cs typeface="Gadugi"/>
              </a:rPr>
              <a:t>Especifique una URL para el soporte técnico en caso de necesidad. </a:t>
            </a:r>
            <a:endParaRPr kumimoji="0" sz="900" b="0" i="0" u="none" strike="noStrike" kern="1200" cap="none" spc="0" normalizeH="0" baseline="0" noProof="0" dirty="0">
              <a:ln>
                <a:noFill/>
              </a:ln>
              <a:solidFill>
                <a:prstClr val="black"/>
              </a:solidFill>
              <a:effectLst/>
              <a:uLnTx/>
              <a:uFillTx/>
              <a:latin typeface="Gadugi"/>
              <a:ea typeface="+mn-ea"/>
              <a:cs typeface="Gadugi"/>
            </a:endParaRPr>
          </a:p>
        </p:txBody>
      </p:sp>
    </p:spTree>
    <p:extLst>
      <p:ext uri="{BB962C8B-B14F-4D97-AF65-F5344CB8AC3E}">
        <p14:creationId xmlns:p14="http://schemas.microsoft.com/office/powerpoint/2010/main" val="1457903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012435" y="1231391"/>
            <a:ext cx="0" cy="6172200"/>
          </a:xfrm>
          <a:custGeom>
            <a:avLst/>
            <a:gdLst/>
            <a:ahLst/>
            <a:cxnLst/>
            <a:rect l="l" t="t" r="r" b="b"/>
            <a:pathLst>
              <a:path h="6172200">
                <a:moveTo>
                  <a:pt x="0" y="0"/>
                </a:moveTo>
                <a:lnTo>
                  <a:pt x="0" y="6172200"/>
                </a:lnTo>
              </a:path>
            </a:pathLst>
          </a:custGeom>
          <a:ln w="4572">
            <a:solidFill>
              <a:srgbClr val="50505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p:nvPr/>
        </p:nvSpPr>
        <p:spPr>
          <a:xfrm>
            <a:off x="0" y="0"/>
            <a:ext cx="10058400" cy="914400"/>
          </a:xfrm>
          <a:custGeom>
            <a:avLst/>
            <a:gdLst/>
            <a:ahLst/>
            <a:cxnLst/>
            <a:rect l="l" t="t" r="r" b="b"/>
            <a:pathLst>
              <a:path w="10058400" h="914400">
                <a:moveTo>
                  <a:pt x="10058400" y="914400"/>
                </a:moveTo>
                <a:lnTo>
                  <a:pt x="0" y="914400"/>
                </a:lnTo>
                <a:lnTo>
                  <a:pt x="0" y="0"/>
                </a:lnTo>
                <a:lnTo>
                  <a:pt x="10058400" y="0"/>
                </a:lnTo>
                <a:lnTo>
                  <a:pt x="10058400" y="914400"/>
                </a:lnTo>
                <a:close/>
              </a:path>
            </a:pathLst>
          </a:custGeom>
          <a:solidFill>
            <a:srgbClr val="6264A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txBox="1">
            <a:spLocks noGrp="1"/>
          </p:cNvSpPr>
          <p:nvPr>
            <p:ph type="title"/>
          </p:nvPr>
        </p:nvSpPr>
        <p:spPr>
          <a:xfrm>
            <a:off x="226674" y="145891"/>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13" name="object 2">
            <a:extLst>
              <a:ext uri="{FF2B5EF4-FFF2-40B4-BE49-F238E27FC236}">
                <a16:creationId xmlns:a16="http://schemas.microsoft.com/office/drawing/2014/main" id="{33F09F05-3A41-4A7D-904C-7612E1C37165}"/>
              </a:ext>
            </a:extLst>
          </p:cNvPr>
          <p:cNvSpPr txBox="1"/>
          <p:nvPr/>
        </p:nvSpPr>
        <p:spPr>
          <a:xfrm>
            <a:off x="5157732" y="1084656"/>
            <a:ext cx="4371963" cy="873957"/>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Obtenga el enlace para los asistentes </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p:txBody>
      </p:sp>
      <p:pic>
        <p:nvPicPr>
          <p:cNvPr id="8" name="Picture 7">
            <a:extLst>
              <a:ext uri="{FF2B5EF4-FFF2-40B4-BE49-F238E27FC236}">
                <a16:creationId xmlns:a16="http://schemas.microsoft.com/office/drawing/2014/main" id="{5FCEFDBE-68BF-4E3C-85AB-9283032CF121}"/>
              </a:ext>
            </a:extLst>
          </p:cNvPr>
          <p:cNvPicPr>
            <a:picLocks noChangeAspect="1"/>
          </p:cNvPicPr>
          <p:nvPr/>
        </p:nvPicPr>
        <p:blipFill>
          <a:blip r:embed="rId3"/>
          <a:stretch>
            <a:fillRect/>
          </a:stretch>
        </p:blipFill>
        <p:spPr>
          <a:xfrm>
            <a:off x="5168010" y="3075610"/>
            <a:ext cx="4662108" cy="4327981"/>
          </a:xfrm>
          <a:prstGeom prst="rect">
            <a:avLst/>
          </a:prstGeom>
        </p:spPr>
      </p:pic>
      <p:sp>
        <p:nvSpPr>
          <p:cNvPr id="14" name="object 3">
            <a:extLst>
              <a:ext uri="{FF2B5EF4-FFF2-40B4-BE49-F238E27FC236}">
                <a16:creationId xmlns:a16="http://schemas.microsoft.com/office/drawing/2014/main" id="{3CD62A09-116A-4249-88D6-AB352A85F6FE}"/>
              </a:ext>
            </a:extLst>
          </p:cNvPr>
          <p:cNvSpPr txBox="1"/>
          <p:nvPr/>
        </p:nvSpPr>
        <p:spPr>
          <a:xfrm>
            <a:off x="5181600" y="1964908"/>
            <a:ext cx="4446905" cy="1007968"/>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kumimoji="0" lang="es-ES" sz="900" b="0" i="0" u="none" strike="noStrike" kern="1200" cap="none" spc="0" normalizeH="0" baseline="0" noProof="0" dirty="0">
                <a:ln>
                  <a:noFill/>
                </a:ln>
                <a:solidFill>
                  <a:prstClr val="black"/>
                </a:solidFill>
                <a:effectLst/>
                <a:uLnTx/>
                <a:uFillTx/>
                <a:latin typeface="Gadugi"/>
                <a:ea typeface="+mn-ea"/>
                <a:cs typeface="Gadugi"/>
              </a:rPr>
              <a:t>Obtenga el enlace o vínculo para enviar a los asistentes al evento. Seleccione la mejor manera de socializar el enlace: Comunicación directa vía email, N</a:t>
            </a:r>
            <a:r>
              <a:rPr kumimoji="0" lang="es-ES" sz="900" b="0" i="0" u="none" strike="noStrike" kern="1200" cap="none" spc="0" normalizeH="0" baseline="0" noProof="0" dirty="0" err="1">
                <a:ln>
                  <a:noFill/>
                </a:ln>
                <a:solidFill>
                  <a:prstClr val="black"/>
                </a:solidFill>
                <a:effectLst/>
                <a:uLnTx/>
                <a:uFillTx/>
                <a:latin typeface="Gadugi"/>
                <a:ea typeface="+mn-ea"/>
                <a:cs typeface="Gadugi"/>
              </a:rPr>
              <a:t>ewsletter</a:t>
            </a:r>
            <a:r>
              <a:rPr kumimoji="0" lang="es-ES" sz="900" b="0" i="0" u="none" strike="noStrike" kern="1200" cap="none" spc="0" normalizeH="0" baseline="0" noProof="0" dirty="0">
                <a:ln>
                  <a:noFill/>
                </a:ln>
                <a:solidFill>
                  <a:prstClr val="black"/>
                </a:solidFill>
                <a:effectLst/>
                <a:uLnTx/>
                <a:uFillTx/>
                <a:latin typeface="Gadugi"/>
                <a:ea typeface="+mn-ea"/>
                <a:cs typeface="Gadugi"/>
              </a:rPr>
              <a:t>, sitio de SharePoint Online, etc. </a:t>
            </a:r>
          </a:p>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endParaRPr kumimoji="0" lang="es-ES" sz="900" b="0" i="0" u="none" strike="noStrike" kern="1200" cap="none" spc="0" normalizeH="0" baseline="0" noProof="0" dirty="0">
              <a:ln>
                <a:noFill/>
              </a:ln>
              <a:solidFill>
                <a:prstClr val="black"/>
              </a:solidFill>
              <a:effectLst/>
              <a:uLnTx/>
              <a:uFillTx/>
              <a:latin typeface="Gadugi"/>
              <a:ea typeface="+mn-ea"/>
              <a:cs typeface="Gadugi"/>
            </a:endParaRPr>
          </a:p>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kumimoji="0" lang="es-ES" sz="900" b="0" i="0" u="none" strike="noStrike" kern="1200" cap="none" spc="0" normalizeH="0" baseline="0" noProof="0" dirty="0">
                <a:ln>
                  <a:noFill/>
                </a:ln>
                <a:solidFill>
                  <a:prstClr val="black"/>
                </a:solidFill>
                <a:effectLst/>
                <a:uLnTx/>
                <a:uFillTx/>
                <a:latin typeface="Gadugi"/>
                <a:ea typeface="+mn-ea"/>
                <a:cs typeface="Gadugi"/>
              </a:rPr>
              <a:t>Presione el botón Cerrar para programar el evento. Los Productores y Moderadores recibirán una invitación en sus correos electrónicos con en enlace sólo válido para el Productor / Moderador del evento. No reenvíe este enlace. </a:t>
            </a: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p:txBody>
      </p:sp>
      <p:pic>
        <p:nvPicPr>
          <p:cNvPr id="2" name="Picture 1">
            <a:extLst>
              <a:ext uri="{FF2B5EF4-FFF2-40B4-BE49-F238E27FC236}">
                <a16:creationId xmlns:a16="http://schemas.microsoft.com/office/drawing/2014/main" id="{2E98A63D-8E5B-4E81-817A-C5418C33D58A}"/>
              </a:ext>
            </a:extLst>
          </p:cNvPr>
          <p:cNvPicPr>
            <a:picLocks noChangeAspect="1"/>
          </p:cNvPicPr>
          <p:nvPr/>
        </p:nvPicPr>
        <p:blipFill>
          <a:blip r:embed="rId4"/>
          <a:stretch>
            <a:fillRect/>
          </a:stretch>
        </p:blipFill>
        <p:spPr>
          <a:xfrm>
            <a:off x="609600" y="1231391"/>
            <a:ext cx="3750906" cy="6172200"/>
          </a:xfrm>
          <a:prstGeom prst="rect">
            <a:avLst/>
          </a:prstGeom>
        </p:spPr>
      </p:pic>
    </p:spTree>
    <p:extLst>
      <p:ext uri="{BB962C8B-B14F-4D97-AF65-F5344CB8AC3E}">
        <p14:creationId xmlns:p14="http://schemas.microsoft.com/office/powerpoint/2010/main" val="244308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476757" y="2846456"/>
            <a:ext cx="6864712" cy="396771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351C492F-551C-4F3D-B100-00FC5EBC5767}"/>
              </a:ext>
            </a:extLst>
          </p:cNvPr>
          <p:cNvPicPr>
            <a:picLocks noChangeAspect="1"/>
          </p:cNvPicPr>
          <p:nvPr/>
        </p:nvPicPr>
        <p:blipFill>
          <a:blip r:embed="rId4"/>
          <a:stretch>
            <a:fillRect/>
          </a:stretch>
        </p:blipFill>
        <p:spPr>
          <a:xfrm>
            <a:off x="1571529" y="2928300"/>
            <a:ext cx="6750645" cy="3802881"/>
          </a:xfrm>
          <a:prstGeom prst="rect">
            <a:avLst/>
          </a:prstGeom>
        </p:spPr>
      </p:pic>
      <p:sp>
        <p:nvSpPr>
          <p:cNvPr id="2" name="object 2"/>
          <p:cNvSpPr txBox="1"/>
          <p:nvPr/>
        </p:nvSpPr>
        <p:spPr>
          <a:xfrm>
            <a:off x="257010" y="979896"/>
            <a:ext cx="9648990" cy="1254831"/>
          </a:xfrm>
          <a:prstGeom prst="rect">
            <a:avLst/>
          </a:prstGeom>
        </p:spPr>
        <p:txBody>
          <a:bodyPr vert="horz" wrap="square" lIns="0" tIns="158115" rIns="0" bIns="0" rtlCol="0">
            <a:spAutoFit/>
          </a:bodyPr>
          <a:lstStyle/>
          <a:p>
            <a:pPr marL="12700" marR="0" lvl="0" indent="0" algn="l" defTabSz="914400" rtl="0" eaLnBrk="1" fontAlgn="auto" latinLnBrk="0" hangingPunct="1">
              <a:lnSpc>
                <a:spcPct val="100000"/>
              </a:lnSpc>
              <a:spcBef>
                <a:spcPts val="124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Vista del Presentador</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a:p>
            <a:pPr marL="12700" marR="0" lvl="0" indent="0" algn="l" defTabSz="914400" rtl="0" eaLnBrk="1" fontAlgn="auto" latinLnBrk="0" hangingPunct="1">
              <a:lnSpc>
                <a:spcPct val="100000"/>
              </a:lnSpc>
              <a:spcBef>
                <a:spcPts val="525"/>
              </a:spcBef>
              <a:spcAft>
                <a:spcPts val="0"/>
              </a:spcAft>
              <a:buClrTx/>
              <a:buSzTx/>
              <a:buFontTx/>
              <a:buNone/>
              <a:tabLst/>
              <a:defRPr/>
            </a:pPr>
            <a:r>
              <a:rPr kumimoji="0" lang="es-ES" sz="1300" b="0" i="0" u="none" strike="noStrike" kern="1200" cap="none" spc="-10" normalizeH="0" baseline="0" noProof="0" dirty="0">
                <a:ln>
                  <a:noFill/>
                </a:ln>
                <a:solidFill>
                  <a:srgbClr val="505050"/>
                </a:solidFill>
                <a:effectLst/>
                <a:uLnTx/>
                <a:uFillTx/>
                <a:latin typeface="Gadugi"/>
                <a:ea typeface="+mn-ea"/>
                <a:cs typeface="+mn-cs"/>
              </a:rPr>
              <a:t>El rol de Presentador dispone de 2 pantallas, una de </a:t>
            </a:r>
            <a:r>
              <a:rPr kumimoji="0" lang="es-ES" sz="1300" b="0" i="0" u="none" strike="noStrike" kern="1200" cap="none" spc="-10" normalizeH="0" baseline="0" noProof="0" dirty="0" err="1">
                <a:ln>
                  <a:noFill/>
                </a:ln>
                <a:solidFill>
                  <a:srgbClr val="505050"/>
                </a:solidFill>
                <a:effectLst/>
                <a:uLnTx/>
                <a:uFillTx/>
                <a:latin typeface="Gadugi"/>
                <a:ea typeface="+mn-ea"/>
                <a:cs typeface="+mn-cs"/>
              </a:rPr>
              <a:t>Pre-producción</a:t>
            </a:r>
            <a:r>
              <a:rPr kumimoji="0" lang="es-ES" sz="1300" b="0" i="0" u="none" strike="noStrike" kern="1200" cap="none" spc="-10" normalizeH="0" baseline="0" noProof="0" dirty="0">
                <a:ln>
                  <a:noFill/>
                </a:ln>
                <a:solidFill>
                  <a:srgbClr val="505050"/>
                </a:solidFill>
                <a:effectLst/>
                <a:uLnTx/>
                <a:uFillTx/>
                <a:latin typeface="Gadugi"/>
                <a:ea typeface="+mn-ea"/>
                <a:cs typeface="+mn-cs"/>
              </a:rPr>
              <a:t> o otra de Evento en Vivo.  participa en el evento con la capacidad de moderar las Q&amp;A (puede haber más de un moderador invitado al evento. Los moderadores y presentadores tienen acceso a un Chat Privado para comentar manteniendo la confidencialidad durante la emisión del evento</a:t>
            </a:r>
            <a:endParaRPr kumimoji="0" sz="1300" b="0" i="0" u="none" strike="noStrike" kern="1200" cap="none" spc="0" normalizeH="0" baseline="0" noProof="0" dirty="0">
              <a:ln>
                <a:noFill/>
              </a:ln>
              <a:solidFill>
                <a:prstClr val="black"/>
              </a:solidFill>
              <a:effectLst/>
              <a:uLnTx/>
              <a:uFillTx/>
              <a:latin typeface="Gadugi"/>
              <a:ea typeface="+mn-ea"/>
              <a:cs typeface="Gadugi"/>
            </a:endParaRPr>
          </a:p>
        </p:txBody>
      </p:sp>
      <p:sp>
        <p:nvSpPr>
          <p:cNvPr id="3" name="object 3"/>
          <p:cNvSpPr txBox="1">
            <a:spLocks noGrp="1"/>
          </p:cNvSpPr>
          <p:nvPr>
            <p:ph type="title"/>
          </p:nvPr>
        </p:nvSpPr>
        <p:spPr>
          <a:xfrm>
            <a:off x="226674" y="147378"/>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4" name="object 4"/>
          <p:cNvSpPr/>
          <p:nvPr/>
        </p:nvSpPr>
        <p:spPr>
          <a:xfrm>
            <a:off x="8711183" y="0"/>
            <a:ext cx="1331975" cy="598932"/>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object 35">
            <a:extLst>
              <a:ext uri="{FF2B5EF4-FFF2-40B4-BE49-F238E27FC236}">
                <a16:creationId xmlns:a16="http://schemas.microsoft.com/office/drawing/2014/main" id="{99AD905F-C864-4F01-B519-886018E0707A}"/>
              </a:ext>
            </a:extLst>
          </p:cNvPr>
          <p:cNvSpPr/>
          <p:nvPr/>
        </p:nvSpPr>
        <p:spPr>
          <a:xfrm>
            <a:off x="4681919" y="6681142"/>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object 35">
            <a:extLst>
              <a:ext uri="{FF2B5EF4-FFF2-40B4-BE49-F238E27FC236}">
                <a16:creationId xmlns:a16="http://schemas.microsoft.com/office/drawing/2014/main" id="{A062E3F5-E18C-419D-8A1D-A601E440580E}"/>
              </a:ext>
            </a:extLst>
          </p:cNvPr>
          <p:cNvSpPr/>
          <p:nvPr/>
        </p:nvSpPr>
        <p:spPr>
          <a:xfrm rot="16200000">
            <a:off x="1936900" y="4210001"/>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object 35">
            <a:extLst>
              <a:ext uri="{FF2B5EF4-FFF2-40B4-BE49-F238E27FC236}">
                <a16:creationId xmlns:a16="http://schemas.microsoft.com/office/drawing/2014/main" id="{A907B160-3DDF-4900-8E58-E2B145E597AC}"/>
              </a:ext>
            </a:extLst>
          </p:cNvPr>
          <p:cNvSpPr/>
          <p:nvPr/>
        </p:nvSpPr>
        <p:spPr>
          <a:xfrm rot="16200000">
            <a:off x="1513027" y="4210001"/>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object 8">
            <a:extLst>
              <a:ext uri="{FF2B5EF4-FFF2-40B4-BE49-F238E27FC236}">
                <a16:creationId xmlns:a16="http://schemas.microsoft.com/office/drawing/2014/main" id="{CDA0B563-B9F7-4091-841F-5531753B54C0}"/>
              </a:ext>
            </a:extLst>
          </p:cNvPr>
          <p:cNvSpPr txBox="1"/>
          <p:nvPr/>
        </p:nvSpPr>
        <p:spPr>
          <a:xfrm>
            <a:off x="197744" y="4114800"/>
            <a:ext cx="1292401" cy="876522"/>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kumimoji="0" lang="es-ES" sz="650" b="1" i="0" u="none" strike="noStrike" kern="1200" cap="none" spc="-10" normalizeH="0" baseline="0" noProof="0" dirty="0">
                <a:ln>
                  <a:noFill/>
                </a:ln>
                <a:solidFill>
                  <a:prstClr val="black"/>
                </a:solidFill>
                <a:effectLst/>
                <a:uLnTx/>
                <a:uFillTx/>
                <a:latin typeface="Gadugi"/>
                <a:ea typeface="+mn-ea"/>
                <a:cs typeface="Gadugi"/>
              </a:rPr>
              <a:t>Acceda a la Pantalla de Pre-Producción</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Gestione el contenido a presentar en la pantalla de </a:t>
            </a:r>
            <a:r>
              <a:rPr kumimoji="0" lang="es-ES" sz="650" b="0" i="0" u="none" strike="noStrike" kern="1200" cap="none" spc="-5" normalizeH="0" baseline="0" noProof="0" dirty="0" err="1">
                <a:ln>
                  <a:noFill/>
                </a:ln>
                <a:solidFill>
                  <a:srgbClr val="505050"/>
                </a:solidFill>
                <a:effectLst/>
                <a:uLnTx/>
                <a:uFillTx/>
                <a:latin typeface="Gadugi"/>
                <a:ea typeface="+mn-ea"/>
                <a:cs typeface="Gadugi"/>
              </a:rPr>
              <a:t>Pre-producción</a:t>
            </a:r>
            <a:r>
              <a:rPr kumimoji="0" lang="es-ES" sz="650" b="0" i="0" u="none" strike="noStrike" kern="1200" cap="none" spc="-5" normalizeH="0" baseline="0" noProof="0" dirty="0">
                <a:ln>
                  <a:noFill/>
                </a:ln>
                <a:solidFill>
                  <a:srgbClr val="505050"/>
                </a:solidFill>
                <a:effectLst/>
                <a:uLnTx/>
                <a:uFillTx/>
                <a:latin typeface="Gadugi"/>
                <a:ea typeface="+mn-ea"/>
                <a:cs typeface="Gadugi"/>
              </a:rPr>
              <a:t> y envíe el contenido a la pantalla del evento en vivo cuando esté listo</a:t>
            </a:r>
            <a:r>
              <a:rPr kumimoji="0" lang="es-ES" sz="650" b="0" i="0" u="none" strike="noStrike" kern="1200" cap="none" spc="-5" normalizeH="0" baseline="0" noProof="0" dirty="0">
                <a:ln>
                  <a:noFill/>
                </a:ln>
                <a:solidFill>
                  <a:srgbClr val="505050"/>
                </a:solidFill>
                <a:effectLst/>
                <a:uLnTx/>
                <a:uFillTx/>
                <a:latin typeface="Gadugi"/>
                <a:ea typeface="+mn-ea"/>
                <a:cs typeface="+mn-cs"/>
              </a:rPr>
              <a:t>.</a:t>
            </a:r>
          </a:p>
        </p:txBody>
      </p:sp>
      <p:sp>
        <p:nvSpPr>
          <p:cNvPr id="81" name="Oval 80">
            <a:extLst>
              <a:ext uri="{FF2B5EF4-FFF2-40B4-BE49-F238E27FC236}">
                <a16:creationId xmlns:a16="http://schemas.microsoft.com/office/drawing/2014/main" id="{17F89737-B73C-424E-BCC8-9776106B5EA8}"/>
              </a:ext>
            </a:extLst>
          </p:cNvPr>
          <p:cNvSpPr/>
          <p:nvPr/>
        </p:nvSpPr>
        <p:spPr>
          <a:xfrm>
            <a:off x="4658429" y="6585569"/>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a:extLst>
              <a:ext uri="{FF2B5EF4-FFF2-40B4-BE49-F238E27FC236}">
                <a16:creationId xmlns:a16="http://schemas.microsoft.com/office/drawing/2014/main" id="{845101C1-773B-486D-90F6-F0C8474A38BD}"/>
              </a:ext>
            </a:extLst>
          </p:cNvPr>
          <p:cNvSpPr/>
          <p:nvPr/>
        </p:nvSpPr>
        <p:spPr>
          <a:xfrm>
            <a:off x="4495800" y="6012254"/>
            <a:ext cx="353963" cy="3486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82" name="object 35">
            <a:extLst>
              <a:ext uri="{FF2B5EF4-FFF2-40B4-BE49-F238E27FC236}">
                <a16:creationId xmlns:a16="http://schemas.microsoft.com/office/drawing/2014/main" id="{C8B16033-1630-433A-99A0-B8E973E54249}"/>
              </a:ext>
            </a:extLst>
          </p:cNvPr>
          <p:cNvSpPr/>
          <p:nvPr/>
        </p:nvSpPr>
        <p:spPr>
          <a:xfrm rot="16200000">
            <a:off x="8192971" y="4203401"/>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5">
            <a:extLst>
              <a:ext uri="{FF2B5EF4-FFF2-40B4-BE49-F238E27FC236}">
                <a16:creationId xmlns:a16="http://schemas.microsoft.com/office/drawing/2014/main" id="{F6F1B700-2802-4AED-B9E5-FC953CB8951D}"/>
              </a:ext>
            </a:extLst>
          </p:cNvPr>
          <p:cNvSpPr/>
          <p:nvPr/>
        </p:nvSpPr>
        <p:spPr>
          <a:xfrm>
            <a:off x="4965554" y="6692249"/>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Oval 36">
            <a:extLst>
              <a:ext uri="{FF2B5EF4-FFF2-40B4-BE49-F238E27FC236}">
                <a16:creationId xmlns:a16="http://schemas.microsoft.com/office/drawing/2014/main" id="{CCFC6C56-D9A6-44BD-8727-F783FA0C2385}"/>
              </a:ext>
            </a:extLst>
          </p:cNvPr>
          <p:cNvSpPr/>
          <p:nvPr/>
        </p:nvSpPr>
        <p:spPr>
          <a:xfrm>
            <a:off x="4942064" y="6596676"/>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object 35">
            <a:extLst>
              <a:ext uri="{FF2B5EF4-FFF2-40B4-BE49-F238E27FC236}">
                <a16:creationId xmlns:a16="http://schemas.microsoft.com/office/drawing/2014/main" id="{2C0EB5CF-E396-4F73-9685-8C8F11D6A73D}"/>
              </a:ext>
            </a:extLst>
          </p:cNvPr>
          <p:cNvSpPr/>
          <p:nvPr/>
        </p:nvSpPr>
        <p:spPr>
          <a:xfrm rot="16200000">
            <a:off x="4327686" y="7046931"/>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object 35">
            <a:extLst>
              <a:ext uri="{FF2B5EF4-FFF2-40B4-BE49-F238E27FC236}">
                <a16:creationId xmlns:a16="http://schemas.microsoft.com/office/drawing/2014/main" id="{5780A5D2-B824-4C4D-808D-64B90CD8E66F}"/>
              </a:ext>
            </a:extLst>
          </p:cNvPr>
          <p:cNvSpPr/>
          <p:nvPr/>
        </p:nvSpPr>
        <p:spPr>
          <a:xfrm rot="16200000">
            <a:off x="5315743" y="7048484"/>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txBox="1"/>
          <p:nvPr/>
        </p:nvSpPr>
        <p:spPr>
          <a:xfrm>
            <a:off x="2593408" y="6827224"/>
            <a:ext cx="1850311" cy="776495"/>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lang="es-ES" sz="650" b="1" spc="-10" dirty="0">
                <a:solidFill>
                  <a:prstClr val="black"/>
                </a:solidFill>
                <a:latin typeface="Gadugi"/>
                <a:cs typeface="Gadugi"/>
              </a:rPr>
              <a:t>Habilite su Cámara y/o micrófono para comentar con el equipo de presentadores / Moderadores y con los Asistentes</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Comparta con el equipo de presentadores y moderadores antes de lanzar el evento en vivo, y con los asistentes una vez el evento esté en vivo. </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p:txBody>
      </p:sp>
      <p:sp>
        <p:nvSpPr>
          <p:cNvPr id="33" name="object 8">
            <a:extLst>
              <a:ext uri="{FF2B5EF4-FFF2-40B4-BE49-F238E27FC236}">
                <a16:creationId xmlns:a16="http://schemas.microsoft.com/office/drawing/2014/main" id="{C412A21C-2113-4D84-B560-5ADF374D8836}"/>
              </a:ext>
            </a:extLst>
          </p:cNvPr>
          <p:cNvSpPr txBox="1"/>
          <p:nvPr/>
        </p:nvSpPr>
        <p:spPr>
          <a:xfrm>
            <a:off x="5163041" y="6843505"/>
            <a:ext cx="1850311" cy="776495"/>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lang="es-ES" sz="650" b="1" spc="-10" dirty="0">
                <a:solidFill>
                  <a:prstClr val="black"/>
                </a:solidFill>
                <a:latin typeface="Gadugi"/>
                <a:cs typeface="Gadugi"/>
              </a:rPr>
              <a:t>Comparta su pantalla con el equipo de presentadores / Moderadores y con los Asistentes</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Visualice a las personas que se han conectado con el rol de Moderador o Productos al evento. Si ellos encienden su cámara Ud. podrá ver su imagen. </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p:txBody>
      </p:sp>
      <p:sp>
        <p:nvSpPr>
          <p:cNvPr id="43" name="object 35">
            <a:extLst>
              <a:ext uri="{FF2B5EF4-FFF2-40B4-BE49-F238E27FC236}">
                <a16:creationId xmlns:a16="http://schemas.microsoft.com/office/drawing/2014/main" id="{75352198-BC24-4AA7-979F-8A48A0239EE2}"/>
              </a:ext>
            </a:extLst>
          </p:cNvPr>
          <p:cNvSpPr/>
          <p:nvPr/>
        </p:nvSpPr>
        <p:spPr>
          <a:xfrm rot="16200000">
            <a:off x="4501515" y="2349994"/>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object 22">
            <a:extLst>
              <a:ext uri="{FF2B5EF4-FFF2-40B4-BE49-F238E27FC236}">
                <a16:creationId xmlns:a16="http://schemas.microsoft.com/office/drawing/2014/main" id="{EA5B8B17-32BE-410D-A39A-CB6D545BB709}"/>
              </a:ext>
            </a:extLst>
          </p:cNvPr>
          <p:cNvSpPr/>
          <p:nvPr/>
        </p:nvSpPr>
        <p:spPr>
          <a:xfrm>
            <a:off x="4133395" y="2695575"/>
            <a:ext cx="32384" cy="28956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Oval 46">
            <a:extLst>
              <a:ext uri="{FF2B5EF4-FFF2-40B4-BE49-F238E27FC236}">
                <a16:creationId xmlns:a16="http://schemas.microsoft.com/office/drawing/2014/main" id="{5BE097D7-4F8A-4149-8FDD-AF45D0600791}"/>
              </a:ext>
            </a:extLst>
          </p:cNvPr>
          <p:cNvSpPr/>
          <p:nvPr/>
        </p:nvSpPr>
        <p:spPr>
          <a:xfrm>
            <a:off x="4103864" y="3000375"/>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object 8">
            <a:extLst>
              <a:ext uri="{FF2B5EF4-FFF2-40B4-BE49-F238E27FC236}">
                <a16:creationId xmlns:a16="http://schemas.microsoft.com/office/drawing/2014/main" id="{6F8C2EA4-B647-4337-B48F-968F65EB472B}"/>
              </a:ext>
            </a:extLst>
          </p:cNvPr>
          <p:cNvSpPr txBox="1"/>
          <p:nvPr/>
        </p:nvSpPr>
        <p:spPr>
          <a:xfrm>
            <a:off x="4588030" y="2356989"/>
            <a:ext cx="1487466" cy="476412"/>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lang="es-ES" sz="650" b="1" spc="-10" dirty="0">
                <a:solidFill>
                  <a:prstClr val="black"/>
                </a:solidFill>
                <a:latin typeface="Gadugi"/>
                <a:cs typeface="Gadugi"/>
              </a:rPr>
              <a:t>Monitorice el número de asistentes conectados al evento en vivo</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Visualice el indicador de asistentes a lo largo de la sesión</a:t>
            </a:r>
            <a:endParaRPr kumimoji="0" lang="es-ES" sz="650" b="0" i="0" u="none" strike="noStrike" kern="1200" cap="none" spc="-5" normalizeH="0" baseline="0" noProof="0" dirty="0">
              <a:ln>
                <a:noFill/>
              </a:ln>
              <a:solidFill>
                <a:srgbClr val="505050"/>
              </a:solidFill>
              <a:effectLst/>
              <a:uLnTx/>
              <a:uFillTx/>
              <a:latin typeface="Gadugi"/>
              <a:ea typeface="+mn-ea"/>
              <a:cs typeface="+mn-cs"/>
            </a:endParaRPr>
          </a:p>
        </p:txBody>
      </p:sp>
      <p:sp>
        <p:nvSpPr>
          <p:cNvPr id="48" name="Oval 47">
            <a:extLst>
              <a:ext uri="{FF2B5EF4-FFF2-40B4-BE49-F238E27FC236}">
                <a16:creationId xmlns:a16="http://schemas.microsoft.com/office/drawing/2014/main" id="{CFEFA78B-4C8F-4654-8C41-A706C5445F05}"/>
              </a:ext>
            </a:extLst>
          </p:cNvPr>
          <p:cNvSpPr/>
          <p:nvPr/>
        </p:nvSpPr>
        <p:spPr>
          <a:xfrm>
            <a:off x="2278265" y="4521165"/>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object 8">
            <a:extLst>
              <a:ext uri="{FF2B5EF4-FFF2-40B4-BE49-F238E27FC236}">
                <a16:creationId xmlns:a16="http://schemas.microsoft.com/office/drawing/2014/main" id="{55420238-99B6-415B-BD49-18E854C23594}"/>
              </a:ext>
            </a:extLst>
          </p:cNvPr>
          <p:cNvSpPr txBox="1"/>
          <p:nvPr/>
        </p:nvSpPr>
        <p:spPr>
          <a:xfrm>
            <a:off x="8568255" y="4191000"/>
            <a:ext cx="1292401" cy="776495"/>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kumimoji="0" lang="es-ES" sz="650" b="1" i="0" u="none" strike="noStrike" kern="1200" cap="none" spc="-10" normalizeH="0" baseline="0" noProof="0" dirty="0">
                <a:ln>
                  <a:noFill/>
                </a:ln>
                <a:solidFill>
                  <a:prstClr val="black"/>
                </a:solidFill>
                <a:effectLst/>
                <a:uLnTx/>
                <a:uFillTx/>
                <a:latin typeface="Gadugi"/>
                <a:ea typeface="+mn-ea"/>
                <a:cs typeface="Gadugi"/>
              </a:rPr>
              <a:t>Acceda a la Pantalla de Producción en Vivo</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err="1">
                <a:ln>
                  <a:noFill/>
                </a:ln>
                <a:solidFill>
                  <a:srgbClr val="505050"/>
                </a:solidFill>
                <a:effectLst/>
                <a:uLnTx/>
                <a:uFillTx/>
                <a:latin typeface="Gadugi"/>
                <a:ea typeface="+mn-ea"/>
                <a:cs typeface="Gadugi"/>
              </a:rPr>
              <a:t>Envie</a:t>
            </a:r>
            <a:r>
              <a:rPr kumimoji="0" lang="es-ES" sz="650" b="0" i="0" u="none" strike="noStrike" kern="1200" cap="none" spc="-5" normalizeH="0" baseline="0" noProof="0" dirty="0">
                <a:ln>
                  <a:noFill/>
                </a:ln>
                <a:solidFill>
                  <a:srgbClr val="505050"/>
                </a:solidFill>
                <a:effectLst/>
                <a:uLnTx/>
                <a:uFillTx/>
                <a:latin typeface="Gadugi"/>
                <a:ea typeface="+mn-ea"/>
                <a:cs typeface="Gadugi"/>
              </a:rPr>
              <a:t> el contenido a la pantalla de Producción y seleccione Iniciar el evento cuando esté listo para empezar</a:t>
            </a:r>
            <a:r>
              <a:rPr kumimoji="0" lang="es-ES" sz="650" b="0" i="0" u="none" strike="noStrike" kern="1200" cap="none" spc="-5" normalizeH="0" baseline="0" noProof="0" dirty="0">
                <a:ln>
                  <a:noFill/>
                </a:ln>
                <a:solidFill>
                  <a:srgbClr val="505050"/>
                </a:solidFill>
                <a:effectLst/>
                <a:uLnTx/>
                <a:uFillTx/>
                <a:latin typeface="Gadugi"/>
                <a:ea typeface="+mn-ea"/>
                <a:cs typeface="+mn-cs"/>
              </a:rPr>
              <a:t>.</a:t>
            </a:r>
          </a:p>
        </p:txBody>
      </p:sp>
      <p:sp>
        <p:nvSpPr>
          <p:cNvPr id="51" name="object 35">
            <a:extLst>
              <a:ext uri="{FF2B5EF4-FFF2-40B4-BE49-F238E27FC236}">
                <a16:creationId xmlns:a16="http://schemas.microsoft.com/office/drawing/2014/main" id="{69BBD3C7-E2B5-4193-941C-22BBB1C5A4EA}"/>
              </a:ext>
            </a:extLst>
          </p:cNvPr>
          <p:cNvSpPr/>
          <p:nvPr/>
        </p:nvSpPr>
        <p:spPr>
          <a:xfrm rot="16200000">
            <a:off x="8434735" y="5704395"/>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object 8">
            <a:extLst>
              <a:ext uri="{FF2B5EF4-FFF2-40B4-BE49-F238E27FC236}">
                <a16:creationId xmlns:a16="http://schemas.microsoft.com/office/drawing/2014/main" id="{94F5792A-081B-4CBC-A61E-AA964C9E88EA}"/>
              </a:ext>
            </a:extLst>
          </p:cNvPr>
          <p:cNvSpPr txBox="1"/>
          <p:nvPr/>
        </p:nvSpPr>
        <p:spPr>
          <a:xfrm>
            <a:off x="8537968" y="5715000"/>
            <a:ext cx="1292401" cy="876522"/>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kumimoji="0" lang="es-ES" sz="650" b="1" i="0" u="none" strike="noStrike" kern="1200" cap="none" spc="-10" normalizeH="0" baseline="0" noProof="0" dirty="0">
                <a:ln>
                  <a:noFill/>
                </a:ln>
                <a:solidFill>
                  <a:prstClr val="black"/>
                </a:solidFill>
                <a:effectLst/>
                <a:uLnTx/>
                <a:uFillTx/>
                <a:latin typeface="Gadugi"/>
                <a:ea typeface="+mn-ea"/>
                <a:cs typeface="Gadugi"/>
              </a:rPr>
              <a:t>Decida que contenido va a compartir en el evento</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Seleccione el contenido de su escritorio que desea compartir. Puede ser un Documento o una aplicación para realizar una demostración en vivo</a:t>
            </a:r>
            <a:endParaRPr kumimoji="0" lang="es-ES" sz="650" b="0" i="0" u="none" strike="noStrike" kern="1200" cap="none" spc="-5" normalizeH="0" baseline="0" noProof="0" dirty="0">
              <a:ln>
                <a:noFill/>
              </a:ln>
              <a:solidFill>
                <a:srgbClr val="505050"/>
              </a:solidFill>
              <a:effectLst/>
              <a:uLnTx/>
              <a:uFillTx/>
              <a:latin typeface="Gadugi"/>
              <a:ea typeface="+mn-ea"/>
              <a:cs typeface="+mn-cs"/>
            </a:endParaRPr>
          </a:p>
        </p:txBody>
      </p:sp>
      <p:sp>
        <p:nvSpPr>
          <p:cNvPr id="52" name="Oval 51">
            <a:extLst>
              <a:ext uri="{FF2B5EF4-FFF2-40B4-BE49-F238E27FC236}">
                <a16:creationId xmlns:a16="http://schemas.microsoft.com/office/drawing/2014/main" id="{CC2D51EF-6571-40F0-B5F4-2738CECA93C6}"/>
              </a:ext>
            </a:extLst>
          </p:cNvPr>
          <p:cNvSpPr/>
          <p:nvPr/>
        </p:nvSpPr>
        <p:spPr>
          <a:xfrm>
            <a:off x="7803327" y="4514565"/>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Oval 52">
            <a:extLst>
              <a:ext uri="{FF2B5EF4-FFF2-40B4-BE49-F238E27FC236}">
                <a16:creationId xmlns:a16="http://schemas.microsoft.com/office/drawing/2014/main" id="{7025A69E-D596-4FDA-A6A8-8C9A4E4E7C09}"/>
              </a:ext>
            </a:extLst>
          </p:cNvPr>
          <p:cNvSpPr/>
          <p:nvPr/>
        </p:nvSpPr>
        <p:spPr>
          <a:xfrm>
            <a:off x="8045091" y="6015559"/>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77875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012435" y="1231391"/>
            <a:ext cx="0" cy="6172200"/>
          </a:xfrm>
          <a:custGeom>
            <a:avLst/>
            <a:gdLst/>
            <a:ahLst/>
            <a:cxnLst/>
            <a:rect l="l" t="t" r="r" b="b"/>
            <a:pathLst>
              <a:path h="6172200">
                <a:moveTo>
                  <a:pt x="0" y="0"/>
                </a:moveTo>
                <a:lnTo>
                  <a:pt x="0" y="6172200"/>
                </a:lnTo>
              </a:path>
            </a:pathLst>
          </a:custGeom>
          <a:ln w="4572">
            <a:solidFill>
              <a:srgbClr val="50505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p:nvPr/>
        </p:nvSpPr>
        <p:spPr>
          <a:xfrm>
            <a:off x="0" y="0"/>
            <a:ext cx="10058400" cy="914400"/>
          </a:xfrm>
          <a:custGeom>
            <a:avLst/>
            <a:gdLst/>
            <a:ahLst/>
            <a:cxnLst/>
            <a:rect l="l" t="t" r="r" b="b"/>
            <a:pathLst>
              <a:path w="10058400" h="914400">
                <a:moveTo>
                  <a:pt x="10058400" y="914400"/>
                </a:moveTo>
                <a:lnTo>
                  <a:pt x="0" y="914400"/>
                </a:lnTo>
                <a:lnTo>
                  <a:pt x="0" y="0"/>
                </a:lnTo>
                <a:lnTo>
                  <a:pt x="10058400" y="0"/>
                </a:lnTo>
                <a:lnTo>
                  <a:pt x="10058400" y="914400"/>
                </a:lnTo>
                <a:close/>
              </a:path>
            </a:pathLst>
          </a:custGeom>
          <a:solidFill>
            <a:srgbClr val="6264A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txBox="1">
            <a:spLocks noGrp="1"/>
          </p:cNvSpPr>
          <p:nvPr>
            <p:ph type="title"/>
          </p:nvPr>
        </p:nvSpPr>
        <p:spPr>
          <a:xfrm>
            <a:off x="226674" y="145891"/>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13" name="object 2">
            <a:extLst>
              <a:ext uri="{FF2B5EF4-FFF2-40B4-BE49-F238E27FC236}">
                <a16:creationId xmlns:a16="http://schemas.microsoft.com/office/drawing/2014/main" id="{33F09F05-3A41-4A7D-904C-7612E1C37165}"/>
              </a:ext>
            </a:extLst>
          </p:cNvPr>
          <p:cNvSpPr txBox="1"/>
          <p:nvPr/>
        </p:nvSpPr>
        <p:spPr>
          <a:xfrm>
            <a:off x="486476" y="4049050"/>
            <a:ext cx="4648196" cy="873957"/>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Prepare el contenido a presentar</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p:txBody>
      </p:sp>
      <p:sp>
        <p:nvSpPr>
          <p:cNvPr id="14" name="object 3">
            <a:extLst>
              <a:ext uri="{FF2B5EF4-FFF2-40B4-BE49-F238E27FC236}">
                <a16:creationId xmlns:a16="http://schemas.microsoft.com/office/drawing/2014/main" id="{3CD62A09-116A-4249-88D6-AB352A85F6FE}"/>
              </a:ext>
            </a:extLst>
          </p:cNvPr>
          <p:cNvSpPr txBox="1"/>
          <p:nvPr/>
        </p:nvSpPr>
        <p:spPr>
          <a:xfrm>
            <a:off x="293657" y="5031814"/>
            <a:ext cx="4142343" cy="42832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kumimoji="0" lang="es-ES" sz="900" b="0" i="0" u="none" strike="noStrike" kern="1200" cap="none" spc="0" normalizeH="0" baseline="0" noProof="0" dirty="0">
                <a:ln>
                  <a:noFill/>
                </a:ln>
                <a:solidFill>
                  <a:prstClr val="black"/>
                </a:solidFill>
                <a:effectLst/>
                <a:uLnTx/>
                <a:uFillTx/>
                <a:latin typeface="Gadugi"/>
                <a:ea typeface="+mn-ea"/>
                <a:cs typeface="Gadugi"/>
              </a:rPr>
              <a:t>Haga doble </a:t>
            </a:r>
            <a:r>
              <a:rPr kumimoji="0" lang="es-ES" sz="900" b="0" i="0" u="none" strike="noStrike" kern="1200" cap="none" spc="0" normalizeH="0" baseline="0" noProof="0" dirty="0" err="1">
                <a:ln>
                  <a:noFill/>
                </a:ln>
                <a:solidFill>
                  <a:prstClr val="black"/>
                </a:solidFill>
                <a:effectLst/>
                <a:uLnTx/>
                <a:uFillTx/>
                <a:latin typeface="Gadugi"/>
                <a:ea typeface="+mn-ea"/>
                <a:cs typeface="Gadugi"/>
              </a:rPr>
              <a:t>click</a:t>
            </a:r>
            <a:r>
              <a:rPr kumimoji="0" lang="es-ES" sz="900" b="0" i="0" u="none" strike="noStrike" kern="1200" cap="none" spc="0" normalizeH="0" baseline="0" noProof="0" dirty="0">
                <a:ln>
                  <a:noFill/>
                </a:ln>
                <a:solidFill>
                  <a:prstClr val="black"/>
                </a:solidFill>
                <a:effectLst/>
                <a:uLnTx/>
                <a:uFillTx/>
                <a:latin typeface="Gadugi"/>
                <a:ea typeface="+mn-ea"/>
                <a:cs typeface="Gadugi"/>
              </a:rPr>
              <a:t> en el documento seleccionado. Este documento se arrastrará a la ventana de </a:t>
            </a:r>
            <a:r>
              <a:rPr kumimoji="0" lang="es-ES" sz="900" b="0" i="0" u="none" strike="noStrike" kern="1200" cap="none" spc="0" normalizeH="0" baseline="0" noProof="0" dirty="0" err="1">
                <a:ln>
                  <a:noFill/>
                </a:ln>
                <a:solidFill>
                  <a:prstClr val="black"/>
                </a:solidFill>
                <a:effectLst/>
                <a:uLnTx/>
                <a:uFillTx/>
                <a:latin typeface="Gadugi"/>
                <a:ea typeface="+mn-ea"/>
                <a:cs typeface="Gadugi"/>
              </a:rPr>
              <a:t>Pre-producción</a:t>
            </a:r>
            <a:r>
              <a:rPr kumimoji="0" lang="es-ES" sz="900" b="0" i="0" u="none" strike="noStrike" kern="1200" cap="none" spc="0" normalizeH="0" baseline="0" noProof="0" dirty="0">
                <a:ln>
                  <a:noFill/>
                </a:ln>
                <a:solidFill>
                  <a:prstClr val="black"/>
                </a:solidFill>
                <a:effectLst/>
                <a:uLnTx/>
                <a:uFillTx/>
                <a:latin typeface="Gadugi"/>
                <a:ea typeface="+mn-ea"/>
                <a:cs typeface="Gadugi"/>
              </a:rPr>
              <a:t>. La ventana izquierda de la vista de presentador. Cuando esté conforme con la vista, presione Enviar en Vivo (</a:t>
            </a:r>
            <a:r>
              <a:rPr kumimoji="0" lang="es-ES" sz="900" b="0" i="0" u="none" strike="noStrike" kern="1200" cap="none" spc="0" normalizeH="0" baseline="0" noProof="0" dirty="0" err="1">
                <a:ln>
                  <a:noFill/>
                </a:ln>
                <a:solidFill>
                  <a:prstClr val="black"/>
                </a:solidFill>
                <a:effectLst/>
                <a:uLnTx/>
                <a:uFillTx/>
                <a:latin typeface="Gadugi"/>
                <a:ea typeface="+mn-ea"/>
                <a:cs typeface="Gadugi"/>
              </a:rPr>
              <a:t>Send</a:t>
            </a:r>
            <a:r>
              <a:rPr kumimoji="0" lang="es-ES" sz="900" b="0" i="0" u="none" strike="noStrike" kern="1200" cap="none" spc="0" normalizeH="0" baseline="0" noProof="0" dirty="0">
                <a:ln>
                  <a:noFill/>
                </a:ln>
                <a:solidFill>
                  <a:prstClr val="black"/>
                </a:solidFill>
                <a:effectLst/>
                <a:uLnTx/>
                <a:uFillTx/>
                <a:latin typeface="Gadugi"/>
                <a:ea typeface="+mn-ea"/>
                <a:cs typeface="Gadugi"/>
              </a:rPr>
              <a:t> Live)</a:t>
            </a: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p:txBody>
      </p:sp>
      <p:sp>
        <p:nvSpPr>
          <p:cNvPr id="10" name="object 2">
            <a:extLst>
              <a:ext uri="{FF2B5EF4-FFF2-40B4-BE49-F238E27FC236}">
                <a16:creationId xmlns:a16="http://schemas.microsoft.com/office/drawing/2014/main" id="{FE770973-671E-4043-A74C-7E71E77E2259}"/>
              </a:ext>
            </a:extLst>
          </p:cNvPr>
          <p:cNvSpPr txBox="1"/>
          <p:nvPr/>
        </p:nvSpPr>
        <p:spPr>
          <a:xfrm>
            <a:off x="5821325" y="979224"/>
            <a:ext cx="4371963" cy="44307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Envíe el Evento Live </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p:txBody>
      </p:sp>
      <p:sp>
        <p:nvSpPr>
          <p:cNvPr id="16" name="object 2">
            <a:extLst>
              <a:ext uri="{FF2B5EF4-FFF2-40B4-BE49-F238E27FC236}">
                <a16:creationId xmlns:a16="http://schemas.microsoft.com/office/drawing/2014/main" id="{5C962DB6-F730-460D-8BA3-2F922970315F}"/>
              </a:ext>
            </a:extLst>
          </p:cNvPr>
          <p:cNvSpPr txBox="1"/>
          <p:nvPr/>
        </p:nvSpPr>
        <p:spPr>
          <a:xfrm>
            <a:off x="76200" y="1014396"/>
            <a:ext cx="4843818" cy="44307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Busque el contenido a Presentar</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p:txBody>
      </p:sp>
      <p:pic>
        <p:nvPicPr>
          <p:cNvPr id="5" name="Picture 4">
            <a:extLst>
              <a:ext uri="{FF2B5EF4-FFF2-40B4-BE49-F238E27FC236}">
                <a16:creationId xmlns:a16="http://schemas.microsoft.com/office/drawing/2014/main" id="{6A886D1C-52F3-4962-B58C-63838B2BC60A}"/>
              </a:ext>
            </a:extLst>
          </p:cNvPr>
          <p:cNvPicPr>
            <a:picLocks noChangeAspect="1"/>
          </p:cNvPicPr>
          <p:nvPr/>
        </p:nvPicPr>
        <p:blipFill>
          <a:blip r:embed="rId3"/>
          <a:stretch>
            <a:fillRect/>
          </a:stretch>
        </p:blipFill>
        <p:spPr>
          <a:xfrm>
            <a:off x="457199" y="5515257"/>
            <a:ext cx="3632157" cy="2034866"/>
          </a:xfrm>
          <a:prstGeom prst="rect">
            <a:avLst/>
          </a:prstGeom>
        </p:spPr>
      </p:pic>
      <p:sp>
        <p:nvSpPr>
          <p:cNvPr id="17" name="object 3">
            <a:extLst>
              <a:ext uri="{FF2B5EF4-FFF2-40B4-BE49-F238E27FC236}">
                <a16:creationId xmlns:a16="http://schemas.microsoft.com/office/drawing/2014/main" id="{A5B9AD77-8547-49DA-A537-73310723C60F}"/>
              </a:ext>
            </a:extLst>
          </p:cNvPr>
          <p:cNvSpPr txBox="1"/>
          <p:nvPr/>
        </p:nvSpPr>
        <p:spPr>
          <a:xfrm>
            <a:off x="293657" y="1535742"/>
            <a:ext cx="4446905" cy="42832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kumimoji="0" lang="es-ES" sz="900" b="0" i="0" u="none" strike="noStrike" kern="1200" cap="none" spc="0" normalizeH="0" baseline="0" noProof="0" dirty="0">
                <a:ln>
                  <a:noFill/>
                </a:ln>
                <a:solidFill>
                  <a:prstClr val="black"/>
                </a:solidFill>
                <a:effectLst/>
                <a:uLnTx/>
                <a:uFillTx/>
                <a:latin typeface="Gadugi"/>
                <a:ea typeface="+mn-ea"/>
                <a:cs typeface="Gadugi"/>
              </a:rPr>
              <a:t>Presione el botón de Compartir para seleccionar los documentos o ventanas de su escritorio aquel que desea compartir, y seleccione con un doble </a:t>
            </a:r>
            <a:r>
              <a:rPr kumimoji="0" lang="es-ES" sz="900" b="0" i="0" u="none" strike="noStrike" kern="1200" cap="none" spc="0" normalizeH="0" baseline="0" noProof="0" dirty="0" err="1">
                <a:ln>
                  <a:noFill/>
                </a:ln>
                <a:solidFill>
                  <a:prstClr val="black"/>
                </a:solidFill>
                <a:effectLst/>
                <a:uLnTx/>
                <a:uFillTx/>
                <a:latin typeface="Gadugi"/>
                <a:ea typeface="+mn-ea"/>
                <a:cs typeface="Gadugi"/>
              </a:rPr>
              <a:t>click</a:t>
            </a:r>
            <a:r>
              <a:rPr kumimoji="0" lang="es-ES" sz="900" b="0" i="0" u="none" strike="noStrike" kern="1200" cap="none" spc="0" normalizeH="0" baseline="0" noProof="0" dirty="0">
                <a:ln>
                  <a:noFill/>
                </a:ln>
                <a:solidFill>
                  <a:prstClr val="black"/>
                </a:solidFill>
                <a:effectLst/>
                <a:uLnTx/>
                <a:uFillTx/>
                <a:latin typeface="Gadugi"/>
                <a:ea typeface="+mn-ea"/>
                <a:cs typeface="Gadugi"/>
              </a:rPr>
              <a:t> el que desea compartir</a:t>
            </a: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p:txBody>
      </p:sp>
      <p:pic>
        <p:nvPicPr>
          <p:cNvPr id="6" name="Picture 5">
            <a:extLst>
              <a:ext uri="{FF2B5EF4-FFF2-40B4-BE49-F238E27FC236}">
                <a16:creationId xmlns:a16="http://schemas.microsoft.com/office/drawing/2014/main" id="{5B377298-E3A2-407E-88DD-BD259CC50018}"/>
              </a:ext>
            </a:extLst>
          </p:cNvPr>
          <p:cNvPicPr>
            <a:picLocks noChangeAspect="1"/>
          </p:cNvPicPr>
          <p:nvPr/>
        </p:nvPicPr>
        <p:blipFill>
          <a:blip r:embed="rId4"/>
          <a:stretch>
            <a:fillRect/>
          </a:stretch>
        </p:blipFill>
        <p:spPr>
          <a:xfrm>
            <a:off x="5459368" y="2191799"/>
            <a:ext cx="3608424" cy="1997115"/>
          </a:xfrm>
          <a:prstGeom prst="rect">
            <a:avLst/>
          </a:prstGeom>
        </p:spPr>
      </p:pic>
      <p:sp>
        <p:nvSpPr>
          <p:cNvPr id="18" name="object 3">
            <a:extLst>
              <a:ext uri="{FF2B5EF4-FFF2-40B4-BE49-F238E27FC236}">
                <a16:creationId xmlns:a16="http://schemas.microsoft.com/office/drawing/2014/main" id="{D7703185-40F7-4496-8D66-5428D10C0DF5}"/>
              </a:ext>
            </a:extLst>
          </p:cNvPr>
          <p:cNvSpPr txBox="1"/>
          <p:nvPr/>
        </p:nvSpPr>
        <p:spPr>
          <a:xfrm>
            <a:off x="5219439" y="1533128"/>
            <a:ext cx="4647200" cy="566822"/>
          </a:xfrm>
          <a:prstGeom prst="rect">
            <a:avLst/>
          </a:prstGeom>
        </p:spPr>
        <p:txBody>
          <a:bodyPr vert="horz" wrap="square" lIns="0" tIns="12700" rIns="0" bIns="0" rtlCol="0">
            <a:spAutoFit/>
          </a:bodyPr>
          <a:lstStyle/>
          <a:p>
            <a:r>
              <a:rPr kumimoji="0" lang="es-ES" sz="900" b="0" i="0" u="none" strike="noStrike" kern="1200" cap="none" spc="0" normalizeH="0" baseline="0" noProof="0" dirty="0">
                <a:ln>
                  <a:noFill/>
                </a:ln>
                <a:solidFill>
                  <a:prstClr val="black"/>
                </a:solidFill>
                <a:effectLst/>
                <a:uLnTx/>
                <a:uFillTx/>
                <a:latin typeface="Gadugi"/>
                <a:ea typeface="+mn-ea"/>
                <a:cs typeface="Gadugi"/>
              </a:rPr>
              <a:t>Cuando aparezca la segunda ventana informada y esté preparado para iniciar el evento, presione el botón Envío. Una vez realizada esta acción se le advertirá que una vez iniciado el evento, no podrá detenerlo y volver a empezar. Considere que los asistentes experimentan un retardo de entre 10 y 20 segundos en la transmisión. </a:t>
            </a: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p:txBody>
      </p:sp>
      <p:pic>
        <p:nvPicPr>
          <p:cNvPr id="7" name="Picture 6">
            <a:extLst>
              <a:ext uri="{FF2B5EF4-FFF2-40B4-BE49-F238E27FC236}">
                <a16:creationId xmlns:a16="http://schemas.microsoft.com/office/drawing/2014/main" id="{AFF43D0E-4067-4FAD-90C4-50081B77EB16}"/>
              </a:ext>
            </a:extLst>
          </p:cNvPr>
          <p:cNvPicPr>
            <a:picLocks noChangeAspect="1"/>
          </p:cNvPicPr>
          <p:nvPr/>
        </p:nvPicPr>
        <p:blipFill>
          <a:blip r:embed="rId5"/>
          <a:stretch>
            <a:fillRect/>
          </a:stretch>
        </p:blipFill>
        <p:spPr>
          <a:xfrm>
            <a:off x="5511230" y="5562600"/>
            <a:ext cx="3560191" cy="1998409"/>
          </a:xfrm>
          <a:prstGeom prst="rect">
            <a:avLst/>
          </a:prstGeom>
        </p:spPr>
      </p:pic>
      <p:sp>
        <p:nvSpPr>
          <p:cNvPr id="19" name="object 2">
            <a:extLst>
              <a:ext uri="{FF2B5EF4-FFF2-40B4-BE49-F238E27FC236}">
                <a16:creationId xmlns:a16="http://schemas.microsoft.com/office/drawing/2014/main" id="{F8DF35E1-345A-430D-9461-CFB208E19859}"/>
              </a:ext>
            </a:extLst>
          </p:cNvPr>
          <p:cNvSpPr txBox="1"/>
          <p:nvPr/>
        </p:nvSpPr>
        <p:spPr>
          <a:xfrm>
            <a:off x="5469276" y="4188914"/>
            <a:ext cx="4371963" cy="44307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El Evento se está emitiendo</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p:txBody>
      </p:sp>
      <p:pic>
        <p:nvPicPr>
          <p:cNvPr id="22" name="Picture 21">
            <a:extLst>
              <a:ext uri="{FF2B5EF4-FFF2-40B4-BE49-F238E27FC236}">
                <a16:creationId xmlns:a16="http://schemas.microsoft.com/office/drawing/2014/main" id="{BA867514-49E4-48EF-95BE-D9BDEF0A0B7F}"/>
              </a:ext>
            </a:extLst>
          </p:cNvPr>
          <p:cNvPicPr>
            <a:picLocks noChangeAspect="1"/>
          </p:cNvPicPr>
          <p:nvPr/>
        </p:nvPicPr>
        <p:blipFill>
          <a:blip r:embed="rId6"/>
          <a:stretch>
            <a:fillRect/>
          </a:stretch>
        </p:blipFill>
        <p:spPr>
          <a:xfrm>
            <a:off x="457200" y="2038012"/>
            <a:ext cx="3632157" cy="1895038"/>
          </a:xfrm>
          <a:prstGeom prst="rect">
            <a:avLst/>
          </a:prstGeom>
        </p:spPr>
      </p:pic>
      <p:sp>
        <p:nvSpPr>
          <p:cNvPr id="23" name="object 3">
            <a:extLst>
              <a:ext uri="{FF2B5EF4-FFF2-40B4-BE49-F238E27FC236}">
                <a16:creationId xmlns:a16="http://schemas.microsoft.com/office/drawing/2014/main" id="{E2A77C11-1064-4668-8FF2-009C650CDA08}"/>
              </a:ext>
            </a:extLst>
          </p:cNvPr>
          <p:cNvSpPr txBox="1"/>
          <p:nvPr/>
        </p:nvSpPr>
        <p:spPr>
          <a:xfrm>
            <a:off x="5256907" y="4635611"/>
            <a:ext cx="4609739" cy="70532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kumimoji="0" lang="es-ES" sz="900" b="0" i="0" u="none" strike="noStrike" kern="1200" cap="none" spc="0" normalizeH="0" baseline="0" noProof="0" dirty="0">
                <a:ln>
                  <a:noFill/>
                </a:ln>
                <a:solidFill>
                  <a:prstClr val="black"/>
                </a:solidFill>
                <a:effectLst/>
                <a:uLnTx/>
                <a:uFillTx/>
                <a:latin typeface="Gadugi"/>
                <a:ea typeface="+mn-ea"/>
                <a:cs typeface="Gadugi"/>
              </a:rPr>
              <a:t>El marco rojo de la ventana de la derecha indica que el evento se está emitiendo en viso, y que la grabación del evento se ha iniciado. La grabación inicia de forma automática al pulsar en el botón de envío de la figura anterior. Al lado del botón de LIVE en rojo en la parte superior de esta ventana, tendrá un indicador del tiempo transcurrido y del número de asistentes que hay conectados al evento. </a:t>
            </a:r>
            <a:endParaRPr kumimoji="0" lang="es-ES" sz="900" b="0" i="0" u="none" strike="noStrike" kern="1200" cap="none" spc="-5" normalizeH="0" baseline="0" noProof="0" dirty="0">
              <a:ln>
                <a:noFill/>
              </a:ln>
              <a:solidFill>
                <a:prstClr val="black"/>
              </a:solidFill>
              <a:effectLst/>
              <a:uLnTx/>
              <a:uFillTx/>
              <a:latin typeface="Gadugi"/>
              <a:ea typeface="+mn-ea"/>
              <a:cs typeface="Gadugi"/>
            </a:endParaRPr>
          </a:p>
        </p:txBody>
      </p:sp>
    </p:spTree>
    <p:extLst>
      <p:ext uri="{BB962C8B-B14F-4D97-AF65-F5344CB8AC3E}">
        <p14:creationId xmlns:p14="http://schemas.microsoft.com/office/powerpoint/2010/main" val="2688728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476757" y="2523731"/>
            <a:ext cx="6864712" cy="4174235"/>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1631ECA4-1AA7-4BC3-AC97-B705266E49B7}"/>
              </a:ext>
            </a:extLst>
          </p:cNvPr>
          <p:cNvPicPr>
            <a:picLocks noChangeAspect="1"/>
          </p:cNvPicPr>
          <p:nvPr/>
        </p:nvPicPr>
        <p:blipFill>
          <a:blip r:embed="rId4"/>
          <a:stretch>
            <a:fillRect/>
          </a:stretch>
        </p:blipFill>
        <p:spPr>
          <a:xfrm>
            <a:off x="1524000" y="2586343"/>
            <a:ext cx="6783614" cy="4016405"/>
          </a:xfrm>
          <a:prstGeom prst="rect">
            <a:avLst/>
          </a:prstGeom>
        </p:spPr>
      </p:pic>
      <p:sp>
        <p:nvSpPr>
          <p:cNvPr id="2" name="object 2"/>
          <p:cNvSpPr txBox="1"/>
          <p:nvPr/>
        </p:nvSpPr>
        <p:spPr>
          <a:xfrm>
            <a:off x="257010" y="979896"/>
            <a:ext cx="9648990" cy="1254831"/>
          </a:xfrm>
          <a:prstGeom prst="rect">
            <a:avLst/>
          </a:prstGeom>
        </p:spPr>
        <p:txBody>
          <a:bodyPr vert="horz" wrap="square" lIns="0" tIns="158115" rIns="0" bIns="0" rtlCol="0">
            <a:spAutoFit/>
          </a:bodyPr>
          <a:lstStyle/>
          <a:p>
            <a:pPr marL="12700" marR="0" lvl="0" indent="0" algn="l" defTabSz="914400" rtl="0" eaLnBrk="1" fontAlgn="auto" latinLnBrk="0" hangingPunct="1">
              <a:lnSpc>
                <a:spcPct val="100000"/>
              </a:lnSpc>
              <a:spcBef>
                <a:spcPts val="124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Vista del Moderador</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a:p>
            <a:pPr marL="12700" lvl="0">
              <a:spcBef>
                <a:spcPts val="525"/>
              </a:spcBef>
            </a:pPr>
            <a:r>
              <a:rPr lang="es-ES" sz="1300" spc="-10" dirty="0">
                <a:solidFill>
                  <a:srgbClr val="505050"/>
                </a:solidFill>
                <a:latin typeface="Gadugi"/>
              </a:rPr>
              <a:t>El rol de Moderador participa en el evento con la capacidad de moderar las Q&amp;A (puede haber más de un moderador invitado al evento. Los moderadores y presentadores tienen acceso a un Chat Privado para comentar manteniendo la confidencialidad durante la emisión del evento</a:t>
            </a:r>
            <a:endParaRPr kumimoji="0" sz="1300" b="0" i="0" u="none" strike="noStrike" kern="1200" cap="none" spc="0" normalizeH="0" baseline="0" noProof="0" dirty="0">
              <a:ln>
                <a:noFill/>
              </a:ln>
              <a:solidFill>
                <a:prstClr val="black"/>
              </a:solidFill>
              <a:effectLst/>
              <a:uLnTx/>
              <a:uFillTx/>
              <a:latin typeface="Gadugi"/>
              <a:ea typeface="+mn-ea"/>
              <a:cs typeface="Gadugi"/>
            </a:endParaRPr>
          </a:p>
        </p:txBody>
      </p:sp>
      <p:sp>
        <p:nvSpPr>
          <p:cNvPr id="3" name="object 3"/>
          <p:cNvSpPr txBox="1">
            <a:spLocks noGrp="1"/>
          </p:cNvSpPr>
          <p:nvPr>
            <p:ph type="title"/>
          </p:nvPr>
        </p:nvSpPr>
        <p:spPr>
          <a:xfrm>
            <a:off x="226674" y="147378"/>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4" name="object 4"/>
          <p:cNvSpPr/>
          <p:nvPr/>
        </p:nvSpPr>
        <p:spPr>
          <a:xfrm>
            <a:off x="8711183" y="0"/>
            <a:ext cx="1331975" cy="598932"/>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35">
            <a:extLst>
              <a:ext uri="{FF2B5EF4-FFF2-40B4-BE49-F238E27FC236}">
                <a16:creationId xmlns:a16="http://schemas.microsoft.com/office/drawing/2014/main" id="{17E5142B-3304-47B9-8FB1-AAAACB233B4B}"/>
              </a:ext>
            </a:extLst>
          </p:cNvPr>
          <p:cNvSpPr/>
          <p:nvPr/>
        </p:nvSpPr>
        <p:spPr>
          <a:xfrm>
            <a:off x="5294822" y="6640692"/>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txBox="1"/>
          <p:nvPr/>
        </p:nvSpPr>
        <p:spPr>
          <a:xfrm>
            <a:off x="4413797" y="6861812"/>
            <a:ext cx="1850311" cy="676467"/>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kumimoji="0" lang="es-ES" sz="650" b="1" i="0" u="none" strike="noStrike" kern="1200" cap="none" spc="-10" normalizeH="0" baseline="0" noProof="0" dirty="0">
                <a:ln>
                  <a:noFill/>
                </a:ln>
                <a:solidFill>
                  <a:prstClr val="black"/>
                </a:solidFill>
                <a:effectLst/>
                <a:uLnTx/>
                <a:uFillTx/>
                <a:latin typeface="Gadugi"/>
                <a:ea typeface="+mn-ea"/>
                <a:cs typeface="Gadugi"/>
              </a:rPr>
              <a:t>Otras Personas con el Rol de Moderador / Productor</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Visualice a las personas que se han conectado con el rol de Moderador o Productos al evento. Si ellos encienden su cámara Ud. podrá ver su imagen. </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p:txBody>
      </p:sp>
      <p:sp>
        <p:nvSpPr>
          <p:cNvPr id="46" name="object 8">
            <a:extLst>
              <a:ext uri="{FF2B5EF4-FFF2-40B4-BE49-F238E27FC236}">
                <a16:creationId xmlns:a16="http://schemas.microsoft.com/office/drawing/2014/main" id="{F7762B84-EFE0-40A6-A08A-67969486D6C6}"/>
              </a:ext>
            </a:extLst>
          </p:cNvPr>
          <p:cNvSpPr txBox="1"/>
          <p:nvPr/>
        </p:nvSpPr>
        <p:spPr>
          <a:xfrm>
            <a:off x="317504" y="4975215"/>
            <a:ext cx="1545511" cy="876522"/>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kumimoji="0" lang="es-ES" sz="650" b="1" i="0" u="none" strike="noStrike" kern="1200" cap="none" spc="-10" normalizeH="0" baseline="0" noProof="0" dirty="0">
                <a:ln>
                  <a:noFill/>
                </a:ln>
                <a:solidFill>
                  <a:prstClr val="black"/>
                </a:solidFill>
                <a:effectLst/>
                <a:uLnTx/>
                <a:uFillTx/>
                <a:latin typeface="Gadugi"/>
                <a:ea typeface="+mn-ea"/>
                <a:cs typeface="Gadugi"/>
              </a:rPr>
              <a:t>Habilite su micrófono y/o su cámara para interactuar con el equipo de Moderadores / Productores</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Visualice a las personas que se han conectado con el rol de Moderador o Productos al evento. Si ellos encienden su cámara Ud. podrá ver su imagen. </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p:txBody>
      </p:sp>
      <p:sp>
        <p:nvSpPr>
          <p:cNvPr id="59" name="object 35">
            <a:extLst>
              <a:ext uri="{FF2B5EF4-FFF2-40B4-BE49-F238E27FC236}">
                <a16:creationId xmlns:a16="http://schemas.microsoft.com/office/drawing/2014/main" id="{9AAB78E3-F56B-402A-A210-772DBC674FEA}"/>
              </a:ext>
            </a:extLst>
          </p:cNvPr>
          <p:cNvSpPr/>
          <p:nvPr/>
        </p:nvSpPr>
        <p:spPr>
          <a:xfrm rot="16200000">
            <a:off x="2215515" y="4991100"/>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62" name="object 35">
            <a:extLst>
              <a:ext uri="{FF2B5EF4-FFF2-40B4-BE49-F238E27FC236}">
                <a16:creationId xmlns:a16="http://schemas.microsoft.com/office/drawing/2014/main" id="{E16A17F8-6AC0-4775-990E-2A0B80FC3A8A}"/>
              </a:ext>
            </a:extLst>
          </p:cNvPr>
          <p:cNvSpPr/>
          <p:nvPr/>
        </p:nvSpPr>
        <p:spPr>
          <a:xfrm rot="16200000">
            <a:off x="2884503" y="4987925"/>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64" name="object 22">
            <a:extLst>
              <a:ext uri="{FF2B5EF4-FFF2-40B4-BE49-F238E27FC236}">
                <a16:creationId xmlns:a16="http://schemas.microsoft.com/office/drawing/2014/main" id="{0FFD8488-CE5E-47E9-A8FF-5BDF9AD372E1}"/>
              </a:ext>
            </a:extLst>
          </p:cNvPr>
          <p:cNvSpPr/>
          <p:nvPr/>
        </p:nvSpPr>
        <p:spPr>
          <a:xfrm>
            <a:off x="3244216" y="5334000"/>
            <a:ext cx="32384" cy="28956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FF0000"/>
          </a:solidFill>
          <a:ln>
            <a:solidFill>
              <a:srgbClr val="FF0000"/>
            </a:solidFill>
          </a:ln>
        </p:spPr>
        <p:txBody>
          <a:bodyPr wrap="square" lIns="0" tIns="0" rIns="0" bIns="0" rtlCol="0"/>
          <a:lstStyle/>
          <a:p>
            <a:endParaRPr lang="es-ES"/>
          </a:p>
        </p:txBody>
      </p:sp>
      <p:sp>
        <p:nvSpPr>
          <p:cNvPr id="66" name="object 35">
            <a:extLst>
              <a:ext uri="{FF2B5EF4-FFF2-40B4-BE49-F238E27FC236}">
                <a16:creationId xmlns:a16="http://schemas.microsoft.com/office/drawing/2014/main" id="{99AD905F-C864-4F01-B519-886018E0707A}"/>
              </a:ext>
            </a:extLst>
          </p:cNvPr>
          <p:cNvSpPr/>
          <p:nvPr/>
        </p:nvSpPr>
        <p:spPr>
          <a:xfrm>
            <a:off x="3788055" y="6289040"/>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object 35">
            <a:extLst>
              <a:ext uri="{FF2B5EF4-FFF2-40B4-BE49-F238E27FC236}">
                <a16:creationId xmlns:a16="http://schemas.microsoft.com/office/drawing/2014/main" id="{9150E669-CB4B-41B6-BCBC-029E3D68924D}"/>
              </a:ext>
            </a:extLst>
          </p:cNvPr>
          <p:cNvSpPr/>
          <p:nvPr/>
        </p:nvSpPr>
        <p:spPr>
          <a:xfrm>
            <a:off x="3788055" y="5943600"/>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Oval 67">
            <a:extLst>
              <a:ext uri="{FF2B5EF4-FFF2-40B4-BE49-F238E27FC236}">
                <a16:creationId xmlns:a16="http://schemas.microsoft.com/office/drawing/2014/main" id="{86EC2BA8-7F7C-4FCE-8F02-A264D180F557}"/>
              </a:ext>
            </a:extLst>
          </p:cNvPr>
          <p:cNvSpPr/>
          <p:nvPr/>
        </p:nvSpPr>
        <p:spPr>
          <a:xfrm>
            <a:off x="3755459" y="5873168"/>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object 8">
            <a:extLst>
              <a:ext uri="{FF2B5EF4-FFF2-40B4-BE49-F238E27FC236}">
                <a16:creationId xmlns:a16="http://schemas.microsoft.com/office/drawing/2014/main" id="{E59D6082-2B08-4CF0-8A55-98726DDD7158}"/>
              </a:ext>
            </a:extLst>
          </p:cNvPr>
          <p:cNvSpPr txBox="1"/>
          <p:nvPr/>
        </p:nvSpPr>
        <p:spPr>
          <a:xfrm>
            <a:off x="2895600" y="6846574"/>
            <a:ext cx="1371600" cy="876522"/>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kumimoji="0" lang="es-ES" sz="650" b="1" i="0" u="none" strike="noStrike" kern="1200" cap="none" spc="-10" normalizeH="0" baseline="0" noProof="0" dirty="0">
                <a:ln>
                  <a:noFill/>
                </a:ln>
                <a:solidFill>
                  <a:prstClr val="black"/>
                </a:solidFill>
                <a:effectLst/>
                <a:uLnTx/>
                <a:uFillTx/>
                <a:latin typeface="Gadugi"/>
                <a:ea typeface="+mn-ea"/>
                <a:cs typeface="Gadugi"/>
              </a:rPr>
              <a:t>Comparta su pantalla con el Presentador</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Comparta su pantalla con el presentador para ultimar los detalles del evento. El Presentador podrá presentar su pantalla en el evento en directo si así lo desea. </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p:txBody>
      </p:sp>
      <p:sp>
        <p:nvSpPr>
          <p:cNvPr id="69" name="Oval 68">
            <a:extLst>
              <a:ext uri="{FF2B5EF4-FFF2-40B4-BE49-F238E27FC236}">
                <a16:creationId xmlns:a16="http://schemas.microsoft.com/office/drawing/2014/main" id="{BC891F67-B092-493A-9762-8A054B09AEEC}"/>
              </a:ext>
            </a:extLst>
          </p:cNvPr>
          <p:cNvSpPr/>
          <p:nvPr/>
        </p:nvSpPr>
        <p:spPr>
          <a:xfrm>
            <a:off x="3214685" y="5591175"/>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object 35">
            <a:extLst>
              <a:ext uri="{FF2B5EF4-FFF2-40B4-BE49-F238E27FC236}">
                <a16:creationId xmlns:a16="http://schemas.microsoft.com/office/drawing/2014/main" id="{284E92AF-C2CC-4BF9-A635-F244420F7C37}"/>
              </a:ext>
            </a:extLst>
          </p:cNvPr>
          <p:cNvSpPr/>
          <p:nvPr/>
        </p:nvSpPr>
        <p:spPr>
          <a:xfrm rot="16200000">
            <a:off x="2527458" y="4051458"/>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72" name="object 35">
            <a:extLst>
              <a:ext uri="{FF2B5EF4-FFF2-40B4-BE49-F238E27FC236}">
                <a16:creationId xmlns:a16="http://schemas.microsoft.com/office/drawing/2014/main" id="{62B7624D-523B-4257-8D36-017B3BDE1822}"/>
              </a:ext>
            </a:extLst>
          </p:cNvPr>
          <p:cNvSpPr/>
          <p:nvPr/>
        </p:nvSpPr>
        <p:spPr>
          <a:xfrm rot="16200000">
            <a:off x="3970496" y="4052096"/>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75" name="object 35">
            <a:extLst>
              <a:ext uri="{FF2B5EF4-FFF2-40B4-BE49-F238E27FC236}">
                <a16:creationId xmlns:a16="http://schemas.microsoft.com/office/drawing/2014/main" id="{3FB5E575-BCD0-4846-8D6C-FBB26D79D238}"/>
              </a:ext>
            </a:extLst>
          </p:cNvPr>
          <p:cNvSpPr/>
          <p:nvPr/>
        </p:nvSpPr>
        <p:spPr>
          <a:xfrm>
            <a:off x="4340503" y="4911672"/>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object 35">
            <a:extLst>
              <a:ext uri="{FF2B5EF4-FFF2-40B4-BE49-F238E27FC236}">
                <a16:creationId xmlns:a16="http://schemas.microsoft.com/office/drawing/2014/main" id="{B1A301B5-C66A-40CE-B183-CC47E15DE2C1}"/>
              </a:ext>
            </a:extLst>
          </p:cNvPr>
          <p:cNvSpPr/>
          <p:nvPr/>
        </p:nvSpPr>
        <p:spPr>
          <a:xfrm>
            <a:off x="4340503" y="4398171"/>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Oval 76">
            <a:extLst>
              <a:ext uri="{FF2B5EF4-FFF2-40B4-BE49-F238E27FC236}">
                <a16:creationId xmlns:a16="http://schemas.microsoft.com/office/drawing/2014/main" id="{DD6EAA2A-57E6-4ACA-8E7D-9BE15F39D68F}"/>
              </a:ext>
            </a:extLst>
          </p:cNvPr>
          <p:cNvSpPr/>
          <p:nvPr/>
        </p:nvSpPr>
        <p:spPr>
          <a:xfrm>
            <a:off x="4306273" y="5588791"/>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8" name="object 35">
            <a:extLst>
              <a:ext uri="{FF2B5EF4-FFF2-40B4-BE49-F238E27FC236}">
                <a16:creationId xmlns:a16="http://schemas.microsoft.com/office/drawing/2014/main" id="{4BDC9C74-B06A-4AC2-8EB6-5589C84E94AA}"/>
              </a:ext>
            </a:extLst>
          </p:cNvPr>
          <p:cNvSpPr/>
          <p:nvPr/>
        </p:nvSpPr>
        <p:spPr>
          <a:xfrm rot="16200000">
            <a:off x="3255962" y="4051458"/>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79" name="object 35">
            <a:extLst>
              <a:ext uri="{FF2B5EF4-FFF2-40B4-BE49-F238E27FC236}">
                <a16:creationId xmlns:a16="http://schemas.microsoft.com/office/drawing/2014/main" id="{A062E3F5-E18C-419D-8A1D-A601E440580E}"/>
              </a:ext>
            </a:extLst>
          </p:cNvPr>
          <p:cNvSpPr/>
          <p:nvPr/>
        </p:nvSpPr>
        <p:spPr>
          <a:xfrm rot="16200000">
            <a:off x="1936900" y="4054473"/>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80" name="object 35">
            <a:extLst>
              <a:ext uri="{FF2B5EF4-FFF2-40B4-BE49-F238E27FC236}">
                <a16:creationId xmlns:a16="http://schemas.microsoft.com/office/drawing/2014/main" id="{A907B160-3DDF-4900-8E58-E2B145E597AC}"/>
              </a:ext>
            </a:extLst>
          </p:cNvPr>
          <p:cNvSpPr/>
          <p:nvPr/>
        </p:nvSpPr>
        <p:spPr>
          <a:xfrm rot="16200000">
            <a:off x="1513027" y="4054473"/>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70" name="object 8">
            <a:extLst>
              <a:ext uri="{FF2B5EF4-FFF2-40B4-BE49-F238E27FC236}">
                <a16:creationId xmlns:a16="http://schemas.microsoft.com/office/drawing/2014/main" id="{CDA0B563-B9F7-4091-841F-5531753B54C0}"/>
              </a:ext>
            </a:extLst>
          </p:cNvPr>
          <p:cNvSpPr txBox="1"/>
          <p:nvPr/>
        </p:nvSpPr>
        <p:spPr>
          <a:xfrm>
            <a:off x="197744" y="3619283"/>
            <a:ext cx="1292401" cy="1176604"/>
          </a:xfrm>
          <a:prstGeom prst="rect">
            <a:avLst/>
          </a:prstGeom>
          <a:solidFill>
            <a:srgbClr val="E6E6E6"/>
          </a:solidFill>
        </p:spPr>
        <p:txBody>
          <a:bodyPr vert="horz" wrap="square" lIns="0" tIns="75565" rIns="0" bIns="0" rtlCol="0">
            <a:spAutoFit/>
          </a:bodyPr>
          <a:lstStyle/>
          <a:p>
            <a:pPr marL="90805" lvl="0">
              <a:spcBef>
                <a:spcPts val="595"/>
              </a:spcBef>
            </a:pPr>
            <a:r>
              <a:rPr kumimoji="0" lang="es-ES" sz="650" b="1" i="0" u="none" strike="noStrike" kern="1200" cap="none" spc="-10" normalizeH="0" baseline="0" noProof="0" dirty="0">
                <a:ln>
                  <a:noFill/>
                </a:ln>
                <a:solidFill>
                  <a:prstClr val="black"/>
                </a:solidFill>
                <a:effectLst/>
                <a:uLnTx/>
                <a:uFillTx/>
                <a:latin typeface="Gadugi"/>
                <a:ea typeface="+mn-ea"/>
                <a:cs typeface="Gadugi"/>
              </a:rPr>
              <a:t>Habilite el Chat </a:t>
            </a:r>
            <a:r>
              <a:rPr lang="es-ES" sz="650" b="1" spc="-10" dirty="0">
                <a:solidFill>
                  <a:prstClr val="black"/>
                </a:solidFill>
                <a:latin typeface="Gadugi"/>
                <a:cs typeface="Gadugi"/>
              </a:rPr>
              <a:t>Privado para interactuar con el equipo de Moderadores / Productores </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a:r>
              <a:rPr kumimoji="0" lang="es-ES" sz="650" b="0" i="0" u="none" strike="noStrike" kern="1200" cap="none" spc="-5" normalizeH="0" baseline="0" noProof="0" dirty="0">
                <a:ln>
                  <a:noFill/>
                </a:ln>
                <a:solidFill>
                  <a:srgbClr val="505050"/>
                </a:solidFill>
                <a:effectLst/>
                <a:uLnTx/>
                <a:uFillTx/>
                <a:latin typeface="Gadugi"/>
                <a:ea typeface="+mn-ea"/>
                <a:cs typeface="Gadugi"/>
              </a:rPr>
              <a:t>Mantenga abierto este chat durante todo el evento para coordinarse con el equipo de moderadores / productores de forma privada. Este chat no </a:t>
            </a:r>
            <a:r>
              <a:rPr lang="es-ES" sz="650" spc="-5" dirty="0">
                <a:solidFill>
                  <a:srgbClr val="505050"/>
                </a:solidFill>
                <a:latin typeface="Gadugi"/>
              </a:rPr>
              <a:t>será visible para los asistentes.</a:t>
            </a:r>
          </a:p>
        </p:txBody>
      </p:sp>
      <p:sp>
        <p:nvSpPr>
          <p:cNvPr id="81" name="Oval 80">
            <a:extLst>
              <a:ext uri="{FF2B5EF4-FFF2-40B4-BE49-F238E27FC236}">
                <a16:creationId xmlns:a16="http://schemas.microsoft.com/office/drawing/2014/main" id="{17F89737-B73C-424E-BCC8-9776106B5EA8}"/>
              </a:ext>
            </a:extLst>
          </p:cNvPr>
          <p:cNvSpPr/>
          <p:nvPr/>
        </p:nvSpPr>
        <p:spPr>
          <a:xfrm>
            <a:off x="5262562" y="6551326"/>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Oval 9">
            <a:extLst>
              <a:ext uri="{FF2B5EF4-FFF2-40B4-BE49-F238E27FC236}">
                <a16:creationId xmlns:a16="http://schemas.microsoft.com/office/drawing/2014/main" id="{845101C1-773B-486D-90F6-F0C8474A38BD}"/>
              </a:ext>
            </a:extLst>
          </p:cNvPr>
          <p:cNvSpPr/>
          <p:nvPr/>
        </p:nvSpPr>
        <p:spPr>
          <a:xfrm>
            <a:off x="4728700" y="5600700"/>
            <a:ext cx="353963" cy="3486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object 35">
            <a:extLst>
              <a:ext uri="{FF2B5EF4-FFF2-40B4-BE49-F238E27FC236}">
                <a16:creationId xmlns:a16="http://schemas.microsoft.com/office/drawing/2014/main" id="{C8B16033-1630-433A-99A0-B8E973E54249}"/>
              </a:ext>
            </a:extLst>
          </p:cNvPr>
          <p:cNvSpPr/>
          <p:nvPr/>
        </p:nvSpPr>
        <p:spPr>
          <a:xfrm rot="16200000">
            <a:off x="8640446" y="2748915"/>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endParaRPr lang="es-ES"/>
          </a:p>
        </p:txBody>
      </p:sp>
      <p:sp>
        <p:nvSpPr>
          <p:cNvPr id="84" name="Oval 83">
            <a:extLst>
              <a:ext uri="{FF2B5EF4-FFF2-40B4-BE49-F238E27FC236}">
                <a16:creationId xmlns:a16="http://schemas.microsoft.com/office/drawing/2014/main" id="{B7B02A93-60B8-469C-B11C-90A0ADDA1EB2}"/>
              </a:ext>
            </a:extLst>
          </p:cNvPr>
          <p:cNvSpPr/>
          <p:nvPr/>
        </p:nvSpPr>
        <p:spPr>
          <a:xfrm>
            <a:off x="7924800" y="2927961"/>
            <a:ext cx="353963" cy="34863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5" name="object 35">
            <a:extLst>
              <a:ext uri="{FF2B5EF4-FFF2-40B4-BE49-F238E27FC236}">
                <a16:creationId xmlns:a16="http://schemas.microsoft.com/office/drawing/2014/main" id="{EBBB2FA4-C555-4898-9E25-95944B94E202}"/>
              </a:ext>
            </a:extLst>
          </p:cNvPr>
          <p:cNvSpPr/>
          <p:nvPr/>
        </p:nvSpPr>
        <p:spPr>
          <a:xfrm>
            <a:off x="8992515" y="3108960"/>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object 8">
            <a:extLst>
              <a:ext uri="{FF2B5EF4-FFF2-40B4-BE49-F238E27FC236}">
                <a16:creationId xmlns:a16="http://schemas.microsoft.com/office/drawing/2014/main" id="{D7A14D85-A3EE-4EEB-94AA-E6FE2556D395}"/>
              </a:ext>
            </a:extLst>
          </p:cNvPr>
          <p:cNvSpPr txBox="1"/>
          <p:nvPr/>
        </p:nvSpPr>
        <p:spPr>
          <a:xfrm>
            <a:off x="8548677" y="3523151"/>
            <a:ext cx="1290102" cy="2777042"/>
          </a:xfrm>
          <a:prstGeom prst="rect">
            <a:avLst/>
          </a:prstGeom>
          <a:solidFill>
            <a:srgbClr val="E6E6E6"/>
          </a:solidFill>
        </p:spPr>
        <p:txBody>
          <a:bodyPr vert="horz" wrap="square" lIns="0" tIns="75565" rIns="0" bIns="0" rtlCol="0">
            <a:spAutoFit/>
          </a:bodyPr>
          <a:lstStyle/>
          <a:p>
            <a:pPr marL="90805" marR="0" lvl="0" indent="0" algn="l" defTabSz="914400" rtl="0" eaLnBrk="1" fontAlgn="auto" latinLnBrk="0" hangingPunct="1">
              <a:lnSpc>
                <a:spcPct val="100000"/>
              </a:lnSpc>
              <a:spcBef>
                <a:spcPts val="595"/>
              </a:spcBef>
              <a:spcAft>
                <a:spcPts val="0"/>
              </a:spcAft>
              <a:buClrTx/>
              <a:buSzTx/>
              <a:buFontTx/>
              <a:buNone/>
              <a:tabLst/>
              <a:defRPr/>
            </a:pPr>
            <a:r>
              <a:rPr kumimoji="0" lang="es-ES" sz="650" b="1" i="0" u="none" strike="noStrike" kern="1200" cap="none" spc="-10" normalizeH="0" baseline="0" noProof="0" dirty="0">
                <a:ln>
                  <a:noFill/>
                </a:ln>
                <a:solidFill>
                  <a:prstClr val="black"/>
                </a:solidFill>
                <a:effectLst/>
                <a:uLnTx/>
                <a:uFillTx/>
                <a:latin typeface="Gadugi"/>
                <a:ea typeface="+mn-ea"/>
                <a:cs typeface="Gadugi"/>
              </a:rPr>
              <a:t>Modere la ventana de Preguntas y Respuestas de los Asistentes</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En esta ventana se dará respuesta durante el evento a las preguntas que realicen los asistentes. Recuerde que los asistentes No tienen acceso al micrófono. </a:t>
            </a:r>
          </a:p>
          <a:p>
            <a:pPr marL="90805" marR="247650" lvl="0" indent="0" algn="l" defTabSz="914400" rtl="0" eaLnBrk="1" fontAlgn="auto" latinLnBrk="0" hangingPunct="1">
              <a:lnSpc>
                <a:spcPct val="100000"/>
              </a:lnSpc>
              <a:spcBef>
                <a:spcPts val="0"/>
              </a:spcBef>
              <a:spcAft>
                <a:spcPts val="0"/>
              </a:spcAft>
              <a:buClrTx/>
              <a:buSzTx/>
              <a:buFontTx/>
              <a:buNone/>
              <a:tabLst/>
              <a:defRPr/>
            </a:pPr>
            <a:endParaRPr kumimoji="0" lang="es-ES" sz="650" b="0" i="0" u="none" strike="noStrike" kern="1200" cap="none" spc="-5" normalizeH="0" baseline="0" noProof="0" dirty="0">
              <a:ln>
                <a:noFill/>
              </a:ln>
              <a:solidFill>
                <a:srgbClr val="505050"/>
              </a:solidFill>
              <a:effectLst/>
              <a:uLnTx/>
              <a:uFillTx/>
              <a:latin typeface="Gadugi"/>
              <a:ea typeface="+mn-ea"/>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Las preguntas de l</a:t>
            </a:r>
            <a:r>
              <a:rPr lang="es-ES" sz="650" spc="-5" dirty="0">
                <a:solidFill>
                  <a:srgbClr val="505050"/>
                </a:solidFill>
                <a:latin typeface="Gadugi"/>
                <a:cs typeface="Gadugi"/>
              </a:rPr>
              <a:t>os asistentes se desplegarán en la </a:t>
            </a:r>
            <a:r>
              <a:rPr lang="es-ES" sz="650" u="sng" spc="-5" dirty="0">
                <a:solidFill>
                  <a:srgbClr val="505050"/>
                </a:solidFill>
                <a:latin typeface="Gadugi"/>
                <a:cs typeface="Gadugi"/>
              </a:rPr>
              <a:t>pestaña de Nuevas </a:t>
            </a:r>
            <a:r>
              <a:rPr lang="es-ES" sz="650" spc="-5" dirty="0">
                <a:solidFill>
                  <a:srgbClr val="505050"/>
                </a:solidFill>
                <a:latin typeface="Gadugi"/>
                <a:cs typeface="Gadugi"/>
              </a:rPr>
              <a:t>y Ud. Podrá decidir su publicación a todo el grupo de asistentes con lo que pasarán a la </a:t>
            </a:r>
            <a:r>
              <a:rPr lang="es-ES" sz="650" u="sng" spc="-5" dirty="0">
                <a:solidFill>
                  <a:srgbClr val="505050"/>
                </a:solidFill>
                <a:latin typeface="Gadugi"/>
                <a:cs typeface="Gadugi"/>
              </a:rPr>
              <a:t>pestaña de Publicadas</a:t>
            </a:r>
            <a:r>
              <a:rPr lang="es-ES" sz="650" spc="-5" dirty="0">
                <a:solidFill>
                  <a:srgbClr val="505050"/>
                </a:solidFill>
                <a:latin typeface="Gadugi"/>
                <a:cs typeface="Gadugi"/>
              </a:rPr>
              <a:t>, o mantener su respuesta de forma privada. </a:t>
            </a:r>
          </a:p>
          <a:p>
            <a:pPr marL="90805" marR="247650" lvl="0" indent="0" algn="l" defTabSz="914400" rtl="0" eaLnBrk="1" fontAlgn="auto" latinLnBrk="0" hangingPunct="1">
              <a:lnSpc>
                <a:spcPct val="100000"/>
              </a:lnSpc>
              <a:spcBef>
                <a:spcPts val="0"/>
              </a:spcBef>
              <a:spcAft>
                <a:spcPts val="0"/>
              </a:spcAft>
              <a:buClrTx/>
              <a:buSzTx/>
              <a:buFontTx/>
              <a:buNone/>
              <a:tabLst/>
              <a:defRPr/>
            </a:pPr>
            <a:endParaRPr lang="es-ES" sz="650" spc="-5" dirty="0">
              <a:solidFill>
                <a:srgbClr val="505050"/>
              </a:solidFill>
              <a:latin typeface="Gadugi"/>
              <a:cs typeface="Gadugi"/>
            </a:endParaRPr>
          </a:p>
          <a:p>
            <a:pPr marL="90805" marR="247650" lvl="0" indent="0" algn="l" defTabSz="914400" rtl="0" eaLnBrk="1" fontAlgn="auto" latinLnBrk="0" hangingPunct="1">
              <a:lnSpc>
                <a:spcPct val="100000"/>
              </a:lnSpc>
              <a:spcBef>
                <a:spcPts val="0"/>
              </a:spcBef>
              <a:spcAft>
                <a:spcPts val="0"/>
              </a:spcAft>
              <a:buClrTx/>
              <a:buSzTx/>
              <a:buFontTx/>
              <a:buNone/>
              <a:tabLst/>
              <a:defRPr/>
            </a:pPr>
            <a:r>
              <a:rPr kumimoji="0" lang="es-ES" sz="650" b="0" i="0" u="none" strike="noStrike" kern="1200" cap="none" spc="-5" normalizeH="0" baseline="0" noProof="0" dirty="0">
                <a:ln>
                  <a:noFill/>
                </a:ln>
                <a:solidFill>
                  <a:srgbClr val="505050"/>
                </a:solidFill>
                <a:effectLst/>
                <a:uLnTx/>
                <a:uFillTx/>
                <a:latin typeface="Gadugi"/>
                <a:ea typeface="+mn-ea"/>
                <a:cs typeface="Gadugi"/>
              </a:rPr>
              <a:t>También podrá descartar aquellas </a:t>
            </a:r>
            <a:r>
              <a:rPr lang="es-ES" sz="650" spc="-5" dirty="0">
                <a:solidFill>
                  <a:srgbClr val="505050"/>
                </a:solidFill>
                <a:latin typeface="Gadugi"/>
                <a:cs typeface="Gadugi"/>
              </a:rPr>
              <a:t>preguntas redundantes o fuera de contexto, que pasarán a la </a:t>
            </a:r>
            <a:r>
              <a:rPr lang="es-ES" sz="650" u="sng" spc="-5" dirty="0">
                <a:solidFill>
                  <a:srgbClr val="505050"/>
                </a:solidFill>
                <a:latin typeface="Gadugi"/>
                <a:cs typeface="Gadugi"/>
              </a:rPr>
              <a:t>pestaña de Descartadas</a:t>
            </a:r>
            <a:r>
              <a:rPr lang="es-ES" sz="650" spc="-5" dirty="0">
                <a:solidFill>
                  <a:srgbClr val="505050"/>
                </a:solidFill>
                <a:latin typeface="Gadugi"/>
                <a:cs typeface="Gadugi"/>
              </a:rPr>
              <a:t>. </a:t>
            </a:r>
            <a:endParaRPr kumimoji="0" lang="es-ES" sz="650" b="0" i="0" u="none" strike="noStrike" kern="1200" cap="none" spc="0" normalizeH="0" baseline="0" noProof="0" dirty="0">
              <a:ln>
                <a:noFill/>
              </a:ln>
              <a:solidFill>
                <a:prstClr val="black"/>
              </a:solidFill>
              <a:effectLst/>
              <a:uLnTx/>
              <a:uFillTx/>
              <a:latin typeface="Gadugi"/>
              <a:ea typeface="+mn-ea"/>
              <a:cs typeface="Gadugi"/>
            </a:endParaRPr>
          </a:p>
        </p:txBody>
      </p:sp>
    </p:spTree>
    <p:extLst>
      <p:ext uri="{BB962C8B-B14F-4D97-AF65-F5344CB8AC3E}">
        <p14:creationId xmlns:p14="http://schemas.microsoft.com/office/powerpoint/2010/main" val="1685234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0362BE3-1D86-41B3-9BC6-01D23D11B1D6}"/>
              </a:ext>
            </a:extLst>
          </p:cNvPr>
          <p:cNvPicPr>
            <a:picLocks noChangeAspect="1"/>
          </p:cNvPicPr>
          <p:nvPr/>
        </p:nvPicPr>
        <p:blipFill>
          <a:blip r:embed="rId2"/>
          <a:stretch>
            <a:fillRect/>
          </a:stretch>
        </p:blipFill>
        <p:spPr>
          <a:xfrm>
            <a:off x="7531857" y="6039739"/>
            <a:ext cx="2219979" cy="1445717"/>
          </a:xfrm>
          <a:prstGeom prst="rect">
            <a:avLst/>
          </a:prstGeom>
        </p:spPr>
      </p:pic>
      <p:pic>
        <p:nvPicPr>
          <p:cNvPr id="13" name="Picture 12">
            <a:extLst>
              <a:ext uri="{FF2B5EF4-FFF2-40B4-BE49-F238E27FC236}">
                <a16:creationId xmlns:a16="http://schemas.microsoft.com/office/drawing/2014/main" id="{8C6CE344-AF5C-4604-B0D2-0DBE820371CF}"/>
              </a:ext>
            </a:extLst>
          </p:cNvPr>
          <p:cNvPicPr>
            <a:picLocks noChangeAspect="1"/>
          </p:cNvPicPr>
          <p:nvPr/>
        </p:nvPicPr>
        <p:blipFill>
          <a:blip r:embed="rId3"/>
          <a:stretch>
            <a:fillRect/>
          </a:stretch>
        </p:blipFill>
        <p:spPr>
          <a:xfrm>
            <a:off x="4495800" y="1084656"/>
            <a:ext cx="2663595" cy="6400800"/>
          </a:xfrm>
          <a:prstGeom prst="rect">
            <a:avLst/>
          </a:prstGeom>
        </p:spPr>
      </p:pic>
      <p:sp>
        <p:nvSpPr>
          <p:cNvPr id="2" name="object 2"/>
          <p:cNvSpPr txBox="1"/>
          <p:nvPr/>
        </p:nvSpPr>
        <p:spPr>
          <a:xfrm>
            <a:off x="226570" y="1084656"/>
            <a:ext cx="4497823" cy="873957"/>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lang="es-ES" sz="2800" b="0" i="0" u="none" strike="noStrike" kern="1200" cap="none" spc="-5" normalizeH="0" baseline="0" noProof="0" dirty="0">
                <a:ln>
                  <a:noFill/>
                </a:ln>
                <a:solidFill>
                  <a:srgbClr val="6264A7"/>
                </a:solidFill>
                <a:effectLst/>
                <a:uLnTx/>
                <a:uFillTx/>
                <a:latin typeface="Segoe UI Light"/>
                <a:ea typeface="+mn-ea"/>
                <a:cs typeface="Segoe UI Light"/>
              </a:rPr>
              <a:t>Administrar los recursos tras el evento</a:t>
            </a:r>
            <a:endParaRPr kumimoji="0" sz="2800" b="0" i="0" u="none" strike="noStrike" kern="1200" cap="none" spc="0" normalizeH="0" baseline="0" noProof="0" dirty="0">
              <a:ln>
                <a:noFill/>
              </a:ln>
              <a:solidFill>
                <a:prstClr val="black"/>
              </a:solidFill>
              <a:effectLst/>
              <a:uLnTx/>
              <a:uFillTx/>
              <a:latin typeface="Segoe UI Light"/>
              <a:ea typeface="+mn-ea"/>
              <a:cs typeface="Segoe UI Light"/>
            </a:endParaRPr>
          </a:p>
        </p:txBody>
      </p:sp>
      <p:sp>
        <p:nvSpPr>
          <p:cNvPr id="3" name="object 3"/>
          <p:cNvSpPr txBox="1"/>
          <p:nvPr/>
        </p:nvSpPr>
        <p:spPr>
          <a:xfrm>
            <a:off x="263201" y="2025053"/>
            <a:ext cx="4232600" cy="42832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lang="es-ES" sz="900" dirty="0">
                <a:solidFill>
                  <a:prstClr val="black"/>
                </a:solidFill>
                <a:latin typeface="Gadugi"/>
                <a:cs typeface="Gadugi"/>
              </a:rPr>
              <a:t>Justo al finalizar el evento, piche en el icono de Información y accederá a los recursos guardados: Listado de Asistentes, Grabación del evento y listado de Preguntas y Respuestas Q&amp;A</a:t>
            </a:r>
            <a:endParaRPr kumimoji="0" sz="900" b="0" i="0" u="none" strike="noStrike" kern="1200" cap="none" spc="0" normalizeH="0" baseline="0" noProof="0" dirty="0">
              <a:ln>
                <a:noFill/>
              </a:ln>
              <a:solidFill>
                <a:prstClr val="black"/>
              </a:solidFill>
              <a:effectLst/>
              <a:uLnTx/>
              <a:uFillTx/>
              <a:latin typeface="Gadugi"/>
              <a:ea typeface="+mn-ea"/>
              <a:cs typeface="Gadugi"/>
            </a:endParaRPr>
          </a:p>
        </p:txBody>
      </p:sp>
      <p:sp>
        <p:nvSpPr>
          <p:cNvPr id="11" name="object 11"/>
          <p:cNvSpPr/>
          <p:nvPr/>
        </p:nvSpPr>
        <p:spPr>
          <a:xfrm>
            <a:off x="0" y="0"/>
            <a:ext cx="10058400" cy="914400"/>
          </a:xfrm>
          <a:custGeom>
            <a:avLst/>
            <a:gdLst/>
            <a:ahLst/>
            <a:cxnLst/>
            <a:rect l="l" t="t" r="r" b="b"/>
            <a:pathLst>
              <a:path w="10058400" h="914400">
                <a:moveTo>
                  <a:pt x="10058400" y="914400"/>
                </a:moveTo>
                <a:lnTo>
                  <a:pt x="0" y="914400"/>
                </a:lnTo>
                <a:lnTo>
                  <a:pt x="0" y="0"/>
                </a:lnTo>
                <a:lnTo>
                  <a:pt x="10058400" y="0"/>
                </a:lnTo>
                <a:lnTo>
                  <a:pt x="10058400" y="914400"/>
                </a:lnTo>
                <a:close/>
              </a:path>
            </a:pathLst>
          </a:custGeom>
          <a:solidFill>
            <a:srgbClr val="6264A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txBox="1">
            <a:spLocks noGrp="1"/>
          </p:cNvSpPr>
          <p:nvPr>
            <p:ph type="title"/>
          </p:nvPr>
        </p:nvSpPr>
        <p:spPr>
          <a:xfrm>
            <a:off x="226674" y="145891"/>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grpSp>
        <p:nvGrpSpPr>
          <p:cNvPr id="6" name="Group 5">
            <a:extLst>
              <a:ext uri="{FF2B5EF4-FFF2-40B4-BE49-F238E27FC236}">
                <a16:creationId xmlns:a16="http://schemas.microsoft.com/office/drawing/2014/main" id="{2073CFD3-7D8F-425A-BE4A-8BF454056472}"/>
              </a:ext>
            </a:extLst>
          </p:cNvPr>
          <p:cNvGrpSpPr/>
          <p:nvPr/>
        </p:nvGrpSpPr>
        <p:grpSpPr>
          <a:xfrm>
            <a:off x="381000" y="2590800"/>
            <a:ext cx="3605216" cy="2007215"/>
            <a:chOff x="380999" y="2905360"/>
            <a:chExt cx="3605216" cy="2007215"/>
          </a:xfrm>
        </p:grpSpPr>
        <p:pic>
          <p:nvPicPr>
            <p:cNvPr id="5" name="Picture 4">
              <a:extLst>
                <a:ext uri="{FF2B5EF4-FFF2-40B4-BE49-F238E27FC236}">
                  <a16:creationId xmlns:a16="http://schemas.microsoft.com/office/drawing/2014/main" id="{5401077C-FCAE-4A84-9517-A3B109A99BA4}"/>
                </a:ext>
              </a:extLst>
            </p:cNvPr>
            <p:cNvPicPr>
              <a:picLocks noChangeAspect="1"/>
            </p:cNvPicPr>
            <p:nvPr/>
          </p:nvPicPr>
          <p:blipFill>
            <a:blip r:embed="rId4"/>
            <a:stretch>
              <a:fillRect/>
            </a:stretch>
          </p:blipFill>
          <p:spPr>
            <a:xfrm>
              <a:off x="380999" y="2905360"/>
              <a:ext cx="3581391" cy="2007215"/>
            </a:xfrm>
            <a:prstGeom prst="rect">
              <a:avLst/>
            </a:prstGeom>
          </p:spPr>
        </p:pic>
        <p:sp>
          <p:nvSpPr>
            <p:cNvPr id="8" name="Oval 7">
              <a:extLst>
                <a:ext uri="{FF2B5EF4-FFF2-40B4-BE49-F238E27FC236}">
                  <a16:creationId xmlns:a16="http://schemas.microsoft.com/office/drawing/2014/main" id="{BEC20BF3-2117-46D6-B41C-13C22787941A}"/>
                </a:ext>
              </a:extLst>
            </p:cNvPr>
            <p:cNvSpPr/>
            <p:nvPr/>
          </p:nvSpPr>
          <p:spPr>
            <a:xfrm>
              <a:off x="3757615" y="2995615"/>
              <a:ext cx="228600" cy="2286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4" name="object 35">
            <a:extLst>
              <a:ext uri="{FF2B5EF4-FFF2-40B4-BE49-F238E27FC236}">
                <a16:creationId xmlns:a16="http://schemas.microsoft.com/office/drawing/2014/main" id="{9E5F92A2-1B5B-4818-A021-BF313A7686EC}"/>
              </a:ext>
            </a:extLst>
          </p:cNvPr>
          <p:cNvSpPr/>
          <p:nvPr/>
        </p:nvSpPr>
        <p:spPr>
          <a:xfrm rot="16200000">
            <a:off x="4344921" y="2436880"/>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val 14">
            <a:extLst>
              <a:ext uri="{FF2B5EF4-FFF2-40B4-BE49-F238E27FC236}">
                <a16:creationId xmlns:a16="http://schemas.microsoft.com/office/drawing/2014/main" id="{16677BE0-80A6-497D-813E-67D351628268}"/>
              </a:ext>
            </a:extLst>
          </p:cNvPr>
          <p:cNvSpPr/>
          <p:nvPr/>
        </p:nvSpPr>
        <p:spPr>
          <a:xfrm>
            <a:off x="4635500" y="2749550"/>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bject 35">
            <a:extLst>
              <a:ext uri="{FF2B5EF4-FFF2-40B4-BE49-F238E27FC236}">
                <a16:creationId xmlns:a16="http://schemas.microsoft.com/office/drawing/2014/main" id="{6F04C934-D7B5-4A6D-998C-B9FBA04388E5}"/>
              </a:ext>
            </a:extLst>
          </p:cNvPr>
          <p:cNvSpPr/>
          <p:nvPr/>
        </p:nvSpPr>
        <p:spPr>
          <a:xfrm rot="16200000">
            <a:off x="6975476" y="6674899"/>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FF0000"/>
          </a:solidFill>
          <a:ln>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val 16">
            <a:extLst>
              <a:ext uri="{FF2B5EF4-FFF2-40B4-BE49-F238E27FC236}">
                <a16:creationId xmlns:a16="http://schemas.microsoft.com/office/drawing/2014/main" id="{383FDC5A-2DCE-46A9-AEC0-D998887A3507}"/>
              </a:ext>
            </a:extLst>
          </p:cNvPr>
          <p:cNvSpPr/>
          <p:nvPr/>
        </p:nvSpPr>
        <p:spPr>
          <a:xfrm>
            <a:off x="7266055" y="6987569"/>
            <a:ext cx="87136" cy="9903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bject 3">
            <a:extLst>
              <a:ext uri="{FF2B5EF4-FFF2-40B4-BE49-F238E27FC236}">
                <a16:creationId xmlns:a16="http://schemas.microsoft.com/office/drawing/2014/main" id="{610C5A96-B0BF-449C-AD28-1A1478D4C1E1}"/>
              </a:ext>
            </a:extLst>
          </p:cNvPr>
          <p:cNvSpPr txBox="1"/>
          <p:nvPr/>
        </p:nvSpPr>
        <p:spPr>
          <a:xfrm>
            <a:off x="7543800" y="5105400"/>
            <a:ext cx="2219978" cy="56682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lang="es-ES" sz="900" dirty="0">
                <a:solidFill>
                  <a:prstClr val="black"/>
                </a:solidFill>
                <a:latin typeface="Gadugi"/>
                <a:cs typeface="Gadugi"/>
              </a:rPr>
              <a:t>Desde esta ventana de diálogo Ud. Puede descargar los recursos que han quedado disponibles para el Productor tras la finalización del evento. </a:t>
            </a:r>
            <a:endParaRPr kumimoji="0" sz="900" b="0" i="0" u="none" strike="noStrike" kern="1200" cap="none" spc="0" normalizeH="0" baseline="0" noProof="0" dirty="0">
              <a:ln>
                <a:noFill/>
              </a:ln>
              <a:solidFill>
                <a:prstClr val="black"/>
              </a:solidFill>
              <a:effectLst/>
              <a:uLnTx/>
              <a:uFillTx/>
              <a:latin typeface="Gadugi"/>
              <a:ea typeface="+mn-ea"/>
              <a:cs typeface="Gadugi"/>
            </a:endParaRPr>
          </a:p>
        </p:txBody>
      </p:sp>
      <p:sp>
        <p:nvSpPr>
          <p:cNvPr id="20" name="object 3">
            <a:extLst>
              <a:ext uri="{FF2B5EF4-FFF2-40B4-BE49-F238E27FC236}">
                <a16:creationId xmlns:a16="http://schemas.microsoft.com/office/drawing/2014/main" id="{9024DB59-EAA6-4AB3-B0FC-7712B1FE4730}"/>
              </a:ext>
            </a:extLst>
          </p:cNvPr>
          <p:cNvSpPr txBox="1"/>
          <p:nvPr/>
        </p:nvSpPr>
        <p:spPr>
          <a:xfrm>
            <a:off x="226570" y="4890704"/>
            <a:ext cx="4232600" cy="289823"/>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865630" algn="l"/>
              </a:tabLst>
              <a:defRPr/>
            </a:pPr>
            <a:r>
              <a:rPr lang="es-ES" sz="900" dirty="0">
                <a:solidFill>
                  <a:prstClr val="black"/>
                </a:solidFill>
                <a:latin typeface="Gadugi"/>
                <a:cs typeface="Gadugi"/>
              </a:rPr>
              <a:t>Si quiere acceder a esta opción en otro momento, abra la invitación al evento desde Teams y acceda a esta ventana. </a:t>
            </a:r>
            <a:endParaRPr kumimoji="0" sz="900" b="0" i="0" u="none" strike="noStrike" kern="1200" cap="none" spc="0" normalizeH="0" baseline="0" noProof="0" dirty="0">
              <a:ln>
                <a:noFill/>
              </a:ln>
              <a:solidFill>
                <a:prstClr val="black"/>
              </a:solidFill>
              <a:effectLst/>
              <a:uLnTx/>
              <a:uFillTx/>
              <a:latin typeface="Gadugi"/>
              <a:ea typeface="+mn-ea"/>
              <a:cs typeface="Gadugi"/>
            </a:endParaRPr>
          </a:p>
        </p:txBody>
      </p:sp>
    </p:spTree>
    <p:extLst>
      <p:ext uri="{BB962C8B-B14F-4D97-AF65-F5344CB8AC3E}">
        <p14:creationId xmlns:p14="http://schemas.microsoft.com/office/powerpoint/2010/main" val="122822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32818C63CE54D439B42EC74C61157FE" ma:contentTypeVersion="3" ma:contentTypeDescription="Crear nuevo documento." ma:contentTypeScope="" ma:versionID="c5a206be431b1be13dec1241fa393594">
  <xsd:schema xmlns:xsd="http://www.w3.org/2001/XMLSchema" xmlns:xs="http://www.w3.org/2001/XMLSchema" xmlns:p="http://schemas.microsoft.com/office/2006/metadata/properties" xmlns:ns2="9b8059df-6b05-48aa-841f-cb80de20a8d0" targetNamespace="http://schemas.microsoft.com/office/2006/metadata/properties" ma:root="true" ma:fieldsID="574eeb3673dfba1b8d0b8f6ff69914bd" ns2:_="">
    <xsd:import namespace="9b8059df-6b05-48aa-841f-cb80de20a8d0"/>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8059df-6b05-48aa-841f-cb80de20a8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7E49F3-C3FE-4A08-B403-5ACBF6F2735C}">
  <ds:schemaRefs>
    <ds:schemaRef ds:uri="http://schemas.microsoft.com/office/2006/documentManagement/types"/>
    <ds:schemaRef ds:uri="8202a283-0d88-4453-a9e1-991690cead84"/>
    <ds:schemaRef ds:uri="782081ad-726c-4084-aec0-bfd39afbe0b3"/>
    <ds:schemaRef ds:uri="http://schemas.microsoft.com/office/2006/metadata/properties"/>
    <ds:schemaRef ds:uri="http://schemas.microsoft.com/office/infopath/2007/PartnerControls"/>
    <ds:schemaRef ds:uri="http://schemas.openxmlformats.org/package/2006/metadata/core-properties"/>
    <ds:schemaRef ds:uri="http://schemas.microsoft.com/sharepoint/v3"/>
    <ds:schemaRef ds:uri="http://purl.org/dc/elements/1.1/"/>
    <ds:schemaRef ds:uri="http://www.w3.org/XML/1998/namespace"/>
    <ds:schemaRef ds:uri="http://purl.org/dc/dcmitype/"/>
    <ds:schemaRef ds:uri="http://purl.org/dc/terms/"/>
  </ds:schemaRefs>
</ds:datastoreItem>
</file>

<file path=customXml/itemProps2.xml><?xml version="1.0" encoding="utf-8"?>
<ds:datastoreItem xmlns:ds="http://schemas.openxmlformats.org/officeDocument/2006/customXml" ds:itemID="{709063AE-AC2A-420C-99CD-9A9E8D980C41}">
  <ds:schemaRefs>
    <ds:schemaRef ds:uri="http://schemas.microsoft.com/sharepoint/v3/contenttype/forms"/>
  </ds:schemaRefs>
</ds:datastoreItem>
</file>

<file path=customXml/itemProps3.xml><?xml version="1.0" encoding="utf-8"?>
<ds:datastoreItem xmlns:ds="http://schemas.openxmlformats.org/officeDocument/2006/customXml" ds:itemID="{20CD24BE-47FF-4976-9993-4BD88050905D}"/>
</file>

<file path=docProps/app.xml><?xml version="1.0" encoding="utf-8"?>
<Properties xmlns="http://schemas.openxmlformats.org/officeDocument/2006/extended-properties" xmlns:vt="http://schemas.openxmlformats.org/officeDocument/2006/docPropsVTypes">
  <Template/>
  <TotalTime>805</TotalTime>
  <Words>1775</Words>
  <Application>Microsoft Office PowerPoint</Application>
  <PresentationFormat>Custom</PresentationFormat>
  <Paragraphs>116</Paragraphs>
  <Slides>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Segoe UI Light</vt:lpstr>
      <vt:lpstr>Arial</vt:lpstr>
      <vt:lpstr>Segoe UI</vt:lpstr>
      <vt:lpstr>Calibri</vt:lpstr>
      <vt:lpstr>Gadugi</vt:lpstr>
      <vt:lpstr>Office Theme</vt:lpstr>
      <vt:lpstr>Microsoft Teams</vt:lpstr>
      <vt:lpstr>Microsoft Teams</vt:lpstr>
      <vt:lpstr>Microsoft Teams</vt:lpstr>
      <vt:lpstr>Microsoft Teams</vt:lpstr>
      <vt:lpstr>Microsoft Teams</vt:lpstr>
      <vt:lpstr>Microsoft Teams</vt:lpstr>
      <vt:lpstr>Microsoft Teams</vt:lpstr>
      <vt:lpstr>Microsoft Teams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Teams QS.pptx</dc:title>
  <dc:creator>v-yuhlu</dc:creator>
  <cp:lastModifiedBy>Sofia Virgos</cp:lastModifiedBy>
  <cp:revision>2</cp:revision>
  <cp:lastPrinted>2020-03-16T14:41:14Z</cp:lastPrinted>
  <dcterms:created xsi:type="dcterms:W3CDTF">2019-11-28T23:06:00Z</dcterms:created>
  <dcterms:modified xsi:type="dcterms:W3CDTF">2020-03-25T16:59:07Z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2018-10-26T00:00:00Z</vt:filetime>
  </property>
  <property fmtid="{D5CDD505-2E9C-101B-9397-08002B2CF9AE}" pid="3" name="LastSaved">
    <vt:filetime>2019-11-28T00:00:00Z</vt:filetime>
  </property>
  <property fmtid="{D5CDD505-2E9C-101B-9397-08002B2CF9AE}" pid="4" name="ContentTypeId">
    <vt:lpwstr>0x010100732818C63CE54D439B42EC74C61157FE</vt:lpwstr>
  </property>
  <property fmtid="{D5CDD505-2E9C-101B-9397-08002B2CF9AE}" pid="5" name="Order">
    <vt:r8>83500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