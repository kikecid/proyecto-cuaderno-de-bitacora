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sldIdLst>
    <p:sldId id="261" r:id="rId5"/>
    <p:sldId id="264" r:id="rId6"/>
    <p:sldId id="262" r:id="rId7"/>
    <p:sldId id="263" r:id="rId8"/>
  </p:sldIdLst>
  <p:sldSz cx="10058400" cy="7772400"/>
  <p:notesSz cx="10058400" cy="7772400"/>
  <p:embeddedFontLst>
    <p:embeddedFont>
      <p:font typeface="Calibri" panose="020F0502020204030204" pitchFamily="34" charset="0"/>
      <p:regular r:id="rId9"/>
      <p:bold r:id="rId10"/>
      <p:italic r:id="rId11"/>
      <p:boldItalic r:id="rId12"/>
    </p:embeddedFont>
    <p:embeddedFont>
      <p:font typeface="Gadugi" panose="020B0502040204020203" pitchFamily="34" charset="0"/>
      <p:regular r:id="rId13"/>
      <p:bold r:id="rId14"/>
    </p:embeddedFont>
    <p:embeddedFont>
      <p:font typeface="Segoe UI Light" panose="020B0502040204020203" pitchFamily="34" charset="0"/>
      <p:regular r:id="rId15"/>
      <p:italic r:id="rId16"/>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2D2D"/>
    <a:srgbClr val="6264A7"/>
    <a:srgbClr val="313030"/>
    <a:srgbClr val="3334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DF6742-EB15-4DE2-8D25-0197F9CC4825}" v="83" dt="2020-03-26T12:04:16.510"/>
    <p1510:client id="{5C9C8DAE-526B-4CFF-B9A5-C6C6E5FEBFDB}" v="2" dt="2020-03-18T08:32:09.717"/>
    <p1510:client id="{CEEDF745-5151-45AE-A1AD-6725812C5037}" v="80" dt="2020-03-17T11:49:51.9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67" autoAdjust="0"/>
  </p:normalViewPr>
  <p:slideViewPr>
    <p:cSldViewPr>
      <p:cViewPr varScale="1">
        <p:scale>
          <a:sx n="77" d="100"/>
          <a:sy n="77" d="100"/>
        </p:scale>
        <p:origin x="981"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font" Target="fonts/font6.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fia Virgos" userId="S::sovirgos@microsoft.com::d47d2493-4da4-4fc2-940a-b6ad527ada2b" providerId="AD" clId="Web-{31DF6742-EB15-4DE2-8D25-0197F9CC4825}"/>
    <pc:docChg chg="modSld">
      <pc:chgData name="Sofia Virgos" userId="S::sovirgos@microsoft.com::d47d2493-4da4-4fc2-940a-b6ad527ada2b" providerId="AD" clId="Web-{31DF6742-EB15-4DE2-8D25-0197F9CC4825}" dt="2020-03-26T12:04:16.510" v="82" actId="20577"/>
      <pc:docMkLst>
        <pc:docMk/>
      </pc:docMkLst>
      <pc:sldChg chg="modSp">
        <pc:chgData name="Sofia Virgos" userId="S::sovirgos@microsoft.com::d47d2493-4da4-4fc2-940a-b6ad527ada2b" providerId="AD" clId="Web-{31DF6742-EB15-4DE2-8D25-0197F9CC4825}" dt="2020-03-26T12:04:16.510" v="81" actId="20577"/>
        <pc:sldMkLst>
          <pc:docMk/>
          <pc:sldMk cId="1598343965" sldId="264"/>
        </pc:sldMkLst>
        <pc:spChg chg="mod">
          <ac:chgData name="Sofia Virgos" userId="S::sovirgos@microsoft.com::d47d2493-4da4-4fc2-940a-b6ad527ada2b" providerId="AD" clId="Web-{31DF6742-EB15-4DE2-8D25-0197F9CC4825}" dt="2020-03-26T12:04:16.510" v="81" actId="20577"/>
          <ac:spMkLst>
            <pc:docMk/>
            <pc:sldMk cId="1598343965" sldId="264"/>
            <ac:spMk id="1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0058400" cy="914400"/>
          </a:xfrm>
          <a:custGeom>
            <a:avLst/>
            <a:gdLst/>
            <a:ahLst/>
            <a:cxnLst/>
            <a:rect l="l" t="t" r="r" b="b"/>
            <a:pathLst>
              <a:path w="10058400" h="914400">
                <a:moveTo>
                  <a:pt x="10058400" y="914400"/>
                </a:moveTo>
                <a:lnTo>
                  <a:pt x="0" y="914400"/>
                </a:lnTo>
                <a:lnTo>
                  <a:pt x="0" y="0"/>
                </a:lnTo>
                <a:lnTo>
                  <a:pt x="10058400" y="0"/>
                </a:lnTo>
                <a:lnTo>
                  <a:pt x="10058400" y="914400"/>
                </a:lnTo>
                <a:close/>
              </a:path>
            </a:pathLst>
          </a:custGeom>
          <a:solidFill>
            <a:srgbClr val="6264A7"/>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chemeClr val="bg1"/>
                </a:solidFill>
                <a:latin typeface="Gadugi"/>
                <a:cs typeface="Gadug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Gadugi"/>
                <a:cs typeface="Gadugi"/>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220687" y="3311100"/>
            <a:ext cx="4509134" cy="4123690"/>
          </a:xfrm>
          <a:prstGeom prst="rect">
            <a:avLst/>
          </a:prstGeom>
        </p:spPr>
        <p:txBody>
          <a:bodyPr wrap="square" lIns="0" tIns="0" rIns="0" bIns="0">
            <a:spAutoFit/>
          </a:bodyPr>
          <a:lstStyle>
            <a:lvl1pPr>
              <a:defRPr sz="2750" b="0" i="0">
                <a:solidFill>
                  <a:srgbClr val="6264A7"/>
                </a:solidFill>
                <a:latin typeface="Segoe UI Light"/>
                <a:cs typeface="Segoe UI Light"/>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3/26/2020</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Gadugi"/>
                <a:cs typeface="Gadug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3/26/2020</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3/26/2020</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26674" y="147378"/>
            <a:ext cx="9605051" cy="635000"/>
          </a:xfrm>
          <a:prstGeom prst="rect">
            <a:avLst/>
          </a:prstGeom>
        </p:spPr>
        <p:txBody>
          <a:bodyPr wrap="square" lIns="0" tIns="0" rIns="0" bIns="0">
            <a:spAutoFit/>
          </a:bodyPr>
          <a:lstStyle>
            <a:lvl1pPr>
              <a:defRPr sz="4000" b="0" i="0">
                <a:solidFill>
                  <a:schemeClr val="bg1"/>
                </a:solidFill>
                <a:latin typeface="Gadugi"/>
                <a:cs typeface="Gadugi"/>
              </a:defRPr>
            </a:lvl1pPr>
          </a:lstStyle>
          <a:p>
            <a:endParaRPr/>
          </a:p>
        </p:txBody>
      </p:sp>
      <p:sp>
        <p:nvSpPr>
          <p:cNvPr id="3" name="Holder 3"/>
          <p:cNvSpPr>
            <a:spLocks noGrp="1"/>
          </p:cNvSpPr>
          <p:nvPr>
            <p:ph type="body" idx="1"/>
          </p:nvPr>
        </p:nvSpPr>
        <p:spPr>
          <a:xfrm>
            <a:off x="502920" y="1787652"/>
            <a:ext cx="9052560"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3/26/2020</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jpg"/><Relationship Id="rId7"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886711" y="3025139"/>
            <a:ext cx="7627619" cy="4174235"/>
          </a:xfrm>
          <a:prstGeom prst="rect">
            <a:avLst/>
          </a:prstGeom>
          <a:blipFill>
            <a:blip r:embed="rId2" cstate="print"/>
            <a:stretch>
              <a:fillRect/>
            </a:stretch>
          </a:blipFill>
        </p:spPr>
        <p:txBody>
          <a:bodyPr wrap="square" lIns="0" tIns="0" rIns="0" bIns="0" rtlCol="0"/>
          <a:lstStyle/>
          <a:p>
            <a:endParaRPr lang="es-ES"/>
          </a:p>
        </p:txBody>
      </p:sp>
      <p:pic>
        <p:nvPicPr>
          <p:cNvPr id="59" name="Picture 58">
            <a:extLst>
              <a:ext uri="{FF2B5EF4-FFF2-40B4-BE49-F238E27FC236}">
                <a16:creationId xmlns:a16="http://schemas.microsoft.com/office/drawing/2014/main" id="{E3ABA8BD-0E63-49F0-A07B-74804A326748}"/>
              </a:ext>
            </a:extLst>
          </p:cNvPr>
          <p:cNvPicPr>
            <a:picLocks noChangeAspect="1"/>
          </p:cNvPicPr>
          <p:nvPr/>
        </p:nvPicPr>
        <p:blipFill>
          <a:blip r:embed="rId3"/>
          <a:stretch>
            <a:fillRect/>
          </a:stretch>
        </p:blipFill>
        <p:spPr>
          <a:xfrm>
            <a:off x="1959443" y="3053340"/>
            <a:ext cx="7573175" cy="4089929"/>
          </a:xfrm>
          <a:prstGeom prst="rect">
            <a:avLst/>
          </a:prstGeom>
        </p:spPr>
      </p:pic>
      <p:sp>
        <p:nvSpPr>
          <p:cNvPr id="25" name="object 25"/>
          <p:cNvSpPr/>
          <p:nvPr/>
        </p:nvSpPr>
        <p:spPr>
          <a:xfrm>
            <a:off x="9583802" y="2709917"/>
            <a:ext cx="48765" cy="1105164"/>
          </a:xfrm>
          <a:custGeom>
            <a:avLst/>
            <a:gdLst/>
            <a:ahLst/>
            <a:cxnLst/>
            <a:rect l="l" t="t" r="r" b="b"/>
            <a:pathLst>
              <a:path w="38100" h="603885">
                <a:moveTo>
                  <a:pt x="28955" y="603504"/>
                </a:moveTo>
                <a:lnTo>
                  <a:pt x="0" y="601980"/>
                </a:lnTo>
                <a:lnTo>
                  <a:pt x="9144" y="0"/>
                </a:lnTo>
                <a:lnTo>
                  <a:pt x="38100" y="0"/>
                </a:lnTo>
                <a:lnTo>
                  <a:pt x="28955" y="603504"/>
                </a:lnTo>
                <a:close/>
              </a:path>
            </a:pathLst>
          </a:custGeom>
          <a:solidFill>
            <a:srgbClr val="6264A7"/>
          </a:solidFill>
        </p:spPr>
        <p:txBody>
          <a:bodyPr wrap="square" lIns="0" tIns="0" rIns="0" bIns="0" rtlCol="0"/>
          <a:lstStyle/>
          <a:p>
            <a:endParaRPr lang="es-ES"/>
          </a:p>
        </p:txBody>
      </p:sp>
      <p:sp>
        <p:nvSpPr>
          <p:cNvPr id="2" name="object 2"/>
          <p:cNvSpPr txBox="1"/>
          <p:nvPr/>
        </p:nvSpPr>
        <p:spPr>
          <a:xfrm>
            <a:off x="257010" y="979896"/>
            <a:ext cx="9648990" cy="1054776"/>
          </a:xfrm>
          <a:prstGeom prst="rect">
            <a:avLst/>
          </a:prstGeom>
        </p:spPr>
        <p:txBody>
          <a:bodyPr vert="horz" wrap="square" lIns="0" tIns="158115" rIns="0" bIns="0" rtlCol="0">
            <a:spAutoFit/>
          </a:bodyPr>
          <a:lstStyle/>
          <a:p>
            <a:pPr marL="12700">
              <a:lnSpc>
                <a:spcPct val="100000"/>
              </a:lnSpc>
              <a:spcBef>
                <a:spcPts val="1245"/>
              </a:spcBef>
            </a:pPr>
            <a:r>
              <a:rPr lang="es-ES" sz="2800" b="0" spc="-5" dirty="0">
                <a:solidFill>
                  <a:srgbClr val="6264A7"/>
                </a:solidFill>
                <a:latin typeface="Segoe UI Light"/>
                <a:cs typeface="Segoe UI Light"/>
              </a:rPr>
              <a:t>Convocar Una reunión desde Teams</a:t>
            </a:r>
            <a:endParaRPr sz="2800" dirty="0">
              <a:latin typeface="Segoe UI Light"/>
              <a:cs typeface="Segoe UI Light"/>
            </a:endParaRPr>
          </a:p>
          <a:p>
            <a:pPr marL="12700">
              <a:lnSpc>
                <a:spcPct val="100000"/>
              </a:lnSpc>
              <a:spcBef>
                <a:spcPts val="525"/>
              </a:spcBef>
            </a:pPr>
            <a:r>
              <a:rPr sz="1300" spc="-10" dirty="0">
                <a:solidFill>
                  <a:srgbClr val="505050"/>
                </a:solidFill>
                <a:latin typeface="Gadugi"/>
                <a:cs typeface="Gadugi"/>
              </a:rPr>
              <a:t>¿Es </a:t>
            </a:r>
            <a:r>
              <a:rPr sz="1300" spc="-5" dirty="0">
                <a:solidFill>
                  <a:srgbClr val="505050"/>
                </a:solidFill>
                <a:latin typeface="Gadugi"/>
                <a:cs typeface="Gadugi"/>
              </a:rPr>
              <a:t>la </a:t>
            </a:r>
            <a:r>
              <a:rPr sz="1300" spc="-10" dirty="0">
                <a:solidFill>
                  <a:srgbClr val="505050"/>
                </a:solidFill>
                <a:latin typeface="Gadugi"/>
                <a:cs typeface="Gadugi"/>
              </a:rPr>
              <a:t>primera vez </a:t>
            </a:r>
            <a:r>
              <a:rPr sz="1300" spc="-5" dirty="0">
                <a:solidFill>
                  <a:srgbClr val="505050"/>
                </a:solidFill>
                <a:latin typeface="Gadugi"/>
                <a:cs typeface="Gadugi"/>
              </a:rPr>
              <a:t>que usa Microsoft </a:t>
            </a:r>
            <a:r>
              <a:rPr sz="1300" spc="-30" dirty="0">
                <a:solidFill>
                  <a:srgbClr val="505050"/>
                </a:solidFill>
                <a:latin typeface="Gadugi"/>
                <a:cs typeface="Gadugi"/>
              </a:rPr>
              <a:t>Teams? </a:t>
            </a:r>
            <a:r>
              <a:rPr lang="es-ES" sz="1300" spc="-10" dirty="0">
                <a:solidFill>
                  <a:srgbClr val="505050"/>
                </a:solidFill>
                <a:latin typeface="Gadugi"/>
                <a:cs typeface="Gadugi"/>
              </a:rPr>
              <a:t>Con esta </a:t>
            </a:r>
            <a:r>
              <a:rPr lang="es-ES" sz="1300" spc="-5" dirty="0">
                <a:solidFill>
                  <a:srgbClr val="505050"/>
                </a:solidFill>
                <a:latin typeface="Gadugi"/>
                <a:cs typeface="Gadugi"/>
              </a:rPr>
              <a:t>guía </a:t>
            </a:r>
            <a:r>
              <a:rPr lang="es-ES" sz="1300" spc="-10" dirty="0">
                <a:solidFill>
                  <a:srgbClr val="505050"/>
                </a:solidFill>
                <a:latin typeface="Gadugi"/>
                <a:cs typeface="Gadugi"/>
              </a:rPr>
              <a:t>aprenderá a convocar una reunión desde el Calendario de Outlook Integrado en Teams, sin necesidad de salir de la aplicación</a:t>
            </a:r>
            <a:r>
              <a:rPr sz="1300" spc="-10" dirty="0">
                <a:solidFill>
                  <a:srgbClr val="505050"/>
                </a:solidFill>
                <a:latin typeface="Gadugi"/>
                <a:cs typeface="Gadugi"/>
              </a:rPr>
              <a:t>.</a:t>
            </a:r>
            <a:endParaRPr sz="1300" dirty="0">
              <a:latin typeface="Gadugi"/>
              <a:cs typeface="Gadugi"/>
            </a:endParaRPr>
          </a:p>
        </p:txBody>
      </p:sp>
      <p:sp>
        <p:nvSpPr>
          <p:cNvPr id="3" name="object 3"/>
          <p:cNvSpPr txBox="1">
            <a:spLocks noGrp="1"/>
          </p:cNvSpPr>
          <p:nvPr>
            <p:ph type="title"/>
          </p:nvPr>
        </p:nvSpPr>
        <p:spPr>
          <a:xfrm>
            <a:off x="226674" y="147378"/>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4" name="object 4"/>
          <p:cNvSpPr/>
          <p:nvPr/>
        </p:nvSpPr>
        <p:spPr>
          <a:xfrm>
            <a:off x="8711183" y="0"/>
            <a:ext cx="1331975" cy="598932"/>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8308847" y="2057400"/>
            <a:ext cx="1503045" cy="772006"/>
          </a:xfrm>
          <a:prstGeom prst="rect">
            <a:avLst/>
          </a:prstGeom>
          <a:solidFill>
            <a:srgbClr val="E6E6E6"/>
          </a:solidFill>
        </p:spPr>
        <p:txBody>
          <a:bodyPr vert="horz" wrap="square" lIns="0" tIns="71120" rIns="0" bIns="0" rtlCol="0">
            <a:spAutoFit/>
          </a:bodyPr>
          <a:lstStyle/>
          <a:p>
            <a:pPr marL="123189" marR="142875">
              <a:lnSpc>
                <a:spcPct val="100000"/>
              </a:lnSpc>
              <a:spcBef>
                <a:spcPts val="560"/>
              </a:spcBef>
            </a:pPr>
            <a:r>
              <a:rPr lang="es-ES" sz="650" b="1" spc="-5">
                <a:latin typeface="Gadugi"/>
                <a:cs typeface="Gadugi"/>
              </a:rPr>
              <a:t>Cambiar la Vista del Calendario</a:t>
            </a:r>
            <a:endParaRPr lang="es-ES" sz="650">
              <a:latin typeface="Gadugi"/>
              <a:cs typeface="Gadugi"/>
            </a:endParaRPr>
          </a:p>
          <a:p>
            <a:pPr marL="123189" marR="237490">
              <a:lnSpc>
                <a:spcPct val="100000"/>
              </a:lnSpc>
            </a:pPr>
            <a:r>
              <a:rPr lang="es-ES" sz="650" spc="-5">
                <a:solidFill>
                  <a:srgbClr val="505050"/>
                </a:solidFill>
                <a:latin typeface="Gadugi"/>
                <a:cs typeface="Gadugi"/>
              </a:rPr>
              <a:t>Cambie la Vista de su calendario para ver la Semana laboral, la semana de 7 días, ó un sólo Día</a:t>
            </a:r>
          </a:p>
          <a:p>
            <a:pPr marL="123189" marR="237490">
              <a:lnSpc>
                <a:spcPct val="100000"/>
              </a:lnSpc>
            </a:pPr>
            <a:endParaRPr lang="es-ES" sz="650" spc="-5">
              <a:solidFill>
                <a:srgbClr val="505050"/>
              </a:solidFill>
              <a:latin typeface="Gadugi"/>
              <a:cs typeface="Gadugi"/>
            </a:endParaRPr>
          </a:p>
          <a:p>
            <a:pPr marL="123189" marR="237490">
              <a:lnSpc>
                <a:spcPct val="100000"/>
              </a:lnSpc>
            </a:pPr>
            <a:endParaRPr lang="es-ES" sz="650">
              <a:latin typeface="Gadugi"/>
              <a:cs typeface="Gadugi"/>
            </a:endParaRPr>
          </a:p>
        </p:txBody>
      </p:sp>
      <p:sp>
        <p:nvSpPr>
          <p:cNvPr id="13" name="object 13"/>
          <p:cNvSpPr txBox="1"/>
          <p:nvPr/>
        </p:nvSpPr>
        <p:spPr>
          <a:xfrm>
            <a:off x="3659122" y="2214498"/>
            <a:ext cx="1263650" cy="682879"/>
          </a:xfrm>
          <a:prstGeom prst="rect">
            <a:avLst/>
          </a:prstGeom>
          <a:solidFill>
            <a:srgbClr val="E6E6E6"/>
          </a:solidFill>
        </p:spPr>
        <p:txBody>
          <a:bodyPr vert="horz" wrap="square" lIns="0" tIns="43815" rIns="0" bIns="0" rtlCol="0">
            <a:spAutoFit/>
          </a:bodyPr>
          <a:lstStyle/>
          <a:p>
            <a:pPr marL="109220" marR="140335">
              <a:lnSpc>
                <a:spcPct val="100000"/>
              </a:lnSpc>
              <a:spcBef>
                <a:spcPts val="345"/>
              </a:spcBef>
            </a:pPr>
            <a:r>
              <a:rPr lang="es-ES" sz="650" b="1" spc="-5">
                <a:latin typeface="Gadugi"/>
                <a:cs typeface="Gadugi"/>
              </a:rPr>
              <a:t>Use la Barra de Comandos para más ayuda</a:t>
            </a:r>
          </a:p>
          <a:p>
            <a:pPr marL="109220" marR="140335">
              <a:lnSpc>
                <a:spcPct val="100000"/>
              </a:lnSpc>
              <a:spcBef>
                <a:spcPts val="345"/>
              </a:spcBef>
            </a:pPr>
            <a:r>
              <a:rPr lang="es-ES" sz="650" spc="-5">
                <a:solidFill>
                  <a:srgbClr val="505050"/>
                </a:solidFill>
                <a:latin typeface="Gadugi"/>
                <a:cs typeface="Gadugi"/>
              </a:rPr>
              <a:t>Teclee /Ayuda en la barra de comandos para acceder a la ayuda Online</a:t>
            </a:r>
          </a:p>
          <a:p>
            <a:pPr marL="109220" marR="140335">
              <a:lnSpc>
                <a:spcPct val="100000"/>
              </a:lnSpc>
              <a:spcBef>
                <a:spcPts val="345"/>
              </a:spcBef>
            </a:pPr>
            <a:endParaRPr lang="es-ES" sz="400" spc="-5">
              <a:solidFill>
                <a:srgbClr val="505050"/>
              </a:solidFill>
              <a:latin typeface="Gadugi"/>
              <a:cs typeface="Gadugi"/>
            </a:endParaRPr>
          </a:p>
        </p:txBody>
      </p:sp>
      <p:sp>
        <p:nvSpPr>
          <p:cNvPr id="17" name="object 17"/>
          <p:cNvSpPr txBox="1"/>
          <p:nvPr/>
        </p:nvSpPr>
        <p:spPr>
          <a:xfrm>
            <a:off x="2057400" y="2212975"/>
            <a:ext cx="1443226" cy="544380"/>
          </a:xfrm>
          <a:prstGeom prst="rect">
            <a:avLst/>
          </a:prstGeom>
          <a:solidFill>
            <a:srgbClr val="E6E6E6"/>
          </a:solidFill>
        </p:spPr>
        <p:txBody>
          <a:bodyPr vert="horz" wrap="square" lIns="0" tIns="43815" rIns="0" bIns="0" rtlCol="0">
            <a:spAutoFit/>
          </a:bodyPr>
          <a:lstStyle/>
          <a:p>
            <a:pPr marL="86360" marR="88265">
              <a:lnSpc>
                <a:spcPct val="100000"/>
              </a:lnSpc>
              <a:spcBef>
                <a:spcPts val="345"/>
              </a:spcBef>
            </a:pPr>
            <a:r>
              <a:rPr lang="es-ES" sz="650" b="1" spc="-5" dirty="0">
                <a:latin typeface="Gadugi"/>
                <a:cs typeface="Gadugi"/>
              </a:rPr>
              <a:t>Muévase en la Línea de tiempo </a:t>
            </a:r>
            <a:r>
              <a:rPr lang="es-ES" sz="650" spc="-5" dirty="0">
                <a:solidFill>
                  <a:srgbClr val="505050"/>
                </a:solidFill>
                <a:latin typeface="Gadugi"/>
                <a:cs typeface="Gadugi"/>
              </a:rPr>
              <a:t>Muévase hacia adelante o hacia atrás en las semanas de tu calendario para ver todas tus reuniones .</a:t>
            </a:r>
          </a:p>
        </p:txBody>
      </p:sp>
      <p:sp>
        <p:nvSpPr>
          <p:cNvPr id="18" name="object 18"/>
          <p:cNvSpPr/>
          <p:nvPr/>
        </p:nvSpPr>
        <p:spPr>
          <a:xfrm>
            <a:off x="9354311" y="3773170"/>
            <a:ext cx="105156" cy="105156"/>
          </a:xfrm>
          <a:prstGeom prst="rect">
            <a:avLst/>
          </a:prstGeom>
          <a:blipFill>
            <a:blip r:embed="rId5" cstate="print"/>
            <a:stretch>
              <a:fillRect/>
            </a:stretch>
          </a:blipFill>
        </p:spPr>
        <p:txBody>
          <a:bodyPr wrap="square" lIns="0" tIns="0" rIns="0" bIns="0" rtlCol="0"/>
          <a:lstStyle/>
          <a:p>
            <a:endParaRPr lang="es-ES"/>
          </a:p>
        </p:txBody>
      </p:sp>
      <p:sp>
        <p:nvSpPr>
          <p:cNvPr id="20" name="object 20"/>
          <p:cNvSpPr/>
          <p:nvPr/>
        </p:nvSpPr>
        <p:spPr>
          <a:xfrm>
            <a:off x="4191000" y="3145535"/>
            <a:ext cx="105156" cy="103632"/>
          </a:xfrm>
          <a:prstGeom prst="rect">
            <a:avLst/>
          </a:prstGeom>
          <a:blipFill>
            <a:blip r:embed="rId6" cstate="print"/>
            <a:stretch>
              <a:fillRect/>
            </a:stretch>
          </a:blipFill>
        </p:spPr>
        <p:txBody>
          <a:bodyPr wrap="square" lIns="0" tIns="0" rIns="0" bIns="0" rtlCol="0"/>
          <a:lstStyle/>
          <a:p>
            <a:endParaRPr lang="es-ES"/>
          </a:p>
        </p:txBody>
      </p:sp>
      <p:sp>
        <p:nvSpPr>
          <p:cNvPr id="22" name="object 22"/>
          <p:cNvSpPr/>
          <p:nvPr/>
        </p:nvSpPr>
        <p:spPr>
          <a:xfrm>
            <a:off x="4229479" y="2909316"/>
            <a:ext cx="32384" cy="28956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24" name="object 24"/>
          <p:cNvSpPr/>
          <p:nvPr/>
        </p:nvSpPr>
        <p:spPr>
          <a:xfrm>
            <a:off x="3323844" y="3628644"/>
            <a:ext cx="105156" cy="103632"/>
          </a:xfrm>
          <a:prstGeom prst="rect">
            <a:avLst/>
          </a:prstGeom>
          <a:blipFill>
            <a:blip r:embed="rId7" cstate="print"/>
            <a:stretch>
              <a:fillRect/>
            </a:stretch>
          </a:blipFill>
        </p:spPr>
        <p:txBody>
          <a:bodyPr wrap="square" lIns="0" tIns="0" rIns="0" bIns="0" rtlCol="0"/>
          <a:lstStyle/>
          <a:p>
            <a:endParaRPr lang="es-ES"/>
          </a:p>
        </p:txBody>
      </p:sp>
      <p:sp>
        <p:nvSpPr>
          <p:cNvPr id="33" name="object 33"/>
          <p:cNvSpPr/>
          <p:nvPr/>
        </p:nvSpPr>
        <p:spPr>
          <a:xfrm>
            <a:off x="7063931" y="3462341"/>
            <a:ext cx="103632" cy="105156"/>
          </a:xfrm>
          <a:prstGeom prst="rect">
            <a:avLst/>
          </a:prstGeom>
          <a:blipFill>
            <a:blip r:embed="rId8" cstate="print"/>
            <a:stretch>
              <a:fillRect/>
            </a:stretch>
          </a:blipFill>
        </p:spPr>
        <p:txBody>
          <a:bodyPr wrap="square" lIns="0" tIns="0" rIns="0" bIns="0" rtlCol="0"/>
          <a:lstStyle/>
          <a:p>
            <a:endParaRPr lang="es-ES"/>
          </a:p>
        </p:txBody>
      </p:sp>
      <p:sp>
        <p:nvSpPr>
          <p:cNvPr id="34" name="object 34"/>
          <p:cNvSpPr/>
          <p:nvPr/>
        </p:nvSpPr>
        <p:spPr>
          <a:xfrm>
            <a:off x="6400800" y="3505200"/>
            <a:ext cx="737870" cy="29209"/>
          </a:xfrm>
          <a:custGeom>
            <a:avLst/>
            <a:gdLst/>
            <a:ahLst/>
            <a:cxnLst/>
            <a:rect l="l" t="t" r="r" b="b"/>
            <a:pathLst>
              <a:path w="737870" h="29210">
                <a:moveTo>
                  <a:pt x="737616" y="28956"/>
                </a:moveTo>
                <a:lnTo>
                  <a:pt x="0" y="28956"/>
                </a:lnTo>
                <a:lnTo>
                  <a:pt x="0" y="0"/>
                </a:lnTo>
                <a:lnTo>
                  <a:pt x="737616" y="0"/>
                </a:lnTo>
                <a:lnTo>
                  <a:pt x="737616" y="28956"/>
                </a:lnTo>
                <a:close/>
              </a:path>
            </a:pathLst>
          </a:custGeom>
          <a:solidFill>
            <a:srgbClr val="6264A7"/>
          </a:solidFill>
        </p:spPr>
        <p:txBody>
          <a:bodyPr wrap="square" lIns="0" tIns="0" rIns="0" bIns="0" rtlCol="0"/>
          <a:lstStyle/>
          <a:p>
            <a:endParaRPr lang="es-ES"/>
          </a:p>
        </p:txBody>
      </p:sp>
      <p:sp>
        <p:nvSpPr>
          <p:cNvPr id="35" name="object 35"/>
          <p:cNvSpPr/>
          <p:nvPr/>
        </p:nvSpPr>
        <p:spPr>
          <a:xfrm>
            <a:off x="6400800" y="2783840"/>
            <a:ext cx="29209"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39" name="object 39"/>
          <p:cNvSpPr/>
          <p:nvPr/>
        </p:nvSpPr>
        <p:spPr>
          <a:xfrm>
            <a:off x="6978144" y="5401564"/>
            <a:ext cx="103632" cy="105156"/>
          </a:xfrm>
          <a:prstGeom prst="rect">
            <a:avLst/>
          </a:prstGeom>
          <a:blipFill>
            <a:blip r:embed="rId9" cstate="print"/>
            <a:stretch>
              <a:fillRect/>
            </a:stretch>
          </a:blipFill>
        </p:spPr>
        <p:txBody>
          <a:bodyPr wrap="square" lIns="0" tIns="0" rIns="0" bIns="0" rtlCol="0"/>
          <a:lstStyle/>
          <a:p>
            <a:endParaRPr lang="es-ES"/>
          </a:p>
        </p:txBody>
      </p:sp>
      <p:sp>
        <p:nvSpPr>
          <p:cNvPr id="43" name="object 43"/>
          <p:cNvSpPr/>
          <p:nvPr/>
        </p:nvSpPr>
        <p:spPr>
          <a:xfrm>
            <a:off x="8237854" y="3332353"/>
            <a:ext cx="105156" cy="105156"/>
          </a:xfrm>
          <a:prstGeom prst="rect">
            <a:avLst/>
          </a:prstGeom>
          <a:blipFill>
            <a:blip r:embed="rId10" cstate="print"/>
            <a:stretch>
              <a:fillRect/>
            </a:stretch>
          </a:blipFill>
        </p:spPr>
        <p:txBody>
          <a:bodyPr wrap="square" lIns="0" tIns="0" rIns="0" bIns="0" rtlCol="0"/>
          <a:lstStyle/>
          <a:p>
            <a:endParaRPr lang="es-ES"/>
          </a:p>
        </p:txBody>
      </p:sp>
      <p:sp>
        <p:nvSpPr>
          <p:cNvPr id="47" name="object 47"/>
          <p:cNvSpPr txBox="1"/>
          <p:nvPr/>
        </p:nvSpPr>
        <p:spPr>
          <a:xfrm>
            <a:off x="196595" y="4556759"/>
            <a:ext cx="1470660" cy="682879"/>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Pulse en Calendario para tener una vista de sus reuniones</a:t>
            </a:r>
          </a:p>
          <a:p>
            <a:pPr marL="92710" marR="103505">
              <a:lnSpc>
                <a:spcPct val="100000"/>
              </a:lnSpc>
              <a:spcBef>
                <a:spcPts val="345"/>
              </a:spcBef>
            </a:pPr>
            <a:r>
              <a:rPr lang="es-ES" sz="650" spc="-5" dirty="0">
                <a:solidFill>
                  <a:srgbClr val="505050"/>
                </a:solidFill>
                <a:latin typeface="Gadugi"/>
                <a:cs typeface="Gadugi"/>
              </a:rPr>
              <a:t>Este calendario está integrado con su calendario de Outlook. Todo lo que Ud. haga allí se verá reflejado en esta vista, y viceversa.</a:t>
            </a:r>
            <a:endParaRPr lang="es-ES" sz="650" dirty="0">
              <a:latin typeface="Gadugi"/>
              <a:cs typeface="Gadugi"/>
            </a:endParaRPr>
          </a:p>
        </p:txBody>
      </p:sp>
      <p:sp>
        <p:nvSpPr>
          <p:cNvPr id="48" name="object 48"/>
          <p:cNvSpPr/>
          <p:nvPr/>
        </p:nvSpPr>
        <p:spPr>
          <a:xfrm>
            <a:off x="1647444" y="6640067"/>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49" name="object 49"/>
          <p:cNvSpPr/>
          <p:nvPr/>
        </p:nvSpPr>
        <p:spPr>
          <a:xfrm>
            <a:off x="1876044" y="6606540"/>
            <a:ext cx="103632" cy="105156"/>
          </a:xfrm>
          <a:prstGeom prst="rect">
            <a:avLst/>
          </a:prstGeom>
          <a:blipFill>
            <a:blip r:embed="rId11" cstate="print"/>
            <a:stretch>
              <a:fillRect/>
            </a:stretch>
          </a:blipFill>
        </p:spPr>
        <p:txBody>
          <a:bodyPr wrap="square" lIns="0" tIns="0" rIns="0" bIns="0" rtlCol="0"/>
          <a:lstStyle/>
          <a:p>
            <a:endParaRPr lang="es-ES"/>
          </a:p>
        </p:txBody>
      </p:sp>
      <p:sp>
        <p:nvSpPr>
          <p:cNvPr id="50" name="object 50"/>
          <p:cNvSpPr txBox="1"/>
          <p:nvPr/>
        </p:nvSpPr>
        <p:spPr>
          <a:xfrm>
            <a:off x="178307" y="6324600"/>
            <a:ext cx="1469390" cy="445635"/>
          </a:xfrm>
          <a:prstGeom prst="rect">
            <a:avLst/>
          </a:prstGeom>
          <a:solidFill>
            <a:srgbClr val="E6E6E6"/>
          </a:solidFill>
        </p:spPr>
        <p:txBody>
          <a:bodyPr vert="horz" wrap="square" lIns="0" tIns="45085" rIns="0" bIns="0" rtlCol="0">
            <a:spAutoFit/>
          </a:bodyPr>
          <a:lstStyle/>
          <a:p>
            <a:pPr marL="91440" algn="just">
              <a:lnSpc>
                <a:spcPct val="100000"/>
              </a:lnSpc>
              <a:spcBef>
                <a:spcPts val="355"/>
              </a:spcBef>
            </a:pPr>
            <a:r>
              <a:rPr lang="es-ES" sz="650" b="1" spc="-10">
                <a:latin typeface="Gadugi"/>
                <a:cs typeface="Gadugi"/>
              </a:rPr>
              <a:t>Ayuda</a:t>
            </a:r>
            <a:endParaRPr lang="es-ES" sz="650">
              <a:latin typeface="Gadugi"/>
              <a:cs typeface="Gadugi"/>
            </a:endParaRPr>
          </a:p>
          <a:p>
            <a:pPr marL="91440" marR="239395" algn="just">
              <a:lnSpc>
                <a:spcPct val="100000"/>
              </a:lnSpc>
            </a:pPr>
            <a:r>
              <a:rPr lang="es-ES" sz="650" spc="-5">
                <a:solidFill>
                  <a:srgbClr val="505050"/>
                </a:solidFill>
                <a:latin typeface="Gadugi"/>
                <a:cs typeface="Gadugi"/>
              </a:rPr>
              <a:t>Para mayor información puede acceder a la Ayuda Online de Teams.</a:t>
            </a:r>
            <a:endParaRPr lang="es-ES" sz="650">
              <a:latin typeface="Gadugi"/>
              <a:cs typeface="Gadugi"/>
            </a:endParaRPr>
          </a:p>
        </p:txBody>
      </p:sp>
      <p:sp>
        <p:nvSpPr>
          <p:cNvPr id="51" name="object 51"/>
          <p:cNvSpPr/>
          <p:nvPr/>
        </p:nvSpPr>
        <p:spPr>
          <a:xfrm>
            <a:off x="1671827" y="4613148"/>
            <a:ext cx="262128" cy="103632"/>
          </a:xfrm>
          <a:prstGeom prst="rect">
            <a:avLst/>
          </a:prstGeom>
          <a:blipFill>
            <a:blip r:embed="rId12" cstate="print"/>
            <a:stretch>
              <a:fillRect/>
            </a:stretch>
          </a:blipFill>
        </p:spPr>
        <p:txBody>
          <a:bodyPr wrap="square" lIns="0" tIns="0" rIns="0" bIns="0" rtlCol="0"/>
          <a:lstStyle/>
          <a:p>
            <a:endParaRPr lang="es-ES"/>
          </a:p>
        </p:txBody>
      </p:sp>
      <p:sp>
        <p:nvSpPr>
          <p:cNvPr id="53" name="object 48">
            <a:extLst>
              <a:ext uri="{FF2B5EF4-FFF2-40B4-BE49-F238E27FC236}">
                <a16:creationId xmlns:a16="http://schemas.microsoft.com/office/drawing/2014/main" id="{4A64C8F1-B483-4B4B-BAE0-19DA2B034522}"/>
              </a:ext>
            </a:extLst>
          </p:cNvPr>
          <p:cNvSpPr/>
          <p:nvPr/>
        </p:nvSpPr>
        <p:spPr>
          <a:xfrm>
            <a:off x="9372600" y="3810000"/>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55" name="object 21">
            <a:extLst>
              <a:ext uri="{FF2B5EF4-FFF2-40B4-BE49-F238E27FC236}">
                <a16:creationId xmlns:a16="http://schemas.microsoft.com/office/drawing/2014/main" id="{0AF019A3-9EC9-4816-B98A-9B280210ECE4}"/>
              </a:ext>
            </a:extLst>
          </p:cNvPr>
          <p:cNvSpPr/>
          <p:nvPr/>
        </p:nvSpPr>
        <p:spPr>
          <a:xfrm>
            <a:off x="7699375" y="2987675"/>
            <a:ext cx="600710" cy="35560"/>
          </a:xfrm>
          <a:custGeom>
            <a:avLst/>
            <a:gdLst/>
            <a:ahLst/>
            <a:cxnLst/>
            <a:rect l="l" t="t" r="r" b="b"/>
            <a:pathLst>
              <a:path w="600710" h="35560">
                <a:moveTo>
                  <a:pt x="0" y="35051"/>
                </a:moveTo>
                <a:lnTo>
                  <a:pt x="0" y="6095"/>
                </a:lnTo>
                <a:lnTo>
                  <a:pt x="600455" y="0"/>
                </a:lnTo>
                <a:lnTo>
                  <a:pt x="600455" y="27432"/>
                </a:lnTo>
                <a:lnTo>
                  <a:pt x="0" y="35051"/>
                </a:lnTo>
                <a:close/>
              </a:path>
            </a:pathLst>
          </a:custGeom>
          <a:solidFill>
            <a:srgbClr val="6264A7"/>
          </a:solidFill>
        </p:spPr>
        <p:txBody>
          <a:bodyPr wrap="square" lIns="0" tIns="0" rIns="0" bIns="0" rtlCol="0"/>
          <a:lstStyle/>
          <a:p>
            <a:endParaRPr lang="es-ES"/>
          </a:p>
        </p:txBody>
      </p:sp>
      <p:sp>
        <p:nvSpPr>
          <p:cNvPr id="56" name="object 22">
            <a:extLst>
              <a:ext uri="{FF2B5EF4-FFF2-40B4-BE49-F238E27FC236}">
                <a16:creationId xmlns:a16="http://schemas.microsoft.com/office/drawing/2014/main" id="{8EA7F9B0-1EA2-47C5-BC24-3F91501129AA}"/>
              </a:ext>
            </a:extLst>
          </p:cNvPr>
          <p:cNvSpPr/>
          <p:nvPr/>
        </p:nvSpPr>
        <p:spPr>
          <a:xfrm>
            <a:off x="7696200" y="2709292"/>
            <a:ext cx="32384" cy="28956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57" name="object 42">
            <a:extLst>
              <a:ext uri="{FF2B5EF4-FFF2-40B4-BE49-F238E27FC236}">
                <a16:creationId xmlns:a16="http://schemas.microsoft.com/office/drawing/2014/main" id="{AB339944-3D5D-455D-9A7D-B215F27832B2}"/>
              </a:ext>
            </a:extLst>
          </p:cNvPr>
          <p:cNvSpPr/>
          <p:nvPr/>
        </p:nvSpPr>
        <p:spPr>
          <a:xfrm>
            <a:off x="8274050" y="3010535"/>
            <a:ext cx="30480" cy="326390"/>
          </a:xfrm>
          <a:custGeom>
            <a:avLst/>
            <a:gdLst/>
            <a:ahLst/>
            <a:cxnLst/>
            <a:rect l="l" t="t" r="r" b="b"/>
            <a:pathLst>
              <a:path w="30479" h="326390">
                <a:moveTo>
                  <a:pt x="30480" y="326135"/>
                </a:moveTo>
                <a:lnTo>
                  <a:pt x="1524" y="326135"/>
                </a:lnTo>
                <a:lnTo>
                  <a:pt x="0" y="1524"/>
                </a:lnTo>
                <a:lnTo>
                  <a:pt x="27432" y="0"/>
                </a:lnTo>
                <a:lnTo>
                  <a:pt x="30480" y="326135"/>
                </a:lnTo>
                <a:close/>
              </a:path>
            </a:pathLst>
          </a:custGeom>
          <a:solidFill>
            <a:srgbClr val="6264A7"/>
          </a:solidFill>
        </p:spPr>
        <p:txBody>
          <a:bodyPr wrap="square" lIns="0" tIns="0" rIns="0" bIns="0" rtlCol="0"/>
          <a:lstStyle/>
          <a:p>
            <a:endParaRPr lang="es-ES"/>
          </a:p>
        </p:txBody>
      </p:sp>
      <p:sp>
        <p:nvSpPr>
          <p:cNvPr id="12" name="object 12"/>
          <p:cNvSpPr txBox="1"/>
          <p:nvPr/>
        </p:nvSpPr>
        <p:spPr>
          <a:xfrm>
            <a:off x="6647306" y="2057400"/>
            <a:ext cx="1503045" cy="782907"/>
          </a:xfrm>
          <a:prstGeom prst="rect">
            <a:avLst/>
          </a:prstGeom>
          <a:solidFill>
            <a:srgbClr val="E6E6E6"/>
          </a:solidFill>
        </p:spPr>
        <p:txBody>
          <a:bodyPr vert="horz" wrap="square" lIns="0" tIns="43815" rIns="0" bIns="0" rtlCol="0">
            <a:spAutoFit/>
          </a:bodyPr>
          <a:lstStyle/>
          <a:p>
            <a:pPr marL="115570" marR="130175">
              <a:lnSpc>
                <a:spcPct val="100000"/>
              </a:lnSpc>
              <a:spcBef>
                <a:spcPts val="345"/>
              </a:spcBef>
            </a:pPr>
            <a:r>
              <a:rPr lang="es-ES" sz="650" b="1" spc="-5">
                <a:latin typeface="Gadugi"/>
                <a:cs typeface="Gadugi"/>
              </a:rPr>
              <a:t>Convocar una nueva reunión para un día en el calendario</a:t>
            </a:r>
          </a:p>
          <a:p>
            <a:pPr marL="115570" marR="130175">
              <a:lnSpc>
                <a:spcPct val="100000"/>
              </a:lnSpc>
              <a:spcBef>
                <a:spcPts val="345"/>
              </a:spcBef>
            </a:pPr>
            <a:r>
              <a:rPr lang="es-ES" sz="650" spc="-5">
                <a:solidFill>
                  <a:srgbClr val="505050"/>
                </a:solidFill>
                <a:latin typeface="Gadugi"/>
                <a:cs typeface="Gadugi"/>
              </a:rPr>
              <a:t>Seleccione la opción Nueva Reunión para añadir una reunión en su calendario / O seleccione un Evento en Directo si quiere transmitir broadcast</a:t>
            </a:r>
            <a:endParaRPr lang="es-ES" sz="650">
              <a:latin typeface="Gadugi"/>
              <a:cs typeface="Gadugi"/>
            </a:endParaRPr>
          </a:p>
        </p:txBody>
      </p:sp>
      <p:sp>
        <p:nvSpPr>
          <p:cNvPr id="58" name="object 35">
            <a:extLst>
              <a:ext uri="{FF2B5EF4-FFF2-40B4-BE49-F238E27FC236}">
                <a16:creationId xmlns:a16="http://schemas.microsoft.com/office/drawing/2014/main" id="{83CFAD9C-257B-46F3-8C6A-A3A9317FB201}"/>
              </a:ext>
            </a:extLst>
          </p:cNvPr>
          <p:cNvSpPr/>
          <p:nvPr/>
        </p:nvSpPr>
        <p:spPr>
          <a:xfrm>
            <a:off x="7019748" y="4724400"/>
            <a:ext cx="21945" cy="72136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dirty="0"/>
          </a:p>
        </p:txBody>
      </p:sp>
      <p:sp>
        <p:nvSpPr>
          <p:cNvPr id="8" name="object 8"/>
          <p:cNvSpPr txBox="1"/>
          <p:nvPr/>
        </p:nvSpPr>
        <p:spPr>
          <a:xfrm>
            <a:off x="6324600" y="4419600"/>
            <a:ext cx="1481455" cy="576440"/>
          </a:xfrm>
          <a:prstGeom prst="rect">
            <a:avLst/>
          </a:prstGeom>
          <a:solidFill>
            <a:srgbClr val="E6E6E6"/>
          </a:solidFill>
        </p:spPr>
        <p:txBody>
          <a:bodyPr vert="horz" wrap="square" lIns="0" tIns="75565" rIns="0" bIns="0" rtlCol="0">
            <a:spAutoFit/>
          </a:bodyPr>
          <a:lstStyle/>
          <a:p>
            <a:pPr marL="90805">
              <a:lnSpc>
                <a:spcPct val="100000"/>
              </a:lnSpc>
              <a:spcBef>
                <a:spcPts val="595"/>
              </a:spcBef>
            </a:pPr>
            <a:r>
              <a:rPr lang="es-ES" sz="650" b="1" spc="-10">
                <a:latin typeface="Gadugi"/>
                <a:cs typeface="Gadugi"/>
              </a:rPr>
              <a:t>Pulse en un Evento para entrar en los detalles</a:t>
            </a:r>
            <a:endParaRPr lang="es-ES" sz="650">
              <a:latin typeface="Gadugi"/>
              <a:cs typeface="Gadugi"/>
            </a:endParaRPr>
          </a:p>
          <a:p>
            <a:pPr marL="90805" marR="247650">
              <a:lnSpc>
                <a:spcPct val="100000"/>
              </a:lnSpc>
            </a:pPr>
            <a:r>
              <a:rPr lang="es-ES" sz="650" spc="-5">
                <a:solidFill>
                  <a:srgbClr val="505050"/>
                </a:solidFill>
                <a:latin typeface="Gadugi"/>
                <a:cs typeface="Gadugi"/>
              </a:rPr>
              <a:t>Haga click en un evento para entrar en el detalle del mismo y conectarse a su reunión</a:t>
            </a:r>
            <a:endParaRPr lang="es-ES" sz="650">
              <a:latin typeface="Gadugi"/>
              <a:cs typeface="Gadugi"/>
            </a:endParaRPr>
          </a:p>
        </p:txBody>
      </p:sp>
      <p:sp>
        <p:nvSpPr>
          <p:cNvPr id="61" name="object 33">
            <a:extLst>
              <a:ext uri="{FF2B5EF4-FFF2-40B4-BE49-F238E27FC236}">
                <a16:creationId xmlns:a16="http://schemas.microsoft.com/office/drawing/2014/main" id="{90F75FE7-D536-44B7-AC9B-477A28FCE46B}"/>
              </a:ext>
            </a:extLst>
          </p:cNvPr>
          <p:cNvSpPr/>
          <p:nvPr/>
        </p:nvSpPr>
        <p:spPr>
          <a:xfrm>
            <a:off x="3505200" y="4572000"/>
            <a:ext cx="103632" cy="105156"/>
          </a:xfrm>
          <a:prstGeom prst="rect">
            <a:avLst/>
          </a:prstGeom>
          <a:blipFill>
            <a:blip r:embed="rId8" cstate="print"/>
            <a:stretch>
              <a:fillRect/>
            </a:stretch>
          </a:blipFill>
        </p:spPr>
        <p:txBody>
          <a:bodyPr wrap="square" lIns="0" tIns="0" rIns="0" bIns="0" rtlCol="0"/>
          <a:lstStyle/>
          <a:p>
            <a:endParaRPr lang="es-ES"/>
          </a:p>
        </p:txBody>
      </p:sp>
      <p:sp>
        <p:nvSpPr>
          <p:cNvPr id="62" name="object 34">
            <a:extLst>
              <a:ext uri="{FF2B5EF4-FFF2-40B4-BE49-F238E27FC236}">
                <a16:creationId xmlns:a16="http://schemas.microsoft.com/office/drawing/2014/main" id="{64B9E0C5-6F03-4DE1-8434-F471D29B0C93}"/>
              </a:ext>
            </a:extLst>
          </p:cNvPr>
          <p:cNvSpPr/>
          <p:nvPr/>
        </p:nvSpPr>
        <p:spPr>
          <a:xfrm>
            <a:off x="3589019" y="4610100"/>
            <a:ext cx="737870" cy="29209"/>
          </a:xfrm>
          <a:custGeom>
            <a:avLst/>
            <a:gdLst/>
            <a:ahLst/>
            <a:cxnLst/>
            <a:rect l="l" t="t" r="r" b="b"/>
            <a:pathLst>
              <a:path w="737870" h="29210">
                <a:moveTo>
                  <a:pt x="737616" y="28956"/>
                </a:moveTo>
                <a:lnTo>
                  <a:pt x="0" y="28956"/>
                </a:lnTo>
                <a:lnTo>
                  <a:pt x="0" y="0"/>
                </a:lnTo>
                <a:lnTo>
                  <a:pt x="737616" y="0"/>
                </a:lnTo>
                <a:lnTo>
                  <a:pt x="737616" y="28956"/>
                </a:lnTo>
                <a:close/>
              </a:path>
            </a:pathLst>
          </a:custGeom>
          <a:solidFill>
            <a:srgbClr val="6264A7"/>
          </a:solidFill>
        </p:spPr>
        <p:txBody>
          <a:bodyPr wrap="square" lIns="0" tIns="0" rIns="0" bIns="0" rtlCol="0"/>
          <a:lstStyle/>
          <a:p>
            <a:endParaRPr lang="es-ES"/>
          </a:p>
        </p:txBody>
      </p:sp>
      <p:sp>
        <p:nvSpPr>
          <p:cNvPr id="60" name="object 8">
            <a:extLst>
              <a:ext uri="{FF2B5EF4-FFF2-40B4-BE49-F238E27FC236}">
                <a16:creationId xmlns:a16="http://schemas.microsoft.com/office/drawing/2014/main" id="{D7A14D85-A3EE-4EEB-94AA-E6FE2556D395}"/>
              </a:ext>
            </a:extLst>
          </p:cNvPr>
          <p:cNvSpPr txBox="1"/>
          <p:nvPr/>
        </p:nvSpPr>
        <p:spPr>
          <a:xfrm>
            <a:off x="4049942" y="4352733"/>
            <a:ext cx="1741258" cy="676467"/>
          </a:xfrm>
          <a:prstGeom prst="rect">
            <a:avLst/>
          </a:prstGeom>
          <a:solidFill>
            <a:srgbClr val="E6E6E6"/>
          </a:solidFill>
        </p:spPr>
        <p:txBody>
          <a:bodyPr vert="horz" wrap="square" lIns="0" tIns="75565" rIns="0" bIns="0" rtlCol="0">
            <a:spAutoFit/>
          </a:bodyPr>
          <a:lstStyle/>
          <a:p>
            <a:pPr marL="90805">
              <a:lnSpc>
                <a:spcPct val="100000"/>
              </a:lnSpc>
              <a:spcBef>
                <a:spcPts val="595"/>
              </a:spcBef>
            </a:pPr>
            <a:r>
              <a:rPr lang="es-ES" sz="650" b="1" spc="-10">
                <a:latin typeface="Gadugi"/>
                <a:cs typeface="Gadugi"/>
              </a:rPr>
              <a:t>Pulse en UNIRSE si la reunión está en curso </a:t>
            </a:r>
            <a:endParaRPr lang="es-ES" sz="650">
              <a:latin typeface="Gadugi"/>
              <a:cs typeface="Gadugi"/>
            </a:endParaRPr>
          </a:p>
          <a:p>
            <a:pPr marL="90805" marR="247650">
              <a:lnSpc>
                <a:spcPct val="100000"/>
              </a:lnSpc>
            </a:pPr>
            <a:r>
              <a:rPr lang="es-ES" sz="650" spc="-5">
                <a:solidFill>
                  <a:srgbClr val="505050"/>
                </a:solidFill>
                <a:latin typeface="Gadugi"/>
                <a:cs typeface="Gadugi"/>
              </a:rPr>
              <a:t>Haga click en el botón de Unirse para entrar en la reunión. Este botón sólo se activa para las reuniones que se están efectuando en el momento de la consulta del calendario</a:t>
            </a:r>
            <a:endParaRPr lang="es-ES" sz="650">
              <a:latin typeface="Gadugi"/>
              <a:cs typeface="Gadugi"/>
            </a:endParaRPr>
          </a:p>
        </p:txBody>
      </p:sp>
      <p:sp>
        <p:nvSpPr>
          <p:cNvPr id="63" name="object 35">
            <a:extLst>
              <a:ext uri="{FF2B5EF4-FFF2-40B4-BE49-F238E27FC236}">
                <a16:creationId xmlns:a16="http://schemas.microsoft.com/office/drawing/2014/main" id="{86F899E5-FEC9-4B36-9C05-7CDA86B9305C}"/>
              </a:ext>
            </a:extLst>
          </p:cNvPr>
          <p:cNvSpPr/>
          <p:nvPr/>
        </p:nvSpPr>
        <p:spPr>
          <a:xfrm>
            <a:off x="3356411" y="2755698"/>
            <a:ext cx="29209" cy="86400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15" name="object 15"/>
          <p:cNvSpPr txBox="1"/>
          <p:nvPr/>
        </p:nvSpPr>
        <p:spPr>
          <a:xfrm>
            <a:off x="5100320" y="2073030"/>
            <a:ext cx="1452880" cy="748923"/>
          </a:xfrm>
          <a:prstGeom prst="rect">
            <a:avLst/>
          </a:prstGeom>
          <a:solidFill>
            <a:srgbClr val="E6E6E6"/>
          </a:solidFill>
        </p:spPr>
        <p:txBody>
          <a:bodyPr vert="horz" wrap="square" lIns="0" tIns="48260" rIns="0" bIns="0" rtlCol="0">
            <a:spAutoFit/>
          </a:bodyPr>
          <a:lstStyle/>
          <a:p>
            <a:pPr marL="120014">
              <a:lnSpc>
                <a:spcPct val="100000"/>
              </a:lnSpc>
              <a:spcBef>
                <a:spcPts val="380"/>
              </a:spcBef>
            </a:pPr>
            <a:r>
              <a:rPr lang="es-ES" sz="650" b="1" spc="-10">
                <a:latin typeface="Gadugi"/>
                <a:cs typeface="Gadugi"/>
              </a:rPr>
              <a:t>Cree una Reunión Instantánea</a:t>
            </a:r>
            <a:endParaRPr lang="es-ES" sz="650">
              <a:latin typeface="Gadugi"/>
              <a:cs typeface="Gadugi"/>
            </a:endParaRPr>
          </a:p>
          <a:p>
            <a:pPr marL="120014" marR="107314">
              <a:lnSpc>
                <a:spcPct val="100000"/>
              </a:lnSpc>
            </a:pPr>
            <a:r>
              <a:rPr lang="es-ES" sz="650" spc="-5">
                <a:solidFill>
                  <a:srgbClr val="505050"/>
                </a:solidFill>
                <a:latin typeface="Gadugi"/>
                <a:cs typeface="Gadugi"/>
              </a:rPr>
              <a:t>Marque una reunión instantánea e invite sobre la marcha a las personas con las que se desea reunir.</a:t>
            </a:r>
          </a:p>
          <a:p>
            <a:pPr marL="120014" marR="107314">
              <a:lnSpc>
                <a:spcPct val="100000"/>
              </a:lnSpc>
            </a:pPr>
            <a:endParaRPr lang="es-ES" sz="650" spc="-5">
              <a:solidFill>
                <a:srgbClr val="505050"/>
              </a:solidFill>
              <a:latin typeface="Gadugi"/>
              <a:cs typeface="Gadugi"/>
            </a:endParaRPr>
          </a:p>
          <a:p>
            <a:pPr marL="120014" marR="107314">
              <a:lnSpc>
                <a:spcPct val="100000"/>
              </a:lnSpc>
            </a:pPr>
            <a:endParaRPr lang="es-ES" sz="650">
              <a:latin typeface="Gadugi"/>
              <a:cs typeface="Gadugi"/>
            </a:endParaRPr>
          </a:p>
        </p:txBody>
      </p:sp>
      <p:sp>
        <p:nvSpPr>
          <p:cNvPr id="37" name="object 18">
            <a:extLst>
              <a:ext uri="{FF2B5EF4-FFF2-40B4-BE49-F238E27FC236}">
                <a16:creationId xmlns:a16="http://schemas.microsoft.com/office/drawing/2014/main" id="{631D9D99-CD63-4394-AD6E-9660D10BC12D}"/>
              </a:ext>
            </a:extLst>
          </p:cNvPr>
          <p:cNvSpPr/>
          <p:nvPr/>
        </p:nvSpPr>
        <p:spPr>
          <a:xfrm>
            <a:off x="9354311" y="3773170"/>
            <a:ext cx="105156" cy="105156"/>
          </a:xfrm>
          <a:prstGeom prst="rect">
            <a:avLst/>
          </a:prstGeom>
          <a:blipFill>
            <a:blip r:embed="rId5" cstate="print"/>
            <a:stretch>
              <a:fillRect/>
            </a:stretch>
          </a:blipFill>
        </p:spPr>
        <p:txBody>
          <a:bodyPr wrap="square" lIns="0" tIns="0" rIns="0" bIns="0" rtlCol="0"/>
          <a:lstStyle/>
          <a:p>
            <a:endParaRPr lang="es-ES"/>
          </a:p>
        </p:txBody>
      </p:sp>
      <p:sp>
        <p:nvSpPr>
          <p:cNvPr id="38" name="object 43">
            <a:extLst>
              <a:ext uri="{FF2B5EF4-FFF2-40B4-BE49-F238E27FC236}">
                <a16:creationId xmlns:a16="http://schemas.microsoft.com/office/drawing/2014/main" id="{18DAB8C8-2940-4FCC-BBAE-C3082119930E}"/>
              </a:ext>
            </a:extLst>
          </p:cNvPr>
          <p:cNvSpPr/>
          <p:nvPr/>
        </p:nvSpPr>
        <p:spPr>
          <a:xfrm>
            <a:off x="8237854" y="3332353"/>
            <a:ext cx="105156" cy="105156"/>
          </a:xfrm>
          <a:prstGeom prst="rect">
            <a:avLst/>
          </a:prstGeom>
          <a:blipFill>
            <a:blip r:embed="rId10" cstate="print"/>
            <a:stretch>
              <a:fillRect/>
            </a:stretch>
          </a:blipFill>
        </p:spPr>
        <p:txBody>
          <a:bodyPr wrap="square" lIns="0" tIns="0" rIns="0" bIns="0" rtlCol="0"/>
          <a:lstStyle/>
          <a:p>
            <a:endParaRPr lang="es-ES"/>
          </a:p>
        </p:txBody>
      </p:sp>
      <p:sp>
        <p:nvSpPr>
          <p:cNvPr id="40" name="object 48">
            <a:extLst>
              <a:ext uri="{FF2B5EF4-FFF2-40B4-BE49-F238E27FC236}">
                <a16:creationId xmlns:a16="http://schemas.microsoft.com/office/drawing/2014/main" id="{57CE06A5-888F-4368-91A0-0D64D14AC515}"/>
              </a:ext>
            </a:extLst>
          </p:cNvPr>
          <p:cNvSpPr/>
          <p:nvPr/>
        </p:nvSpPr>
        <p:spPr>
          <a:xfrm>
            <a:off x="9372600" y="3810000"/>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41" name="Rectangle 40">
            <a:extLst>
              <a:ext uri="{FF2B5EF4-FFF2-40B4-BE49-F238E27FC236}">
                <a16:creationId xmlns:a16="http://schemas.microsoft.com/office/drawing/2014/main" id="{ECF67132-9B10-47C2-8207-2C77334CD31C}"/>
              </a:ext>
            </a:extLst>
          </p:cNvPr>
          <p:cNvSpPr/>
          <p:nvPr/>
        </p:nvSpPr>
        <p:spPr>
          <a:xfrm>
            <a:off x="8150351" y="3332353"/>
            <a:ext cx="1309116" cy="399923"/>
          </a:xfrm>
          <a:custGeom>
            <a:avLst/>
            <a:gdLst>
              <a:gd name="connsiteX0" fmla="*/ 0 w 1309116"/>
              <a:gd name="connsiteY0" fmla="*/ 0 h 399923"/>
              <a:gd name="connsiteX1" fmla="*/ 423281 w 1309116"/>
              <a:gd name="connsiteY1" fmla="*/ 0 h 399923"/>
              <a:gd name="connsiteX2" fmla="*/ 820379 w 1309116"/>
              <a:gd name="connsiteY2" fmla="*/ 0 h 399923"/>
              <a:gd name="connsiteX3" fmla="*/ 1309116 w 1309116"/>
              <a:gd name="connsiteY3" fmla="*/ 0 h 399923"/>
              <a:gd name="connsiteX4" fmla="*/ 1309116 w 1309116"/>
              <a:gd name="connsiteY4" fmla="*/ 399923 h 399923"/>
              <a:gd name="connsiteX5" fmla="*/ 898926 w 1309116"/>
              <a:gd name="connsiteY5" fmla="*/ 399923 h 399923"/>
              <a:gd name="connsiteX6" fmla="*/ 436372 w 1309116"/>
              <a:gd name="connsiteY6" fmla="*/ 399923 h 399923"/>
              <a:gd name="connsiteX7" fmla="*/ 0 w 1309116"/>
              <a:gd name="connsiteY7" fmla="*/ 399923 h 399923"/>
              <a:gd name="connsiteX8" fmla="*/ 0 w 1309116"/>
              <a:gd name="connsiteY8" fmla="*/ 0 h 399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9116" h="399923" extrusionOk="0">
                <a:moveTo>
                  <a:pt x="0" y="0"/>
                </a:moveTo>
                <a:cubicBezTo>
                  <a:pt x="202729" y="-40765"/>
                  <a:pt x="256989" y="32"/>
                  <a:pt x="423281" y="0"/>
                </a:cubicBezTo>
                <a:cubicBezTo>
                  <a:pt x="589573" y="-32"/>
                  <a:pt x="689786" y="22465"/>
                  <a:pt x="820379" y="0"/>
                </a:cubicBezTo>
                <a:cubicBezTo>
                  <a:pt x="950972" y="-22465"/>
                  <a:pt x="1192046" y="36823"/>
                  <a:pt x="1309116" y="0"/>
                </a:cubicBezTo>
                <a:cubicBezTo>
                  <a:pt x="1321242" y="107434"/>
                  <a:pt x="1270950" y="202450"/>
                  <a:pt x="1309116" y="399923"/>
                </a:cubicBezTo>
                <a:cubicBezTo>
                  <a:pt x="1176449" y="433031"/>
                  <a:pt x="1098650" y="382226"/>
                  <a:pt x="898926" y="399923"/>
                </a:cubicBezTo>
                <a:cubicBezTo>
                  <a:pt x="699202" y="417620"/>
                  <a:pt x="657260" y="354577"/>
                  <a:pt x="436372" y="399923"/>
                </a:cubicBezTo>
                <a:cubicBezTo>
                  <a:pt x="215484" y="445269"/>
                  <a:pt x="119133" y="391450"/>
                  <a:pt x="0" y="399923"/>
                </a:cubicBezTo>
                <a:cubicBezTo>
                  <a:pt x="-1648" y="290075"/>
                  <a:pt x="35154" y="109948"/>
                  <a:pt x="0" y="0"/>
                </a:cubicBezTo>
                <a:close/>
              </a:path>
            </a:pathLst>
          </a:custGeom>
          <a:no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2144134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2409D1C-15AF-48EE-854B-512B65B2EE2E}"/>
              </a:ext>
            </a:extLst>
          </p:cNvPr>
          <p:cNvPicPr>
            <a:picLocks noChangeAspect="1"/>
          </p:cNvPicPr>
          <p:nvPr/>
        </p:nvPicPr>
        <p:blipFill rotWithShape="1">
          <a:blip r:embed="rId2"/>
          <a:srcRect b="5792"/>
          <a:stretch/>
        </p:blipFill>
        <p:spPr>
          <a:xfrm>
            <a:off x="1938526" y="3057698"/>
            <a:ext cx="7575803" cy="4075894"/>
          </a:xfrm>
          <a:prstGeom prst="rect">
            <a:avLst/>
          </a:prstGeom>
        </p:spPr>
      </p:pic>
      <p:sp>
        <p:nvSpPr>
          <p:cNvPr id="2" name="object 2"/>
          <p:cNvSpPr txBox="1"/>
          <p:nvPr/>
        </p:nvSpPr>
        <p:spPr>
          <a:xfrm>
            <a:off x="257010" y="979896"/>
            <a:ext cx="9648990" cy="1054776"/>
          </a:xfrm>
          <a:prstGeom prst="rect">
            <a:avLst/>
          </a:prstGeom>
        </p:spPr>
        <p:txBody>
          <a:bodyPr vert="horz" wrap="square" lIns="0" tIns="158115" rIns="0" bIns="0" rtlCol="0">
            <a:spAutoFit/>
          </a:bodyPr>
          <a:lstStyle/>
          <a:p>
            <a:pPr marL="12700">
              <a:lnSpc>
                <a:spcPct val="100000"/>
              </a:lnSpc>
              <a:spcBef>
                <a:spcPts val="1245"/>
              </a:spcBef>
            </a:pPr>
            <a:r>
              <a:rPr lang="es-ES" sz="2800" b="0" spc="-5" dirty="0">
                <a:solidFill>
                  <a:srgbClr val="6264A7"/>
                </a:solidFill>
                <a:latin typeface="Segoe UI Light"/>
                <a:cs typeface="Segoe UI Light"/>
              </a:rPr>
              <a:t>Convocar Una reunión desde Teams – “Nueva Reunión”</a:t>
            </a:r>
            <a:endParaRPr sz="2800" dirty="0">
              <a:latin typeface="Segoe UI Light"/>
              <a:cs typeface="Segoe UI Light"/>
            </a:endParaRPr>
          </a:p>
          <a:p>
            <a:pPr marL="12700">
              <a:lnSpc>
                <a:spcPct val="100000"/>
              </a:lnSpc>
              <a:spcBef>
                <a:spcPts val="525"/>
              </a:spcBef>
            </a:pPr>
            <a:r>
              <a:rPr lang="es-ES" sz="1300" spc="-10" dirty="0">
                <a:solidFill>
                  <a:srgbClr val="505050"/>
                </a:solidFill>
                <a:latin typeface="Gadugi"/>
                <a:cs typeface="Gadugi"/>
              </a:rPr>
              <a:t>Para agendar una “Nueva Reunión” tendrás que introducir los mismos datos que tendría que incluir en una reunión de Outlook y algunas opciones nuevas que te contamos a continuación:</a:t>
            </a:r>
            <a:endParaRPr sz="1300" dirty="0">
              <a:latin typeface="Gadugi"/>
              <a:cs typeface="Gadugi"/>
            </a:endParaRPr>
          </a:p>
        </p:txBody>
      </p:sp>
      <p:sp>
        <p:nvSpPr>
          <p:cNvPr id="3" name="object 3"/>
          <p:cNvSpPr txBox="1">
            <a:spLocks noGrp="1"/>
          </p:cNvSpPr>
          <p:nvPr>
            <p:ph type="title"/>
          </p:nvPr>
        </p:nvSpPr>
        <p:spPr>
          <a:xfrm>
            <a:off x="226674" y="147378"/>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4" name="object 4"/>
          <p:cNvSpPr/>
          <p:nvPr/>
        </p:nvSpPr>
        <p:spPr>
          <a:xfrm>
            <a:off x="8711183" y="0"/>
            <a:ext cx="1331975" cy="598932"/>
          </a:xfrm>
          <a:prstGeom prst="rect">
            <a:avLst/>
          </a:prstGeom>
          <a:blipFill>
            <a:blip r:embed="rId3" cstate="print"/>
            <a:stretch>
              <a:fillRect/>
            </a:stretch>
          </a:blipFill>
        </p:spPr>
        <p:txBody>
          <a:bodyPr wrap="square" lIns="0" tIns="0" rIns="0" bIns="0" rtlCol="0"/>
          <a:lstStyle/>
          <a:p>
            <a:endParaRPr/>
          </a:p>
        </p:txBody>
      </p:sp>
      <p:sp>
        <p:nvSpPr>
          <p:cNvPr id="17" name="object 17"/>
          <p:cNvSpPr txBox="1"/>
          <p:nvPr/>
        </p:nvSpPr>
        <p:spPr>
          <a:xfrm>
            <a:off x="946377" y="2415636"/>
            <a:ext cx="1443226" cy="382797"/>
          </a:xfrm>
          <a:prstGeom prst="rect">
            <a:avLst/>
          </a:prstGeom>
          <a:solidFill>
            <a:srgbClr val="E6E6E6"/>
          </a:solidFill>
        </p:spPr>
        <p:txBody>
          <a:bodyPr vert="horz" wrap="square" lIns="0" tIns="43815" rIns="0" bIns="0" rtlCol="0" anchor="t">
            <a:spAutoFit/>
          </a:bodyPr>
          <a:lstStyle/>
          <a:p>
            <a:pPr marL="86360" marR="88265">
              <a:lnSpc>
                <a:spcPct val="100000"/>
              </a:lnSpc>
              <a:spcBef>
                <a:spcPts val="345"/>
              </a:spcBef>
            </a:pPr>
            <a:r>
              <a:rPr lang="es-ES" sz="650" b="1" spc="-5" dirty="0">
                <a:latin typeface="Gadugi"/>
                <a:cs typeface="Gadugi"/>
              </a:rPr>
              <a:t>Agregue un título</a:t>
            </a:r>
          </a:p>
          <a:p>
            <a:pPr marL="86360" marR="88265">
              <a:spcBef>
                <a:spcPts val="345"/>
              </a:spcBef>
            </a:pPr>
            <a:r>
              <a:rPr lang="es-ES" sz="650" spc="-5">
                <a:solidFill>
                  <a:srgbClr val="505050"/>
                </a:solidFill>
                <a:latin typeface="Gadugi"/>
                <a:cs typeface="Gadugi"/>
              </a:rPr>
              <a:t>Incluya el titulo de la reunión a compartir con los compañeros.</a:t>
            </a:r>
            <a:endParaRPr lang="es-ES" sz="650" spc="-5" dirty="0">
              <a:solidFill>
                <a:srgbClr val="505050"/>
              </a:solidFill>
              <a:latin typeface="Gadugi"/>
              <a:cs typeface="Gadugi"/>
            </a:endParaRPr>
          </a:p>
        </p:txBody>
      </p:sp>
      <p:sp>
        <p:nvSpPr>
          <p:cNvPr id="24" name="object 24"/>
          <p:cNvSpPr/>
          <p:nvPr/>
        </p:nvSpPr>
        <p:spPr>
          <a:xfrm>
            <a:off x="3124200" y="3782568"/>
            <a:ext cx="105156" cy="103632"/>
          </a:xfrm>
          <a:prstGeom prst="rect">
            <a:avLst/>
          </a:prstGeom>
          <a:blipFill>
            <a:blip r:embed="rId4" cstate="print"/>
            <a:stretch>
              <a:fillRect/>
            </a:stretch>
          </a:blipFill>
        </p:spPr>
        <p:txBody>
          <a:bodyPr wrap="square" lIns="0" tIns="0" rIns="0" bIns="0" rtlCol="0"/>
          <a:lstStyle/>
          <a:p>
            <a:endParaRPr lang="es-ES"/>
          </a:p>
        </p:txBody>
      </p:sp>
      <p:sp>
        <p:nvSpPr>
          <p:cNvPr id="39" name="object 39"/>
          <p:cNvSpPr/>
          <p:nvPr/>
        </p:nvSpPr>
        <p:spPr>
          <a:xfrm>
            <a:off x="2334768" y="6572712"/>
            <a:ext cx="103632" cy="105156"/>
          </a:xfrm>
          <a:prstGeom prst="rect">
            <a:avLst/>
          </a:prstGeom>
          <a:blipFill>
            <a:blip r:embed="rId5" cstate="print"/>
            <a:stretch>
              <a:fillRect/>
            </a:stretch>
          </a:blipFill>
        </p:spPr>
        <p:txBody>
          <a:bodyPr wrap="square" lIns="0" tIns="0" rIns="0" bIns="0" rtlCol="0"/>
          <a:lstStyle/>
          <a:p>
            <a:endParaRPr lang="es-ES" dirty="0"/>
          </a:p>
        </p:txBody>
      </p:sp>
      <p:sp>
        <p:nvSpPr>
          <p:cNvPr id="43" name="object 43"/>
          <p:cNvSpPr/>
          <p:nvPr/>
        </p:nvSpPr>
        <p:spPr>
          <a:xfrm>
            <a:off x="8798600" y="3186150"/>
            <a:ext cx="105156" cy="105156"/>
          </a:xfrm>
          <a:prstGeom prst="rect">
            <a:avLst/>
          </a:prstGeom>
          <a:blipFill>
            <a:blip r:embed="rId6" cstate="print"/>
            <a:stretch>
              <a:fillRect/>
            </a:stretch>
          </a:blipFill>
        </p:spPr>
        <p:txBody>
          <a:bodyPr wrap="square" lIns="0" tIns="0" rIns="0" bIns="0" rtlCol="0"/>
          <a:lstStyle/>
          <a:p>
            <a:endParaRPr lang="es-ES"/>
          </a:p>
        </p:txBody>
      </p:sp>
      <p:sp>
        <p:nvSpPr>
          <p:cNvPr id="47" name="object 47"/>
          <p:cNvSpPr txBox="1"/>
          <p:nvPr/>
        </p:nvSpPr>
        <p:spPr>
          <a:xfrm>
            <a:off x="312483" y="4127848"/>
            <a:ext cx="1470660" cy="782907"/>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Agregue asistentes requeridos</a:t>
            </a:r>
          </a:p>
          <a:p>
            <a:pPr marL="92710" marR="103505">
              <a:lnSpc>
                <a:spcPct val="100000"/>
              </a:lnSpc>
              <a:spcBef>
                <a:spcPts val="345"/>
              </a:spcBef>
            </a:pPr>
            <a:r>
              <a:rPr lang="es-ES" sz="650" spc="-5" dirty="0">
                <a:solidFill>
                  <a:srgbClr val="505050"/>
                </a:solidFill>
                <a:latin typeface="Gadugi"/>
                <a:cs typeface="Gadugi"/>
              </a:rPr>
              <a:t>Incluya aquellos participantes que deseas que asistan a la reunión de carácter “requerido”. Para añadir participantes opcionales, acceder a través de “+ Opcional” en el lado izquierdo.</a:t>
            </a:r>
            <a:endParaRPr lang="es-ES" sz="650" dirty="0">
              <a:latin typeface="Gadugi"/>
              <a:cs typeface="Gadugi"/>
            </a:endParaRPr>
          </a:p>
        </p:txBody>
      </p:sp>
      <p:sp>
        <p:nvSpPr>
          <p:cNvPr id="48" name="object 48"/>
          <p:cNvSpPr/>
          <p:nvPr/>
        </p:nvSpPr>
        <p:spPr>
          <a:xfrm>
            <a:off x="1647444" y="6640067"/>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49" name="object 49"/>
          <p:cNvSpPr/>
          <p:nvPr/>
        </p:nvSpPr>
        <p:spPr>
          <a:xfrm>
            <a:off x="1876044" y="6606540"/>
            <a:ext cx="103632" cy="105156"/>
          </a:xfrm>
          <a:prstGeom prst="rect">
            <a:avLst/>
          </a:prstGeom>
          <a:blipFill>
            <a:blip r:embed="rId7" cstate="print"/>
            <a:stretch>
              <a:fillRect/>
            </a:stretch>
          </a:blipFill>
        </p:spPr>
        <p:txBody>
          <a:bodyPr wrap="square" lIns="0" tIns="0" rIns="0" bIns="0" rtlCol="0"/>
          <a:lstStyle/>
          <a:p>
            <a:endParaRPr lang="es-ES"/>
          </a:p>
        </p:txBody>
      </p:sp>
      <p:sp>
        <p:nvSpPr>
          <p:cNvPr id="50" name="object 50"/>
          <p:cNvSpPr txBox="1"/>
          <p:nvPr/>
        </p:nvSpPr>
        <p:spPr>
          <a:xfrm>
            <a:off x="178307" y="6324600"/>
            <a:ext cx="1469390" cy="445635"/>
          </a:xfrm>
          <a:prstGeom prst="rect">
            <a:avLst/>
          </a:prstGeom>
          <a:solidFill>
            <a:srgbClr val="E6E6E6"/>
          </a:solidFill>
        </p:spPr>
        <p:txBody>
          <a:bodyPr vert="horz" wrap="square" lIns="0" tIns="45085" rIns="0" bIns="0" rtlCol="0">
            <a:spAutoFit/>
          </a:bodyPr>
          <a:lstStyle/>
          <a:p>
            <a:pPr marL="91440" algn="just">
              <a:lnSpc>
                <a:spcPct val="100000"/>
              </a:lnSpc>
              <a:spcBef>
                <a:spcPts val="355"/>
              </a:spcBef>
            </a:pPr>
            <a:r>
              <a:rPr lang="es-ES" sz="650" b="1" spc="-10">
                <a:latin typeface="Gadugi"/>
                <a:cs typeface="Gadugi"/>
              </a:rPr>
              <a:t>Ayuda</a:t>
            </a:r>
            <a:endParaRPr lang="es-ES" sz="650">
              <a:latin typeface="Gadugi"/>
              <a:cs typeface="Gadugi"/>
            </a:endParaRPr>
          </a:p>
          <a:p>
            <a:pPr marL="91440" marR="239395" algn="just">
              <a:lnSpc>
                <a:spcPct val="100000"/>
              </a:lnSpc>
            </a:pPr>
            <a:r>
              <a:rPr lang="es-ES" sz="650" spc="-5">
                <a:solidFill>
                  <a:srgbClr val="505050"/>
                </a:solidFill>
                <a:latin typeface="Gadugi"/>
                <a:cs typeface="Gadugi"/>
              </a:rPr>
              <a:t>Para mayor información puede acceder a la Ayuda Online de Teams.</a:t>
            </a:r>
            <a:endParaRPr lang="es-ES" sz="650">
              <a:latin typeface="Gadugi"/>
              <a:cs typeface="Gadugi"/>
            </a:endParaRPr>
          </a:p>
        </p:txBody>
      </p:sp>
      <p:sp>
        <p:nvSpPr>
          <p:cNvPr id="12" name="object 12"/>
          <p:cNvSpPr txBox="1"/>
          <p:nvPr/>
        </p:nvSpPr>
        <p:spPr>
          <a:xfrm>
            <a:off x="7940614" y="2107497"/>
            <a:ext cx="1503045" cy="821379"/>
          </a:xfrm>
          <a:prstGeom prst="rect">
            <a:avLst/>
          </a:prstGeom>
          <a:solidFill>
            <a:srgbClr val="E6E6E6"/>
          </a:solidFill>
        </p:spPr>
        <p:txBody>
          <a:bodyPr vert="horz" wrap="square" lIns="0" tIns="43815" rIns="0" bIns="0" rtlCol="0">
            <a:spAutoFit/>
          </a:bodyPr>
          <a:lstStyle/>
          <a:p>
            <a:pPr marL="115570" marR="130175">
              <a:lnSpc>
                <a:spcPct val="100000"/>
              </a:lnSpc>
              <a:spcBef>
                <a:spcPts val="345"/>
              </a:spcBef>
            </a:pPr>
            <a:r>
              <a:rPr lang="es-ES" sz="650" b="1" spc="-5" dirty="0">
                <a:latin typeface="Gadugi"/>
                <a:cs typeface="Gadugi"/>
              </a:rPr>
              <a:t>Guardar / Enviar / Cerrar</a:t>
            </a:r>
          </a:p>
          <a:p>
            <a:pPr marL="115570" marR="130175">
              <a:lnSpc>
                <a:spcPct val="100000"/>
              </a:lnSpc>
              <a:spcBef>
                <a:spcPts val="345"/>
              </a:spcBef>
            </a:pPr>
            <a:r>
              <a:rPr lang="es-ES" sz="650" spc="-5" dirty="0">
                <a:solidFill>
                  <a:srgbClr val="505050"/>
                </a:solidFill>
                <a:latin typeface="Gadugi"/>
                <a:cs typeface="Gadugi"/>
              </a:rPr>
              <a:t>El botón de “Guardar”, para poder continuar más tarde, se cambiará a “enviar” cuando incluyas asistentes a la reunión. </a:t>
            </a:r>
          </a:p>
          <a:p>
            <a:pPr marL="115570" marR="130175">
              <a:lnSpc>
                <a:spcPct val="100000"/>
              </a:lnSpc>
              <a:spcBef>
                <a:spcPts val="345"/>
              </a:spcBef>
            </a:pPr>
            <a:r>
              <a:rPr lang="es-ES" sz="650" spc="-5" dirty="0">
                <a:solidFill>
                  <a:srgbClr val="505050"/>
                </a:solidFill>
                <a:latin typeface="Gadugi"/>
                <a:cs typeface="Gadugi"/>
              </a:rPr>
              <a:t>Cerrar: descartarás los cambios realizados </a:t>
            </a:r>
            <a:endParaRPr lang="es-ES" sz="650" dirty="0">
              <a:latin typeface="Gadugi"/>
              <a:cs typeface="Gadugi"/>
            </a:endParaRPr>
          </a:p>
        </p:txBody>
      </p:sp>
      <p:sp>
        <p:nvSpPr>
          <p:cNvPr id="8" name="object 8"/>
          <p:cNvSpPr txBox="1"/>
          <p:nvPr/>
        </p:nvSpPr>
        <p:spPr>
          <a:xfrm>
            <a:off x="6955472" y="6522211"/>
            <a:ext cx="1481455" cy="576440"/>
          </a:xfrm>
          <a:prstGeom prst="rect">
            <a:avLst/>
          </a:prstGeom>
          <a:solidFill>
            <a:srgbClr val="E6E6E6"/>
          </a:solidFill>
        </p:spPr>
        <p:txBody>
          <a:bodyPr vert="horz" wrap="square" lIns="0" tIns="75565" rIns="0" bIns="0" rtlCol="0">
            <a:spAutoFit/>
          </a:bodyPr>
          <a:lstStyle/>
          <a:p>
            <a:pPr marL="90805">
              <a:lnSpc>
                <a:spcPct val="100000"/>
              </a:lnSpc>
              <a:spcBef>
                <a:spcPts val="595"/>
              </a:spcBef>
            </a:pPr>
            <a:r>
              <a:rPr lang="es-ES" sz="650" b="1" spc="-10" dirty="0">
                <a:latin typeface="Gadugi"/>
                <a:cs typeface="Gadugi"/>
              </a:rPr>
              <a:t>Escriba los detalles de la reunión</a:t>
            </a:r>
            <a:endParaRPr lang="es-ES" sz="650" dirty="0">
              <a:latin typeface="Gadugi"/>
              <a:cs typeface="Gadugi"/>
            </a:endParaRPr>
          </a:p>
          <a:p>
            <a:pPr marL="90805" marR="247650">
              <a:lnSpc>
                <a:spcPct val="100000"/>
              </a:lnSpc>
            </a:pPr>
            <a:r>
              <a:rPr lang="es-ES" sz="650" spc="-5" dirty="0">
                <a:solidFill>
                  <a:srgbClr val="505050"/>
                </a:solidFill>
                <a:latin typeface="Gadugi"/>
                <a:cs typeface="Gadugi"/>
              </a:rPr>
              <a:t>Incluya el cuerpo del mensaje que quieres que los asistentes reciban: ejemplo, agenda de la reunión. </a:t>
            </a:r>
            <a:endParaRPr lang="es-ES" sz="650" dirty="0">
              <a:latin typeface="Gadugi"/>
              <a:cs typeface="Gadugi"/>
            </a:endParaRPr>
          </a:p>
        </p:txBody>
      </p:sp>
      <p:sp>
        <p:nvSpPr>
          <p:cNvPr id="61" name="object 33">
            <a:extLst>
              <a:ext uri="{FF2B5EF4-FFF2-40B4-BE49-F238E27FC236}">
                <a16:creationId xmlns:a16="http://schemas.microsoft.com/office/drawing/2014/main" id="{90F75FE7-D536-44B7-AC9B-477A28FCE46B}"/>
              </a:ext>
            </a:extLst>
          </p:cNvPr>
          <p:cNvSpPr/>
          <p:nvPr/>
        </p:nvSpPr>
        <p:spPr>
          <a:xfrm>
            <a:off x="6781800" y="4466844"/>
            <a:ext cx="103632" cy="105156"/>
          </a:xfrm>
          <a:prstGeom prst="rect">
            <a:avLst/>
          </a:prstGeom>
          <a:blipFill>
            <a:blip r:embed="rId8" cstate="print"/>
            <a:stretch>
              <a:fillRect/>
            </a:stretch>
          </a:blipFill>
        </p:spPr>
        <p:txBody>
          <a:bodyPr wrap="square" lIns="0" tIns="0" rIns="0" bIns="0" rtlCol="0"/>
          <a:lstStyle/>
          <a:p>
            <a:endParaRPr lang="es-ES"/>
          </a:p>
        </p:txBody>
      </p:sp>
      <p:sp>
        <p:nvSpPr>
          <p:cNvPr id="62" name="object 34">
            <a:extLst>
              <a:ext uri="{FF2B5EF4-FFF2-40B4-BE49-F238E27FC236}">
                <a16:creationId xmlns:a16="http://schemas.microsoft.com/office/drawing/2014/main" id="{64B9E0C5-6F03-4DE1-8434-F471D29B0C93}"/>
              </a:ext>
            </a:extLst>
          </p:cNvPr>
          <p:cNvSpPr/>
          <p:nvPr/>
        </p:nvSpPr>
        <p:spPr>
          <a:xfrm>
            <a:off x="6865619" y="4504944"/>
            <a:ext cx="180000" cy="29209"/>
          </a:xfrm>
          <a:custGeom>
            <a:avLst/>
            <a:gdLst/>
            <a:ahLst/>
            <a:cxnLst/>
            <a:rect l="l" t="t" r="r" b="b"/>
            <a:pathLst>
              <a:path w="737870" h="29210">
                <a:moveTo>
                  <a:pt x="737616" y="28956"/>
                </a:moveTo>
                <a:lnTo>
                  <a:pt x="0" y="28956"/>
                </a:lnTo>
                <a:lnTo>
                  <a:pt x="0" y="0"/>
                </a:lnTo>
                <a:lnTo>
                  <a:pt x="737616" y="0"/>
                </a:lnTo>
                <a:lnTo>
                  <a:pt x="737616" y="28956"/>
                </a:lnTo>
                <a:close/>
              </a:path>
            </a:pathLst>
          </a:custGeom>
          <a:solidFill>
            <a:srgbClr val="6264A7"/>
          </a:solidFill>
        </p:spPr>
        <p:txBody>
          <a:bodyPr wrap="square" lIns="0" tIns="0" rIns="0" bIns="0" rtlCol="0"/>
          <a:lstStyle/>
          <a:p>
            <a:endParaRPr lang="es-ES"/>
          </a:p>
        </p:txBody>
      </p:sp>
      <p:sp>
        <p:nvSpPr>
          <p:cNvPr id="60" name="object 8">
            <a:extLst>
              <a:ext uri="{FF2B5EF4-FFF2-40B4-BE49-F238E27FC236}">
                <a16:creationId xmlns:a16="http://schemas.microsoft.com/office/drawing/2014/main" id="{D7A14D85-A3EE-4EEB-94AA-E6FE2556D395}"/>
              </a:ext>
            </a:extLst>
          </p:cNvPr>
          <p:cNvSpPr txBox="1"/>
          <p:nvPr/>
        </p:nvSpPr>
        <p:spPr>
          <a:xfrm>
            <a:off x="6934200" y="6000588"/>
            <a:ext cx="1741258" cy="476412"/>
          </a:xfrm>
          <a:prstGeom prst="rect">
            <a:avLst/>
          </a:prstGeom>
          <a:solidFill>
            <a:srgbClr val="E6E6E6"/>
          </a:solidFill>
        </p:spPr>
        <p:txBody>
          <a:bodyPr vert="horz" wrap="square" lIns="0" tIns="75565" rIns="0" bIns="0" rtlCol="0">
            <a:spAutoFit/>
          </a:bodyPr>
          <a:lstStyle/>
          <a:p>
            <a:pPr marL="90805">
              <a:lnSpc>
                <a:spcPct val="100000"/>
              </a:lnSpc>
              <a:spcBef>
                <a:spcPts val="595"/>
              </a:spcBef>
            </a:pPr>
            <a:r>
              <a:rPr lang="es-ES" sz="650" b="1" spc="-10" dirty="0">
                <a:latin typeface="Gadugi"/>
                <a:cs typeface="Gadugi"/>
              </a:rPr>
              <a:t>Detalle reunión</a:t>
            </a:r>
            <a:endParaRPr lang="es-ES" sz="650" dirty="0">
              <a:latin typeface="Gadugi"/>
              <a:cs typeface="Gadugi"/>
            </a:endParaRPr>
          </a:p>
          <a:p>
            <a:pPr marL="90805" marR="247650">
              <a:lnSpc>
                <a:spcPct val="100000"/>
              </a:lnSpc>
            </a:pPr>
            <a:r>
              <a:rPr lang="es-ES" sz="650" spc="-5" dirty="0">
                <a:solidFill>
                  <a:srgbClr val="505050"/>
                </a:solidFill>
                <a:latin typeface="Gadugi"/>
                <a:cs typeface="Gadugi"/>
              </a:rPr>
              <a:t>Incluya los detalles de la reunión tales como: día, hora de comienzo y fin, y duración.</a:t>
            </a:r>
            <a:endParaRPr lang="es-ES" sz="650" dirty="0">
              <a:latin typeface="Gadugi"/>
              <a:cs typeface="Gadugi"/>
            </a:endParaRPr>
          </a:p>
        </p:txBody>
      </p:sp>
      <p:sp>
        <p:nvSpPr>
          <p:cNvPr id="63" name="object 35">
            <a:extLst>
              <a:ext uri="{FF2B5EF4-FFF2-40B4-BE49-F238E27FC236}">
                <a16:creationId xmlns:a16="http://schemas.microsoft.com/office/drawing/2014/main" id="{86F899E5-FEC9-4B36-9C05-7CDA86B9305C}"/>
              </a:ext>
            </a:extLst>
          </p:cNvPr>
          <p:cNvSpPr/>
          <p:nvPr/>
        </p:nvSpPr>
        <p:spPr>
          <a:xfrm>
            <a:off x="3165619" y="2723110"/>
            <a:ext cx="29209" cy="111600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57" name="object 42">
            <a:extLst>
              <a:ext uri="{FF2B5EF4-FFF2-40B4-BE49-F238E27FC236}">
                <a16:creationId xmlns:a16="http://schemas.microsoft.com/office/drawing/2014/main" id="{AB339944-3D5D-455D-9A7D-B215F27832B2}"/>
              </a:ext>
            </a:extLst>
          </p:cNvPr>
          <p:cNvSpPr/>
          <p:nvPr/>
        </p:nvSpPr>
        <p:spPr>
          <a:xfrm>
            <a:off x="8834796" y="2864332"/>
            <a:ext cx="30480" cy="326390"/>
          </a:xfrm>
          <a:custGeom>
            <a:avLst/>
            <a:gdLst/>
            <a:ahLst/>
            <a:cxnLst/>
            <a:rect l="l" t="t" r="r" b="b"/>
            <a:pathLst>
              <a:path w="30479" h="326390">
                <a:moveTo>
                  <a:pt x="30480" y="326135"/>
                </a:moveTo>
                <a:lnTo>
                  <a:pt x="1524" y="326135"/>
                </a:lnTo>
                <a:lnTo>
                  <a:pt x="0" y="1524"/>
                </a:lnTo>
                <a:lnTo>
                  <a:pt x="27432" y="0"/>
                </a:lnTo>
                <a:lnTo>
                  <a:pt x="30480" y="326135"/>
                </a:lnTo>
                <a:close/>
              </a:path>
            </a:pathLst>
          </a:custGeom>
          <a:solidFill>
            <a:srgbClr val="6264A7"/>
          </a:solidFill>
        </p:spPr>
        <p:txBody>
          <a:bodyPr wrap="square" lIns="0" tIns="0" rIns="0" bIns="0" rtlCol="0"/>
          <a:lstStyle/>
          <a:p>
            <a:endParaRPr lang="es-ES"/>
          </a:p>
        </p:txBody>
      </p:sp>
      <p:sp>
        <p:nvSpPr>
          <p:cNvPr id="40" name="object 21">
            <a:extLst>
              <a:ext uri="{FF2B5EF4-FFF2-40B4-BE49-F238E27FC236}">
                <a16:creationId xmlns:a16="http://schemas.microsoft.com/office/drawing/2014/main" id="{CF809956-34CB-474B-B974-FCCE345EE744}"/>
              </a:ext>
            </a:extLst>
          </p:cNvPr>
          <p:cNvSpPr/>
          <p:nvPr/>
        </p:nvSpPr>
        <p:spPr>
          <a:xfrm>
            <a:off x="2372195" y="2710454"/>
            <a:ext cx="828000" cy="35560"/>
          </a:xfrm>
          <a:custGeom>
            <a:avLst/>
            <a:gdLst/>
            <a:ahLst/>
            <a:cxnLst/>
            <a:rect l="l" t="t" r="r" b="b"/>
            <a:pathLst>
              <a:path w="600710" h="35560">
                <a:moveTo>
                  <a:pt x="0" y="35051"/>
                </a:moveTo>
                <a:lnTo>
                  <a:pt x="0" y="6095"/>
                </a:lnTo>
                <a:lnTo>
                  <a:pt x="600455" y="0"/>
                </a:lnTo>
                <a:lnTo>
                  <a:pt x="600455" y="27432"/>
                </a:lnTo>
                <a:lnTo>
                  <a:pt x="0" y="35051"/>
                </a:lnTo>
                <a:close/>
              </a:path>
            </a:pathLst>
          </a:custGeom>
          <a:solidFill>
            <a:srgbClr val="6264A7"/>
          </a:solidFill>
        </p:spPr>
        <p:txBody>
          <a:bodyPr wrap="square" lIns="0" tIns="0" rIns="0" bIns="0" rtlCol="0"/>
          <a:lstStyle/>
          <a:p>
            <a:endParaRPr lang="es-ES"/>
          </a:p>
        </p:txBody>
      </p:sp>
      <p:sp>
        <p:nvSpPr>
          <p:cNvPr id="41" name="object 33">
            <a:extLst>
              <a:ext uri="{FF2B5EF4-FFF2-40B4-BE49-F238E27FC236}">
                <a16:creationId xmlns:a16="http://schemas.microsoft.com/office/drawing/2014/main" id="{A5209083-4C99-421C-9B8A-5DDDAA47AC14}"/>
              </a:ext>
            </a:extLst>
          </p:cNvPr>
          <p:cNvSpPr/>
          <p:nvPr/>
        </p:nvSpPr>
        <p:spPr>
          <a:xfrm>
            <a:off x="2642807" y="4245622"/>
            <a:ext cx="103632" cy="105156"/>
          </a:xfrm>
          <a:prstGeom prst="rect">
            <a:avLst/>
          </a:prstGeom>
          <a:blipFill>
            <a:blip r:embed="rId8" cstate="print"/>
            <a:stretch>
              <a:fillRect/>
            </a:stretch>
          </a:blipFill>
        </p:spPr>
        <p:txBody>
          <a:bodyPr wrap="square" lIns="0" tIns="0" rIns="0" bIns="0" rtlCol="0"/>
          <a:lstStyle/>
          <a:p>
            <a:endParaRPr lang="es-ES"/>
          </a:p>
        </p:txBody>
      </p:sp>
      <p:sp>
        <p:nvSpPr>
          <p:cNvPr id="42" name="object 34">
            <a:extLst>
              <a:ext uri="{FF2B5EF4-FFF2-40B4-BE49-F238E27FC236}">
                <a16:creationId xmlns:a16="http://schemas.microsoft.com/office/drawing/2014/main" id="{175A5A6C-BE57-4AE9-A26C-1D502F068430}"/>
              </a:ext>
            </a:extLst>
          </p:cNvPr>
          <p:cNvSpPr/>
          <p:nvPr/>
        </p:nvSpPr>
        <p:spPr>
          <a:xfrm>
            <a:off x="1752600" y="4288481"/>
            <a:ext cx="900000" cy="29209"/>
          </a:xfrm>
          <a:custGeom>
            <a:avLst/>
            <a:gdLst/>
            <a:ahLst/>
            <a:cxnLst/>
            <a:rect l="l" t="t" r="r" b="b"/>
            <a:pathLst>
              <a:path w="737870" h="29210">
                <a:moveTo>
                  <a:pt x="737616" y="28956"/>
                </a:moveTo>
                <a:lnTo>
                  <a:pt x="0" y="28956"/>
                </a:lnTo>
                <a:lnTo>
                  <a:pt x="0" y="0"/>
                </a:lnTo>
                <a:lnTo>
                  <a:pt x="737616" y="0"/>
                </a:lnTo>
                <a:lnTo>
                  <a:pt x="737616" y="28956"/>
                </a:lnTo>
                <a:close/>
              </a:path>
            </a:pathLst>
          </a:custGeom>
          <a:solidFill>
            <a:srgbClr val="6264A7"/>
          </a:solidFill>
        </p:spPr>
        <p:txBody>
          <a:bodyPr wrap="square" lIns="0" tIns="0" rIns="0" bIns="0" rtlCol="0"/>
          <a:lstStyle/>
          <a:p>
            <a:endParaRPr lang="es-ES"/>
          </a:p>
        </p:txBody>
      </p:sp>
      <p:sp>
        <p:nvSpPr>
          <p:cNvPr id="44" name="object 22">
            <a:extLst>
              <a:ext uri="{FF2B5EF4-FFF2-40B4-BE49-F238E27FC236}">
                <a16:creationId xmlns:a16="http://schemas.microsoft.com/office/drawing/2014/main" id="{752ADCCE-16D0-426B-9A60-0712D82569FB}"/>
              </a:ext>
            </a:extLst>
          </p:cNvPr>
          <p:cNvSpPr/>
          <p:nvPr/>
        </p:nvSpPr>
        <p:spPr>
          <a:xfrm>
            <a:off x="2362200" y="5105400"/>
            <a:ext cx="32384" cy="151200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45" name="object 25">
            <a:extLst>
              <a:ext uri="{FF2B5EF4-FFF2-40B4-BE49-F238E27FC236}">
                <a16:creationId xmlns:a16="http://schemas.microsoft.com/office/drawing/2014/main" id="{FCA6AC6F-A230-45EC-BA8E-A61B2BF95B09}"/>
              </a:ext>
            </a:extLst>
          </p:cNvPr>
          <p:cNvSpPr/>
          <p:nvPr/>
        </p:nvSpPr>
        <p:spPr>
          <a:xfrm>
            <a:off x="7016432" y="4502032"/>
            <a:ext cx="48765" cy="1476000"/>
          </a:xfrm>
          <a:custGeom>
            <a:avLst/>
            <a:gdLst/>
            <a:ahLst/>
            <a:cxnLst/>
            <a:rect l="l" t="t" r="r" b="b"/>
            <a:pathLst>
              <a:path w="38100" h="603885">
                <a:moveTo>
                  <a:pt x="28955" y="603504"/>
                </a:moveTo>
                <a:lnTo>
                  <a:pt x="0" y="601980"/>
                </a:lnTo>
                <a:lnTo>
                  <a:pt x="9144" y="0"/>
                </a:lnTo>
                <a:lnTo>
                  <a:pt x="38100" y="0"/>
                </a:lnTo>
                <a:lnTo>
                  <a:pt x="28955" y="603504"/>
                </a:lnTo>
                <a:close/>
              </a:path>
            </a:pathLst>
          </a:custGeom>
          <a:solidFill>
            <a:srgbClr val="6264A7"/>
          </a:solidFill>
        </p:spPr>
        <p:txBody>
          <a:bodyPr wrap="square" lIns="0" tIns="0" rIns="0" bIns="0" rtlCol="0"/>
          <a:lstStyle/>
          <a:p>
            <a:endParaRPr lang="es-ES"/>
          </a:p>
        </p:txBody>
      </p:sp>
      <p:sp>
        <p:nvSpPr>
          <p:cNvPr id="46" name="object 8">
            <a:extLst>
              <a:ext uri="{FF2B5EF4-FFF2-40B4-BE49-F238E27FC236}">
                <a16:creationId xmlns:a16="http://schemas.microsoft.com/office/drawing/2014/main" id="{16BDF6F8-67B4-4622-962D-F4D2FEDE7879}"/>
              </a:ext>
            </a:extLst>
          </p:cNvPr>
          <p:cNvSpPr txBox="1"/>
          <p:nvPr/>
        </p:nvSpPr>
        <p:spPr>
          <a:xfrm>
            <a:off x="3774185" y="4634397"/>
            <a:ext cx="2219133" cy="276358"/>
          </a:xfrm>
          <a:prstGeom prst="rect">
            <a:avLst/>
          </a:prstGeom>
          <a:solidFill>
            <a:srgbClr val="E6E6E6"/>
          </a:solidFill>
        </p:spPr>
        <p:txBody>
          <a:bodyPr vert="horz" wrap="square" lIns="0" tIns="75565" rIns="0" bIns="0" rtlCol="0" anchor="t">
            <a:spAutoFit/>
          </a:bodyPr>
          <a:lstStyle/>
          <a:p>
            <a:pPr marL="90805">
              <a:lnSpc>
                <a:spcPct val="100000"/>
              </a:lnSpc>
              <a:spcBef>
                <a:spcPts val="595"/>
              </a:spcBef>
            </a:pPr>
            <a:r>
              <a:rPr lang="es-ES" sz="650" b="1" spc="-10" dirty="0">
                <a:latin typeface="Gadugi"/>
                <a:cs typeface="Gadugi"/>
              </a:rPr>
              <a:t>Reunión recurrente: </a:t>
            </a:r>
            <a:r>
              <a:rPr lang="es-ES" sz="650" spc="-5" dirty="0">
                <a:solidFill>
                  <a:srgbClr val="505050"/>
                </a:solidFill>
                <a:latin typeface="Gadugi"/>
                <a:cs typeface="Gadugi"/>
              </a:rPr>
              <a:t>Haz </a:t>
            </a:r>
            <a:r>
              <a:rPr lang="es-ES" sz="650" spc="-5" dirty="0" err="1">
                <a:solidFill>
                  <a:srgbClr val="505050"/>
                </a:solidFill>
                <a:latin typeface="Gadugi"/>
                <a:cs typeface="Gadugi"/>
              </a:rPr>
              <a:t>click</a:t>
            </a:r>
            <a:r>
              <a:rPr lang="es-ES" sz="650" spc="-5" dirty="0">
                <a:solidFill>
                  <a:srgbClr val="505050"/>
                </a:solidFill>
                <a:latin typeface="Gadugi"/>
                <a:cs typeface="Gadugi"/>
              </a:rPr>
              <a:t> aquí y seleccione la periodicidad de la reunión si fuese necesario. </a:t>
            </a:r>
            <a:endParaRPr lang="es-ES" sz="650" dirty="0">
              <a:latin typeface="Gadugi"/>
              <a:cs typeface="Gadugi"/>
            </a:endParaRPr>
          </a:p>
        </p:txBody>
      </p:sp>
      <p:sp>
        <p:nvSpPr>
          <p:cNvPr id="52" name="object 18">
            <a:extLst>
              <a:ext uri="{FF2B5EF4-FFF2-40B4-BE49-F238E27FC236}">
                <a16:creationId xmlns:a16="http://schemas.microsoft.com/office/drawing/2014/main" id="{947FA7C5-FBA6-4513-A39B-39D708247D2F}"/>
              </a:ext>
            </a:extLst>
          </p:cNvPr>
          <p:cNvSpPr/>
          <p:nvPr/>
        </p:nvSpPr>
        <p:spPr>
          <a:xfrm>
            <a:off x="3512955" y="4724400"/>
            <a:ext cx="105156" cy="105156"/>
          </a:xfrm>
          <a:prstGeom prst="rect">
            <a:avLst/>
          </a:prstGeom>
          <a:blipFill>
            <a:blip r:embed="rId9" cstate="print"/>
            <a:stretch>
              <a:fillRect/>
            </a:stretch>
          </a:blipFill>
        </p:spPr>
        <p:txBody>
          <a:bodyPr wrap="square" lIns="0" tIns="0" rIns="0" bIns="0" rtlCol="0"/>
          <a:lstStyle/>
          <a:p>
            <a:endParaRPr lang="es-ES"/>
          </a:p>
        </p:txBody>
      </p:sp>
      <p:sp>
        <p:nvSpPr>
          <p:cNvPr id="54" name="object 48">
            <a:extLst>
              <a:ext uri="{FF2B5EF4-FFF2-40B4-BE49-F238E27FC236}">
                <a16:creationId xmlns:a16="http://schemas.microsoft.com/office/drawing/2014/main" id="{2E2D88BC-8C11-42ED-B614-708A05D72758}"/>
              </a:ext>
            </a:extLst>
          </p:cNvPr>
          <p:cNvSpPr/>
          <p:nvPr/>
        </p:nvSpPr>
        <p:spPr>
          <a:xfrm>
            <a:off x="3531244" y="4761230"/>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64" name="object 33">
            <a:extLst>
              <a:ext uri="{FF2B5EF4-FFF2-40B4-BE49-F238E27FC236}">
                <a16:creationId xmlns:a16="http://schemas.microsoft.com/office/drawing/2014/main" id="{3F3E9114-C956-434A-BDEE-4F1ADD7097CC}"/>
              </a:ext>
            </a:extLst>
          </p:cNvPr>
          <p:cNvSpPr/>
          <p:nvPr/>
        </p:nvSpPr>
        <p:spPr>
          <a:xfrm>
            <a:off x="4572000" y="3411697"/>
            <a:ext cx="103632" cy="105156"/>
          </a:xfrm>
          <a:prstGeom prst="rect">
            <a:avLst/>
          </a:prstGeom>
          <a:blipFill>
            <a:blip r:embed="rId8" cstate="print"/>
            <a:stretch>
              <a:fillRect/>
            </a:stretch>
          </a:blipFill>
        </p:spPr>
        <p:txBody>
          <a:bodyPr wrap="square" lIns="0" tIns="0" rIns="0" bIns="0" rtlCol="0"/>
          <a:lstStyle/>
          <a:p>
            <a:endParaRPr lang="es-ES"/>
          </a:p>
        </p:txBody>
      </p:sp>
      <p:sp>
        <p:nvSpPr>
          <p:cNvPr id="65" name="object 34">
            <a:extLst>
              <a:ext uri="{FF2B5EF4-FFF2-40B4-BE49-F238E27FC236}">
                <a16:creationId xmlns:a16="http://schemas.microsoft.com/office/drawing/2014/main" id="{FEE512DC-E769-4841-ADC9-ABD36C94B1EE}"/>
              </a:ext>
            </a:extLst>
          </p:cNvPr>
          <p:cNvSpPr/>
          <p:nvPr/>
        </p:nvSpPr>
        <p:spPr>
          <a:xfrm>
            <a:off x="4655819" y="3449797"/>
            <a:ext cx="3132000" cy="29209"/>
          </a:xfrm>
          <a:custGeom>
            <a:avLst/>
            <a:gdLst/>
            <a:ahLst/>
            <a:cxnLst/>
            <a:rect l="l" t="t" r="r" b="b"/>
            <a:pathLst>
              <a:path w="737870" h="29210">
                <a:moveTo>
                  <a:pt x="737616" y="28956"/>
                </a:moveTo>
                <a:lnTo>
                  <a:pt x="0" y="28956"/>
                </a:lnTo>
                <a:lnTo>
                  <a:pt x="0" y="0"/>
                </a:lnTo>
                <a:lnTo>
                  <a:pt x="737616" y="0"/>
                </a:lnTo>
                <a:lnTo>
                  <a:pt x="737616" y="28956"/>
                </a:lnTo>
                <a:close/>
              </a:path>
            </a:pathLst>
          </a:custGeom>
          <a:solidFill>
            <a:srgbClr val="6264A7"/>
          </a:solidFill>
        </p:spPr>
        <p:txBody>
          <a:bodyPr wrap="square" lIns="0" tIns="0" rIns="0" bIns="0" rtlCol="0"/>
          <a:lstStyle/>
          <a:p>
            <a:endParaRPr lang="es-ES"/>
          </a:p>
        </p:txBody>
      </p:sp>
      <p:sp>
        <p:nvSpPr>
          <p:cNvPr id="67" name="object 25">
            <a:extLst>
              <a:ext uri="{FF2B5EF4-FFF2-40B4-BE49-F238E27FC236}">
                <a16:creationId xmlns:a16="http://schemas.microsoft.com/office/drawing/2014/main" id="{AACB83C9-1904-4032-9030-E7C71A7CE4E2}"/>
              </a:ext>
            </a:extLst>
          </p:cNvPr>
          <p:cNvSpPr/>
          <p:nvPr/>
        </p:nvSpPr>
        <p:spPr>
          <a:xfrm>
            <a:off x="7756859" y="3454279"/>
            <a:ext cx="48765" cy="396000"/>
          </a:xfrm>
          <a:custGeom>
            <a:avLst/>
            <a:gdLst/>
            <a:ahLst/>
            <a:cxnLst/>
            <a:rect l="l" t="t" r="r" b="b"/>
            <a:pathLst>
              <a:path w="38100" h="603885">
                <a:moveTo>
                  <a:pt x="28955" y="603504"/>
                </a:moveTo>
                <a:lnTo>
                  <a:pt x="0" y="601980"/>
                </a:lnTo>
                <a:lnTo>
                  <a:pt x="9144" y="0"/>
                </a:lnTo>
                <a:lnTo>
                  <a:pt x="38100" y="0"/>
                </a:lnTo>
                <a:lnTo>
                  <a:pt x="28955" y="603504"/>
                </a:lnTo>
                <a:close/>
              </a:path>
            </a:pathLst>
          </a:custGeom>
          <a:solidFill>
            <a:srgbClr val="6264A7"/>
          </a:solidFill>
        </p:spPr>
        <p:txBody>
          <a:bodyPr wrap="square" lIns="0" tIns="0" rIns="0" bIns="0" rtlCol="0"/>
          <a:lstStyle/>
          <a:p>
            <a:endParaRPr lang="es-ES"/>
          </a:p>
        </p:txBody>
      </p:sp>
      <p:sp>
        <p:nvSpPr>
          <p:cNvPr id="66" name="object 8">
            <a:extLst>
              <a:ext uri="{FF2B5EF4-FFF2-40B4-BE49-F238E27FC236}">
                <a16:creationId xmlns:a16="http://schemas.microsoft.com/office/drawing/2014/main" id="{8CC989FE-A9CA-43B8-91D9-5054496D63F5}"/>
              </a:ext>
            </a:extLst>
          </p:cNvPr>
          <p:cNvSpPr txBox="1"/>
          <p:nvPr/>
        </p:nvSpPr>
        <p:spPr>
          <a:xfrm>
            <a:off x="7494417" y="3591402"/>
            <a:ext cx="1949242" cy="476412"/>
          </a:xfrm>
          <a:prstGeom prst="rect">
            <a:avLst/>
          </a:prstGeom>
          <a:solidFill>
            <a:srgbClr val="E6E6E6"/>
          </a:solidFill>
        </p:spPr>
        <p:txBody>
          <a:bodyPr vert="horz" wrap="square" lIns="0" tIns="75565" rIns="0" bIns="0" rtlCol="0">
            <a:spAutoFit/>
          </a:bodyPr>
          <a:lstStyle/>
          <a:p>
            <a:pPr marL="90805">
              <a:lnSpc>
                <a:spcPct val="100000"/>
              </a:lnSpc>
              <a:spcBef>
                <a:spcPts val="595"/>
              </a:spcBef>
            </a:pPr>
            <a:r>
              <a:rPr lang="es-ES" sz="650" b="1" spc="-10" dirty="0">
                <a:latin typeface="Gadugi"/>
                <a:cs typeface="Gadugi"/>
              </a:rPr>
              <a:t>Disponibilidad asistentes</a:t>
            </a:r>
            <a:r>
              <a:rPr lang="es-ES" sz="650" b="1" dirty="0">
                <a:latin typeface="Gadugi"/>
                <a:cs typeface="Gadugi"/>
              </a:rPr>
              <a:t>: </a:t>
            </a:r>
            <a:r>
              <a:rPr lang="es-ES" sz="650" spc="-5" dirty="0">
                <a:solidFill>
                  <a:srgbClr val="505050"/>
                </a:solidFill>
                <a:latin typeface="Gadugi"/>
                <a:cs typeface="Gadugi"/>
              </a:rPr>
              <a:t>Haz </a:t>
            </a:r>
            <a:r>
              <a:rPr lang="es-ES" sz="650" spc="-5" dirty="0" err="1">
                <a:solidFill>
                  <a:srgbClr val="505050"/>
                </a:solidFill>
                <a:latin typeface="Gadugi"/>
                <a:cs typeface="Gadugi"/>
              </a:rPr>
              <a:t>click</a:t>
            </a:r>
            <a:r>
              <a:rPr lang="es-ES" sz="650" spc="-5" dirty="0">
                <a:solidFill>
                  <a:srgbClr val="505050"/>
                </a:solidFill>
                <a:latin typeface="Gadugi"/>
                <a:cs typeface="Gadugi"/>
              </a:rPr>
              <a:t> aquí para poder ver la disponibilidad de los asistentes en la fecha y hora programada y/o seleccionar la hora que mejor se adapte</a:t>
            </a:r>
            <a:endParaRPr lang="es-ES" sz="650" dirty="0">
              <a:latin typeface="Gadugi"/>
              <a:cs typeface="Gadugi"/>
            </a:endParaRPr>
          </a:p>
        </p:txBody>
      </p:sp>
      <p:pic>
        <p:nvPicPr>
          <p:cNvPr id="9" name="Picture 8">
            <a:extLst>
              <a:ext uri="{FF2B5EF4-FFF2-40B4-BE49-F238E27FC236}">
                <a16:creationId xmlns:a16="http://schemas.microsoft.com/office/drawing/2014/main" id="{7521AD5E-542D-418B-B546-70CC24A60129}"/>
              </a:ext>
            </a:extLst>
          </p:cNvPr>
          <p:cNvPicPr>
            <a:picLocks noChangeAspect="1"/>
          </p:cNvPicPr>
          <p:nvPr/>
        </p:nvPicPr>
        <p:blipFill rotWithShape="1">
          <a:blip r:embed="rId10"/>
          <a:srcRect t="-1663" r="12770"/>
          <a:stretch/>
        </p:blipFill>
        <p:spPr>
          <a:xfrm>
            <a:off x="7370640" y="4263796"/>
            <a:ext cx="2598171" cy="1080200"/>
          </a:xfrm>
          <a:prstGeom prst="rect">
            <a:avLst/>
          </a:prstGeom>
          <a:effectLst>
            <a:outerShdw blurRad="50800" dist="38100" dir="2700000" algn="tl" rotWithShape="0">
              <a:prstClr val="black">
                <a:alpha val="40000"/>
              </a:prstClr>
            </a:outerShdw>
          </a:effectLst>
        </p:spPr>
      </p:pic>
      <p:sp>
        <p:nvSpPr>
          <p:cNvPr id="10" name="Arrow: Striped Right 9">
            <a:extLst>
              <a:ext uri="{FF2B5EF4-FFF2-40B4-BE49-F238E27FC236}">
                <a16:creationId xmlns:a16="http://schemas.microsoft.com/office/drawing/2014/main" id="{26295F28-0EE2-4B52-9441-FF09054B172A}"/>
              </a:ext>
            </a:extLst>
          </p:cNvPr>
          <p:cNvSpPr/>
          <p:nvPr/>
        </p:nvSpPr>
        <p:spPr>
          <a:xfrm rot="5400000">
            <a:off x="7995021" y="4143650"/>
            <a:ext cx="225421" cy="136863"/>
          </a:xfrm>
          <a:prstGeom prst="stripedRightArrow">
            <a:avLst/>
          </a:prstGeom>
          <a:solidFill>
            <a:srgbClr val="626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Left Brace 13">
            <a:extLst>
              <a:ext uri="{FF2B5EF4-FFF2-40B4-BE49-F238E27FC236}">
                <a16:creationId xmlns:a16="http://schemas.microsoft.com/office/drawing/2014/main" id="{AEC7DA77-7416-4BEB-9CF0-8FD8CF7992F4}"/>
              </a:ext>
            </a:extLst>
          </p:cNvPr>
          <p:cNvSpPr/>
          <p:nvPr/>
        </p:nvSpPr>
        <p:spPr>
          <a:xfrm>
            <a:off x="2385181" y="4939457"/>
            <a:ext cx="152400" cy="381000"/>
          </a:xfrm>
          <a:prstGeom prst="leftBrace">
            <a:avLst/>
          </a:prstGeom>
          <a:ln>
            <a:solidFill>
              <a:srgbClr val="6264A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69" name="object 18">
            <a:extLst>
              <a:ext uri="{FF2B5EF4-FFF2-40B4-BE49-F238E27FC236}">
                <a16:creationId xmlns:a16="http://schemas.microsoft.com/office/drawing/2014/main" id="{F0202A08-A5AD-413C-9814-897B66D43604}"/>
              </a:ext>
            </a:extLst>
          </p:cNvPr>
          <p:cNvSpPr/>
          <p:nvPr/>
        </p:nvSpPr>
        <p:spPr>
          <a:xfrm>
            <a:off x="6690168" y="6561771"/>
            <a:ext cx="105156" cy="105156"/>
          </a:xfrm>
          <a:prstGeom prst="rect">
            <a:avLst/>
          </a:prstGeom>
          <a:blipFill>
            <a:blip r:embed="rId9" cstate="print"/>
            <a:stretch>
              <a:fillRect/>
            </a:stretch>
          </a:blipFill>
        </p:spPr>
        <p:txBody>
          <a:bodyPr wrap="square" lIns="0" tIns="0" rIns="0" bIns="0" rtlCol="0"/>
          <a:lstStyle/>
          <a:p>
            <a:endParaRPr lang="es-ES"/>
          </a:p>
        </p:txBody>
      </p:sp>
      <p:sp>
        <p:nvSpPr>
          <p:cNvPr id="70" name="object 48">
            <a:extLst>
              <a:ext uri="{FF2B5EF4-FFF2-40B4-BE49-F238E27FC236}">
                <a16:creationId xmlns:a16="http://schemas.microsoft.com/office/drawing/2014/main" id="{4BC8830D-040B-4F9A-B87D-773FAB14E237}"/>
              </a:ext>
            </a:extLst>
          </p:cNvPr>
          <p:cNvSpPr/>
          <p:nvPr/>
        </p:nvSpPr>
        <p:spPr>
          <a:xfrm>
            <a:off x="6708457" y="6598601"/>
            <a:ext cx="247015"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71" name="object 47">
            <a:extLst>
              <a:ext uri="{FF2B5EF4-FFF2-40B4-BE49-F238E27FC236}">
                <a16:creationId xmlns:a16="http://schemas.microsoft.com/office/drawing/2014/main" id="{204E4C1B-976E-40A7-8EC4-CD8CEB96EA2B}"/>
              </a:ext>
            </a:extLst>
          </p:cNvPr>
          <p:cNvSpPr txBox="1"/>
          <p:nvPr/>
        </p:nvSpPr>
        <p:spPr>
          <a:xfrm>
            <a:off x="2465832" y="6577864"/>
            <a:ext cx="2106168" cy="782907"/>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Agregue canal: </a:t>
            </a:r>
            <a:r>
              <a:rPr lang="es-ES" sz="650" spc="-5" dirty="0">
                <a:latin typeface="Gadugi"/>
                <a:cs typeface="Gadugi"/>
              </a:rPr>
              <a:t>para publicar la reunión en un canal de Teams y dar visibilidad a todo el equipo.  Ten en cuenta, que esta reunión se incluirá SOLO en los calendarios de las personas incluidas en la reunión, no en la de todos los miembros del canal. </a:t>
            </a:r>
          </a:p>
          <a:p>
            <a:pPr marL="92710" marR="103505">
              <a:lnSpc>
                <a:spcPct val="100000"/>
              </a:lnSpc>
              <a:spcBef>
                <a:spcPts val="345"/>
              </a:spcBef>
            </a:pPr>
            <a:r>
              <a:rPr lang="es-ES" sz="650" b="1" spc="-5" dirty="0">
                <a:solidFill>
                  <a:srgbClr val="505050"/>
                </a:solidFill>
                <a:latin typeface="Gadugi"/>
                <a:cs typeface="Gadugi"/>
              </a:rPr>
              <a:t>Agregar ubicación: </a:t>
            </a:r>
            <a:r>
              <a:rPr lang="es-ES" sz="650" spc="-5" dirty="0">
                <a:solidFill>
                  <a:srgbClr val="505050"/>
                </a:solidFill>
                <a:latin typeface="Gadugi"/>
                <a:cs typeface="Gadugi"/>
              </a:rPr>
              <a:t>en el caso de que quieras incluir una dirección y/o sala de reuniones. </a:t>
            </a:r>
            <a:endParaRPr lang="es-ES" sz="650" dirty="0">
              <a:latin typeface="Gadugi"/>
              <a:cs typeface="Gadugi"/>
            </a:endParaRPr>
          </a:p>
        </p:txBody>
      </p:sp>
    </p:spTree>
    <p:extLst>
      <p:ext uri="{BB962C8B-B14F-4D97-AF65-F5344CB8AC3E}">
        <p14:creationId xmlns:p14="http://schemas.microsoft.com/office/powerpoint/2010/main" val="1598343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886711" y="3025139"/>
            <a:ext cx="7627619" cy="4174235"/>
          </a:xfrm>
          <a:prstGeom prst="rect">
            <a:avLst/>
          </a:prstGeom>
          <a:blipFill>
            <a:blip r:embed="rId2" cstate="print"/>
            <a:stretch>
              <a:fillRect/>
            </a:stretch>
          </a:blipFill>
        </p:spPr>
        <p:txBody>
          <a:bodyPr wrap="square" lIns="0" tIns="0" rIns="0" bIns="0" rtlCol="0"/>
          <a:lstStyle/>
          <a:p>
            <a:endParaRPr lang="es-ES"/>
          </a:p>
        </p:txBody>
      </p:sp>
      <p:pic>
        <p:nvPicPr>
          <p:cNvPr id="14" name="Picture 13">
            <a:extLst>
              <a:ext uri="{FF2B5EF4-FFF2-40B4-BE49-F238E27FC236}">
                <a16:creationId xmlns:a16="http://schemas.microsoft.com/office/drawing/2014/main" id="{0A2669D2-01F4-4052-A531-D4B1E095F331}"/>
              </a:ext>
            </a:extLst>
          </p:cNvPr>
          <p:cNvPicPr>
            <a:picLocks noChangeAspect="1"/>
          </p:cNvPicPr>
          <p:nvPr/>
        </p:nvPicPr>
        <p:blipFill>
          <a:blip r:embed="rId3"/>
          <a:stretch>
            <a:fillRect/>
          </a:stretch>
        </p:blipFill>
        <p:spPr>
          <a:xfrm>
            <a:off x="1919747" y="3037078"/>
            <a:ext cx="7547502" cy="4127350"/>
          </a:xfrm>
          <a:prstGeom prst="rect">
            <a:avLst/>
          </a:prstGeom>
        </p:spPr>
      </p:pic>
      <p:sp>
        <p:nvSpPr>
          <p:cNvPr id="2" name="object 2"/>
          <p:cNvSpPr txBox="1"/>
          <p:nvPr/>
        </p:nvSpPr>
        <p:spPr>
          <a:xfrm>
            <a:off x="257010" y="979896"/>
            <a:ext cx="9648990" cy="1054776"/>
          </a:xfrm>
          <a:prstGeom prst="rect">
            <a:avLst/>
          </a:prstGeom>
        </p:spPr>
        <p:txBody>
          <a:bodyPr vert="horz" wrap="square" lIns="0" tIns="158115" rIns="0" bIns="0" rtlCol="0">
            <a:spAutoFit/>
          </a:bodyPr>
          <a:lstStyle/>
          <a:p>
            <a:pPr marL="12700">
              <a:lnSpc>
                <a:spcPct val="100000"/>
              </a:lnSpc>
              <a:spcBef>
                <a:spcPts val="1245"/>
              </a:spcBef>
            </a:pPr>
            <a:r>
              <a:rPr lang="es-ES" sz="2800" b="0" spc="-5" dirty="0">
                <a:solidFill>
                  <a:srgbClr val="6264A7"/>
                </a:solidFill>
                <a:latin typeface="Segoe UI Light"/>
                <a:cs typeface="Segoe UI Light"/>
              </a:rPr>
              <a:t>Detalles de una reunión de Teams</a:t>
            </a:r>
            <a:endParaRPr sz="2800" dirty="0">
              <a:latin typeface="Segoe UI Light"/>
              <a:cs typeface="Segoe UI Light"/>
            </a:endParaRPr>
          </a:p>
          <a:p>
            <a:pPr marL="12700">
              <a:lnSpc>
                <a:spcPct val="100000"/>
              </a:lnSpc>
              <a:spcBef>
                <a:spcPts val="525"/>
              </a:spcBef>
            </a:pPr>
            <a:r>
              <a:rPr lang="es-ES" sz="1300" spc="-10" dirty="0">
                <a:solidFill>
                  <a:srgbClr val="505050"/>
                </a:solidFill>
                <a:latin typeface="Gadugi"/>
                <a:cs typeface="Gadugi"/>
              </a:rPr>
              <a:t>Para ver los detalles de una reunión, solo tienes que hacer </a:t>
            </a:r>
            <a:r>
              <a:rPr lang="es-ES" sz="1300" spc="-10" dirty="0" err="1">
                <a:solidFill>
                  <a:srgbClr val="505050"/>
                </a:solidFill>
                <a:latin typeface="Gadugi"/>
                <a:cs typeface="Gadugi"/>
              </a:rPr>
              <a:t>click</a:t>
            </a:r>
            <a:r>
              <a:rPr lang="es-ES" sz="1300" spc="-10" dirty="0">
                <a:solidFill>
                  <a:srgbClr val="505050"/>
                </a:solidFill>
                <a:latin typeface="Gadugi"/>
                <a:cs typeface="Gadugi"/>
              </a:rPr>
              <a:t> sobre una de tus reuniones programadas en Microsoft Teams, y podrás acceder a las siguientes acciones e información sobre tu reunión (Antes, durante y después de la reunión).  </a:t>
            </a:r>
            <a:endParaRPr sz="1300" dirty="0">
              <a:latin typeface="Gadugi"/>
              <a:cs typeface="Gadugi"/>
            </a:endParaRPr>
          </a:p>
        </p:txBody>
      </p:sp>
      <p:sp>
        <p:nvSpPr>
          <p:cNvPr id="3" name="object 3"/>
          <p:cNvSpPr txBox="1">
            <a:spLocks noGrp="1"/>
          </p:cNvSpPr>
          <p:nvPr>
            <p:ph type="title"/>
          </p:nvPr>
        </p:nvSpPr>
        <p:spPr>
          <a:xfrm>
            <a:off x="226674" y="147378"/>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4" name="object 4"/>
          <p:cNvSpPr/>
          <p:nvPr/>
        </p:nvSpPr>
        <p:spPr>
          <a:xfrm>
            <a:off x="8711183" y="0"/>
            <a:ext cx="1331975" cy="598932"/>
          </a:xfrm>
          <a:prstGeom prst="rect">
            <a:avLst/>
          </a:prstGeom>
          <a:blipFill>
            <a:blip r:embed="rId4" cstate="print"/>
            <a:stretch>
              <a:fillRect/>
            </a:stretch>
          </a:blipFill>
        </p:spPr>
        <p:txBody>
          <a:bodyPr wrap="square" lIns="0" tIns="0" rIns="0" bIns="0" rtlCol="0"/>
          <a:lstStyle/>
          <a:p>
            <a:endParaRPr/>
          </a:p>
        </p:txBody>
      </p:sp>
      <p:sp>
        <p:nvSpPr>
          <p:cNvPr id="13" name="object 13"/>
          <p:cNvSpPr txBox="1"/>
          <p:nvPr/>
        </p:nvSpPr>
        <p:spPr>
          <a:xfrm>
            <a:off x="3811522" y="2277802"/>
            <a:ext cx="1406530" cy="582852"/>
          </a:xfrm>
          <a:prstGeom prst="rect">
            <a:avLst/>
          </a:prstGeom>
          <a:solidFill>
            <a:srgbClr val="E6E6E6"/>
          </a:solidFill>
        </p:spPr>
        <p:txBody>
          <a:bodyPr vert="horz" wrap="square" lIns="0" tIns="43815" rIns="0" bIns="0" rtlCol="0">
            <a:spAutoFit/>
          </a:bodyPr>
          <a:lstStyle/>
          <a:p>
            <a:pPr marL="109220" marR="140335">
              <a:lnSpc>
                <a:spcPct val="100000"/>
              </a:lnSpc>
              <a:spcBef>
                <a:spcPts val="345"/>
              </a:spcBef>
            </a:pPr>
            <a:r>
              <a:rPr lang="es-ES" sz="650" b="1" spc="-5" dirty="0">
                <a:latin typeface="Gadugi"/>
                <a:cs typeface="Gadugi"/>
              </a:rPr>
              <a:t>Archivos</a:t>
            </a:r>
          </a:p>
          <a:p>
            <a:pPr marL="109220" marR="140335">
              <a:lnSpc>
                <a:spcPct val="100000"/>
              </a:lnSpc>
              <a:spcBef>
                <a:spcPts val="345"/>
              </a:spcBef>
            </a:pPr>
            <a:r>
              <a:rPr lang="es-ES" sz="650" spc="-5" dirty="0">
                <a:solidFill>
                  <a:srgbClr val="505050"/>
                </a:solidFill>
                <a:latin typeface="Gadugi"/>
                <a:cs typeface="Gadugi"/>
              </a:rPr>
              <a:t>Todos los archivos que se compartan estarán disponibles aquí: antes, durante y después de la reunión.</a:t>
            </a:r>
          </a:p>
        </p:txBody>
      </p:sp>
      <p:sp>
        <p:nvSpPr>
          <p:cNvPr id="17" name="object 17"/>
          <p:cNvSpPr txBox="1"/>
          <p:nvPr/>
        </p:nvSpPr>
        <p:spPr>
          <a:xfrm>
            <a:off x="1814817" y="2212975"/>
            <a:ext cx="1685809" cy="682879"/>
          </a:xfrm>
          <a:prstGeom prst="rect">
            <a:avLst/>
          </a:prstGeom>
          <a:solidFill>
            <a:srgbClr val="E6E6E6"/>
          </a:solidFill>
        </p:spPr>
        <p:txBody>
          <a:bodyPr vert="horz" wrap="square" lIns="0" tIns="43815" rIns="0" bIns="0" rtlCol="0">
            <a:spAutoFit/>
          </a:bodyPr>
          <a:lstStyle/>
          <a:p>
            <a:pPr marL="86360" marR="88265">
              <a:lnSpc>
                <a:spcPct val="100000"/>
              </a:lnSpc>
              <a:spcBef>
                <a:spcPts val="345"/>
              </a:spcBef>
            </a:pPr>
            <a:r>
              <a:rPr lang="es-ES" sz="650" b="1" spc="-5" dirty="0">
                <a:latin typeface="Gadugi"/>
                <a:cs typeface="Gadugi"/>
              </a:rPr>
              <a:t>Chat</a:t>
            </a:r>
          </a:p>
          <a:p>
            <a:pPr marL="86360" marR="88265">
              <a:lnSpc>
                <a:spcPct val="100000"/>
              </a:lnSpc>
              <a:spcBef>
                <a:spcPts val="345"/>
              </a:spcBef>
            </a:pPr>
            <a:r>
              <a:rPr lang="es-ES" sz="650" spc="-5" dirty="0">
                <a:solidFill>
                  <a:srgbClr val="505050"/>
                </a:solidFill>
                <a:latin typeface="Gadugi"/>
                <a:cs typeface="Gadugi"/>
              </a:rPr>
              <a:t>Apartado de chat de la reunión, donde podrás hablar con los asistentes antes de la reunión para compartir por ejemplo documentación, durante la reunión y una vez finalizada. </a:t>
            </a:r>
          </a:p>
        </p:txBody>
      </p:sp>
      <p:sp>
        <p:nvSpPr>
          <p:cNvPr id="20" name="object 20"/>
          <p:cNvSpPr/>
          <p:nvPr/>
        </p:nvSpPr>
        <p:spPr>
          <a:xfrm>
            <a:off x="4267200" y="3276600"/>
            <a:ext cx="105156" cy="103632"/>
          </a:xfrm>
          <a:prstGeom prst="rect">
            <a:avLst/>
          </a:prstGeom>
          <a:blipFill>
            <a:blip r:embed="rId5" cstate="print"/>
            <a:stretch>
              <a:fillRect/>
            </a:stretch>
          </a:blipFill>
        </p:spPr>
        <p:txBody>
          <a:bodyPr wrap="square" lIns="0" tIns="0" rIns="0" bIns="0" rtlCol="0"/>
          <a:lstStyle/>
          <a:p>
            <a:endParaRPr lang="es-ES"/>
          </a:p>
        </p:txBody>
      </p:sp>
      <p:sp>
        <p:nvSpPr>
          <p:cNvPr id="22" name="object 22"/>
          <p:cNvSpPr/>
          <p:nvPr/>
        </p:nvSpPr>
        <p:spPr>
          <a:xfrm>
            <a:off x="4305679" y="2895600"/>
            <a:ext cx="32384" cy="36000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47" name="object 47"/>
          <p:cNvSpPr txBox="1"/>
          <p:nvPr/>
        </p:nvSpPr>
        <p:spPr>
          <a:xfrm>
            <a:off x="532661" y="5270095"/>
            <a:ext cx="1470660" cy="482824"/>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Detalles reunión</a:t>
            </a:r>
          </a:p>
          <a:p>
            <a:pPr marL="92710" marR="103505">
              <a:lnSpc>
                <a:spcPct val="100000"/>
              </a:lnSpc>
              <a:spcBef>
                <a:spcPts val="345"/>
              </a:spcBef>
            </a:pPr>
            <a:r>
              <a:rPr lang="es-ES" sz="650" spc="-5" dirty="0">
                <a:solidFill>
                  <a:srgbClr val="505050"/>
                </a:solidFill>
                <a:latin typeface="Gadugi"/>
                <a:cs typeface="Gadugi"/>
              </a:rPr>
              <a:t>Todos lo detalles de la reunión que tú has convocado o bien de una reunión a la que has sido invitado. </a:t>
            </a:r>
            <a:endParaRPr lang="es-ES" sz="650" dirty="0">
              <a:latin typeface="Gadugi"/>
              <a:cs typeface="Gadugi"/>
            </a:endParaRPr>
          </a:p>
        </p:txBody>
      </p:sp>
      <p:sp>
        <p:nvSpPr>
          <p:cNvPr id="51" name="object 51"/>
          <p:cNvSpPr/>
          <p:nvPr/>
        </p:nvSpPr>
        <p:spPr>
          <a:xfrm>
            <a:off x="2007893" y="5326484"/>
            <a:ext cx="262128" cy="103632"/>
          </a:xfrm>
          <a:prstGeom prst="rect">
            <a:avLst/>
          </a:prstGeom>
          <a:blipFill>
            <a:blip r:embed="rId6" cstate="print"/>
            <a:stretch>
              <a:fillRect/>
            </a:stretch>
          </a:blipFill>
        </p:spPr>
        <p:txBody>
          <a:bodyPr wrap="square" lIns="0" tIns="0" rIns="0" bIns="0" rtlCol="0"/>
          <a:lstStyle/>
          <a:p>
            <a:endParaRPr lang="es-ES"/>
          </a:p>
        </p:txBody>
      </p:sp>
      <p:sp>
        <p:nvSpPr>
          <p:cNvPr id="15" name="object 15"/>
          <p:cNvSpPr txBox="1"/>
          <p:nvPr/>
        </p:nvSpPr>
        <p:spPr>
          <a:xfrm>
            <a:off x="6557776" y="2270135"/>
            <a:ext cx="1003806" cy="648896"/>
          </a:xfrm>
          <a:prstGeom prst="rect">
            <a:avLst/>
          </a:prstGeom>
          <a:solidFill>
            <a:srgbClr val="E6E6E6"/>
          </a:solidFill>
        </p:spPr>
        <p:txBody>
          <a:bodyPr vert="horz" wrap="square" lIns="0" tIns="48260" rIns="0" bIns="0" rtlCol="0">
            <a:spAutoFit/>
          </a:bodyPr>
          <a:lstStyle/>
          <a:p>
            <a:pPr marL="120014">
              <a:lnSpc>
                <a:spcPct val="100000"/>
              </a:lnSpc>
              <a:spcBef>
                <a:spcPts val="380"/>
              </a:spcBef>
            </a:pPr>
            <a:r>
              <a:rPr lang="es-ES" sz="650" b="1" spc="-10" dirty="0">
                <a:latin typeface="Gadugi"/>
                <a:cs typeface="Gadugi"/>
              </a:rPr>
              <a:t>Pizarra</a:t>
            </a:r>
            <a:endParaRPr lang="es-ES" sz="650" dirty="0">
              <a:latin typeface="Gadugi"/>
              <a:cs typeface="Gadugi"/>
            </a:endParaRPr>
          </a:p>
          <a:p>
            <a:pPr marL="120014" marR="107314">
              <a:lnSpc>
                <a:spcPct val="100000"/>
              </a:lnSpc>
            </a:pPr>
            <a:r>
              <a:rPr lang="es-ES" sz="650" spc="-5" dirty="0">
                <a:solidFill>
                  <a:srgbClr val="505050"/>
                </a:solidFill>
                <a:latin typeface="Gadugi"/>
                <a:cs typeface="Gadugi"/>
              </a:rPr>
              <a:t>Accede a la pizarra de la reunión para dibujar o hacer anotaciones durante la reunión. </a:t>
            </a:r>
          </a:p>
        </p:txBody>
      </p:sp>
      <p:sp>
        <p:nvSpPr>
          <p:cNvPr id="42" name="object 43">
            <a:extLst>
              <a:ext uri="{FF2B5EF4-FFF2-40B4-BE49-F238E27FC236}">
                <a16:creationId xmlns:a16="http://schemas.microsoft.com/office/drawing/2014/main" id="{163D7B42-7C92-4AC5-A1FA-F409B2BC9558}"/>
              </a:ext>
            </a:extLst>
          </p:cNvPr>
          <p:cNvSpPr/>
          <p:nvPr/>
        </p:nvSpPr>
        <p:spPr>
          <a:xfrm>
            <a:off x="8525801" y="3269606"/>
            <a:ext cx="105156" cy="105156"/>
          </a:xfrm>
          <a:prstGeom prst="rect">
            <a:avLst/>
          </a:prstGeom>
          <a:blipFill>
            <a:blip r:embed="rId7" cstate="print"/>
            <a:stretch>
              <a:fillRect/>
            </a:stretch>
          </a:blipFill>
        </p:spPr>
        <p:txBody>
          <a:bodyPr wrap="square" lIns="0" tIns="0" rIns="0" bIns="0" rtlCol="0"/>
          <a:lstStyle/>
          <a:p>
            <a:endParaRPr lang="es-ES"/>
          </a:p>
        </p:txBody>
      </p:sp>
      <p:sp>
        <p:nvSpPr>
          <p:cNvPr id="44" name="object 12">
            <a:extLst>
              <a:ext uri="{FF2B5EF4-FFF2-40B4-BE49-F238E27FC236}">
                <a16:creationId xmlns:a16="http://schemas.microsoft.com/office/drawing/2014/main" id="{684BDCC4-AA86-4EB4-9C9C-B36485E77231}"/>
              </a:ext>
            </a:extLst>
          </p:cNvPr>
          <p:cNvSpPr txBox="1"/>
          <p:nvPr/>
        </p:nvSpPr>
        <p:spPr>
          <a:xfrm>
            <a:off x="7677530" y="2264909"/>
            <a:ext cx="1503045" cy="644407"/>
          </a:xfrm>
          <a:prstGeom prst="rect">
            <a:avLst/>
          </a:prstGeom>
          <a:solidFill>
            <a:srgbClr val="E6E6E6"/>
          </a:solidFill>
        </p:spPr>
        <p:txBody>
          <a:bodyPr vert="horz" wrap="square" lIns="0" tIns="43815" rIns="0" bIns="0" rtlCol="0">
            <a:spAutoFit/>
          </a:bodyPr>
          <a:lstStyle/>
          <a:p>
            <a:pPr marL="115570" marR="130175">
              <a:lnSpc>
                <a:spcPct val="100000"/>
              </a:lnSpc>
              <a:spcBef>
                <a:spcPts val="345"/>
              </a:spcBef>
            </a:pPr>
            <a:r>
              <a:rPr lang="es-ES" sz="650" b="1" spc="-5" dirty="0">
                <a:latin typeface="Gadugi"/>
                <a:cs typeface="Gadugi"/>
              </a:rPr>
              <a:t>Unirse: </a:t>
            </a:r>
            <a:r>
              <a:rPr lang="es-ES" sz="650" spc="-5" dirty="0">
                <a:solidFill>
                  <a:srgbClr val="505050"/>
                </a:solidFill>
                <a:latin typeface="Gadugi"/>
                <a:cs typeface="Gadugi"/>
              </a:rPr>
              <a:t>Podrás unirte a través del botón “unirse”. En este caso, podemos ver que la reunión comenzó hace 11min y hay dos personas dentro de la reunión (Cada círculo es un asistente)</a:t>
            </a:r>
            <a:endParaRPr lang="es-ES" sz="650" dirty="0">
              <a:latin typeface="Gadugi"/>
              <a:cs typeface="Gadugi"/>
            </a:endParaRPr>
          </a:p>
        </p:txBody>
      </p:sp>
      <p:sp>
        <p:nvSpPr>
          <p:cNvPr id="45" name="object 42">
            <a:extLst>
              <a:ext uri="{FF2B5EF4-FFF2-40B4-BE49-F238E27FC236}">
                <a16:creationId xmlns:a16="http://schemas.microsoft.com/office/drawing/2014/main" id="{E0D0DB68-CEB6-4367-B6CE-E1399263B034}"/>
              </a:ext>
            </a:extLst>
          </p:cNvPr>
          <p:cNvSpPr/>
          <p:nvPr/>
        </p:nvSpPr>
        <p:spPr>
          <a:xfrm>
            <a:off x="8561997" y="2947788"/>
            <a:ext cx="30480" cy="326390"/>
          </a:xfrm>
          <a:custGeom>
            <a:avLst/>
            <a:gdLst/>
            <a:ahLst/>
            <a:cxnLst/>
            <a:rect l="l" t="t" r="r" b="b"/>
            <a:pathLst>
              <a:path w="30479" h="326390">
                <a:moveTo>
                  <a:pt x="30480" y="326135"/>
                </a:moveTo>
                <a:lnTo>
                  <a:pt x="1524" y="326135"/>
                </a:lnTo>
                <a:lnTo>
                  <a:pt x="0" y="1524"/>
                </a:lnTo>
                <a:lnTo>
                  <a:pt x="27432" y="0"/>
                </a:lnTo>
                <a:lnTo>
                  <a:pt x="30480" y="326135"/>
                </a:lnTo>
                <a:close/>
              </a:path>
            </a:pathLst>
          </a:custGeom>
          <a:solidFill>
            <a:srgbClr val="6264A7"/>
          </a:solidFill>
        </p:spPr>
        <p:txBody>
          <a:bodyPr wrap="square" lIns="0" tIns="0" rIns="0" bIns="0" rtlCol="0"/>
          <a:lstStyle/>
          <a:p>
            <a:endParaRPr lang="es-ES"/>
          </a:p>
        </p:txBody>
      </p:sp>
      <p:sp>
        <p:nvSpPr>
          <p:cNvPr id="46" name="object 39">
            <a:extLst>
              <a:ext uri="{FF2B5EF4-FFF2-40B4-BE49-F238E27FC236}">
                <a16:creationId xmlns:a16="http://schemas.microsoft.com/office/drawing/2014/main" id="{B4D3D46E-B615-4955-B87F-7984A087749C}"/>
              </a:ext>
            </a:extLst>
          </p:cNvPr>
          <p:cNvSpPr/>
          <p:nvPr/>
        </p:nvSpPr>
        <p:spPr>
          <a:xfrm>
            <a:off x="8811768" y="6425602"/>
            <a:ext cx="103632" cy="105156"/>
          </a:xfrm>
          <a:prstGeom prst="rect">
            <a:avLst/>
          </a:prstGeom>
          <a:blipFill>
            <a:blip r:embed="rId8" cstate="print"/>
            <a:stretch>
              <a:fillRect/>
            </a:stretch>
          </a:blipFill>
        </p:spPr>
        <p:txBody>
          <a:bodyPr wrap="square" lIns="0" tIns="0" rIns="0" bIns="0" rtlCol="0"/>
          <a:lstStyle/>
          <a:p>
            <a:endParaRPr lang="es-ES" dirty="0"/>
          </a:p>
        </p:txBody>
      </p:sp>
      <p:sp>
        <p:nvSpPr>
          <p:cNvPr id="52" name="object 22">
            <a:extLst>
              <a:ext uri="{FF2B5EF4-FFF2-40B4-BE49-F238E27FC236}">
                <a16:creationId xmlns:a16="http://schemas.microsoft.com/office/drawing/2014/main" id="{A8C99C8E-9B2D-486C-87B1-D2F872B21EC6}"/>
              </a:ext>
            </a:extLst>
          </p:cNvPr>
          <p:cNvSpPr/>
          <p:nvPr/>
        </p:nvSpPr>
        <p:spPr>
          <a:xfrm>
            <a:off x="8839200" y="4958290"/>
            <a:ext cx="32384" cy="151200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54" name="object 47">
            <a:extLst>
              <a:ext uri="{FF2B5EF4-FFF2-40B4-BE49-F238E27FC236}">
                <a16:creationId xmlns:a16="http://schemas.microsoft.com/office/drawing/2014/main" id="{4CA55414-7F1D-4741-ABEE-FD21A4F72DE9}"/>
              </a:ext>
            </a:extLst>
          </p:cNvPr>
          <p:cNvSpPr txBox="1"/>
          <p:nvPr/>
        </p:nvSpPr>
        <p:spPr>
          <a:xfrm>
            <a:off x="7677530" y="6530766"/>
            <a:ext cx="2106168" cy="344325"/>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Seguimiento: </a:t>
            </a:r>
            <a:r>
              <a:rPr lang="es-ES" sz="650" spc="-5" dirty="0">
                <a:latin typeface="Gadugi"/>
                <a:cs typeface="Gadugi"/>
              </a:rPr>
              <a:t>podrás ver quien es el organizador de la reunión y los asistentes, así como el estado en el que se encuentran “acepta</a:t>
            </a:r>
            <a:endParaRPr lang="es-ES" sz="650" dirty="0">
              <a:latin typeface="Gadugi"/>
              <a:cs typeface="Gadugi"/>
            </a:endParaRPr>
          </a:p>
        </p:txBody>
      </p:sp>
      <p:sp>
        <p:nvSpPr>
          <p:cNvPr id="35" name="object 35"/>
          <p:cNvSpPr/>
          <p:nvPr/>
        </p:nvSpPr>
        <p:spPr>
          <a:xfrm>
            <a:off x="6781800" y="2925000"/>
            <a:ext cx="29209" cy="46800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64" name="object 43">
            <a:extLst>
              <a:ext uri="{FF2B5EF4-FFF2-40B4-BE49-F238E27FC236}">
                <a16:creationId xmlns:a16="http://schemas.microsoft.com/office/drawing/2014/main" id="{DD2CB215-2814-498D-A652-0CE6BB80AD24}"/>
              </a:ext>
            </a:extLst>
          </p:cNvPr>
          <p:cNvSpPr/>
          <p:nvPr/>
        </p:nvSpPr>
        <p:spPr>
          <a:xfrm>
            <a:off x="6743826" y="3305317"/>
            <a:ext cx="105156" cy="105156"/>
          </a:xfrm>
          <a:prstGeom prst="rect">
            <a:avLst/>
          </a:prstGeom>
          <a:blipFill>
            <a:blip r:embed="rId7" cstate="print"/>
            <a:stretch>
              <a:fillRect/>
            </a:stretch>
          </a:blipFill>
        </p:spPr>
        <p:txBody>
          <a:bodyPr wrap="square" lIns="0" tIns="0" rIns="0" bIns="0" rtlCol="0"/>
          <a:lstStyle/>
          <a:p>
            <a:endParaRPr lang="es-ES"/>
          </a:p>
        </p:txBody>
      </p:sp>
      <p:sp>
        <p:nvSpPr>
          <p:cNvPr id="65" name="object 15">
            <a:extLst>
              <a:ext uri="{FF2B5EF4-FFF2-40B4-BE49-F238E27FC236}">
                <a16:creationId xmlns:a16="http://schemas.microsoft.com/office/drawing/2014/main" id="{B93DBF01-3276-45A9-95CA-8F8836C29FD0}"/>
              </a:ext>
            </a:extLst>
          </p:cNvPr>
          <p:cNvSpPr txBox="1"/>
          <p:nvPr/>
        </p:nvSpPr>
        <p:spPr>
          <a:xfrm>
            <a:off x="5334000" y="2264909"/>
            <a:ext cx="1110488" cy="648896"/>
          </a:xfrm>
          <a:prstGeom prst="rect">
            <a:avLst/>
          </a:prstGeom>
          <a:solidFill>
            <a:srgbClr val="E6E6E6"/>
          </a:solidFill>
        </p:spPr>
        <p:txBody>
          <a:bodyPr vert="horz" wrap="square" lIns="0" tIns="48260" rIns="0" bIns="0" rtlCol="0">
            <a:spAutoFit/>
          </a:bodyPr>
          <a:lstStyle/>
          <a:p>
            <a:pPr marL="120014">
              <a:lnSpc>
                <a:spcPct val="100000"/>
              </a:lnSpc>
              <a:spcBef>
                <a:spcPts val="380"/>
              </a:spcBef>
            </a:pPr>
            <a:r>
              <a:rPr lang="es-ES" sz="650" b="1" spc="-10" dirty="0">
                <a:latin typeface="Gadugi"/>
                <a:cs typeface="Gadugi"/>
              </a:rPr>
              <a:t>Notas de la reunión</a:t>
            </a:r>
            <a:endParaRPr lang="es-ES" sz="650" dirty="0">
              <a:latin typeface="Gadugi"/>
              <a:cs typeface="Gadugi"/>
            </a:endParaRPr>
          </a:p>
          <a:p>
            <a:pPr marL="120014" marR="107314">
              <a:lnSpc>
                <a:spcPct val="100000"/>
              </a:lnSpc>
            </a:pPr>
            <a:r>
              <a:rPr lang="es-ES" sz="650" spc="-5" dirty="0">
                <a:solidFill>
                  <a:srgbClr val="505050"/>
                </a:solidFill>
                <a:latin typeface="Gadugi"/>
                <a:cs typeface="Gadugi"/>
              </a:rPr>
              <a:t>Es este apartado podrás guardar todas las notas de la reunión, incluyendo información desde antes de empezar</a:t>
            </a:r>
          </a:p>
        </p:txBody>
      </p:sp>
      <p:sp>
        <p:nvSpPr>
          <p:cNvPr id="66" name="object 35">
            <a:extLst>
              <a:ext uri="{FF2B5EF4-FFF2-40B4-BE49-F238E27FC236}">
                <a16:creationId xmlns:a16="http://schemas.microsoft.com/office/drawing/2014/main" id="{EB3B42E4-ED9C-422A-9AC2-0D3B7203418E}"/>
              </a:ext>
            </a:extLst>
          </p:cNvPr>
          <p:cNvSpPr/>
          <p:nvPr/>
        </p:nvSpPr>
        <p:spPr>
          <a:xfrm>
            <a:off x="6257418" y="2919774"/>
            <a:ext cx="29209" cy="468000"/>
          </a:xfrm>
          <a:custGeom>
            <a:avLst/>
            <a:gdLst/>
            <a:ahLst/>
            <a:cxnLst/>
            <a:rect l="l" t="t" r="r" b="b"/>
            <a:pathLst>
              <a:path w="29210" h="721360">
                <a:moveTo>
                  <a:pt x="28955" y="720851"/>
                </a:moveTo>
                <a:lnTo>
                  <a:pt x="0" y="720851"/>
                </a:lnTo>
                <a:lnTo>
                  <a:pt x="0" y="0"/>
                </a:lnTo>
                <a:lnTo>
                  <a:pt x="28955" y="0"/>
                </a:lnTo>
                <a:lnTo>
                  <a:pt x="28955" y="720851"/>
                </a:lnTo>
                <a:close/>
              </a:path>
            </a:pathLst>
          </a:custGeom>
          <a:solidFill>
            <a:srgbClr val="6264A7"/>
          </a:solidFill>
        </p:spPr>
        <p:txBody>
          <a:bodyPr wrap="square" lIns="0" tIns="0" rIns="0" bIns="0" rtlCol="0"/>
          <a:lstStyle/>
          <a:p>
            <a:endParaRPr lang="es-ES"/>
          </a:p>
        </p:txBody>
      </p:sp>
      <p:sp>
        <p:nvSpPr>
          <p:cNvPr id="67" name="object 43">
            <a:extLst>
              <a:ext uri="{FF2B5EF4-FFF2-40B4-BE49-F238E27FC236}">
                <a16:creationId xmlns:a16="http://schemas.microsoft.com/office/drawing/2014/main" id="{FFD49B8B-88A3-4112-B26E-4BCF1E97966F}"/>
              </a:ext>
            </a:extLst>
          </p:cNvPr>
          <p:cNvSpPr/>
          <p:nvPr/>
        </p:nvSpPr>
        <p:spPr>
          <a:xfrm>
            <a:off x="6219444" y="3300091"/>
            <a:ext cx="105156" cy="105156"/>
          </a:xfrm>
          <a:prstGeom prst="rect">
            <a:avLst/>
          </a:prstGeom>
          <a:blipFill>
            <a:blip r:embed="rId7" cstate="print"/>
            <a:stretch>
              <a:fillRect/>
            </a:stretch>
          </a:blipFill>
        </p:spPr>
        <p:txBody>
          <a:bodyPr wrap="square" lIns="0" tIns="0" rIns="0" bIns="0" rtlCol="0"/>
          <a:lstStyle/>
          <a:p>
            <a:endParaRPr lang="es-ES"/>
          </a:p>
        </p:txBody>
      </p:sp>
      <p:sp>
        <p:nvSpPr>
          <p:cNvPr id="68" name="object 20">
            <a:extLst>
              <a:ext uri="{FF2B5EF4-FFF2-40B4-BE49-F238E27FC236}">
                <a16:creationId xmlns:a16="http://schemas.microsoft.com/office/drawing/2014/main" id="{0ACA2CF1-40DF-481C-B16F-9431DA040897}"/>
              </a:ext>
            </a:extLst>
          </p:cNvPr>
          <p:cNvSpPr/>
          <p:nvPr/>
        </p:nvSpPr>
        <p:spPr>
          <a:xfrm>
            <a:off x="3996051" y="3304784"/>
            <a:ext cx="105156" cy="103632"/>
          </a:xfrm>
          <a:prstGeom prst="rect">
            <a:avLst/>
          </a:prstGeom>
          <a:blipFill>
            <a:blip r:embed="rId5" cstate="print"/>
            <a:stretch>
              <a:fillRect/>
            </a:stretch>
          </a:blipFill>
        </p:spPr>
        <p:txBody>
          <a:bodyPr wrap="square" lIns="0" tIns="0" rIns="0" bIns="0" rtlCol="0"/>
          <a:lstStyle/>
          <a:p>
            <a:endParaRPr lang="es-ES"/>
          </a:p>
        </p:txBody>
      </p:sp>
      <p:sp>
        <p:nvSpPr>
          <p:cNvPr id="69" name="object 22">
            <a:extLst>
              <a:ext uri="{FF2B5EF4-FFF2-40B4-BE49-F238E27FC236}">
                <a16:creationId xmlns:a16="http://schemas.microsoft.com/office/drawing/2014/main" id="{37298C16-1C6B-4931-8DCE-C2793F4FB076}"/>
              </a:ext>
            </a:extLst>
          </p:cNvPr>
          <p:cNvSpPr/>
          <p:nvPr/>
        </p:nvSpPr>
        <p:spPr>
          <a:xfrm>
            <a:off x="4034530" y="2971800"/>
            <a:ext cx="32384" cy="32400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70" name="object 48">
            <a:extLst>
              <a:ext uri="{FF2B5EF4-FFF2-40B4-BE49-F238E27FC236}">
                <a16:creationId xmlns:a16="http://schemas.microsoft.com/office/drawing/2014/main" id="{E4145925-8EE3-4BE7-80ED-4E9AB94657B3}"/>
              </a:ext>
            </a:extLst>
          </p:cNvPr>
          <p:cNvSpPr/>
          <p:nvPr/>
        </p:nvSpPr>
        <p:spPr>
          <a:xfrm>
            <a:off x="3598914" y="2945860"/>
            <a:ext cx="468000"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71" name="object 22">
            <a:extLst>
              <a:ext uri="{FF2B5EF4-FFF2-40B4-BE49-F238E27FC236}">
                <a16:creationId xmlns:a16="http://schemas.microsoft.com/office/drawing/2014/main" id="{60FC148E-0613-4C53-9169-AFCB04267001}"/>
              </a:ext>
            </a:extLst>
          </p:cNvPr>
          <p:cNvSpPr/>
          <p:nvPr/>
        </p:nvSpPr>
        <p:spPr>
          <a:xfrm>
            <a:off x="3598914" y="2594583"/>
            <a:ext cx="32384" cy="360000"/>
          </a:xfrm>
          <a:custGeom>
            <a:avLst/>
            <a:gdLst/>
            <a:ahLst/>
            <a:cxnLst/>
            <a:rect l="l" t="t" r="r" b="b"/>
            <a:pathLst>
              <a:path w="32385" h="289560">
                <a:moveTo>
                  <a:pt x="28955" y="289559"/>
                </a:moveTo>
                <a:lnTo>
                  <a:pt x="0" y="289559"/>
                </a:lnTo>
                <a:lnTo>
                  <a:pt x="3047" y="0"/>
                </a:lnTo>
                <a:lnTo>
                  <a:pt x="32003" y="0"/>
                </a:lnTo>
                <a:lnTo>
                  <a:pt x="28955" y="289559"/>
                </a:lnTo>
                <a:close/>
              </a:path>
            </a:pathLst>
          </a:custGeom>
          <a:solidFill>
            <a:srgbClr val="6264A7"/>
          </a:solidFill>
        </p:spPr>
        <p:txBody>
          <a:bodyPr wrap="square" lIns="0" tIns="0" rIns="0" bIns="0" rtlCol="0"/>
          <a:lstStyle/>
          <a:p>
            <a:endParaRPr lang="es-ES"/>
          </a:p>
        </p:txBody>
      </p:sp>
      <p:sp>
        <p:nvSpPr>
          <p:cNvPr id="72" name="object 48">
            <a:extLst>
              <a:ext uri="{FF2B5EF4-FFF2-40B4-BE49-F238E27FC236}">
                <a16:creationId xmlns:a16="http://schemas.microsoft.com/office/drawing/2014/main" id="{371B6671-7B63-41AB-BB49-484A53C4D6FB}"/>
              </a:ext>
            </a:extLst>
          </p:cNvPr>
          <p:cNvSpPr/>
          <p:nvPr/>
        </p:nvSpPr>
        <p:spPr>
          <a:xfrm>
            <a:off x="3485270" y="2579978"/>
            <a:ext cx="144000" cy="29209"/>
          </a:xfrm>
          <a:custGeom>
            <a:avLst/>
            <a:gdLst/>
            <a:ahLst/>
            <a:cxnLst/>
            <a:rect l="l" t="t" r="r" b="b"/>
            <a:pathLst>
              <a:path w="247014" h="29209">
                <a:moveTo>
                  <a:pt x="0" y="28956"/>
                </a:moveTo>
                <a:lnTo>
                  <a:pt x="246887" y="28956"/>
                </a:lnTo>
                <a:lnTo>
                  <a:pt x="246887" y="0"/>
                </a:lnTo>
                <a:lnTo>
                  <a:pt x="0" y="0"/>
                </a:lnTo>
                <a:lnTo>
                  <a:pt x="0" y="28956"/>
                </a:lnTo>
                <a:close/>
              </a:path>
            </a:pathLst>
          </a:custGeom>
          <a:solidFill>
            <a:srgbClr val="6264A7"/>
          </a:solidFill>
        </p:spPr>
        <p:txBody>
          <a:bodyPr wrap="square" lIns="0" tIns="0" rIns="0" bIns="0" rtlCol="0"/>
          <a:lstStyle/>
          <a:p>
            <a:endParaRPr lang="es-ES"/>
          </a:p>
        </p:txBody>
      </p:sp>
      <p:sp>
        <p:nvSpPr>
          <p:cNvPr id="73" name="Left Brace 72">
            <a:extLst>
              <a:ext uri="{FF2B5EF4-FFF2-40B4-BE49-F238E27FC236}">
                <a16:creationId xmlns:a16="http://schemas.microsoft.com/office/drawing/2014/main" id="{53AFB60C-A79A-49DA-BB3F-A633D87C0A21}"/>
              </a:ext>
            </a:extLst>
          </p:cNvPr>
          <p:cNvSpPr/>
          <p:nvPr/>
        </p:nvSpPr>
        <p:spPr>
          <a:xfrm>
            <a:off x="2286000" y="3900674"/>
            <a:ext cx="262129" cy="3033525"/>
          </a:xfrm>
          <a:prstGeom prst="leftBrace">
            <a:avLst/>
          </a:prstGeom>
          <a:ln>
            <a:solidFill>
              <a:srgbClr val="6264A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Tree>
    <p:extLst>
      <p:ext uri="{BB962C8B-B14F-4D97-AF65-F5344CB8AC3E}">
        <p14:creationId xmlns:p14="http://schemas.microsoft.com/office/powerpoint/2010/main" val="2163282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7010" y="979896"/>
            <a:ext cx="9648990" cy="590546"/>
          </a:xfrm>
          <a:prstGeom prst="rect">
            <a:avLst/>
          </a:prstGeom>
        </p:spPr>
        <p:txBody>
          <a:bodyPr vert="horz" wrap="square" lIns="0" tIns="158115" rIns="0" bIns="0" rtlCol="0">
            <a:spAutoFit/>
          </a:bodyPr>
          <a:lstStyle/>
          <a:p>
            <a:pPr marL="12700">
              <a:lnSpc>
                <a:spcPct val="100000"/>
              </a:lnSpc>
              <a:spcBef>
                <a:spcPts val="1245"/>
              </a:spcBef>
            </a:pPr>
            <a:r>
              <a:rPr lang="es-ES" sz="2800" b="0" spc="-5" dirty="0">
                <a:solidFill>
                  <a:srgbClr val="6264A7"/>
                </a:solidFill>
                <a:latin typeface="Segoe UI Light"/>
                <a:cs typeface="Segoe UI Light"/>
              </a:rPr>
              <a:t>Opciones y funcionalidades</a:t>
            </a:r>
            <a:endParaRPr sz="1300" dirty="0">
              <a:latin typeface="Gadugi"/>
              <a:cs typeface="Gadugi"/>
            </a:endParaRPr>
          </a:p>
        </p:txBody>
      </p:sp>
      <p:sp>
        <p:nvSpPr>
          <p:cNvPr id="3" name="object 3"/>
          <p:cNvSpPr txBox="1">
            <a:spLocks noGrp="1"/>
          </p:cNvSpPr>
          <p:nvPr>
            <p:ph type="title"/>
          </p:nvPr>
        </p:nvSpPr>
        <p:spPr>
          <a:xfrm>
            <a:off x="226674" y="147378"/>
            <a:ext cx="3681729" cy="635000"/>
          </a:xfrm>
          <a:prstGeom prst="rect">
            <a:avLst/>
          </a:prstGeom>
        </p:spPr>
        <p:txBody>
          <a:bodyPr vert="horz" wrap="square" lIns="0" tIns="12065" rIns="0" bIns="0" rtlCol="0">
            <a:spAutoFit/>
          </a:bodyPr>
          <a:lstStyle/>
          <a:p>
            <a:pPr marL="12700">
              <a:lnSpc>
                <a:spcPct val="100000"/>
              </a:lnSpc>
              <a:spcBef>
                <a:spcPts val="95"/>
              </a:spcBef>
            </a:pPr>
            <a:r>
              <a:rPr spc="-10" dirty="0"/>
              <a:t>Microsoft</a:t>
            </a:r>
            <a:r>
              <a:rPr spc="-35" dirty="0"/>
              <a:t> </a:t>
            </a:r>
            <a:r>
              <a:rPr spc="-95" dirty="0"/>
              <a:t>Teams</a:t>
            </a:r>
          </a:p>
        </p:txBody>
      </p:sp>
      <p:sp>
        <p:nvSpPr>
          <p:cNvPr id="4" name="object 4"/>
          <p:cNvSpPr/>
          <p:nvPr/>
        </p:nvSpPr>
        <p:spPr>
          <a:xfrm>
            <a:off x="8711183" y="0"/>
            <a:ext cx="1331975" cy="598932"/>
          </a:xfrm>
          <a:prstGeom prst="rect">
            <a:avLst/>
          </a:prstGeom>
          <a:blipFill>
            <a:blip r:embed="rId2" cstate="print"/>
            <a:stretch>
              <a:fillRect/>
            </a:stretch>
          </a:blipFill>
        </p:spPr>
        <p:txBody>
          <a:bodyPr wrap="square" lIns="0" tIns="0" rIns="0" bIns="0" rtlCol="0"/>
          <a:lstStyle/>
          <a:p>
            <a:endParaRPr/>
          </a:p>
        </p:txBody>
      </p:sp>
      <p:sp>
        <p:nvSpPr>
          <p:cNvPr id="37" name="object 2">
            <a:extLst>
              <a:ext uri="{FF2B5EF4-FFF2-40B4-BE49-F238E27FC236}">
                <a16:creationId xmlns:a16="http://schemas.microsoft.com/office/drawing/2014/main" id="{C021F4F8-6AF3-40F6-A7FF-F8A7B9193C32}"/>
              </a:ext>
            </a:extLst>
          </p:cNvPr>
          <p:cNvSpPr txBox="1"/>
          <p:nvPr/>
        </p:nvSpPr>
        <p:spPr>
          <a:xfrm>
            <a:off x="318971" y="1808972"/>
            <a:ext cx="2745126" cy="916276"/>
          </a:xfrm>
          <a:prstGeom prst="rect">
            <a:avLst/>
          </a:prstGeom>
        </p:spPr>
        <p:txBody>
          <a:bodyPr vert="horz" wrap="square" lIns="0" tIns="158115" rIns="0" bIns="0" rtlCol="0">
            <a:spAutoFit/>
          </a:bodyPr>
          <a:lstStyle/>
          <a:p>
            <a:pPr marL="12700">
              <a:lnSpc>
                <a:spcPct val="100000"/>
              </a:lnSpc>
              <a:spcBef>
                <a:spcPts val="1245"/>
              </a:spcBef>
            </a:pPr>
            <a:r>
              <a:rPr lang="es-ES" sz="1400" b="1" spc="-5" dirty="0">
                <a:solidFill>
                  <a:srgbClr val="6264A7"/>
                </a:solidFill>
                <a:cs typeface="Segoe UI Light"/>
              </a:rPr>
              <a:t>Unirse a la reunión: </a:t>
            </a:r>
            <a:r>
              <a:rPr lang="es-ES" sz="1100" spc="-5" dirty="0">
                <a:solidFill>
                  <a:schemeClr val="tx1">
                    <a:lumMod val="50000"/>
                    <a:lumOff val="50000"/>
                  </a:schemeClr>
                </a:solidFill>
                <a:cs typeface="Segoe UI Light"/>
              </a:rPr>
              <a:t>Antes de unirte a la reunión podrás seleccionar la activación de cámara, micrófono y los dispositivos a utilizar. </a:t>
            </a:r>
            <a:endParaRPr sz="1100" dirty="0">
              <a:solidFill>
                <a:schemeClr val="tx1">
                  <a:lumMod val="50000"/>
                  <a:lumOff val="50000"/>
                </a:schemeClr>
              </a:solidFill>
              <a:cs typeface="Segoe UI Light"/>
            </a:endParaRPr>
          </a:p>
          <a:p>
            <a:pPr marL="12700">
              <a:lnSpc>
                <a:spcPct val="100000"/>
              </a:lnSpc>
              <a:spcBef>
                <a:spcPts val="525"/>
              </a:spcBef>
            </a:pPr>
            <a:endParaRPr sz="900" b="1" dirty="0">
              <a:cs typeface="Gadugi"/>
            </a:endParaRPr>
          </a:p>
        </p:txBody>
      </p:sp>
      <p:pic>
        <p:nvPicPr>
          <p:cNvPr id="6" name="Picture 5">
            <a:extLst>
              <a:ext uri="{FF2B5EF4-FFF2-40B4-BE49-F238E27FC236}">
                <a16:creationId xmlns:a16="http://schemas.microsoft.com/office/drawing/2014/main" id="{F5C888D0-3A0E-4383-8AC7-21B62CAEC72A}"/>
              </a:ext>
            </a:extLst>
          </p:cNvPr>
          <p:cNvPicPr>
            <a:picLocks noChangeAspect="1"/>
          </p:cNvPicPr>
          <p:nvPr/>
        </p:nvPicPr>
        <p:blipFill rotWithShape="1">
          <a:blip r:embed="rId3"/>
          <a:srcRect l="11923" t="29167" r="13564" b="12500"/>
          <a:stretch/>
        </p:blipFill>
        <p:spPr>
          <a:xfrm>
            <a:off x="297199" y="2590800"/>
            <a:ext cx="2585355" cy="1447800"/>
          </a:xfrm>
          <a:prstGeom prst="rect">
            <a:avLst/>
          </a:prstGeom>
        </p:spPr>
      </p:pic>
      <p:sp>
        <p:nvSpPr>
          <p:cNvPr id="40" name="object 2">
            <a:extLst>
              <a:ext uri="{FF2B5EF4-FFF2-40B4-BE49-F238E27FC236}">
                <a16:creationId xmlns:a16="http://schemas.microsoft.com/office/drawing/2014/main" id="{4BEB415E-DA62-4163-B2B7-9D8486085C24}"/>
              </a:ext>
            </a:extLst>
          </p:cNvPr>
          <p:cNvSpPr txBox="1"/>
          <p:nvPr/>
        </p:nvSpPr>
        <p:spPr>
          <a:xfrm>
            <a:off x="328606" y="4181320"/>
            <a:ext cx="2438999" cy="4132542"/>
          </a:xfrm>
          <a:prstGeom prst="rect">
            <a:avLst/>
          </a:prstGeom>
        </p:spPr>
        <p:txBody>
          <a:bodyPr vert="horz" wrap="square" lIns="0" tIns="158115" rIns="0" bIns="0" rtlCol="0">
            <a:spAutoFit/>
          </a:bodyPr>
          <a:lstStyle/>
          <a:p>
            <a:pPr marL="355600" indent="-342900">
              <a:lnSpc>
                <a:spcPct val="100000"/>
              </a:lnSpc>
              <a:spcBef>
                <a:spcPts val="1245"/>
              </a:spcBef>
              <a:buAutoNum type="arabicParenBoth"/>
            </a:pPr>
            <a:r>
              <a:rPr lang="es-ES" sz="1400" b="1" spc="-5" dirty="0">
                <a:solidFill>
                  <a:srgbClr val="6264A7"/>
                </a:solidFill>
                <a:cs typeface="Segoe UI Light"/>
              </a:rPr>
              <a:t>Difuminar fondo: </a:t>
            </a:r>
            <a:r>
              <a:rPr lang="es-ES" sz="1100" spc="-5" dirty="0">
                <a:solidFill>
                  <a:schemeClr val="tx1">
                    <a:lumMod val="50000"/>
                    <a:lumOff val="50000"/>
                  </a:schemeClr>
                </a:solidFill>
                <a:cs typeface="Segoe UI Light"/>
              </a:rPr>
              <a:t>Cuando estés fuera de la oficina y quieras evitar distracciones, difumina tu fondo y nadie podrá ver que tienes detrás.</a:t>
            </a:r>
          </a:p>
          <a:p>
            <a:pPr marL="355600" indent="-342900">
              <a:lnSpc>
                <a:spcPct val="100000"/>
              </a:lnSpc>
              <a:spcBef>
                <a:spcPts val="1245"/>
              </a:spcBef>
              <a:buAutoNum type="arabicParenBoth"/>
            </a:pPr>
            <a:endParaRPr lang="es-ES" sz="600" spc="-5" dirty="0">
              <a:solidFill>
                <a:schemeClr val="tx1">
                  <a:lumMod val="50000"/>
                  <a:lumOff val="50000"/>
                </a:schemeClr>
              </a:solidFill>
              <a:cs typeface="Segoe UI Light"/>
            </a:endParaRPr>
          </a:p>
          <a:p>
            <a:pPr marL="355600" indent="-342900">
              <a:lnSpc>
                <a:spcPct val="100000"/>
              </a:lnSpc>
              <a:spcBef>
                <a:spcPts val="1245"/>
              </a:spcBef>
              <a:buAutoNum type="arabicParenBoth"/>
            </a:pPr>
            <a:endParaRPr lang="es-ES" sz="100" spc="-5" dirty="0">
              <a:solidFill>
                <a:schemeClr val="tx1">
                  <a:lumMod val="50000"/>
                  <a:lumOff val="50000"/>
                </a:schemeClr>
              </a:solidFill>
              <a:cs typeface="Segoe UI Light"/>
            </a:endParaRPr>
          </a:p>
          <a:p>
            <a:pPr marL="355600" indent="-342900">
              <a:lnSpc>
                <a:spcPct val="100000"/>
              </a:lnSpc>
              <a:spcBef>
                <a:spcPts val="1245"/>
              </a:spcBef>
              <a:buAutoNum type="arabicParenBoth"/>
            </a:pPr>
            <a:endParaRPr lang="es-ES" sz="1100" spc="-5" dirty="0">
              <a:solidFill>
                <a:schemeClr val="tx1">
                  <a:lumMod val="50000"/>
                  <a:lumOff val="50000"/>
                </a:schemeClr>
              </a:solidFill>
              <a:cs typeface="Segoe UI Light"/>
            </a:endParaRPr>
          </a:p>
          <a:p>
            <a:pPr marL="355600" indent="-342900">
              <a:lnSpc>
                <a:spcPct val="100000"/>
              </a:lnSpc>
              <a:spcBef>
                <a:spcPts val="1245"/>
              </a:spcBef>
              <a:buAutoNum type="arabicParenBoth"/>
            </a:pPr>
            <a:endParaRPr lang="es-ES" sz="100" spc="-5" dirty="0">
              <a:solidFill>
                <a:schemeClr val="tx1">
                  <a:lumMod val="50000"/>
                  <a:lumOff val="50000"/>
                </a:schemeClr>
              </a:solidFill>
              <a:cs typeface="Segoe UI Light"/>
            </a:endParaRPr>
          </a:p>
          <a:p>
            <a:pPr marL="355600" indent="-342900">
              <a:lnSpc>
                <a:spcPct val="100000"/>
              </a:lnSpc>
              <a:spcBef>
                <a:spcPts val="1245"/>
              </a:spcBef>
              <a:buAutoNum type="arabicParenBoth"/>
            </a:pPr>
            <a:endParaRPr lang="es-ES" sz="900" spc="-5" dirty="0">
              <a:solidFill>
                <a:schemeClr val="tx1">
                  <a:lumMod val="50000"/>
                  <a:lumOff val="50000"/>
                </a:schemeClr>
              </a:solidFill>
              <a:cs typeface="Segoe UI Light"/>
            </a:endParaRPr>
          </a:p>
          <a:p>
            <a:pPr marL="355600" indent="-342900">
              <a:spcBef>
                <a:spcPts val="1245"/>
              </a:spcBef>
              <a:buFontTx/>
              <a:buAutoNum type="arabicParenBoth"/>
            </a:pPr>
            <a:r>
              <a:rPr lang="es-ES" sz="1400" b="1" spc="-5" dirty="0">
                <a:solidFill>
                  <a:srgbClr val="6264A7"/>
                </a:solidFill>
                <a:cs typeface="Segoe UI Light"/>
              </a:rPr>
              <a:t>Grabar reunión: </a:t>
            </a:r>
            <a:r>
              <a:rPr lang="es-ES" sz="1100" spc="-5" dirty="0">
                <a:solidFill>
                  <a:schemeClr val="tx1">
                    <a:lumMod val="50000"/>
                    <a:lumOff val="50000"/>
                  </a:schemeClr>
                </a:solidFill>
                <a:cs typeface="Segoe UI Light"/>
              </a:rPr>
              <a:t>Todos los asistentes</a:t>
            </a:r>
            <a:r>
              <a:rPr lang="es-ES_tradnl" sz="1100" spc="-5" dirty="0">
                <a:solidFill>
                  <a:schemeClr val="tx1">
                    <a:lumMod val="50000"/>
                    <a:lumOff val="50000"/>
                  </a:schemeClr>
                </a:solidFill>
                <a:cs typeface="Segoe UI Light"/>
              </a:rPr>
              <a:t> de la reunión verán una notificación en la parte superior de la pantalla indicando que se ha grabado. La grabación se guarda en el chat de la reunión. </a:t>
            </a:r>
            <a:endParaRPr lang="es-ES_tradnl" sz="1100" dirty="0">
              <a:solidFill>
                <a:schemeClr val="tx1">
                  <a:lumMod val="50000"/>
                  <a:lumOff val="50000"/>
                </a:schemeClr>
              </a:solidFill>
              <a:cs typeface="Segoe UI Light"/>
            </a:endParaRPr>
          </a:p>
          <a:p>
            <a:pPr marL="355600" indent="-342900">
              <a:lnSpc>
                <a:spcPct val="100000"/>
              </a:lnSpc>
              <a:spcBef>
                <a:spcPts val="1245"/>
              </a:spcBef>
              <a:buAutoNum type="arabicParenBoth"/>
            </a:pPr>
            <a:endParaRPr lang="es-ES" sz="1100" spc="-5" dirty="0">
              <a:solidFill>
                <a:schemeClr val="tx1">
                  <a:lumMod val="50000"/>
                  <a:lumOff val="50000"/>
                </a:schemeClr>
              </a:solidFill>
              <a:cs typeface="Segoe UI Light"/>
            </a:endParaRPr>
          </a:p>
          <a:p>
            <a:pPr marL="355600" indent="-342900">
              <a:lnSpc>
                <a:spcPct val="100000"/>
              </a:lnSpc>
              <a:spcBef>
                <a:spcPts val="1245"/>
              </a:spcBef>
              <a:buAutoNum type="arabicParenBoth"/>
            </a:pPr>
            <a:endParaRPr lang="es-ES" sz="1100" spc="-5" dirty="0">
              <a:solidFill>
                <a:schemeClr val="tx1">
                  <a:lumMod val="50000"/>
                  <a:lumOff val="50000"/>
                </a:schemeClr>
              </a:solidFill>
              <a:cs typeface="Segoe UI Light"/>
            </a:endParaRPr>
          </a:p>
          <a:p>
            <a:pPr marL="12700">
              <a:lnSpc>
                <a:spcPct val="100000"/>
              </a:lnSpc>
              <a:spcBef>
                <a:spcPts val="525"/>
              </a:spcBef>
            </a:pPr>
            <a:endParaRPr sz="900" b="1" dirty="0">
              <a:cs typeface="Gadugi"/>
            </a:endParaRPr>
          </a:p>
        </p:txBody>
      </p:sp>
      <p:sp>
        <p:nvSpPr>
          <p:cNvPr id="45" name="object 2">
            <a:extLst>
              <a:ext uri="{FF2B5EF4-FFF2-40B4-BE49-F238E27FC236}">
                <a16:creationId xmlns:a16="http://schemas.microsoft.com/office/drawing/2014/main" id="{853F9DB3-C5E8-4399-AA5A-81E1CD6A6ADB}"/>
              </a:ext>
            </a:extLst>
          </p:cNvPr>
          <p:cNvSpPr txBox="1"/>
          <p:nvPr/>
        </p:nvSpPr>
        <p:spPr>
          <a:xfrm>
            <a:off x="3630321" y="4023508"/>
            <a:ext cx="5650210" cy="1691492"/>
          </a:xfrm>
          <a:prstGeom prst="rect">
            <a:avLst/>
          </a:prstGeom>
        </p:spPr>
        <p:txBody>
          <a:bodyPr vert="horz" wrap="square" lIns="0" tIns="158115" rIns="0" bIns="0" rtlCol="0">
            <a:spAutoFit/>
          </a:bodyPr>
          <a:lstStyle/>
          <a:p>
            <a:pPr marL="355600" indent="-342900">
              <a:lnSpc>
                <a:spcPct val="100000"/>
              </a:lnSpc>
              <a:spcBef>
                <a:spcPts val="200"/>
              </a:spcBef>
              <a:buAutoNum type="arabicParenBoth" startAt="3"/>
            </a:pPr>
            <a:r>
              <a:rPr lang="es-ES" sz="1400" b="1" spc="-5" dirty="0">
                <a:solidFill>
                  <a:srgbClr val="6264A7"/>
                </a:solidFill>
                <a:cs typeface="Segoe UI Light"/>
              </a:rPr>
              <a:t>Compartir pantalla: </a:t>
            </a:r>
            <a:r>
              <a:rPr lang="es-ES" sz="1100" spc="-5" dirty="0">
                <a:solidFill>
                  <a:schemeClr val="tx1">
                    <a:lumMod val="50000"/>
                    <a:lumOff val="50000"/>
                  </a:schemeClr>
                </a:solidFill>
                <a:cs typeface="Segoe UI Light"/>
              </a:rPr>
              <a:t>Haz </a:t>
            </a:r>
            <a:r>
              <a:rPr lang="es-ES" sz="1100" spc="-5" dirty="0" err="1">
                <a:solidFill>
                  <a:schemeClr val="tx1">
                    <a:lumMod val="50000"/>
                    <a:lumOff val="50000"/>
                  </a:schemeClr>
                </a:solidFill>
                <a:cs typeface="Segoe UI Light"/>
              </a:rPr>
              <a:t>click</a:t>
            </a:r>
            <a:r>
              <a:rPr lang="es-ES" sz="1100" spc="-5" dirty="0">
                <a:solidFill>
                  <a:schemeClr val="tx1">
                    <a:lumMod val="50000"/>
                    <a:lumOff val="50000"/>
                  </a:schemeClr>
                </a:solidFill>
                <a:cs typeface="Segoe UI Light"/>
              </a:rPr>
              <a:t> aquí para:</a:t>
            </a:r>
          </a:p>
          <a:p>
            <a:pPr marL="184150" indent="-171450">
              <a:lnSpc>
                <a:spcPct val="100000"/>
              </a:lnSpc>
              <a:spcBef>
                <a:spcPts val="200"/>
              </a:spcBef>
              <a:buFontTx/>
              <a:buChar char="-"/>
            </a:pPr>
            <a:r>
              <a:rPr lang="es-ES" sz="1100" b="1" u="sng" spc="-5" dirty="0">
                <a:solidFill>
                  <a:schemeClr val="tx1">
                    <a:lumMod val="50000"/>
                    <a:lumOff val="50000"/>
                  </a:schemeClr>
                </a:solidFill>
                <a:cs typeface="Segoe UI Light"/>
              </a:rPr>
              <a:t>Incluir audio del sistema</a:t>
            </a:r>
            <a:r>
              <a:rPr lang="es-ES" sz="1100" spc="-5" dirty="0">
                <a:solidFill>
                  <a:schemeClr val="tx1">
                    <a:lumMod val="50000"/>
                    <a:lumOff val="50000"/>
                  </a:schemeClr>
                </a:solidFill>
                <a:cs typeface="Segoe UI Light"/>
              </a:rPr>
              <a:t>: Márcalo cuando vayas a compartir un video o audio en la reunión, así todos los asistentes podrán escucharlo. </a:t>
            </a:r>
          </a:p>
          <a:p>
            <a:pPr marL="184150" indent="-171450">
              <a:lnSpc>
                <a:spcPct val="100000"/>
              </a:lnSpc>
              <a:spcBef>
                <a:spcPts val="200"/>
              </a:spcBef>
              <a:buFontTx/>
              <a:buChar char="-"/>
            </a:pPr>
            <a:r>
              <a:rPr lang="es-ES" sz="1100" b="1" spc="-5" dirty="0">
                <a:solidFill>
                  <a:schemeClr val="tx1">
                    <a:lumMod val="50000"/>
                    <a:lumOff val="50000"/>
                  </a:schemeClr>
                </a:solidFill>
                <a:cs typeface="Segoe UI Light"/>
              </a:rPr>
              <a:t>Escritorio: </a:t>
            </a:r>
            <a:r>
              <a:rPr lang="es-ES" sz="1100" spc="-5" dirty="0">
                <a:solidFill>
                  <a:schemeClr val="tx1">
                    <a:lumMod val="50000"/>
                    <a:lumOff val="50000"/>
                  </a:schemeClr>
                </a:solidFill>
                <a:cs typeface="Segoe UI Light"/>
              </a:rPr>
              <a:t>Al seleccionarlo, compartirás todo el escritorio, incluso cuando cambies de ventanas. </a:t>
            </a:r>
          </a:p>
          <a:p>
            <a:pPr marL="184150" indent="-171450">
              <a:lnSpc>
                <a:spcPct val="100000"/>
              </a:lnSpc>
              <a:spcBef>
                <a:spcPts val="200"/>
              </a:spcBef>
              <a:buFontTx/>
              <a:buChar char="-"/>
            </a:pPr>
            <a:r>
              <a:rPr lang="es-ES" sz="1100" b="1" spc="-5" dirty="0">
                <a:solidFill>
                  <a:schemeClr val="tx1">
                    <a:lumMod val="50000"/>
                    <a:lumOff val="50000"/>
                  </a:schemeClr>
                </a:solidFill>
                <a:cs typeface="Segoe UI Light"/>
              </a:rPr>
              <a:t>Ventana</a:t>
            </a:r>
            <a:r>
              <a:rPr lang="es-ES" sz="1100" spc="-5" dirty="0">
                <a:solidFill>
                  <a:schemeClr val="tx1">
                    <a:lumMod val="50000"/>
                    <a:lumOff val="50000"/>
                  </a:schemeClr>
                </a:solidFill>
                <a:cs typeface="Segoe UI Light"/>
              </a:rPr>
              <a:t>: Aparecerán los documentos y ventanas que tengas abiertos en tu escritorio, podrás seleccionar compartir SOLO ese documento o ventana, permitiendo navegar con tu escritorio sin que los asistentes puedan verlo.</a:t>
            </a:r>
          </a:p>
          <a:p>
            <a:pPr marL="184150" indent="-171450">
              <a:lnSpc>
                <a:spcPct val="100000"/>
              </a:lnSpc>
              <a:spcBef>
                <a:spcPts val="200"/>
              </a:spcBef>
              <a:buFontTx/>
              <a:buChar char="-"/>
            </a:pPr>
            <a:r>
              <a:rPr lang="es-ES" sz="1100" b="1" spc="-5" dirty="0">
                <a:solidFill>
                  <a:schemeClr val="tx1">
                    <a:lumMod val="50000"/>
                    <a:lumOff val="50000"/>
                  </a:schemeClr>
                </a:solidFill>
                <a:cs typeface="Segoe UI Light"/>
              </a:rPr>
              <a:t>Pizarra: </a:t>
            </a:r>
            <a:r>
              <a:rPr lang="es-ES" sz="1100" spc="-5" dirty="0">
                <a:solidFill>
                  <a:schemeClr val="tx1">
                    <a:lumMod val="50000"/>
                    <a:lumOff val="50000"/>
                  </a:schemeClr>
                </a:solidFill>
                <a:cs typeface="Segoe UI Light"/>
              </a:rPr>
              <a:t>Se compartirá solamente la pizarra de Teams, donde podréis escribir todos los asistentes. </a:t>
            </a:r>
            <a:endParaRPr sz="1100" spc="-5" dirty="0">
              <a:solidFill>
                <a:schemeClr val="tx1">
                  <a:lumMod val="50000"/>
                  <a:lumOff val="50000"/>
                </a:schemeClr>
              </a:solidFill>
              <a:cs typeface="Segoe UI Light"/>
            </a:endParaRPr>
          </a:p>
        </p:txBody>
      </p:sp>
      <p:pic>
        <p:nvPicPr>
          <p:cNvPr id="26" name="Picture 25">
            <a:extLst>
              <a:ext uri="{FF2B5EF4-FFF2-40B4-BE49-F238E27FC236}">
                <a16:creationId xmlns:a16="http://schemas.microsoft.com/office/drawing/2014/main" id="{6BD916F9-E580-4621-8AFC-DE18838CA526}"/>
              </a:ext>
            </a:extLst>
          </p:cNvPr>
          <p:cNvPicPr>
            <a:picLocks noChangeAspect="1"/>
          </p:cNvPicPr>
          <p:nvPr/>
        </p:nvPicPr>
        <p:blipFill>
          <a:blip r:embed="rId4"/>
          <a:stretch>
            <a:fillRect/>
          </a:stretch>
        </p:blipFill>
        <p:spPr>
          <a:xfrm>
            <a:off x="777869" y="5126179"/>
            <a:ext cx="1624013" cy="1038697"/>
          </a:xfrm>
          <a:prstGeom prst="rect">
            <a:avLst/>
          </a:prstGeom>
        </p:spPr>
      </p:pic>
      <p:sp>
        <p:nvSpPr>
          <p:cNvPr id="72" name="object 47">
            <a:extLst>
              <a:ext uri="{FF2B5EF4-FFF2-40B4-BE49-F238E27FC236}">
                <a16:creationId xmlns:a16="http://schemas.microsoft.com/office/drawing/2014/main" id="{47342602-0B4B-464B-A433-3DAD4540ED73}"/>
              </a:ext>
            </a:extLst>
          </p:cNvPr>
          <p:cNvSpPr txBox="1"/>
          <p:nvPr/>
        </p:nvSpPr>
        <p:spPr>
          <a:xfrm>
            <a:off x="8345127" y="3070546"/>
            <a:ext cx="1560873" cy="413575"/>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Chat</a:t>
            </a:r>
            <a:r>
              <a:rPr lang="es-ES" sz="650" spc="-5" dirty="0">
                <a:latin typeface="Gadugi"/>
                <a:cs typeface="Gadugi"/>
              </a:rPr>
              <a:t>: desde aquí podrás acceder a la conversación asociada a la reunión, antes, durante y después .</a:t>
            </a:r>
          </a:p>
          <a:p>
            <a:pPr marL="92710" marR="103505">
              <a:lnSpc>
                <a:spcPct val="100000"/>
              </a:lnSpc>
              <a:spcBef>
                <a:spcPts val="345"/>
              </a:spcBef>
            </a:pPr>
            <a:endParaRPr lang="es-ES" sz="200" dirty="0">
              <a:latin typeface="Gadugi"/>
              <a:cs typeface="Gadugi"/>
            </a:endParaRPr>
          </a:p>
        </p:txBody>
      </p:sp>
      <p:sp>
        <p:nvSpPr>
          <p:cNvPr id="74" name="object 39">
            <a:extLst>
              <a:ext uri="{FF2B5EF4-FFF2-40B4-BE49-F238E27FC236}">
                <a16:creationId xmlns:a16="http://schemas.microsoft.com/office/drawing/2014/main" id="{BCBEC224-BBDD-4634-8E90-2C121B53A9E5}"/>
              </a:ext>
            </a:extLst>
          </p:cNvPr>
          <p:cNvSpPr/>
          <p:nvPr/>
        </p:nvSpPr>
        <p:spPr>
          <a:xfrm>
            <a:off x="9073747" y="3484121"/>
            <a:ext cx="103632" cy="105156"/>
          </a:xfrm>
          <a:prstGeom prst="rect">
            <a:avLst/>
          </a:prstGeom>
          <a:blipFill>
            <a:blip r:embed="rId5" cstate="print"/>
            <a:stretch>
              <a:fillRect/>
            </a:stretch>
          </a:blipFill>
        </p:spPr>
        <p:txBody>
          <a:bodyPr wrap="square" lIns="0" tIns="0" rIns="0" bIns="0" rtlCol="0"/>
          <a:lstStyle/>
          <a:p>
            <a:endParaRPr lang="es-ES"/>
          </a:p>
        </p:txBody>
      </p:sp>
      <p:sp>
        <p:nvSpPr>
          <p:cNvPr id="78" name="object 47">
            <a:extLst>
              <a:ext uri="{FF2B5EF4-FFF2-40B4-BE49-F238E27FC236}">
                <a16:creationId xmlns:a16="http://schemas.microsoft.com/office/drawing/2014/main" id="{0308675A-4652-4C8D-8B0E-486D9CF00FF3}"/>
              </a:ext>
            </a:extLst>
          </p:cNvPr>
          <p:cNvSpPr txBox="1"/>
          <p:nvPr/>
        </p:nvSpPr>
        <p:spPr>
          <a:xfrm>
            <a:off x="8345127" y="2207797"/>
            <a:ext cx="1560873" cy="444352"/>
          </a:xfrm>
          <a:prstGeom prst="rect">
            <a:avLst/>
          </a:prstGeom>
          <a:solidFill>
            <a:srgbClr val="E6E6E6"/>
          </a:solidFill>
        </p:spPr>
        <p:txBody>
          <a:bodyPr vert="horz" wrap="square" lIns="0" tIns="43815" rIns="0" bIns="0" rtlCol="0">
            <a:spAutoFit/>
          </a:bodyPr>
          <a:lstStyle/>
          <a:p>
            <a:pPr marL="92710" marR="103505">
              <a:lnSpc>
                <a:spcPct val="100000"/>
              </a:lnSpc>
              <a:spcBef>
                <a:spcPts val="345"/>
              </a:spcBef>
            </a:pPr>
            <a:r>
              <a:rPr lang="es-ES" sz="650" b="1" spc="-5" dirty="0">
                <a:latin typeface="Gadugi"/>
                <a:cs typeface="Gadugi"/>
              </a:rPr>
              <a:t>Asistentes: </a:t>
            </a:r>
            <a:r>
              <a:rPr lang="es-ES" sz="650" spc="-5" dirty="0">
                <a:latin typeface="Gadugi"/>
                <a:cs typeface="Gadugi"/>
              </a:rPr>
              <a:t>: desde aquí podrás ver todos los asistentes en una reunión, añadir nuevos o comprobar el estado en el que se encuentran. </a:t>
            </a:r>
            <a:endParaRPr lang="es-ES" sz="650" dirty="0">
              <a:latin typeface="Gadugi"/>
              <a:cs typeface="Gadugi"/>
            </a:endParaRPr>
          </a:p>
        </p:txBody>
      </p:sp>
      <p:sp>
        <p:nvSpPr>
          <p:cNvPr id="79" name="object 39">
            <a:extLst>
              <a:ext uri="{FF2B5EF4-FFF2-40B4-BE49-F238E27FC236}">
                <a16:creationId xmlns:a16="http://schemas.microsoft.com/office/drawing/2014/main" id="{B0ECD786-12D3-4ECE-AE4B-DB17C76D1111}"/>
              </a:ext>
            </a:extLst>
          </p:cNvPr>
          <p:cNvSpPr/>
          <p:nvPr/>
        </p:nvSpPr>
        <p:spPr>
          <a:xfrm>
            <a:off x="9078775" y="2650311"/>
            <a:ext cx="103632" cy="105156"/>
          </a:xfrm>
          <a:prstGeom prst="rect">
            <a:avLst/>
          </a:prstGeom>
          <a:blipFill>
            <a:blip r:embed="rId5" cstate="print"/>
            <a:stretch>
              <a:fillRect/>
            </a:stretch>
          </a:blipFill>
        </p:spPr>
        <p:txBody>
          <a:bodyPr wrap="square" lIns="0" tIns="0" rIns="0" bIns="0" rtlCol="0"/>
          <a:lstStyle/>
          <a:p>
            <a:endParaRPr lang="es-ES"/>
          </a:p>
        </p:txBody>
      </p:sp>
      <p:pic>
        <p:nvPicPr>
          <p:cNvPr id="91" name="Picture 90">
            <a:extLst>
              <a:ext uri="{FF2B5EF4-FFF2-40B4-BE49-F238E27FC236}">
                <a16:creationId xmlns:a16="http://schemas.microsoft.com/office/drawing/2014/main" id="{07A8AC5C-8C62-4B28-B45E-A1E5A271B78D}"/>
              </a:ext>
            </a:extLst>
          </p:cNvPr>
          <p:cNvPicPr>
            <a:picLocks noChangeAspect="1"/>
          </p:cNvPicPr>
          <p:nvPr/>
        </p:nvPicPr>
        <p:blipFill>
          <a:blip r:embed="rId6"/>
          <a:stretch>
            <a:fillRect/>
          </a:stretch>
        </p:blipFill>
        <p:spPr>
          <a:xfrm>
            <a:off x="4216880" y="5867400"/>
            <a:ext cx="4739714" cy="1493953"/>
          </a:xfrm>
          <a:prstGeom prst="rect">
            <a:avLst/>
          </a:prstGeom>
        </p:spPr>
      </p:pic>
      <p:pic>
        <p:nvPicPr>
          <p:cNvPr id="92" name="Picture 91">
            <a:extLst>
              <a:ext uri="{FF2B5EF4-FFF2-40B4-BE49-F238E27FC236}">
                <a16:creationId xmlns:a16="http://schemas.microsoft.com/office/drawing/2014/main" id="{9D75C602-443D-4383-A6F8-6BE29476DA07}"/>
              </a:ext>
            </a:extLst>
          </p:cNvPr>
          <p:cNvPicPr>
            <a:picLocks noChangeAspect="1"/>
          </p:cNvPicPr>
          <p:nvPr/>
        </p:nvPicPr>
        <p:blipFill>
          <a:blip r:embed="rId7"/>
          <a:stretch>
            <a:fillRect/>
          </a:stretch>
        </p:blipFill>
        <p:spPr>
          <a:xfrm>
            <a:off x="5363176" y="1310200"/>
            <a:ext cx="2878671" cy="2299863"/>
          </a:xfrm>
          <a:prstGeom prst="rect">
            <a:avLst/>
          </a:prstGeom>
        </p:spPr>
      </p:pic>
      <p:sp>
        <p:nvSpPr>
          <p:cNvPr id="83" name="object 39">
            <a:extLst>
              <a:ext uri="{FF2B5EF4-FFF2-40B4-BE49-F238E27FC236}">
                <a16:creationId xmlns:a16="http://schemas.microsoft.com/office/drawing/2014/main" id="{528F32A3-6567-4379-82D7-D1BB2F9FEA44}"/>
              </a:ext>
            </a:extLst>
          </p:cNvPr>
          <p:cNvSpPr/>
          <p:nvPr/>
        </p:nvSpPr>
        <p:spPr>
          <a:xfrm>
            <a:off x="5891784" y="4096872"/>
            <a:ext cx="103632" cy="105156"/>
          </a:xfrm>
          <a:prstGeom prst="rect">
            <a:avLst/>
          </a:prstGeom>
          <a:blipFill>
            <a:blip r:embed="rId5" cstate="print"/>
            <a:stretch>
              <a:fillRect/>
            </a:stretch>
          </a:blipFill>
        </p:spPr>
        <p:txBody>
          <a:bodyPr wrap="square" lIns="0" tIns="0" rIns="0" bIns="0" rtlCol="0"/>
          <a:lstStyle/>
          <a:p>
            <a:endParaRPr lang="es-ES"/>
          </a:p>
        </p:txBody>
      </p:sp>
      <p:cxnSp>
        <p:nvCxnSpPr>
          <p:cNvPr id="29" name="Connector: Elbow 28">
            <a:extLst>
              <a:ext uri="{FF2B5EF4-FFF2-40B4-BE49-F238E27FC236}">
                <a16:creationId xmlns:a16="http://schemas.microsoft.com/office/drawing/2014/main" id="{DB37F194-2577-4CA2-A629-50C17251043C}"/>
              </a:ext>
            </a:extLst>
          </p:cNvPr>
          <p:cNvCxnSpPr>
            <a:cxnSpLocks/>
            <a:endCxn id="72" idx="2"/>
          </p:cNvCxnSpPr>
          <p:nvPr/>
        </p:nvCxnSpPr>
        <p:spPr>
          <a:xfrm>
            <a:off x="7245342" y="3403276"/>
            <a:ext cx="1880222" cy="80845"/>
          </a:xfrm>
          <a:prstGeom prst="bentConnector4">
            <a:avLst>
              <a:gd name="adj1" fmla="val -198"/>
              <a:gd name="adj2" fmla="val 382763"/>
            </a:avLst>
          </a:prstGeom>
          <a:ln w="28575">
            <a:solidFill>
              <a:srgbClr val="6264A7"/>
            </a:solidFill>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582D8B80-F9A0-442D-9732-67447815D917}"/>
              </a:ext>
            </a:extLst>
          </p:cNvPr>
          <p:cNvCxnSpPr>
            <a:cxnSpLocks/>
          </p:cNvCxnSpPr>
          <p:nvPr/>
        </p:nvCxnSpPr>
        <p:spPr>
          <a:xfrm rot="5400000">
            <a:off x="5938779" y="3458829"/>
            <a:ext cx="695442" cy="685800"/>
          </a:xfrm>
          <a:prstGeom prst="bentConnector3">
            <a:avLst>
              <a:gd name="adj1" fmla="val 50000"/>
            </a:avLst>
          </a:prstGeom>
          <a:ln w="28575">
            <a:solidFill>
              <a:srgbClr val="6264A7"/>
            </a:solidFill>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D83245E1-6F37-407C-8835-EEA24EF7AAB6}"/>
              </a:ext>
            </a:extLst>
          </p:cNvPr>
          <p:cNvCxnSpPr>
            <a:cxnSpLocks/>
            <a:stCxn id="103" idx="0"/>
            <a:endCxn id="78" idx="2"/>
          </p:cNvCxnSpPr>
          <p:nvPr/>
        </p:nvCxnSpPr>
        <p:spPr>
          <a:xfrm rot="5400000" flipH="1" flipV="1">
            <a:off x="7984357" y="2175593"/>
            <a:ext cx="664651" cy="1617764"/>
          </a:xfrm>
          <a:prstGeom prst="bentConnector3">
            <a:avLst>
              <a:gd name="adj1" fmla="val 50000"/>
            </a:avLst>
          </a:prstGeom>
          <a:ln w="28575">
            <a:solidFill>
              <a:srgbClr val="6264A7"/>
            </a:solidFill>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6AA96878-EBE6-4018-B57F-7438C2ED91AE}"/>
              </a:ext>
            </a:extLst>
          </p:cNvPr>
          <p:cNvSpPr/>
          <p:nvPr/>
        </p:nvSpPr>
        <p:spPr>
          <a:xfrm>
            <a:off x="7471800" y="3316800"/>
            <a:ext cx="72000" cy="360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4114044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32818C63CE54D439B42EC74C61157FE" ma:contentTypeVersion="3" ma:contentTypeDescription="Crear nuevo documento." ma:contentTypeScope="" ma:versionID="c5a206be431b1be13dec1241fa393594">
  <xsd:schema xmlns:xsd="http://www.w3.org/2001/XMLSchema" xmlns:xs="http://www.w3.org/2001/XMLSchema" xmlns:p="http://schemas.microsoft.com/office/2006/metadata/properties" xmlns:ns2="9b8059df-6b05-48aa-841f-cb80de20a8d0" targetNamespace="http://schemas.microsoft.com/office/2006/metadata/properties" ma:root="true" ma:fieldsID="574eeb3673dfba1b8d0b8f6ff69914bd" ns2:_="">
    <xsd:import namespace="9b8059df-6b05-48aa-841f-cb80de20a8d0"/>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8059df-6b05-48aa-841f-cb80de20a8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488221-A30C-41A6-9BFC-E0FC0F39241C}">
  <ds:schemaRefs>
    <ds:schemaRef ds:uri="http://purl.org/dc/dcmitype/"/>
    <ds:schemaRef ds:uri="http://schemas.microsoft.com/office/infopath/2007/PartnerControls"/>
    <ds:schemaRef ds:uri="http://purl.org/dc/terms/"/>
    <ds:schemaRef ds:uri="http://schemas.microsoft.com/office/2006/metadata/properties"/>
    <ds:schemaRef ds:uri="http://www.w3.org/XML/1998/namespace"/>
    <ds:schemaRef ds:uri="http://schemas.microsoft.com/sharepoint/v3"/>
    <ds:schemaRef ds:uri="http://schemas.microsoft.com/office/2006/documentManagement/types"/>
    <ds:schemaRef ds:uri="782081ad-726c-4084-aec0-bfd39afbe0b3"/>
    <ds:schemaRef ds:uri="http://schemas.openxmlformats.org/package/2006/metadata/core-properties"/>
    <ds:schemaRef ds:uri="8202a283-0d88-4453-a9e1-991690cead84"/>
    <ds:schemaRef ds:uri="http://purl.org/dc/elements/1.1/"/>
    <ds:schemaRef ds:uri="0533f882-ae66-4072-aa7c-1e90570dfbd8"/>
  </ds:schemaRefs>
</ds:datastoreItem>
</file>

<file path=customXml/itemProps2.xml><?xml version="1.0" encoding="utf-8"?>
<ds:datastoreItem xmlns:ds="http://schemas.openxmlformats.org/officeDocument/2006/customXml" ds:itemID="{81FA6BDF-AC9C-4C47-A8CD-00CB43E90D2F}">
  <ds:schemaRefs>
    <ds:schemaRef ds:uri="http://schemas.microsoft.com/sharepoint/v3/contenttype/forms"/>
  </ds:schemaRefs>
</ds:datastoreItem>
</file>

<file path=customXml/itemProps3.xml><?xml version="1.0" encoding="utf-8"?>
<ds:datastoreItem xmlns:ds="http://schemas.openxmlformats.org/officeDocument/2006/customXml" ds:itemID="{CBC7F661-31C5-47DD-A7EF-351022E49C0D}"/>
</file>

<file path=docProps/app.xml><?xml version="1.0" encoding="utf-8"?>
<Properties xmlns="http://schemas.openxmlformats.org/officeDocument/2006/extended-properties" xmlns:vt="http://schemas.openxmlformats.org/officeDocument/2006/docPropsVTypes">
  <Template/>
  <TotalTime>1232</TotalTime>
  <Words>1073</Words>
  <Application>Microsoft Office PowerPoint</Application>
  <PresentationFormat>Custom</PresentationFormat>
  <Paragraphs>73</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Microsoft Teams</vt:lpstr>
      <vt:lpstr>Microsoft Teams</vt:lpstr>
      <vt:lpstr>Microsoft Teams</vt:lpstr>
      <vt:lpstr>Microsoft Teams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Teams QS.pptx</dc:title>
  <dc:creator>v-yuhlu</dc:creator>
  <cp:lastModifiedBy>Sofia Virgos</cp:lastModifiedBy>
  <cp:revision>7</cp:revision>
  <cp:lastPrinted>2020-03-16T14:41:14Z</cp:lastPrinted>
  <dcterms:created xsi:type="dcterms:W3CDTF">2019-11-28T23:06:00Z</dcterms:created>
  <dcterms:modified xsi:type="dcterms:W3CDTF">2020-03-26T12:04:17Z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2018-10-26T00:00:00Z</vt:filetime>
  </property>
  <property fmtid="{D5CDD505-2E9C-101B-9397-08002B2CF9AE}" pid="3" name="LastSaved">
    <vt:filetime>2019-11-28T00:00:00Z</vt:filetime>
  </property>
  <property fmtid="{D5CDD505-2E9C-101B-9397-08002B2CF9AE}" pid="4" name="ContentTypeId">
    <vt:lpwstr>0x010100732818C63CE54D439B42EC74C61157FE</vt:lpwstr>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ies>
</file>