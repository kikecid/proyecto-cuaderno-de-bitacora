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66" r:id="rId5"/>
    <p:sldId id="267" r:id="rId6"/>
    <p:sldId id="268" r:id="rId7"/>
    <p:sldId id="269" r:id="rId8"/>
  </p:sldIdLst>
  <p:sldSz cx="13817600" cy="7772400"/>
  <p:notesSz cx="10058400" cy="77724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Gadugi" panose="020B0502040204020203" pitchFamily="34" charset="0"/>
      <p:regular r:id="rId13"/>
      <p:bold r:id="rId14"/>
    </p:embeddedFont>
    <p:embeddedFont>
      <p:font typeface="Segoe UI" panose="020B0502040204020203" pitchFamily="34" charset="0"/>
      <p:regular r:id="rId15"/>
      <p:bold r:id="rId16"/>
      <p:italic r:id="rId17"/>
      <p:boldItalic r:id="rId18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9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64A7"/>
    <a:srgbClr val="2E2D2D"/>
    <a:srgbClr val="313030"/>
    <a:srgbClr val="3334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A2AC10-4235-4A29-B3C7-428C129AE54E}" v="2" dt="2020-03-18T08:29:45.24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041" autoAdjust="0"/>
  </p:normalViewPr>
  <p:slideViewPr>
    <p:cSldViewPr>
      <p:cViewPr varScale="1">
        <p:scale>
          <a:sx n="77" d="100"/>
          <a:sy n="77" d="100"/>
        </p:scale>
        <p:origin x="75" y="183"/>
      </p:cViewPr>
      <p:guideLst>
        <p:guide orient="horz" pos="2880"/>
        <p:guide pos="296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font" Target="fonts/font7.fntdata"/><Relationship Id="rId23" Type="http://schemas.microsoft.com/office/2015/10/relationships/revisionInfo" Target="revisionInfo.xml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3817600" cy="914400"/>
          </a:xfrm>
          <a:custGeom>
            <a:avLst/>
            <a:gdLst/>
            <a:ahLst/>
            <a:cxnLst/>
            <a:rect l="l" t="t" r="r" b="b"/>
            <a:pathLst>
              <a:path w="10058400" h="914400">
                <a:moveTo>
                  <a:pt x="100584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914400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1391" y="147378"/>
            <a:ext cx="13194818" cy="635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Gadugi"/>
                <a:cs typeface="Gadugi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>
        <a:defRPr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0">
        <a:defRPr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7964A48-64C7-459C-B03C-A64B35C6D8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99307" y="3124199"/>
            <a:ext cx="5722056" cy="42915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808B5F-2391-4C64-902E-66B3F55F34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103" y="2974584"/>
            <a:ext cx="2004237" cy="43385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object 2"/>
          <p:cNvSpPr txBox="1"/>
          <p:nvPr/>
        </p:nvSpPr>
        <p:spPr>
          <a:xfrm>
            <a:off x="311391" y="979897"/>
            <a:ext cx="11474209" cy="87011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spcBef>
                <a:spcPts val="1245"/>
              </a:spcBef>
            </a:pPr>
            <a:r>
              <a:rPr lang="es-ES" sz="2800" spc="-5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Vista de calendario en Teams</a:t>
            </a:r>
            <a:endParaRPr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>
              <a:spcBef>
                <a:spcPts val="525"/>
              </a:spcBef>
            </a:pPr>
            <a:r>
              <a:rPr sz="1400" spc="-1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¿Es </a:t>
            </a:r>
            <a:r>
              <a:rPr sz="14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 </a:t>
            </a:r>
            <a:r>
              <a:rPr sz="1400" spc="-1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primera vez </a:t>
            </a:r>
            <a:r>
              <a:rPr sz="14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 usa Microsoft </a:t>
            </a:r>
            <a:r>
              <a:rPr sz="1400" spc="-3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Teams</a:t>
            </a:r>
            <a:r>
              <a:rPr lang="en-US" sz="1400" spc="-3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en el móvil</a:t>
            </a:r>
            <a:r>
              <a:rPr sz="1400" spc="-3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 </a:t>
            </a:r>
            <a:r>
              <a:rPr lang="es-ES" sz="1400" spc="-1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 esta </a:t>
            </a:r>
            <a:r>
              <a:rPr lang="es-ES" sz="14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guía </a:t>
            </a:r>
            <a:r>
              <a:rPr lang="es-ES" sz="1400" spc="-1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aprenderá a convocar una reunión desde sin salir de la app</a:t>
            </a:r>
            <a:r>
              <a:rPr sz="1400" spc="-1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s-ES" spc="-10">
                <a:latin typeface="Segoe UI" panose="020B0502040204020203" pitchFamily="34" charset="0"/>
                <a:cs typeface="Segoe UI" panose="020B0502040204020203" pitchFamily="34" charset="0"/>
              </a:rPr>
              <a:t>Microsoft</a:t>
            </a:r>
            <a:r>
              <a:rPr lang="es-ES" spc="-35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spc="-95">
                <a:latin typeface="Segoe UI" panose="020B0502040204020203" pitchFamily="34" charset="0"/>
                <a:cs typeface="Segoe UI" panose="020B0502040204020203" pitchFamily="34" charset="0"/>
              </a:rPr>
              <a:t>Teams – aplicación móvil para teléfonos y tabletas</a:t>
            </a:r>
            <a:endParaRPr spc="-95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CC31A13A-8DD2-4848-A9E4-E77B380CF340}"/>
              </a:ext>
            </a:extLst>
          </p:cNvPr>
          <p:cNvCxnSpPr>
            <a:cxnSpLocks/>
          </p:cNvCxnSpPr>
          <p:nvPr/>
        </p:nvCxnSpPr>
        <p:spPr>
          <a:xfrm flipV="1">
            <a:off x="5386499" y="3421385"/>
            <a:ext cx="3427301" cy="311512"/>
          </a:xfrm>
          <a:prstGeom prst="bentConnector3">
            <a:avLst>
              <a:gd name="adj1" fmla="val 90613"/>
            </a:avLst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bject 13">
            <a:extLst>
              <a:ext uri="{FF2B5EF4-FFF2-40B4-BE49-F238E27FC236}">
                <a16:creationId xmlns:a16="http://schemas.microsoft.com/office/drawing/2014/main" id="{7CFB04DE-818F-4189-9FD7-7700F57F397E}"/>
              </a:ext>
            </a:extLst>
          </p:cNvPr>
          <p:cNvSpPr txBox="1"/>
          <p:nvPr/>
        </p:nvSpPr>
        <p:spPr>
          <a:xfrm>
            <a:off x="4274278" y="4676732"/>
            <a:ext cx="1912808" cy="1321516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Unirse a una reunión en curso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Gadugi"/>
                <a:cs typeface="Gadugi"/>
              </a:rPr>
              <a:t>Haga click en el botón de Unirse para entrar en la reunión. Este botón sólo se activa para las reuniones que se están efectuando en el momento, o que están muy próximas a comenzar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23F260B6-37B8-44BF-A6E3-457B249AA9C6}"/>
              </a:ext>
            </a:extLst>
          </p:cNvPr>
          <p:cNvCxnSpPr>
            <a:cxnSpLocks/>
          </p:cNvCxnSpPr>
          <p:nvPr/>
        </p:nvCxnSpPr>
        <p:spPr>
          <a:xfrm flipH="1">
            <a:off x="2564512" y="3323362"/>
            <a:ext cx="1747134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4D3EA663-228D-4BFA-911E-96F13E3FBD9E}"/>
              </a:ext>
            </a:extLst>
          </p:cNvPr>
          <p:cNvCxnSpPr>
            <a:cxnSpLocks/>
            <a:stCxn id="104" idx="5"/>
          </p:cNvCxnSpPr>
          <p:nvPr/>
        </p:nvCxnSpPr>
        <p:spPr>
          <a:xfrm flipH="1">
            <a:off x="2564512" y="7053292"/>
            <a:ext cx="1551987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A1FDA119-A496-4FCE-8BAA-A6606D161B9B}"/>
              </a:ext>
            </a:extLst>
          </p:cNvPr>
          <p:cNvCxnSpPr>
            <a:cxnSpLocks/>
          </p:cNvCxnSpPr>
          <p:nvPr/>
        </p:nvCxnSpPr>
        <p:spPr>
          <a:xfrm>
            <a:off x="5230682" y="7162800"/>
            <a:ext cx="2394531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bject 13">
            <a:extLst>
              <a:ext uri="{FF2B5EF4-FFF2-40B4-BE49-F238E27FC236}">
                <a16:creationId xmlns:a16="http://schemas.microsoft.com/office/drawing/2014/main" id="{DB6656E5-C3CD-46F4-B368-BE5AD026779A}"/>
              </a:ext>
            </a:extLst>
          </p:cNvPr>
          <p:cNvSpPr txBox="1"/>
          <p:nvPr/>
        </p:nvSpPr>
        <p:spPr>
          <a:xfrm>
            <a:off x="4122849" y="3049987"/>
            <a:ext cx="1263650" cy="1367682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  <a:gd name="connsiteX0" fmla="*/ 157956 w 1424784"/>
              <a:gd name="connsiteY0" fmla="*/ 0 h 782907"/>
              <a:gd name="connsiteX1" fmla="*/ 1421606 w 1424784"/>
              <a:gd name="connsiteY1" fmla="*/ 0 h 782907"/>
              <a:gd name="connsiteX2" fmla="*/ 1424784 w 1424784"/>
              <a:gd name="connsiteY2" fmla="*/ 188254 h 782907"/>
              <a:gd name="connsiteX3" fmla="*/ 1421606 w 1424784"/>
              <a:gd name="connsiteY3" fmla="*/ 782907 h 782907"/>
              <a:gd name="connsiteX4" fmla="*/ 157956 w 1424784"/>
              <a:gd name="connsiteY4" fmla="*/ 782907 h 782907"/>
              <a:gd name="connsiteX5" fmla="*/ 157956 w 1424784"/>
              <a:gd name="connsiteY5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0 w 1421606"/>
              <a:gd name="connsiteY0" fmla="*/ 0 h 782907"/>
              <a:gd name="connsiteX1" fmla="*/ 1263650 w 1421606"/>
              <a:gd name="connsiteY1" fmla="*/ 0 h 782907"/>
              <a:gd name="connsiteX2" fmla="*/ 1263650 w 1421606"/>
              <a:gd name="connsiteY2" fmla="*/ 782907 h 782907"/>
              <a:gd name="connsiteX3" fmla="*/ 0 w 1421606"/>
              <a:gd name="connsiteY3" fmla="*/ 782907 h 782907"/>
              <a:gd name="connsiteX4" fmla="*/ 0 w 1421606"/>
              <a:gd name="connsiteY4" fmla="*/ 0 h 782907"/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3650" h="782907">
                <a:moveTo>
                  <a:pt x="0" y="0"/>
                </a:moveTo>
                <a:lnTo>
                  <a:pt x="1263650" y="0"/>
                </a:lnTo>
                <a:lnTo>
                  <a:pt x="1263650" y="782907"/>
                </a:lnTo>
                <a:lnTo>
                  <a:pt x="0" y="78290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15570" marR="130175">
              <a:lnSpc>
                <a:spcPct val="100000"/>
              </a:lnSpc>
              <a:spcBef>
                <a:spcPts val="345"/>
              </a:spcBef>
            </a:pPr>
            <a:r>
              <a:rPr lang="es-ES" sz="900" b="1" spc="-5">
                <a:latin typeface="Gadugi"/>
                <a:cs typeface="Gadugi"/>
              </a:rPr>
              <a:t>Convocar una nueva reunión para un día en el calendario</a:t>
            </a:r>
          </a:p>
          <a:p>
            <a:pPr marL="115570" marR="130175">
              <a:lnSpc>
                <a:spcPct val="100000"/>
              </a:lnSpc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Gadugi"/>
                <a:cs typeface="Gadugi"/>
              </a:rPr>
              <a:t>Seleccione la opción Nueva Reunión para añadir una reunión en su calendario.</a:t>
            </a:r>
          </a:p>
          <a:p>
            <a:pPr marL="115570" marR="130175">
              <a:lnSpc>
                <a:spcPct val="100000"/>
              </a:lnSpc>
              <a:spcBef>
                <a:spcPts val="345"/>
              </a:spcBef>
            </a:pPr>
            <a:endParaRPr lang="es-ES" sz="900" spc="-5">
              <a:solidFill>
                <a:srgbClr val="505050"/>
              </a:solidFill>
              <a:latin typeface="Gadugi"/>
              <a:cs typeface="Gadugi"/>
            </a:endParaRP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6161C17-4730-4F56-899C-B83E142D42B1}"/>
              </a:ext>
            </a:extLst>
          </p:cNvPr>
          <p:cNvCxnSpPr>
            <a:cxnSpLocks/>
            <a:stCxn id="73" idx="5"/>
          </p:cNvCxnSpPr>
          <p:nvPr/>
        </p:nvCxnSpPr>
        <p:spPr>
          <a:xfrm flipH="1" flipV="1">
            <a:off x="2564512" y="4594748"/>
            <a:ext cx="1709766" cy="942822"/>
          </a:xfrm>
          <a:prstGeom prst="bentConnector3">
            <a:avLst>
              <a:gd name="adj1" fmla="val 53623"/>
            </a:avLst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bject 13">
            <a:extLst>
              <a:ext uri="{FF2B5EF4-FFF2-40B4-BE49-F238E27FC236}">
                <a16:creationId xmlns:a16="http://schemas.microsoft.com/office/drawing/2014/main" id="{0E14605E-EDE9-4F5F-AC4F-1D07EB5A9C09}"/>
              </a:ext>
            </a:extLst>
          </p:cNvPr>
          <p:cNvSpPr txBox="1"/>
          <p:nvPr/>
        </p:nvSpPr>
        <p:spPr>
          <a:xfrm>
            <a:off x="1270000" y="1919945"/>
            <a:ext cx="1909233" cy="775212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Teams dispone de aplicación móvil tanto para teléfonos como tabletas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Disponible tanto en iOS como Android</a:t>
            </a: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C2AABF78-F620-4757-9E8D-CEBBDE7C56AA}"/>
              </a:ext>
            </a:extLst>
          </p:cNvPr>
          <p:cNvCxnSpPr>
            <a:cxnSpLocks/>
            <a:endCxn id="7" idx="0"/>
          </p:cNvCxnSpPr>
          <p:nvPr/>
        </p:nvCxnSpPr>
        <p:spPr>
          <a:xfrm rot="16200000" flipH="1">
            <a:off x="1430833" y="2833194"/>
            <a:ext cx="282181" cy="597"/>
          </a:xfrm>
          <a:prstGeom prst="bentConnector3">
            <a:avLst>
              <a:gd name="adj1" fmla="val 50000"/>
            </a:avLst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471E97D2-71FF-4CDC-A051-A3809D8C8762}"/>
              </a:ext>
            </a:extLst>
          </p:cNvPr>
          <p:cNvCxnSpPr>
            <a:cxnSpLocks/>
          </p:cNvCxnSpPr>
          <p:nvPr/>
        </p:nvCxnSpPr>
        <p:spPr>
          <a:xfrm>
            <a:off x="3167116" y="2257028"/>
            <a:ext cx="6981102" cy="1017850"/>
          </a:xfrm>
          <a:prstGeom prst="bentConnector2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bject 13">
            <a:extLst>
              <a:ext uri="{FF2B5EF4-FFF2-40B4-BE49-F238E27FC236}">
                <a16:creationId xmlns:a16="http://schemas.microsoft.com/office/drawing/2014/main" id="{CDF54C5D-015F-469D-AC41-545733DCC334}"/>
              </a:ext>
            </a:extLst>
          </p:cNvPr>
          <p:cNvSpPr txBox="1"/>
          <p:nvPr/>
        </p:nvSpPr>
        <p:spPr>
          <a:xfrm>
            <a:off x="6925733" y="1943226"/>
            <a:ext cx="2115291" cy="913712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La vista de calendario adaptada a la pantalla móvil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 vista de teléfono muestr los eventos del día. La vista en tableta muestra además el detalle del elemento seleccionado.</a:t>
            </a: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C8DCCE59-52B3-4901-A5B1-71CF1E855AB7}"/>
              </a:ext>
            </a:extLst>
          </p:cNvPr>
          <p:cNvCxnSpPr>
            <a:cxnSpLocks/>
          </p:cNvCxnSpPr>
          <p:nvPr/>
        </p:nvCxnSpPr>
        <p:spPr>
          <a:xfrm flipV="1">
            <a:off x="6187086" y="4782461"/>
            <a:ext cx="3236314" cy="361395"/>
          </a:xfrm>
          <a:prstGeom prst="bentConnector3">
            <a:avLst>
              <a:gd name="adj1" fmla="val 99759"/>
            </a:avLst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bject 13">
            <a:extLst>
              <a:ext uri="{FF2B5EF4-FFF2-40B4-BE49-F238E27FC236}">
                <a16:creationId xmlns:a16="http://schemas.microsoft.com/office/drawing/2014/main" id="{FBFA279C-6ED0-4073-97B0-FF64147AAB2D}"/>
              </a:ext>
            </a:extLst>
          </p:cNvPr>
          <p:cNvSpPr txBox="1"/>
          <p:nvPr/>
        </p:nvSpPr>
        <p:spPr>
          <a:xfrm>
            <a:off x="4116499" y="6463111"/>
            <a:ext cx="1270000" cy="906017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Barra de herramientas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Las distintas áreas de Teams están siempre visibles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235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7964A48-64C7-459C-B03C-A64B35C6D8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043" y="3124200"/>
            <a:ext cx="5693924" cy="42704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808B5F-2391-4C64-902E-66B3F55F34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03991" y="2060973"/>
            <a:ext cx="2438400" cy="52783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object 2"/>
          <p:cNvSpPr txBox="1"/>
          <p:nvPr/>
        </p:nvSpPr>
        <p:spPr>
          <a:xfrm>
            <a:off x="311391" y="979897"/>
            <a:ext cx="13194818" cy="87011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spcBef>
                <a:spcPts val="1245"/>
              </a:spcBef>
            </a:pPr>
            <a:r>
              <a:rPr lang="en-US" sz="2800" spc="-5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Convocar una nueva reunión de Teams</a:t>
            </a: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lang="es-ES" sz="1400" spc="-10">
                <a:solidFill>
                  <a:srgbClr val="505050"/>
                </a:solidFill>
                <a:latin typeface="Gadugi"/>
                <a:cs typeface="Gadugi"/>
              </a:rPr>
              <a:t>Para agendar una nueva reunión se introducen los mismos datos que tendría que cuando se hace desde Outlook , con algunas opciones ligeramente distintas</a:t>
            </a:r>
            <a:endParaRPr lang="es-ES" sz="1400" dirty="0">
              <a:latin typeface="Gadugi"/>
              <a:cs typeface="Gadug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>
                <a:latin typeface="Segoe UI" panose="020B0502040204020203" pitchFamily="34" charset="0"/>
                <a:cs typeface="Segoe UI" panose="020B0502040204020203" pitchFamily="34" charset="0"/>
              </a:rPr>
              <a:t>Microsoft</a:t>
            </a:r>
            <a:r>
              <a:rPr spc="-35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95">
                <a:latin typeface="Segoe UI" panose="020B0502040204020203" pitchFamily="34" charset="0"/>
                <a:cs typeface="Segoe UI" panose="020B0502040204020203" pitchFamily="34" charset="0"/>
              </a:rPr>
              <a:t>Teams</a:t>
            </a:r>
            <a:r>
              <a:rPr lang="en-US" spc="-95"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spc="-95" err="1">
                <a:latin typeface="Segoe UI" panose="020B0502040204020203" pitchFamily="34" charset="0"/>
                <a:cs typeface="Segoe UI" panose="020B0502040204020203" pitchFamily="34" charset="0"/>
              </a:rPr>
              <a:t>aplicación</a:t>
            </a:r>
            <a:r>
              <a:rPr lang="en-US" spc="-95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pc="-95" err="1">
                <a:latin typeface="Segoe UI" panose="020B0502040204020203" pitchFamily="34" charset="0"/>
                <a:cs typeface="Segoe UI" panose="020B0502040204020203" pitchFamily="34" charset="0"/>
              </a:rPr>
              <a:t>móvil</a:t>
            </a:r>
            <a:endParaRPr spc="-95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590784" y="0"/>
            <a:ext cx="1331975" cy="5989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object 13">
            <a:extLst>
              <a:ext uri="{FF2B5EF4-FFF2-40B4-BE49-F238E27FC236}">
                <a16:creationId xmlns:a16="http://schemas.microsoft.com/office/drawing/2014/main" id="{0E14605E-EDE9-4F5F-AC4F-1D07EB5A9C09}"/>
              </a:ext>
            </a:extLst>
          </p:cNvPr>
          <p:cNvSpPr txBox="1"/>
          <p:nvPr/>
        </p:nvSpPr>
        <p:spPr>
          <a:xfrm>
            <a:off x="1498600" y="2088588"/>
            <a:ext cx="1665693" cy="775212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Ventana flotante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 la versión de tabletas aparece una ventana flotante cuando se pulsa el botón de nueva reunión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C2AABF78-F620-4757-9E8D-CEBBDE7C56AA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3164293" y="2274992"/>
            <a:ext cx="307502" cy="1306408"/>
          </a:xfrm>
          <a:prstGeom prst="bentConnector2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0721EDF3-2593-43B1-990F-BED5BFE5B051}"/>
              </a:ext>
            </a:extLst>
          </p:cNvPr>
          <p:cNvCxnSpPr>
            <a:cxnSpLocks/>
          </p:cNvCxnSpPr>
          <p:nvPr/>
        </p:nvCxnSpPr>
        <p:spPr>
          <a:xfrm rot="10800000" flipV="1">
            <a:off x="4851400" y="3136546"/>
            <a:ext cx="2669360" cy="800412"/>
          </a:xfrm>
          <a:prstGeom prst="bentConnector3">
            <a:avLst>
              <a:gd name="adj1" fmla="val 20621"/>
            </a:avLst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bject 13">
            <a:extLst>
              <a:ext uri="{FF2B5EF4-FFF2-40B4-BE49-F238E27FC236}">
                <a16:creationId xmlns:a16="http://schemas.microsoft.com/office/drawing/2014/main" id="{385B0606-D652-415D-8E1B-D2DA61275940}"/>
              </a:ext>
            </a:extLst>
          </p:cNvPr>
          <p:cNvSpPr txBox="1"/>
          <p:nvPr/>
        </p:nvSpPr>
        <p:spPr>
          <a:xfrm>
            <a:off x="8354737" y="3886200"/>
            <a:ext cx="1270000" cy="1721625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Compartir con un canal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Teams incluye la opción de compartir la convocatoria con un canal de un equipo de Teams, de forma que llegue una notificación a todos los miembros del canal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C41420EA-1BBC-40A3-A353-873B9AE19CF9}"/>
              </a:ext>
            </a:extLst>
          </p:cNvPr>
          <p:cNvCxnSpPr>
            <a:cxnSpLocks/>
            <a:stCxn id="46" idx="5"/>
          </p:cNvCxnSpPr>
          <p:nvPr/>
        </p:nvCxnSpPr>
        <p:spPr>
          <a:xfrm flipH="1" flipV="1">
            <a:off x="3135087" y="4787156"/>
            <a:ext cx="5219650" cy="220514"/>
          </a:xfrm>
          <a:prstGeom prst="bentConnector5">
            <a:avLst>
              <a:gd name="adj1" fmla="val 25504"/>
              <a:gd name="adj2" fmla="val 100185"/>
              <a:gd name="adj3" fmla="val 74331"/>
            </a:avLst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4E9BA69-939D-4FE8-B486-4967C192B2FB}"/>
              </a:ext>
            </a:extLst>
          </p:cNvPr>
          <p:cNvCxnSpPr>
            <a:cxnSpLocks/>
          </p:cNvCxnSpPr>
          <p:nvPr/>
        </p:nvCxnSpPr>
        <p:spPr>
          <a:xfrm>
            <a:off x="9624737" y="4074456"/>
            <a:ext cx="777391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8709139-A19B-4EC5-9E3A-668F5CE62458}"/>
              </a:ext>
            </a:extLst>
          </p:cNvPr>
          <p:cNvCxnSpPr>
            <a:cxnSpLocks/>
          </p:cNvCxnSpPr>
          <p:nvPr/>
        </p:nvCxnSpPr>
        <p:spPr>
          <a:xfrm flipV="1">
            <a:off x="8158119" y="6556074"/>
            <a:ext cx="2244009" cy="1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B16CBF6-6DBC-4B1E-B102-8082FEF99020}"/>
              </a:ext>
            </a:extLst>
          </p:cNvPr>
          <p:cNvCxnSpPr>
            <a:cxnSpLocks/>
          </p:cNvCxnSpPr>
          <p:nvPr/>
        </p:nvCxnSpPr>
        <p:spPr>
          <a:xfrm flipH="1" flipV="1">
            <a:off x="4837071" y="6882014"/>
            <a:ext cx="2092896" cy="1386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bject 13">
            <a:extLst>
              <a:ext uri="{FF2B5EF4-FFF2-40B4-BE49-F238E27FC236}">
                <a16:creationId xmlns:a16="http://schemas.microsoft.com/office/drawing/2014/main" id="{80CBA854-A13E-4EC1-A645-55B9FA4A65EF}"/>
              </a:ext>
            </a:extLst>
          </p:cNvPr>
          <p:cNvSpPr txBox="1"/>
          <p:nvPr/>
        </p:nvSpPr>
        <p:spPr>
          <a:xfrm>
            <a:off x="6918254" y="6365249"/>
            <a:ext cx="1285946" cy="1075294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  <a:gd name="connsiteX0" fmla="*/ 157956 w 1424784"/>
              <a:gd name="connsiteY0" fmla="*/ 0 h 782907"/>
              <a:gd name="connsiteX1" fmla="*/ 1421606 w 1424784"/>
              <a:gd name="connsiteY1" fmla="*/ 0 h 782907"/>
              <a:gd name="connsiteX2" fmla="*/ 1424784 w 1424784"/>
              <a:gd name="connsiteY2" fmla="*/ 188254 h 782907"/>
              <a:gd name="connsiteX3" fmla="*/ 1421606 w 1424784"/>
              <a:gd name="connsiteY3" fmla="*/ 782907 h 782907"/>
              <a:gd name="connsiteX4" fmla="*/ 157956 w 1424784"/>
              <a:gd name="connsiteY4" fmla="*/ 782907 h 782907"/>
              <a:gd name="connsiteX5" fmla="*/ 157956 w 1424784"/>
              <a:gd name="connsiteY5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6828" h="782907">
                <a:moveTo>
                  <a:pt x="0" y="0"/>
                </a:moveTo>
                <a:lnTo>
                  <a:pt x="1263650" y="0"/>
                </a:lnTo>
                <a:cubicBezTo>
                  <a:pt x="1264709" y="62751"/>
                  <a:pt x="1265769" y="125503"/>
                  <a:pt x="1266828" y="188254"/>
                </a:cubicBezTo>
                <a:cubicBezTo>
                  <a:pt x="1265769" y="386472"/>
                  <a:pt x="1264709" y="584689"/>
                  <a:pt x="1263650" y="782907"/>
                </a:cubicBezTo>
                <a:lnTo>
                  <a:pt x="0" y="78290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endParaRPr lang="es-ES" sz="900" b="1" spc="-5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Buena práctica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¡No olvide incluir una agenda en la descripción!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F53B96D-1C7E-4511-8514-0447A7E06858}"/>
              </a:ext>
            </a:extLst>
          </p:cNvPr>
          <p:cNvCxnSpPr>
            <a:cxnSpLocks/>
          </p:cNvCxnSpPr>
          <p:nvPr/>
        </p:nvCxnSpPr>
        <p:spPr>
          <a:xfrm>
            <a:off x="8737600" y="2771467"/>
            <a:ext cx="1691791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bject 13">
            <a:extLst>
              <a:ext uri="{FF2B5EF4-FFF2-40B4-BE49-F238E27FC236}">
                <a16:creationId xmlns:a16="http://schemas.microsoft.com/office/drawing/2014/main" id="{FAF932D8-44FC-4962-BA2F-315F19A8C483}"/>
              </a:ext>
            </a:extLst>
          </p:cNvPr>
          <p:cNvSpPr txBox="1"/>
          <p:nvPr/>
        </p:nvSpPr>
        <p:spPr>
          <a:xfrm>
            <a:off x="7536635" y="2362794"/>
            <a:ext cx="1266822" cy="1183016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  <a:gd name="connsiteX0" fmla="*/ 3172 w 1266890"/>
              <a:gd name="connsiteY0" fmla="*/ 0 h 782907"/>
              <a:gd name="connsiteX1" fmla="*/ 1266822 w 1266890"/>
              <a:gd name="connsiteY1" fmla="*/ 0 h 782907"/>
              <a:gd name="connsiteX2" fmla="*/ 1257300 w 1266890"/>
              <a:gd name="connsiteY2" fmla="*/ 236581 h 782907"/>
              <a:gd name="connsiteX3" fmla="*/ 1266822 w 1266890"/>
              <a:gd name="connsiteY3" fmla="*/ 782907 h 782907"/>
              <a:gd name="connsiteX4" fmla="*/ 3172 w 1266890"/>
              <a:gd name="connsiteY4" fmla="*/ 782907 h 782907"/>
              <a:gd name="connsiteX5" fmla="*/ 0 w 1266890"/>
              <a:gd name="connsiteY5" fmla="*/ 509987 h 782907"/>
              <a:gd name="connsiteX6" fmla="*/ 3172 w 1266890"/>
              <a:gd name="connsiteY6" fmla="*/ 0 h 782907"/>
              <a:gd name="connsiteX0" fmla="*/ 3172 w 1266962"/>
              <a:gd name="connsiteY0" fmla="*/ 0 h 782907"/>
              <a:gd name="connsiteX1" fmla="*/ 1266822 w 1266962"/>
              <a:gd name="connsiteY1" fmla="*/ 0 h 782907"/>
              <a:gd name="connsiteX2" fmla="*/ 1263650 w 1266962"/>
              <a:gd name="connsiteY2" fmla="*/ 263896 h 782907"/>
              <a:gd name="connsiteX3" fmla="*/ 1266822 w 1266962"/>
              <a:gd name="connsiteY3" fmla="*/ 782907 h 782907"/>
              <a:gd name="connsiteX4" fmla="*/ 3172 w 1266962"/>
              <a:gd name="connsiteY4" fmla="*/ 782907 h 782907"/>
              <a:gd name="connsiteX5" fmla="*/ 0 w 1266962"/>
              <a:gd name="connsiteY5" fmla="*/ 509987 h 782907"/>
              <a:gd name="connsiteX6" fmla="*/ 3172 w 1266962"/>
              <a:gd name="connsiteY6" fmla="*/ 0 h 782907"/>
              <a:gd name="connsiteX0" fmla="*/ 3172 w 1424778"/>
              <a:gd name="connsiteY0" fmla="*/ 0 h 782907"/>
              <a:gd name="connsiteX1" fmla="*/ 1266822 w 1424778"/>
              <a:gd name="connsiteY1" fmla="*/ 0 h 782907"/>
              <a:gd name="connsiteX2" fmla="*/ 1266822 w 1424778"/>
              <a:gd name="connsiteY2" fmla="*/ 782907 h 782907"/>
              <a:gd name="connsiteX3" fmla="*/ 3172 w 1424778"/>
              <a:gd name="connsiteY3" fmla="*/ 782907 h 782907"/>
              <a:gd name="connsiteX4" fmla="*/ 0 w 1424778"/>
              <a:gd name="connsiteY4" fmla="*/ 509987 h 782907"/>
              <a:gd name="connsiteX5" fmla="*/ 3172 w 1424778"/>
              <a:gd name="connsiteY5" fmla="*/ 0 h 782907"/>
              <a:gd name="connsiteX0" fmla="*/ 3172 w 1266822"/>
              <a:gd name="connsiteY0" fmla="*/ 0 h 782907"/>
              <a:gd name="connsiteX1" fmla="*/ 1266822 w 1266822"/>
              <a:gd name="connsiteY1" fmla="*/ 0 h 782907"/>
              <a:gd name="connsiteX2" fmla="*/ 1266822 w 1266822"/>
              <a:gd name="connsiteY2" fmla="*/ 782907 h 782907"/>
              <a:gd name="connsiteX3" fmla="*/ 3172 w 1266822"/>
              <a:gd name="connsiteY3" fmla="*/ 782907 h 782907"/>
              <a:gd name="connsiteX4" fmla="*/ 0 w 1266822"/>
              <a:gd name="connsiteY4" fmla="*/ 509987 h 782907"/>
              <a:gd name="connsiteX5" fmla="*/ 3172 w 1266822"/>
              <a:gd name="connsiteY5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6822" h="782907">
                <a:moveTo>
                  <a:pt x="3172" y="0"/>
                </a:moveTo>
                <a:lnTo>
                  <a:pt x="1266822" y="0"/>
                </a:lnTo>
                <a:lnTo>
                  <a:pt x="1266822" y="782907"/>
                </a:ln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Datos generales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Los datos básicos son los comunes ne una reunión, título, participantes, fecha, ubicación, mostrar como y descripción.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553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picture containing screen, clock&#10;&#10;Description automatically generated">
            <a:extLst>
              <a:ext uri="{FF2B5EF4-FFF2-40B4-BE49-F238E27FC236}">
                <a16:creationId xmlns:a16="http://schemas.microsoft.com/office/drawing/2014/main" id="{C84BDBEB-3B4D-4312-853B-52743B94CD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965" y="2017275"/>
            <a:ext cx="2451657" cy="53086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6" name="Picture 25" descr="A screen shot of a television&#10;&#10;Description automatically generated">
            <a:extLst>
              <a:ext uri="{FF2B5EF4-FFF2-40B4-BE49-F238E27FC236}">
                <a16:creationId xmlns:a16="http://schemas.microsoft.com/office/drawing/2014/main" id="{C870D861-EF35-4D2A-932A-2DF16F5A07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24" y="1905000"/>
            <a:ext cx="2555359" cy="55332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object 2"/>
          <p:cNvSpPr txBox="1"/>
          <p:nvPr/>
        </p:nvSpPr>
        <p:spPr>
          <a:xfrm>
            <a:off x="311391" y="979897"/>
            <a:ext cx="13194818" cy="590546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spcBef>
                <a:spcPts val="1245"/>
              </a:spcBef>
            </a:pPr>
            <a:r>
              <a:rPr lang="en-US" sz="2800" spc="-5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Opciones y funcionalidades durante una reunión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>
                <a:latin typeface="Segoe UI" panose="020B0502040204020203" pitchFamily="34" charset="0"/>
                <a:cs typeface="Segoe UI" panose="020B0502040204020203" pitchFamily="34" charset="0"/>
              </a:rPr>
              <a:t>Microsoft</a:t>
            </a:r>
            <a:r>
              <a:rPr spc="-35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95">
                <a:latin typeface="Segoe UI" panose="020B0502040204020203" pitchFamily="34" charset="0"/>
                <a:cs typeface="Segoe UI" panose="020B0502040204020203" pitchFamily="34" charset="0"/>
              </a:rPr>
              <a:t>Teams</a:t>
            </a:r>
            <a:r>
              <a:rPr lang="en-US" spc="-95"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spc="-95" err="1">
                <a:latin typeface="Segoe UI" panose="020B0502040204020203" pitchFamily="34" charset="0"/>
                <a:cs typeface="Segoe UI" panose="020B0502040204020203" pitchFamily="34" charset="0"/>
              </a:rPr>
              <a:t>aplicación</a:t>
            </a:r>
            <a:r>
              <a:rPr lang="en-US" spc="-95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pc="-95" err="1">
                <a:latin typeface="Segoe UI" panose="020B0502040204020203" pitchFamily="34" charset="0"/>
                <a:cs typeface="Segoe UI" panose="020B0502040204020203" pitchFamily="34" charset="0"/>
              </a:rPr>
              <a:t>móvil</a:t>
            </a:r>
            <a:endParaRPr spc="-95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57958" y="0"/>
            <a:ext cx="1331975" cy="5989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object 13">
            <a:extLst>
              <a:ext uri="{FF2B5EF4-FFF2-40B4-BE49-F238E27FC236}">
                <a16:creationId xmlns:a16="http://schemas.microsoft.com/office/drawing/2014/main" id="{0E14605E-EDE9-4F5F-AC4F-1D07EB5A9C09}"/>
              </a:ext>
            </a:extLst>
          </p:cNvPr>
          <p:cNvSpPr txBox="1"/>
          <p:nvPr/>
        </p:nvSpPr>
        <p:spPr>
          <a:xfrm>
            <a:off x="3601333" y="2060973"/>
            <a:ext cx="1665693" cy="952184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Unirse a una reunión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Antes de unirse a una reunión se tiene la posibilidad de entrar sin audio ni vídeo.</a:t>
            </a:r>
          </a:p>
          <a:p>
            <a:pPr marL="109220" marR="140335">
              <a:spcBef>
                <a:spcPts val="345"/>
              </a:spcBef>
            </a:pPr>
            <a:endParaRPr lang="es-ES" sz="9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C2AABF78-F620-4757-9E8D-CEBBDE7C56AA}"/>
              </a:ext>
            </a:extLst>
          </p:cNvPr>
          <p:cNvCxnSpPr>
            <a:cxnSpLocks/>
            <a:stCxn id="42" idx="5"/>
          </p:cNvCxnSpPr>
          <p:nvPr/>
        </p:nvCxnSpPr>
        <p:spPr>
          <a:xfrm flipH="1">
            <a:off x="1727200" y="2681227"/>
            <a:ext cx="1874133" cy="2926598"/>
          </a:xfrm>
          <a:prstGeom prst="bentConnector4">
            <a:avLst>
              <a:gd name="adj1" fmla="val 18522"/>
              <a:gd name="adj2" fmla="val 99934"/>
            </a:avLst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8709139-A19B-4EC5-9E3A-668F5CE62458}"/>
              </a:ext>
            </a:extLst>
          </p:cNvPr>
          <p:cNvCxnSpPr>
            <a:cxnSpLocks/>
          </p:cNvCxnSpPr>
          <p:nvPr/>
        </p:nvCxnSpPr>
        <p:spPr>
          <a:xfrm>
            <a:off x="5155944" y="6553201"/>
            <a:ext cx="983562" cy="1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A screenshot of a cell phone&#10;&#10;Description automatically generated">
            <a:extLst>
              <a:ext uri="{FF2B5EF4-FFF2-40B4-BE49-F238E27FC236}">
                <a16:creationId xmlns:a16="http://schemas.microsoft.com/office/drawing/2014/main" id="{C9D04E9C-2A5B-4FB0-A013-0D03B1AA35B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382"/>
          <a:stretch/>
        </p:blipFill>
        <p:spPr>
          <a:xfrm>
            <a:off x="10145127" y="6229605"/>
            <a:ext cx="1938100" cy="1242996"/>
          </a:xfrm>
          <a:prstGeom prst="round2SameRect">
            <a:avLst>
              <a:gd name="adj1" fmla="val 4039"/>
              <a:gd name="adj2" fmla="val 0"/>
            </a:avLst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5" name="object 13">
            <a:extLst>
              <a:ext uri="{FF2B5EF4-FFF2-40B4-BE49-F238E27FC236}">
                <a16:creationId xmlns:a16="http://schemas.microsoft.com/office/drawing/2014/main" id="{14C59101-1D2C-4816-9FE4-F72C20E5C948}"/>
              </a:ext>
            </a:extLst>
          </p:cNvPr>
          <p:cNvSpPr txBox="1"/>
          <p:nvPr/>
        </p:nvSpPr>
        <p:spPr>
          <a:xfrm>
            <a:off x="3632200" y="6077108"/>
            <a:ext cx="1665693" cy="952184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Dentro de la reunión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Una vez dentro de la reunión siempre tendremos visible la barra de herramientas básica</a:t>
            </a:r>
          </a:p>
          <a:p>
            <a:pPr marL="109220" marR="140335">
              <a:spcBef>
                <a:spcPts val="345"/>
              </a:spcBef>
            </a:pPr>
            <a:endParaRPr lang="es-ES" sz="9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8" name="Picture 67" descr="A screenshot of a cell phone&#10;&#10;Description automatically generated">
            <a:extLst>
              <a:ext uri="{FF2B5EF4-FFF2-40B4-BE49-F238E27FC236}">
                <a16:creationId xmlns:a16="http://schemas.microsoft.com/office/drawing/2014/main" id="{80BD6D2E-B2F5-4D67-AD7D-BD3CBBCF17D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10"/>
          <a:stretch/>
        </p:blipFill>
        <p:spPr>
          <a:xfrm>
            <a:off x="8618813" y="3408597"/>
            <a:ext cx="2044846" cy="2182441"/>
          </a:xfrm>
          <a:prstGeom prst="round2SameRect">
            <a:avLst>
              <a:gd name="adj1" fmla="val 4039"/>
              <a:gd name="adj2" fmla="val 0"/>
            </a:avLst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168BD1CF-27D1-445D-BF21-D5AA7DFB3E07}"/>
              </a:ext>
            </a:extLst>
          </p:cNvPr>
          <p:cNvCxnSpPr>
            <a:cxnSpLocks/>
          </p:cNvCxnSpPr>
          <p:nvPr/>
        </p:nvCxnSpPr>
        <p:spPr>
          <a:xfrm flipV="1">
            <a:off x="7579446" y="5456048"/>
            <a:ext cx="1091928" cy="1074812"/>
          </a:xfrm>
          <a:prstGeom prst="bentConnector3">
            <a:avLst>
              <a:gd name="adj1" fmla="val 636"/>
            </a:avLst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D9C056C-2F36-4EF0-BE91-CC25700585F5}"/>
              </a:ext>
            </a:extLst>
          </p:cNvPr>
          <p:cNvCxnSpPr>
            <a:cxnSpLocks/>
          </p:cNvCxnSpPr>
          <p:nvPr/>
        </p:nvCxnSpPr>
        <p:spPr>
          <a:xfrm>
            <a:off x="9955281" y="2854393"/>
            <a:ext cx="0" cy="152400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13C5491-C920-434E-9A34-9CDCEBF8259F}"/>
              </a:ext>
            </a:extLst>
          </p:cNvPr>
          <p:cNvCxnSpPr>
            <a:cxnSpLocks/>
          </p:cNvCxnSpPr>
          <p:nvPr/>
        </p:nvCxnSpPr>
        <p:spPr>
          <a:xfrm>
            <a:off x="10336281" y="2854393"/>
            <a:ext cx="0" cy="243840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bject 13">
            <a:extLst>
              <a:ext uri="{FF2B5EF4-FFF2-40B4-BE49-F238E27FC236}">
                <a16:creationId xmlns:a16="http://schemas.microsoft.com/office/drawing/2014/main" id="{CBBD58B3-5FC2-48B7-8360-65C5341133D3}"/>
              </a:ext>
            </a:extLst>
          </p:cNvPr>
          <p:cNvSpPr txBox="1"/>
          <p:nvPr/>
        </p:nvSpPr>
        <p:spPr>
          <a:xfrm>
            <a:off x="8672581" y="1725982"/>
            <a:ext cx="2149847" cy="1229183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Comandos comunes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Entre los comandos comunes destacamos la posibilidad la opción de unirme por teléfono (Call me) y apagar el vídeo entrante para entornos con poca conectividad (Turn off incoming video)</a:t>
            </a:r>
          </a:p>
          <a:p>
            <a:pPr marL="109220" marR="140335">
              <a:spcBef>
                <a:spcPts val="345"/>
              </a:spcBef>
            </a:pPr>
            <a:endParaRPr lang="es-ES" sz="9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93D1C01E-3435-42A1-9051-506592F04963}"/>
              </a:ext>
            </a:extLst>
          </p:cNvPr>
          <p:cNvCxnSpPr>
            <a:cxnSpLocks/>
            <a:stCxn id="32" idx="2"/>
          </p:cNvCxnSpPr>
          <p:nvPr/>
        </p:nvCxnSpPr>
        <p:spPr>
          <a:xfrm rot="10800000">
            <a:off x="9442023" y="4682595"/>
            <a:ext cx="703105" cy="2168508"/>
          </a:xfrm>
          <a:prstGeom prst="bentConnector2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8BC05499-17FF-4156-A730-6746CC53A840}"/>
              </a:ext>
            </a:extLst>
          </p:cNvPr>
          <p:cNvCxnSpPr>
            <a:cxnSpLocks/>
          </p:cNvCxnSpPr>
          <p:nvPr/>
        </p:nvCxnSpPr>
        <p:spPr>
          <a:xfrm>
            <a:off x="11672437" y="5292793"/>
            <a:ext cx="0" cy="889828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bject 13">
            <a:extLst>
              <a:ext uri="{FF2B5EF4-FFF2-40B4-BE49-F238E27FC236}">
                <a16:creationId xmlns:a16="http://schemas.microsoft.com/office/drawing/2014/main" id="{517E87A3-EBF9-4572-AFBC-82A3D5213A4E}"/>
              </a:ext>
            </a:extLst>
          </p:cNvPr>
          <p:cNvSpPr txBox="1"/>
          <p:nvPr/>
        </p:nvSpPr>
        <p:spPr>
          <a:xfrm>
            <a:off x="11464553" y="4378642"/>
            <a:ext cx="2149847" cy="952184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Compartir contenido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Desde la aplicación móvil también se puede compartir contenido, ya sea una presentación, una foto o vídeo, o incluso compartir pantalla</a:t>
            </a:r>
          </a:p>
          <a:p>
            <a:pPr marL="109220" marR="140335">
              <a:spcBef>
                <a:spcPts val="345"/>
              </a:spcBef>
            </a:pPr>
            <a:endParaRPr lang="es-ES" sz="9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817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9AD7D649-58A6-4371-B9E0-EB718DAFA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55189" y="1905827"/>
            <a:ext cx="2551020" cy="55315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Picture 14" descr="A screen shot of a computer&#10;&#10;Description automatically generated">
            <a:extLst>
              <a:ext uri="{FF2B5EF4-FFF2-40B4-BE49-F238E27FC236}">
                <a16:creationId xmlns:a16="http://schemas.microsoft.com/office/drawing/2014/main" id="{387085A5-ECAF-49D3-A94B-A73096BFC4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8208" y="1905827"/>
            <a:ext cx="2451657" cy="53086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870D861-EF35-4D2A-932A-2DF16F5A07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7524" y="1905827"/>
            <a:ext cx="2555359" cy="55315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object 2"/>
          <p:cNvSpPr txBox="1"/>
          <p:nvPr/>
        </p:nvSpPr>
        <p:spPr>
          <a:xfrm>
            <a:off x="311391" y="979897"/>
            <a:ext cx="13194818" cy="590546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spcBef>
                <a:spcPts val="1245"/>
              </a:spcBef>
            </a:pPr>
            <a:r>
              <a:rPr lang="en-US" sz="2800" spc="-5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Opciones y funcionalidades durante una reunión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>
                <a:latin typeface="Segoe UI" panose="020B0502040204020203" pitchFamily="34" charset="0"/>
                <a:cs typeface="Segoe UI" panose="020B0502040204020203" pitchFamily="34" charset="0"/>
              </a:rPr>
              <a:t>Microsoft</a:t>
            </a:r>
            <a:r>
              <a:rPr spc="-35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95">
                <a:latin typeface="Segoe UI" panose="020B0502040204020203" pitchFamily="34" charset="0"/>
                <a:cs typeface="Segoe UI" panose="020B0502040204020203" pitchFamily="34" charset="0"/>
              </a:rPr>
              <a:t>Teams</a:t>
            </a:r>
            <a:r>
              <a:rPr lang="en-US" spc="-95"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spc="-95" err="1">
                <a:latin typeface="Segoe UI" panose="020B0502040204020203" pitchFamily="34" charset="0"/>
                <a:cs typeface="Segoe UI" panose="020B0502040204020203" pitchFamily="34" charset="0"/>
              </a:rPr>
              <a:t>aplicación</a:t>
            </a:r>
            <a:r>
              <a:rPr lang="en-US" spc="-95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pc="-95" err="1">
                <a:latin typeface="Segoe UI" panose="020B0502040204020203" pitchFamily="34" charset="0"/>
                <a:cs typeface="Segoe UI" panose="020B0502040204020203" pitchFamily="34" charset="0"/>
              </a:rPr>
              <a:t>móvil</a:t>
            </a:r>
            <a:endParaRPr spc="-95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590784" y="0"/>
            <a:ext cx="1331975" cy="5989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D9C056C-2F36-4EF0-BE91-CC25700585F5}"/>
              </a:ext>
            </a:extLst>
          </p:cNvPr>
          <p:cNvCxnSpPr>
            <a:cxnSpLocks/>
          </p:cNvCxnSpPr>
          <p:nvPr/>
        </p:nvCxnSpPr>
        <p:spPr>
          <a:xfrm flipH="1">
            <a:off x="8051800" y="2362200"/>
            <a:ext cx="740219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13C5491-C920-434E-9A34-9CDCEBF8259F}"/>
              </a:ext>
            </a:extLst>
          </p:cNvPr>
          <p:cNvCxnSpPr>
            <a:cxnSpLocks/>
          </p:cNvCxnSpPr>
          <p:nvPr/>
        </p:nvCxnSpPr>
        <p:spPr>
          <a:xfrm flipH="1">
            <a:off x="2643575" y="3352800"/>
            <a:ext cx="1257286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93D1C01E-3435-42A1-9051-506592F04963}"/>
              </a:ext>
            </a:extLst>
          </p:cNvPr>
          <p:cNvCxnSpPr>
            <a:cxnSpLocks/>
          </p:cNvCxnSpPr>
          <p:nvPr/>
        </p:nvCxnSpPr>
        <p:spPr>
          <a:xfrm>
            <a:off x="9677953" y="2362200"/>
            <a:ext cx="1359220" cy="1066802"/>
          </a:xfrm>
          <a:prstGeom prst="bentConnector3">
            <a:avLst>
              <a:gd name="adj1" fmla="val -278"/>
            </a:avLst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bject 13">
            <a:extLst>
              <a:ext uri="{FF2B5EF4-FFF2-40B4-BE49-F238E27FC236}">
                <a16:creationId xmlns:a16="http://schemas.microsoft.com/office/drawing/2014/main" id="{CBBD58B3-5FC2-48B7-8360-65C5341133D3}"/>
              </a:ext>
            </a:extLst>
          </p:cNvPr>
          <p:cNvSpPr txBox="1"/>
          <p:nvPr/>
        </p:nvSpPr>
        <p:spPr>
          <a:xfrm>
            <a:off x="8603030" y="1531731"/>
            <a:ext cx="2149847" cy="990656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Participantes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 botón de participantes me muestra la lista a pantalla completa.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Muy útil para ver quién se ha conectado ya y quién no</a:t>
            </a:r>
          </a:p>
          <a:p>
            <a:pPr marL="109220" marR="140335">
              <a:spcBef>
                <a:spcPts val="345"/>
              </a:spcBef>
            </a:pPr>
            <a:endParaRPr lang="es-ES" sz="9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EC6530D5-4595-4501-A230-5196ADBD43FD}"/>
              </a:ext>
            </a:extLst>
          </p:cNvPr>
          <p:cNvCxnSpPr>
            <a:cxnSpLocks/>
          </p:cNvCxnSpPr>
          <p:nvPr/>
        </p:nvCxnSpPr>
        <p:spPr>
          <a:xfrm flipV="1">
            <a:off x="4463269" y="2522387"/>
            <a:ext cx="3190674" cy="525614"/>
          </a:xfrm>
          <a:prstGeom prst="bentConnector3">
            <a:avLst>
              <a:gd name="adj1" fmla="val 100379"/>
            </a:avLst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bject 13">
            <a:extLst>
              <a:ext uri="{FF2B5EF4-FFF2-40B4-BE49-F238E27FC236}">
                <a16:creationId xmlns:a16="http://schemas.microsoft.com/office/drawing/2014/main" id="{0E14605E-EDE9-4F5F-AC4F-1D07EB5A9C09}"/>
              </a:ext>
            </a:extLst>
          </p:cNvPr>
          <p:cNvSpPr txBox="1"/>
          <p:nvPr/>
        </p:nvSpPr>
        <p:spPr>
          <a:xfrm>
            <a:off x="3678871" y="2700223"/>
            <a:ext cx="1665693" cy="1821653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Chat de la reunión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 botón de chat me muestra el chat de la reunión. Estará disponible durante y después de la reunión, incluyendo los documentos compartidos.</a:t>
            </a:r>
          </a:p>
          <a:p>
            <a:pPr marL="109220" marR="140335">
              <a:spcBef>
                <a:spcPts val="345"/>
              </a:spcBef>
            </a:pPr>
            <a:endParaRPr lang="es-ES" sz="9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 la reunión se graba, cuando termine aparecerá en el chat el enlace al vídeo de la reunión.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DEF90150-685E-4C5E-A55C-6A74FA57AAAB}"/>
              </a:ext>
            </a:extLst>
          </p:cNvPr>
          <p:cNvCxnSpPr>
            <a:cxnSpLocks/>
          </p:cNvCxnSpPr>
          <p:nvPr/>
        </p:nvCxnSpPr>
        <p:spPr>
          <a:xfrm flipV="1">
            <a:off x="4463269" y="4857260"/>
            <a:ext cx="1408241" cy="1009314"/>
          </a:xfrm>
          <a:prstGeom prst="bentConnector3">
            <a:avLst>
              <a:gd name="adj1" fmla="val -1262"/>
            </a:avLst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bject 13">
            <a:extLst>
              <a:ext uri="{FF2B5EF4-FFF2-40B4-BE49-F238E27FC236}">
                <a16:creationId xmlns:a16="http://schemas.microsoft.com/office/drawing/2014/main" id="{14C59101-1D2C-4816-9FE4-F72C20E5C948}"/>
              </a:ext>
            </a:extLst>
          </p:cNvPr>
          <p:cNvSpPr txBox="1"/>
          <p:nvPr/>
        </p:nvSpPr>
        <p:spPr>
          <a:xfrm>
            <a:off x="3519350" y="5666968"/>
            <a:ext cx="1665693" cy="813684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Contenido compartido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Cuando se comparte contenido, se puede ver igual que en el ordenador</a:t>
            </a:r>
          </a:p>
          <a:p>
            <a:pPr marL="109220" marR="140335">
              <a:spcBef>
                <a:spcPts val="345"/>
              </a:spcBef>
            </a:pPr>
            <a:endParaRPr lang="es-ES" sz="9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185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32818C63CE54D439B42EC74C61157FE" ma:contentTypeVersion="3" ma:contentTypeDescription="Crear nuevo documento." ma:contentTypeScope="" ma:versionID="c5a206be431b1be13dec1241fa393594">
  <xsd:schema xmlns:xsd="http://www.w3.org/2001/XMLSchema" xmlns:xs="http://www.w3.org/2001/XMLSchema" xmlns:p="http://schemas.microsoft.com/office/2006/metadata/properties" xmlns:ns2="9b8059df-6b05-48aa-841f-cb80de20a8d0" targetNamespace="http://schemas.microsoft.com/office/2006/metadata/properties" ma:root="true" ma:fieldsID="574eeb3673dfba1b8d0b8f6ff69914bd" ns2:_="">
    <xsd:import namespace="9b8059df-6b05-48aa-841f-cb80de20a8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8059df-6b05-48aa-841f-cb80de20a8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FA6BDF-AC9C-4C47-A8CD-00CB43E90D2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488221-A30C-41A6-9BFC-E0FC0F39241C}">
  <ds:schemaRefs>
    <ds:schemaRef ds:uri="http://purl.org/dc/terms/"/>
    <ds:schemaRef ds:uri="http://www.w3.org/XML/1998/namespace"/>
    <ds:schemaRef ds:uri="http://schemas.microsoft.com/office/2006/metadata/properties"/>
    <ds:schemaRef ds:uri="http://purl.org/dc/elements/1.1/"/>
    <ds:schemaRef ds:uri="http://schemas.microsoft.com/sharepoint/v3"/>
    <ds:schemaRef ds:uri="http://schemas.microsoft.com/office/2006/documentManagement/types"/>
    <ds:schemaRef ds:uri="8202a283-0d88-4453-a9e1-991690cead84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782081ad-726c-4084-aec0-bfd39afbe0b3"/>
  </ds:schemaRefs>
</ds:datastoreItem>
</file>

<file path=customXml/itemProps3.xml><?xml version="1.0" encoding="utf-8"?>
<ds:datastoreItem xmlns:ds="http://schemas.openxmlformats.org/officeDocument/2006/customXml" ds:itemID="{17EFA725-D867-48CE-84E2-D763575B3A1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1371</TotalTime>
  <Words>501</Words>
  <Application>Microsoft Office PowerPoint</Application>
  <PresentationFormat>Custom</PresentationFormat>
  <Paragraphs>46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Calibri</vt:lpstr>
      <vt:lpstr>Gadugi</vt:lpstr>
      <vt:lpstr>Segoe UI</vt:lpstr>
      <vt:lpstr>Office Theme</vt:lpstr>
      <vt:lpstr>Microsoft Teams – aplicación móvil para teléfonos y tabletas</vt:lpstr>
      <vt:lpstr>Microsoft Teams – aplicación móvil</vt:lpstr>
      <vt:lpstr>Microsoft Teams – aplicación móvil</vt:lpstr>
      <vt:lpstr>Microsoft Teams – aplicación móvil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Teams QS.pptx</dc:title>
  <dc:creator>v-yuhlu</dc:creator>
  <cp:lastModifiedBy>Sofia Virgos</cp:lastModifiedBy>
  <cp:revision>10</cp:revision>
  <cp:lastPrinted>2020-03-16T14:41:14Z</cp:lastPrinted>
  <dcterms:created xsi:type="dcterms:W3CDTF">2019-11-28T23:06:00Z</dcterms:created>
  <dcterms:modified xsi:type="dcterms:W3CDTF">2020-03-18T08:29:45Z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2018-10-26T00:00:00Z</vt:filetime>
  </property>
  <property fmtid="{D5CDD505-2E9C-101B-9397-08002B2CF9AE}" pid="3" name="LastSaved">
    <vt:filetime>2019-11-28T00:00:00Z</vt:filetime>
  </property>
  <property fmtid="{D5CDD505-2E9C-101B-9397-08002B2CF9AE}" pid="4" name="ContentTypeId">
    <vt:lpwstr>0x010100732818C63CE54D439B42EC74C61157FE</vt:lpwstr>
  </property>
  <property fmtid="{D5CDD505-2E9C-101B-9397-08002B2CF9AE}" pid="5" name="Order">
    <vt:r8>83800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