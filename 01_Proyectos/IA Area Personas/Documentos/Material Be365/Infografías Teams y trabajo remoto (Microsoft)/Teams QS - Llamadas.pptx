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sldIdLst>
    <p:sldId id="267" r:id="rId5"/>
    <p:sldId id="258" r:id="rId6"/>
    <p:sldId id="257" r:id="rId7"/>
    <p:sldId id="259" r:id="rId8"/>
  </p:sldIdLst>
  <p:sldSz cx="10058400" cy="7772400"/>
  <p:notesSz cx="10058400" cy="77724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Gadugi" panose="020B0502040204020203" pitchFamily="34" charset="0"/>
      <p:regular r:id="rId13"/>
      <p:bold r:id="rId14"/>
    </p:embeddedFont>
    <p:embeddedFont>
      <p:font typeface="Segoe UI Light" panose="020B0502040204020203" pitchFamily="34" charset="0"/>
      <p:regular r:id="rId15"/>
      <p:italic r:id="rId16"/>
    </p:embeddedFont>
    <p:embeddedFont>
      <p:font typeface="Times New Roman" panose="02020603050405020304" pitchFamily="18" charset="0"/>
      <p:regular r:id="rId17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50" d="100"/>
          <a:sy n="150" d="100"/>
        </p:scale>
        <p:origin x="-3195" y="-443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5.fntdata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customXml" Target="../customXml/item2.xml"/><Relationship Id="rId16" Type="http://schemas.openxmlformats.org/officeDocument/2006/relationships/font" Target="fonts/font8.fntdata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3.fntdata"/><Relationship Id="rId5" Type="http://schemas.openxmlformats.org/officeDocument/2006/relationships/slide" Target="slides/slide1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ncy Poppi" userId="6c1fbb60-3a7e-44ed-82bc-cb8f6dba4a6e" providerId="ADAL" clId="{C64CB968-F3E4-41BB-B16B-1B06546392CA}"/>
    <pc:docChg chg="delSld delSection modSection">
      <pc:chgData name="Nancy Poppi" userId="6c1fbb60-3a7e-44ed-82bc-cb8f6dba4a6e" providerId="ADAL" clId="{C64CB968-F3E4-41BB-B16B-1B06546392CA}" dt="2020-04-02T09:52:50.634" v="3" actId="17851"/>
      <pc:docMkLst>
        <pc:docMk/>
      </pc:docMkLst>
      <pc:sldChg chg="del">
        <pc:chgData name="Nancy Poppi" userId="6c1fbb60-3a7e-44ed-82bc-cb8f6dba4a6e" providerId="ADAL" clId="{C64CB968-F3E4-41BB-B16B-1B06546392CA}" dt="2020-04-02T09:43:56.837" v="0" actId="2696"/>
        <pc:sldMkLst>
          <pc:docMk/>
          <pc:sldMk cId="1922487097" sldId="263"/>
        </pc:sldMkLst>
      </pc:sldChg>
      <pc:sldChg chg="del">
        <pc:chgData name="Nancy Poppi" userId="6c1fbb60-3a7e-44ed-82bc-cb8f6dba4a6e" providerId="ADAL" clId="{C64CB968-F3E4-41BB-B16B-1B06546392CA}" dt="2020-04-02T09:52:44.029" v="1" actId="2696"/>
        <pc:sldMkLst>
          <pc:docMk/>
          <pc:sldMk cId="2988350217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0058400" cy="914400"/>
          </a:xfrm>
          <a:custGeom>
            <a:avLst/>
            <a:gdLst/>
            <a:ahLst/>
            <a:cxnLst/>
            <a:rect l="l" t="t" r="r" b="b"/>
            <a:pathLst>
              <a:path w="10058400" h="914400">
                <a:moveTo>
                  <a:pt x="10058400" y="914400"/>
                </a:moveTo>
                <a:lnTo>
                  <a:pt x="0" y="9144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914400"/>
                </a:lnTo>
                <a:close/>
              </a:path>
            </a:pathLst>
          </a:custGeom>
          <a:solidFill>
            <a:srgbClr val="6264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Gadugi"/>
                <a:cs typeface="Gadug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Gadugi"/>
                <a:cs typeface="Gadug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220687" y="3311100"/>
            <a:ext cx="4509134" cy="4123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rgbClr val="6264A7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Gadugi"/>
                <a:cs typeface="Gadug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6674" y="147378"/>
            <a:ext cx="9605051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bg1"/>
                </a:solidFill>
                <a:latin typeface="Gadugi"/>
                <a:cs typeface="Gadug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jpg"/><Relationship Id="rId10" Type="http://schemas.openxmlformats.org/officeDocument/2006/relationships/image" Target="../media/image9.png"/><Relationship Id="rId4" Type="http://schemas.openxmlformats.org/officeDocument/2006/relationships/image" Target="../media/image3.jp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886711" y="3025139"/>
            <a:ext cx="7627619" cy="39852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17F36EBD-5281-489C-B083-E5F345DD41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477" y="3133725"/>
            <a:ext cx="7503777" cy="3768041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257010" y="979896"/>
            <a:ext cx="8810790" cy="854721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0" i="0" u="none" strike="noStrike" kern="1200" cap="none" spc="-5" normalizeH="0" baseline="0" noProof="0" dirty="0">
                <a:ln>
                  <a:noFill/>
                </a:ln>
                <a:solidFill>
                  <a:srgbClr val="6264A7"/>
                </a:solidFill>
                <a:effectLst/>
                <a:uLnTx/>
                <a:uFillTx/>
                <a:latin typeface="Segoe UI Light"/>
                <a:ea typeface="+mn-ea"/>
                <a:cs typeface="Segoe UI Light"/>
              </a:rPr>
              <a:t>Guía de inicio</a:t>
            </a:r>
            <a:r>
              <a:rPr kumimoji="0" lang="es-ES" sz="2800" b="0" i="0" u="none" strike="noStrike" kern="1200" cap="none" spc="-10" normalizeH="0" baseline="0" noProof="0" dirty="0">
                <a:ln>
                  <a:noFill/>
                </a:ln>
                <a:solidFill>
                  <a:srgbClr val="6264A7"/>
                </a:solidFill>
                <a:effectLst/>
                <a:uLnTx/>
                <a:uFillTx/>
                <a:latin typeface="Segoe UI Light"/>
                <a:ea typeface="+mn-ea"/>
                <a:cs typeface="Segoe UI Light"/>
              </a:rPr>
              <a:t> rápido para llamadas</a:t>
            </a:r>
            <a:endParaRPr kumimoji="0" lang="es-E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/>
              <a:ea typeface="+mn-ea"/>
              <a:cs typeface="Segoe UI Light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300" b="0" i="0" u="none" strike="noStrike" kern="1200" cap="none" spc="-1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Gadugi"/>
                <a:ea typeface="+mn-ea"/>
                <a:cs typeface="Gadugi"/>
              </a:rPr>
              <a:t>¿Es </a:t>
            </a:r>
            <a:r>
              <a:rPr kumimoji="0" lang="es-ES" sz="1300" b="0" i="0" u="none" strike="noStrike" kern="1200" cap="none" spc="-5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Gadugi"/>
                <a:ea typeface="+mn-ea"/>
                <a:cs typeface="Gadugi"/>
              </a:rPr>
              <a:t>la </a:t>
            </a:r>
            <a:r>
              <a:rPr kumimoji="0" lang="es-ES" sz="1300" b="0" i="0" u="none" strike="noStrike" kern="1200" cap="none" spc="-1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Gadugi"/>
                <a:ea typeface="+mn-ea"/>
                <a:cs typeface="Gadugi"/>
              </a:rPr>
              <a:t>primera vez </a:t>
            </a:r>
            <a:r>
              <a:rPr kumimoji="0" lang="es-ES" sz="1300" b="0" i="0" u="none" strike="noStrike" kern="1200" cap="none" spc="-5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Gadugi"/>
                <a:ea typeface="+mn-ea"/>
                <a:cs typeface="Gadugi"/>
              </a:rPr>
              <a:t>que usa Microsoft </a:t>
            </a:r>
            <a:r>
              <a:rPr kumimoji="0" lang="es-ES" sz="1300" b="0" i="0" u="none" strike="noStrike" kern="1200" cap="none" spc="-3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Gadugi"/>
                <a:ea typeface="+mn-ea"/>
                <a:cs typeface="Gadugi"/>
              </a:rPr>
              <a:t>Teams para realizar llamadas? </a:t>
            </a:r>
            <a:r>
              <a:rPr kumimoji="0" lang="es-ES" sz="1300" b="0" i="0" u="none" strike="noStrike" kern="1200" cap="none" spc="-1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Gadugi"/>
                <a:ea typeface="+mn-ea"/>
                <a:cs typeface="Gadugi"/>
              </a:rPr>
              <a:t>Con esta </a:t>
            </a:r>
            <a:r>
              <a:rPr kumimoji="0" lang="es-ES" sz="1300" b="0" i="0" u="none" strike="noStrike" kern="1200" cap="none" spc="-5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Gadugi"/>
                <a:ea typeface="+mn-ea"/>
                <a:cs typeface="Gadugi"/>
              </a:rPr>
              <a:t>guía </a:t>
            </a:r>
            <a:r>
              <a:rPr kumimoji="0" lang="es-ES" sz="1300" b="0" i="0" u="none" strike="noStrike" kern="1200" cap="none" spc="-1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Gadugi"/>
                <a:ea typeface="+mn-ea"/>
                <a:cs typeface="Gadugi"/>
              </a:rPr>
              <a:t>aprenderá los conceptos</a:t>
            </a:r>
            <a:r>
              <a:rPr kumimoji="0" lang="es-ES" sz="1300" b="0" i="0" u="none" strike="noStrike" kern="1200" cap="none" spc="275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Gadugi"/>
                <a:ea typeface="+mn-ea"/>
                <a:cs typeface="Gadugi"/>
              </a:rPr>
              <a:t> </a:t>
            </a:r>
            <a:r>
              <a:rPr kumimoji="0" lang="es-ES" sz="1300" b="0" i="0" u="none" strike="noStrike" kern="1200" cap="none" spc="-1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Gadugi"/>
                <a:ea typeface="+mn-ea"/>
                <a:cs typeface="Gadugi"/>
              </a:rPr>
              <a:t>básicos.</a:t>
            </a:r>
            <a:endParaRPr kumimoji="0" lang="es-E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dugi"/>
              <a:ea typeface="+mn-ea"/>
              <a:cs typeface="Gadug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6674" y="147378"/>
            <a:ext cx="7469526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Microsoft</a:t>
            </a:r>
            <a:r>
              <a:rPr spc="-35" dirty="0"/>
              <a:t> </a:t>
            </a:r>
            <a:r>
              <a:rPr spc="-95" dirty="0"/>
              <a:t>Teams</a:t>
            </a:r>
            <a:r>
              <a:rPr lang="es-ES" spc="-95" dirty="0"/>
              <a:t> - Llamadas </a:t>
            </a:r>
            <a:endParaRPr spc="-95" dirty="0"/>
          </a:p>
        </p:txBody>
      </p:sp>
      <p:sp>
        <p:nvSpPr>
          <p:cNvPr id="4" name="object 4"/>
          <p:cNvSpPr/>
          <p:nvPr/>
        </p:nvSpPr>
        <p:spPr>
          <a:xfrm>
            <a:off x="8711183" y="0"/>
            <a:ext cx="1331975" cy="5989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4404" y="4343400"/>
            <a:ext cx="1472565" cy="544380"/>
          </a:xfrm>
          <a:prstGeom prst="rect">
            <a:avLst/>
          </a:pr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91440" marR="0" lvl="0" indent="0" algn="l" defTabSz="914400" rtl="0" eaLnBrk="1" fontAlgn="auto" latinLnBrk="0" hangingPunct="1">
              <a:lnSpc>
                <a:spcPct val="100000"/>
              </a:lnSpc>
              <a:spcBef>
                <a:spcPts val="3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5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/>
                <a:ea typeface="+mn-ea"/>
                <a:cs typeface="Gadugi"/>
              </a:rPr>
              <a:t>Realizar Llamadas</a:t>
            </a:r>
            <a:endParaRPr kumimoji="0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dugi"/>
              <a:ea typeface="+mn-ea"/>
              <a:cs typeface="Gadugi"/>
            </a:endParaRPr>
          </a:p>
          <a:p>
            <a:pPr marL="91440" marR="132715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0" i="0" u="none" strike="noStrike" kern="1200" cap="none" spc="-5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Gadugi"/>
                <a:ea typeface="+mn-ea"/>
                <a:cs typeface="Gadugi"/>
              </a:rPr>
              <a:t>Haga clic para </a:t>
            </a:r>
            <a:r>
              <a:rPr kumimoji="0" lang="es-ES" sz="650" b="0" i="0" u="none" strike="noStrike" kern="1200" cap="none" spc="-5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Gadugi"/>
                <a:ea typeface="+mn-ea"/>
                <a:cs typeface="Gadugi"/>
              </a:rPr>
              <a:t>realizar una llamada a uno de sus contactos, marcando su numero de teléfono fijo o su número de teléfono móvil</a:t>
            </a:r>
            <a:endParaRPr kumimoji="0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dugi"/>
              <a:ea typeface="+mn-ea"/>
              <a:cs typeface="Gadug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979421" y="2743200"/>
            <a:ext cx="396239" cy="57911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50136" y="2232660"/>
            <a:ext cx="1501140" cy="721351"/>
          </a:xfrm>
          <a:prstGeom prst="rect">
            <a:avLst/>
          </a:pr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86360" marR="88265" lvl="0" indent="0" algn="l" defTabSz="914400" rtl="0" eaLnBrk="1" fontAlgn="auto" latinLnBrk="0" hangingPunct="1">
              <a:lnSpc>
                <a:spcPct val="100000"/>
              </a:lnSpc>
              <a:spcBef>
                <a:spcPts val="3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5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/>
                <a:ea typeface="+mn-ea"/>
                <a:cs typeface="Gadugi"/>
              </a:rPr>
              <a:t>Visualice todos sus contactos  de marcación rápida </a:t>
            </a:r>
            <a:r>
              <a:rPr kumimoji="0" lang="es-ES" sz="650" b="0" i="0" u="none" strike="noStrike" kern="1200" cap="none" spc="-5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Gadugi"/>
                <a:ea typeface="+mn-ea"/>
                <a:cs typeface="Gadugi"/>
              </a:rPr>
              <a:t>Haga clic en </a:t>
            </a:r>
            <a:r>
              <a:rPr kumimoji="0" lang="es-ES" sz="650" b="0" i="0" u="none" strike="noStrike" kern="120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Gadugi"/>
                <a:ea typeface="+mn-ea"/>
                <a:cs typeface="Gadugi"/>
              </a:rPr>
              <a:t>marcación rápida para visualizar sus tarjetas de contacto</a:t>
            </a:r>
            <a:r>
              <a:rPr kumimoji="0" lang="es-ES" sz="650" b="0" i="0" u="none" strike="noStrike" kern="1200" cap="none" spc="-5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Gadugi"/>
                <a:ea typeface="+mn-ea"/>
                <a:cs typeface="Gadugi"/>
              </a:rPr>
              <a:t>.</a:t>
            </a:r>
          </a:p>
          <a:p>
            <a:pPr marL="86360" marR="88265" lvl="0" indent="0" algn="l" defTabSz="914400" rtl="0" eaLnBrk="1" fontAlgn="auto" latinLnBrk="0" hangingPunct="1">
              <a:lnSpc>
                <a:spcPct val="100000"/>
              </a:lnSpc>
              <a:spcBef>
                <a:spcPts val="3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650" b="0" i="0" u="none" strike="noStrike" kern="1200" cap="none" spc="-5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Gadugi"/>
              <a:ea typeface="+mn-ea"/>
              <a:cs typeface="Gadugi"/>
            </a:endParaRPr>
          </a:p>
          <a:p>
            <a:pPr marL="86360" marR="88265" lvl="0" indent="0" algn="l" defTabSz="914400" rtl="0" eaLnBrk="1" fontAlgn="auto" latinLnBrk="0" hangingPunct="1">
              <a:lnSpc>
                <a:spcPct val="100000"/>
              </a:lnSpc>
              <a:spcBef>
                <a:spcPts val="3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650" b="0" i="0" u="none" strike="noStrike" kern="1200" cap="none" spc="-5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Gadugi"/>
              <a:ea typeface="+mn-ea"/>
              <a:cs typeface="Gadug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886444" y="3670300"/>
            <a:ext cx="105156" cy="10515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805877" y="3841571"/>
            <a:ext cx="105156" cy="10363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125471" y="3302508"/>
            <a:ext cx="29209" cy="368935"/>
          </a:xfrm>
          <a:custGeom>
            <a:avLst/>
            <a:gdLst/>
            <a:ahLst/>
            <a:cxnLst/>
            <a:rect l="l" t="t" r="r" b="b"/>
            <a:pathLst>
              <a:path w="29210" h="368935">
                <a:moveTo>
                  <a:pt x="28955" y="368808"/>
                </a:moveTo>
                <a:lnTo>
                  <a:pt x="0" y="368808"/>
                </a:lnTo>
                <a:lnTo>
                  <a:pt x="0" y="0"/>
                </a:lnTo>
                <a:lnTo>
                  <a:pt x="28955" y="0"/>
                </a:lnTo>
                <a:lnTo>
                  <a:pt x="28955" y="368808"/>
                </a:lnTo>
                <a:close/>
              </a:path>
            </a:pathLst>
          </a:custGeom>
          <a:solidFill>
            <a:srgbClr val="6264A7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091434" y="3630168"/>
            <a:ext cx="105156" cy="103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815719" y="4481068"/>
            <a:ext cx="105156" cy="10363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561844" y="5154600"/>
            <a:ext cx="105156" cy="10363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6064123" y="6234973"/>
            <a:ext cx="103632" cy="10515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7772400" y="3669030"/>
            <a:ext cx="105156" cy="10515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647444" y="6487667"/>
            <a:ext cx="247015" cy="29209"/>
          </a:xfrm>
          <a:custGeom>
            <a:avLst/>
            <a:gdLst/>
            <a:ahLst/>
            <a:cxnLst/>
            <a:rect l="l" t="t" r="r" b="b"/>
            <a:pathLst>
              <a:path w="247014" h="29209">
                <a:moveTo>
                  <a:pt x="0" y="28956"/>
                </a:moveTo>
                <a:lnTo>
                  <a:pt x="246887" y="28956"/>
                </a:lnTo>
                <a:lnTo>
                  <a:pt x="246887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6264A7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876044" y="6454140"/>
            <a:ext cx="103632" cy="10515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78307" y="6172200"/>
            <a:ext cx="1469390" cy="445635"/>
          </a:xfrm>
          <a:prstGeom prst="rect">
            <a:avLst/>
          </a:prstGeom>
          <a:solidFill>
            <a:srgbClr val="E6E6E6"/>
          </a:solidFill>
        </p:spPr>
        <p:txBody>
          <a:bodyPr vert="horz" wrap="square" lIns="0" tIns="45085" rIns="0" bIns="0" rtlCol="0">
            <a:spAutoFit/>
          </a:bodyPr>
          <a:lstStyle/>
          <a:p>
            <a:pPr marL="91440" marR="0" lvl="0" indent="0" algn="just" defTabSz="914400" rtl="0" eaLnBrk="1" fontAlgn="auto" latinLnBrk="0" hangingPunct="1">
              <a:lnSpc>
                <a:spcPct val="100000"/>
              </a:lnSpc>
              <a:spcBef>
                <a:spcPts val="3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5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/>
                <a:ea typeface="+mn-ea"/>
                <a:cs typeface="Gadugi"/>
              </a:rPr>
              <a:t>Recurra a la ayuda</a:t>
            </a:r>
            <a:endParaRPr kumimoji="0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dugi"/>
              <a:ea typeface="+mn-ea"/>
              <a:cs typeface="Gadugi"/>
            </a:endParaRPr>
          </a:p>
          <a:p>
            <a:pPr marL="91440" marR="239395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50" b="0" i="0" u="none" strike="noStrike" kern="1200" cap="none" spc="-5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Gadugi"/>
                <a:ea typeface="+mn-ea"/>
                <a:cs typeface="Gadugi"/>
              </a:rPr>
              <a:t>Pulse el botón de ayuda para conocer más acerca de la funcionalidad de llamadas</a:t>
            </a:r>
            <a:r>
              <a:rPr kumimoji="0" sz="650" b="0" i="0" u="none" strike="noStrike" kern="1200" cap="none" spc="-5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Gadugi"/>
                <a:ea typeface="+mn-ea"/>
                <a:cs typeface="Gadugi"/>
              </a:rPr>
              <a:t>.</a:t>
            </a:r>
            <a:endParaRPr kumimoji="0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dugi"/>
              <a:ea typeface="+mn-ea"/>
              <a:cs typeface="Gadug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658112" y="4523233"/>
            <a:ext cx="257810" cy="27940"/>
          </a:xfrm>
          <a:custGeom>
            <a:avLst/>
            <a:gdLst/>
            <a:ahLst/>
            <a:cxnLst/>
            <a:rect l="l" t="t" r="r" b="b"/>
            <a:pathLst>
              <a:path w="257810" h="27939">
                <a:moveTo>
                  <a:pt x="257555" y="27431"/>
                </a:moveTo>
                <a:lnTo>
                  <a:pt x="0" y="27431"/>
                </a:lnTo>
                <a:lnTo>
                  <a:pt x="0" y="0"/>
                </a:lnTo>
                <a:lnTo>
                  <a:pt x="257555" y="0"/>
                </a:lnTo>
                <a:lnTo>
                  <a:pt x="257555" y="27431"/>
                </a:lnTo>
                <a:close/>
              </a:path>
            </a:pathLst>
          </a:custGeom>
          <a:solidFill>
            <a:srgbClr val="6264A7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object 37">
            <a:extLst>
              <a:ext uri="{FF2B5EF4-FFF2-40B4-BE49-F238E27FC236}">
                <a16:creationId xmlns:a16="http://schemas.microsoft.com/office/drawing/2014/main" id="{7894BFBC-CBF5-4A3B-ACBA-C456BCC35AFC}"/>
              </a:ext>
            </a:extLst>
          </p:cNvPr>
          <p:cNvSpPr/>
          <p:nvPr/>
        </p:nvSpPr>
        <p:spPr>
          <a:xfrm>
            <a:off x="1500124" y="5188001"/>
            <a:ext cx="1074420" cy="27940"/>
          </a:xfrm>
          <a:custGeom>
            <a:avLst/>
            <a:gdLst/>
            <a:ahLst/>
            <a:cxnLst/>
            <a:rect l="l" t="t" r="r" b="b"/>
            <a:pathLst>
              <a:path w="1074420" h="27939">
                <a:moveTo>
                  <a:pt x="1074420" y="27432"/>
                </a:moveTo>
                <a:lnTo>
                  <a:pt x="0" y="27432"/>
                </a:lnTo>
                <a:lnTo>
                  <a:pt x="0" y="0"/>
                </a:lnTo>
                <a:lnTo>
                  <a:pt x="1074420" y="0"/>
                </a:lnTo>
                <a:lnTo>
                  <a:pt x="1074420" y="27432"/>
                </a:lnTo>
                <a:close/>
              </a:path>
            </a:pathLst>
          </a:custGeom>
          <a:solidFill>
            <a:srgbClr val="6264A7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66814" y="4993180"/>
            <a:ext cx="1507743" cy="606576"/>
          </a:xfrm>
          <a:prstGeom prst="rect">
            <a:avLst/>
          </a:prstGeom>
          <a:solidFill>
            <a:srgbClr val="E6E6E6"/>
          </a:solidFill>
        </p:spPr>
        <p:txBody>
          <a:bodyPr vert="horz" wrap="square" lIns="0" tIns="635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86360" marR="16383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5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/>
                <a:ea typeface="+mn-ea"/>
                <a:cs typeface="Gadugi"/>
              </a:rPr>
              <a:t>Marque un Numero de Teléfono  </a:t>
            </a:r>
            <a:r>
              <a:rPr kumimoji="0" lang="es-ES" sz="650" b="0" i="0" u="none" strike="noStrike" kern="1200" cap="none" spc="-5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Gadugi"/>
                <a:ea typeface="+mn-ea"/>
                <a:cs typeface="Gadugi"/>
              </a:rPr>
              <a:t>Escriba el Numero de Teléfono fijo o móvil de la persona a la que desea llamar y pulse el botón de llamar</a:t>
            </a:r>
            <a:r>
              <a:rPr kumimoji="0" sz="650" b="0" i="0" u="none" strike="noStrike" kern="1200" cap="none" spc="-5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Gadugi"/>
                <a:ea typeface="+mn-ea"/>
                <a:cs typeface="Gadugi"/>
              </a:rPr>
              <a:t>.</a:t>
            </a:r>
            <a:endParaRPr kumimoji="0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dugi"/>
              <a:ea typeface="+mn-ea"/>
              <a:cs typeface="Gadugi"/>
            </a:endParaRPr>
          </a:p>
        </p:txBody>
      </p:sp>
      <p:sp>
        <p:nvSpPr>
          <p:cNvPr id="56" name="object 37">
            <a:extLst>
              <a:ext uri="{FF2B5EF4-FFF2-40B4-BE49-F238E27FC236}">
                <a16:creationId xmlns:a16="http://schemas.microsoft.com/office/drawing/2014/main" id="{83EB8295-9126-4239-BCF7-C774EBE17649}"/>
              </a:ext>
            </a:extLst>
          </p:cNvPr>
          <p:cNvSpPr/>
          <p:nvPr/>
        </p:nvSpPr>
        <p:spPr>
          <a:xfrm>
            <a:off x="2895600" y="4106774"/>
            <a:ext cx="1074420" cy="27940"/>
          </a:xfrm>
          <a:custGeom>
            <a:avLst/>
            <a:gdLst/>
            <a:ahLst/>
            <a:cxnLst/>
            <a:rect l="l" t="t" r="r" b="b"/>
            <a:pathLst>
              <a:path w="1074420" h="27939">
                <a:moveTo>
                  <a:pt x="1074420" y="27432"/>
                </a:moveTo>
                <a:lnTo>
                  <a:pt x="0" y="27432"/>
                </a:lnTo>
                <a:lnTo>
                  <a:pt x="0" y="0"/>
                </a:lnTo>
                <a:lnTo>
                  <a:pt x="1074420" y="0"/>
                </a:lnTo>
                <a:lnTo>
                  <a:pt x="1074420" y="27432"/>
                </a:lnTo>
                <a:close/>
              </a:path>
            </a:pathLst>
          </a:custGeom>
          <a:solidFill>
            <a:srgbClr val="6264A7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object 32">
            <a:extLst>
              <a:ext uri="{FF2B5EF4-FFF2-40B4-BE49-F238E27FC236}">
                <a16:creationId xmlns:a16="http://schemas.microsoft.com/office/drawing/2014/main" id="{4C3BF581-E4F9-4965-B961-F040AF433CD2}"/>
              </a:ext>
            </a:extLst>
          </p:cNvPr>
          <p:cNvSpPr/>
          <p:nvPr/>
        </p:nvSpPr>
        <p:spPr>
          <a:xfrm>
            <a:off x="2805877" y="4062273"/>
            <a:ext cx="105156" cy="10363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object 37">
            <a:extLst>
              <a:ext uri="{FF2B5EF4-FFF2-40B4-BE49-F238E27FC236}">
                <a16:creationId xmlns:a16="http://schemas.microsoft.com/office/drawing/2014/main" id="{53728BF4-F217-4621-A9E7-EF17FC5B04D3}"/>
              </a:ext>
            </a:extLst>
          </p:cNvPr>
          <p:cNvSpPr/>
          <p:nvPr/>
        </p:nvSpPr>
        <p:spPr>
          <a:xfrm>
            <a:off x="2895600" y="3886200"/>
            <a:ext cx="1074420" cy="27940"/>
          </a:xfrm>
          <a:custGeom>
            <a:avLst/>
            <a:gdLst/>
            <a:ahLst/>
            <a:cxnLst/>
            <a:rect l="l" t="t" r="r" b="b"/>
            <a:pathLst>
              <a:path w="1074420" h="27939">
                <a:moveTo>
                  <a:pt x="1074420" y="27432"/>
                </a:moveTo>
                <a:lnTo>
                  <a:pt x="0" y="27432"/>
                </a:lnTo>
                <a:lnTo>
                  <a:pt x="0" y="0"/>
                </a:lnTo>
                <a:lnTo>
                  <a:pt x="1074420" y="0"/>
                </a:lnTo>
                <a:lnTo>
                  <a:pt x="1074420" y="27432"/>
                </a:lnTo>
                <a:close/>
              </a:path>
            </a:pathLst>
          </a:custGeom>
          <a:solidFill>
            <a:srgbClr val="6264A7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object 37">
            <a:extLst>
              <a:ext uri="{FF2B5EF4-FFF2-40B4-BE49-F238E27FC236}">
                <a16:creationId xmlns:a16="http://schemas.microsoft.com/office/drawing/2014/main" id="{1E111B5F-7350-43F9-B12B-501112DE25E3}"/>
              </a:ext>
            </a:extLst>
          </p:cNvPr>
          <p:cNvSpPr/>
          <p:nvPr/>
        </p:nvSpPr>
        <p:spPr>
          <a:xfrm>
            <a:off x="3398614" y="3886244"/>
            <a:ext cx="1074420" cy="27940"/>
          </a:xfrm>
          <a:custGeom>
            <a:avLst/>
            <a:gdLst/>
            <a:ahLst/>
            <a:cxnLst/>
            <a:rect l="l" t="t" r="r" b="b"/>
            <a:pathLst>
              <a:path w="1074420" h="27939">
                <a:moveTo>
                  <a:pt x="1074420" y="27432"/>
                </a:moveTo>
                <a:lnTo>
                  <a:pt x="0" y="27432"/>
                </a:lnTo>
                <a:lnTo>
                  <a:pt x="0" y="0"/>
                </a:lnTo>
                <a:lnTo>
                  <a:pt x="1074420" y="0"/>
                </a:lnTo>
                <a:lnTo>
                  <a:pt x="1074420" y="27432"/>
                </a:lnTo>
                <a:close/>
              </a:path>
            </a:pathLst>
          </a:custGeom>
          <a:solidFill>
            <a:srgbClr val="6264A7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AA24D19-47B3-4787-81F0-E02862AD7EF9}"/>
              </a:ext>
            </a:extLst>
          </p:cNvPr>
          <p:cNvGrpSpPr/>
          <p:nvPr/>
        </p:nvGrpSpPr>
        <p:grpSpPr>
          <a:xfrm>
            <a:off x="4441409" y="2909316"/>
            <a:ext cx="38339" cy="992899"/>
            <a:chOff x="4441409" y="2909316"/>
            <a:chExt cx="38339" cy="992899"/>
          </a:xfrm>
        </p:grpSpPr>
        <p:sp>
          <p:nvSpPr>
            <p:cNvPr id="53" name="object 40">
              <a:extLst>
                <a:ext uri="{FF2B5EF4-FFF2-40B4-BE49-F238E27FC236}">
                  <a16:creationId xmlns:a16="http://schemas.microsoft.com/office/drawing/2014/main" id="{188AFCEE-ECB7-45D5-BA04-31ED3C4EB796}"/>
                </a:ext>
              </a:extLst>
            </p:cNvPr>
            <p:cNvSpPr/>
            <p:nvPr/>
          </p:nvSpPr>
          <p:spPr>
            <a:xfrm>
              <a:off x="4443790" y="3296920"/>
              <a:ext cx="32384" cy="309880"/>
            </a:xfrm>
            <a:custGeom>
              <a:avLst/>
              <a:gdLst/>
              <a:ahLst/>
              <a:cxnLst/>
              <a:rect l="l" t="t" r="r" b="b"/>
              <a:pathLst>
                <a:path w="32385" h="309879">
                  <a:moveTo>
                    <a:pt x="28955" y="309371"/>
                  </a:moveTo>
                  <a:lnTo>
                    <a:pt x="0" y="309371"/>
                  </a:lnTo>
                  <a:lnTo>
                    <a:pt x="3048" y="0"/>
                  </a:lnTo>
                  <a:lnTo>
                    <a:pt x="32003" y="0"/>
                  </a:lnTo>
                  <a:lnTo>
                    <a:pt x="28955" y="309371"/>
                  </a:lnTo>
                  <a:close/>
                </a:path>
              </a:pathLst>
            </a:custGeom>
            <a:solidFill>
              <a:srgbClr val="6264A7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4447364" y="2909316"/>
              <a:ext cx="32384" cy="289560"/>
            </a:xfrm>
            <a:custGeom>
              <a:avLst/>
              <a:gdLst/>
              <a:ahLst/>
              <a:cxnLst/>
              <a:rect l="l" t="t" r="r" b="b"/>
              <a:pathLst>
                <a:path w="32385" h="289560">
                  <a:moveTo>
                    <a:pt x="28955" y="289559"/>
                  </a:moveTo>
                  <a:lnTo>
                    <a:pt x="0" y="289559"/>
                  </a:lnTo>
                  <a:lnTo>
                    <a:pt x="3047" y="0"/>
                  </a:lnTo>
                  <a:lnTo>
                    <a:pt x="32003" y="0"/>
                  </a:lnTo>
                  <a:lnTo>
                    <a:pt x="28955" y="289559"/>
                  </a:lnTo>
                  <a:close/>
                </a:path>
              </a:pathLst>
            </a:custGeom>
            <a:solidFill>
              <a:srgbClr val="6264A7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1" name="object 40">
              <a:extLst>
                <a:ext uri="{FF2B5EF4-FFF2-40B4-BE49-F238E27FC236}">
                  <a16:creationId xmlns:a16="http://schemas.microsoft.com/office/drawing/2014/main" id="{ED400CAB-0946-46FB-87AD-83158DCC1A3F}"/>
                </a:ext>
              </a:extLst>
            </p:cNvPr>
            <p:cNvSpPr/>
            <p:nvPr/>
          </p:nvSpPr>
          <p:spPr>
            <a:xfrm>
              <a:off x="4441409" y="3592335"/>
              <a:ext cx="32384" cy="309880"/>
            </a:xfrm>
            <a:custGeom>
              <a:avLst/>
              <a:gdLst/>
              <a:ahLst/>
              <a:cxnLst/>
              <a:rect l="l" t="t" r="r" b="b"/>
              <a:pathLst>
                <a:path w="32385" h="309879">
                  <a:moveTo>
                    <a:pt x="28955" y="309371"/>
                  </a:moveTo>
                  <a:lnTo>
                    <a:pt x="0" y="309371"/>
                  </a:lnTo>
                  <a:lnTo>
                    <a:pt x="3048" y="0"/>
                  </a:lnTo>
                  <a:lnTo>
                    <a:pt x="32003" y="0"/>
                  </a:lnTo>
                  <a:lnTo>
                    <a:pt x="28955" y="309371"/>
                  </a:lnTo>
                  <a:close/>
                </a:path>
              </a:pathLst>
            </a:custGeom>
            <a:solidFill>
              <a:srgbClr val="6264A7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4" name="object 40">
              <a:extLst>
                <a:ext uri="{FF2B5EF4-FFF2-40B4-BE49-F238E27FC236}">
                  <a16:creationId xmlns:a16="http://schemas.microsoft.com/office/drawing/2014/main" id="{2EF2C045-B389-48FF-A982-EBBAC620F4A0}"/>
                </a:ext>
              </a:extLst>
            </p:cNvPr>
            <p:cNvSpPr/>
            <p:nvPr/>
          </p:nvSpPr>
          <p:spPr>
            <a:xfrm>
              <a:off x="4445281" y="3085725"/>
              <a:ext cx="32384" cy="309880"/>
            </a:xfrm>
            <a:custGeom>
              <a:avLst/>
              <a:gdLst/>
              <a:ahLst/>
              <a:cxnLst/>
              <a:rect l="l" t="t" r="r" b="b"/>
              <a:pathLst>
                <a:path w="32385" h="309879">
                  <a:moveTo>
                    <a:pt x="28955" y="309371"/>
                  </a:moveTo>
                  <a:lnTo>
                    <a:pt x="0" y="309371"/>
                  </a:lnTo>
                  <a:lnTo>
                    <a:pt x="3048" y="0"/>
                  </a:lnTo>
                  <a:lnTo>
                    <a:pt x="32003" y="0"/>
                  </a:lnTo>
                  <a:lnTo>
                    <a:pt x="28955" y="309371"/>
                  </a:lnTo>
                  <a:close/>
                </a:path>
              </a:pathLst>
            </a:custGeom>
            <a:solidFill>
              <a:srgbClr val="6264A7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509772" y="2234183"/>
            <a:ext cx="1263650" cy="744435"/>
          </a:xfrm>
          <a:prstGeom prst="rect">
            <a:avLst/>
          </a:pr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20014" marR="0" lvl="0" indent="0" algn="l" defTabSz="914400" rtl="0" eaLnBrk="1" fontAlgn="auto" latinLnBrk="0" hangingPunct="1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5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/>
                <a:ea typeface="+mn-ea"/>
                <a:cs typeface="Gadugi"/>
              </a:rPr>
              <a:t>Visualice todos sus contactos</a:t>
            </a:r>
            <a:endParaRPr kumimoji="0" lang="es-E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dugi"/>
              <a:ea typeface="+mn-ea"/>
              <a:cs typeface="Gadugi"/>
            </a:endParaRPr>
          </a:p>
          <a:p>
            <a:pPr marL="120014" marR="107314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50" b="0" i="0" u="none" strike="noStrike" kern="1200" cap="none" spc="-5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Gadugi"/>
                <a:ea typeface="+mn-ea"/>
                <a:cs typeface="Gadugi"/>
              </a:rPr>
              <a:t>Haga clic en contactos para visualizar toda su lista de contactos.</a:t>
            </a:r>
          </a:p>
          <a:p>
            <a:pPr marL="120014" marR="107314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650" b="0" i="0" u="none" strike="noStrike" kern="1200" cap="none" spc="-5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Gadugi"/>
              <a:ea typeface="+mn-ea"/>
              <a:cs typeface="Gadugi"/>
            </a:endParaRPr>
          </a:p>
          <a:p>
            <a:pPr marL="120014" marR="107314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650" b="0" i="0" u="none" strike="noStrike" kern="1200" cap="none" spc="-5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Gadugi"/>
              <a:ea typeface="+mn-ea"/>
              <a:cs typeface="Gadugi"/>
            </a:endParaRPr>
          </a:p>
          <a:p>
            <a:pPr marL="120014" marR="107314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dugi"/>
              <a:ea typeface="+mn-ea"/>
              <a:cs typeface="Gadugi"/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95DCF35-AD77-4EB5-974D-51B0D1336320}"/>
              </a:ext>
            </a:extLst>
          </p:cNvPr>
          <p:cNvGrpSpPr/>
          <p:nvPr/>
        </p:nvGrpSpPr>
        <p:grpSpPr>
          <a:xfrm>
            <a:off x="7810261" y="2743200"/>
            <a:ext cx="38339" cy="992899"/>
            <a:chOff x="4441409" y="2909316"/>
            <a:chExt cx="38339" cy="992899"/>
          </a:xfrm>
        </p:grpSpPr>
        <p:sp>
          <p:nvSpPr>
            <p:cNvPr id="65" name="object 40">
              <a:extLst>
                <a:ext uri="{FF2B5EF4-FFF2-40B4-BE49-F238E27FC236}">
                  <a16:creationId xmlns:a16="http://schemas.microsoft.com/office/drawing/2014/main" id="{3471159F-FC0A-450E-960A-BF9FD46A44FB}"/>
                </a:ext>
              </a:extLst>
            </p:cNvPr>
            <p:cNvSpPr/>
            <p:nvPr/>
          </p:nvSpPr>
          <p:spPr>
            <a:xfrm>
              <a:off x="4443790" y="3296920"/>
              <a:ext cx="32384" cy="309880"/>
            </a:xfrm>
            <a:custGeom>
              <a:avLst/>
              <a:gdLst/>
              <a:ahLst/>
              <a:cxnLst/>
              <a:rect l="l" t="t" r="r" b="b"/>
              <a:pathLst>
                <a:path w="32385" h="309879">
                  <a:moveTo>
                    <a:pt x="28955" y="309371"/>
                  </a:moveTo>
                  <a:lnTo>
                    <a:pt x="0" y="309371"/>
                  </a:lnTo>
                  <a:lnTo>
                    <a:pt x="3048" y="0"/>
                  </a:lnTo>
                  <a:lnTo>
                    <a:pt x="32003" y="0"/>
                  </a:lnTo>
                  <a:lnTo>
                    <a:pt x="28955" y="309371"/>
                  </a:lnTo>
                  <a:close/>
                </a:path>
              </a:pathLst>
            </a:custGeom>
            <a:solidFill>
              <a:srgbClr val="6264A7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6" name="object 22">
              <a:extLst>
                <a:ext uri="{FF2B5EF4-FFF2-40B4-BE49-F238E27FC236}">
                  <a16:creationId xmlns:a16="http://schemas.microsoft.com/office/drawing/2014/main" id="{E3A3A2D0-8864-4701-A081-8897B64C0A2C}"/>
                </a:ext>
              </a:extLst>
            </p:cNvPr>
            <p:cNvSpPr/>
            <p:nvPr/>
          </p:nvSpPr>
          <p:spPr>
            <a:xfrm>
              <a:off x="4447364" y="2909316"/>
              <a:ext cx="32384" cy="289560"/>
            </a:xfrm>
            <a:custGeom>
              <a:avLst/>
              <a:gdLst/>
              <a:ahLst/>
              <a:cxnLst/>
              <a:rect l="l" t="t" r="r" b="b"/>
              <a:pathLst>
                <a:path w="32385" h="289560">
                  <a:moveTo>
                    <a:pt x="28955" y="289559"/>
                  </a:moveTo>
                  <a:lnTo>
                    <a:pt x="0" y="289559"/>
                  </a:lnTo>
                  <a:lnTo>
                    <a:pt x="3047" y="0"/>
                  </a:lnTo>
                  <a:lnTo>
                    <a:pt x="32003" y="0"/>
                  </a:lnTo>
                  <a:lnTo>
                    <a:pt x="28955" y="289559"/>
                  </a:lnTo>
                  <a:close/>
                </a:path>
              </a:pathLst>
            </a:custGeom>
            <a:solidFill>
              <a:srgbClr val="6264A7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7" name="object 40">
              <a:extLst>
                <a:ext uri="{FF2B5EF4-FFF2-40B4-BE49-F238E27FC236}">
                  <a16:creationId xmlns:a16="http://schemas.microsoft.com/office/drawing/2014/main" id="{F0E81FA1-8ECB-4E0D-9928-30121987FF3B}"/>
                </a:ext>
              </a:extLst>
            </p:cNvPr>
            <p:cNvSpPr/>
            <p:nvPr/>
          </p:nvSpPr>
          <p:spPr>
            <a:xfrm>
              <a:off x="4441409" y="3592335"/>
              <a:ext cx="32384" cy="309880"/>
            </a:xfrm>
            <a:custGeom>
              <a:avLst/>
              <a:gdLst/>
              <a:ahLst/>
              <a:cxnLst/>
              <a:rect l="l" t="t" r="r" b="b"/>
              <a:pathLst>
                <a:path w="32385" h="309879">
                  <a:moveTo>
                    <a:pt x="28955" y="309371"/>
                  </a:moveTo>
                  <a:lnTo>
                    <a:pt x="0" y="309371"/>
                  </a:lnTo>
                  <a:lnTo>
                    <a:pt x="3048" y="0"/>
                  </a:lnTo>
                  <a:lnTo>
                    <a:pt x="32003" y="0"/>
                  </a:lnTo>
                  <a:lnTo>
                    <a:pt x="28955" y="309371"/>
                  </a:lnTo>
                  <a:close/>
                </a:path>
              </a:pathLst>
            </a:custGeom>
            <a:solidFill>
              <a:srgbClr val="6264A7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8" name="object 40">
              <a:extLst>
                <a:ext uri="{FF2B5EF4-FFF2-40B4-BE49-F238E27FC236}">
                  <a16:creationId xmlns:a16="http://schemas.microsoft.com/office/drawing/2014/main" id="{AE2A01F4-C87D-4804-8D61-F578D17DE624}"/>
                </a:ext>
              </a:extLst>
            </p:cNvPr>
            <p:cNvSpPr/>
            <p:nvPr/>
          </p:nvSpPr>
          <p:spPr>
            <a:xfrm>
              <a:off x="4445281" y="3085725"/>
              <a:ext cx="32384" cy="309880"/>
            </a:xfrm>
            <a:custGeom>
              <a:avLst/>
              <a:gdLst/>
              <a:ahLst/>
              <a:cxnLst/>
              <a:rect l="l" t="t" r="r" b="b"/>
              <a:pathLst>
                <a:path w="32385" h="309879">
                  <a:moveTo>
                    <a:pt x="28955" y="309371"/>
                  </a:moveTo>
                  <a:lnTo>
                    <a:pt x="0" y="309371"/>
                  </a:lnTo>
                  <a:lnTo>
                    <a:pt x="3048" y="0"/>
                  </a:lnTo>
                  <a:lnTo>
                    <a:pt x="32003" y="0"/>
                  </a:lnTo>
                  <a:lnTo>
                    <a:pt x="28955" y="309371"/>
                  </a:lnTo>
                  <a:close/>
                </a:path>
              </a:pathLst>
            </a:custGeom>
            <a:solidFill>
              <a:srgbClr val="6264A7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9" name="object 32">
            <a:extLst>
              <a:ext uri="{FF2B5EF4-FFF2-40B4-BE49-F238E27FC236}">
                <a16:creationId xmlns:a16="http://schemas.microsoft.com/office/drawing/2014/main" id="{C09E90B6-A538-48DC-9FD4-26669E48C57E}"/>
              </a:ext>
            </a:extLst>
          </p:cNvPr>
          <p:cNvSpPr/>
          <p:nvPr/>
        </p:nvSpPr>
        <p:spPr>
          <a:xfrm>
            <a:off x="2935795" y="4205896"/>
            <a:ext cx="105156" cy="10363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object 48">
            <a:extLst>
              <a:ext uri="{FF2B5EF4-FFF2-40B4-BE49-F238E27FC236}">
                <a16:creationId xmlns:a16="http://schemas.microsoft.com/office/drawing/2014/main" id="{47E774ED-C58D-4413-ACDF-7CBDB1C50A56}"/>
              </a:ext>
            </a:extLst>
          </p:cNvPr>
          <p:cNvSpPr/>
          <p:nvPr/>
        </p:nvSpPr>
        <p:spPr>
          <a:xfrm rot="5400000">
            <a:off x="2862897" y="4376103"/>
            <a:ext cx="247015" cy="29209"/>
          </a:xfrm>
          <a:custGeom>
            <a:avLst/>
            <a:gdLst/>
            <a:ahLst/>
            <a:cxnLst/>
            <a:rect l="l" t="t" r="r" b="b"/>
            <a:pathLst>
              <a:path w="247014" h="29209">
                <a:moveTo>
                  <a:pt x="0" y="28956"/>
                </a:moveTo>
                <a:lnTo>
                  <a:pt x="246887" y="28956"/>
                </a:lnTo>
                <a:lnTo>
                  <a:pt x="246887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6264A7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22855" y="4447815"/>
            <a:ext cx="1347470" cy="504625"/>
          </a:xfrm>
          <a:prstGeom prst="rect">
            <a:avLst/>
          </a:prstGeom>
          <a:solidFill>
            <a:srgbClr val="E6E6E6"/>
          </a:solidFill>
        </p:spPr>
        <p:txBody>
          <a:bodyPr vert="horz" wrap="square" lIns="0" tIns="4445" rIns="0" bIns="0" rtlCol="0">
            <a:spAutoFit/>
          </a:bodyPr>
          <a:lstStyle/>
          <a:p>
            <a:pPr marL="10033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5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/>
                <a:ea typeface="+mn-ea"/>
                <a:cs typeface="Gadugi"/>
              </a:rPr>
              <a:t>Consulte su correo de Voz</a:t>
            </a:r>
            <a:endParaRPr kumimoji="0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dugi"/>
              <a:ea typeface="+mn-ea"/>
              <a:cs typeface="Gadugi"/>
            </a:endParaRPr>
          </a:p>
          <a:p>
            <a:pPr marL="100330" marR="20955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50" b="0" i="0" u="none" strike="noStrike" kern="1200" cap="none" spc="-5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Gadugi"/>
                <a:ea typeface="+mn-ea"/>
                <a:cs typeface="Gadugi"/>
              </a:rPr>
              <a:t>Seleccione correo de voz para escuchar sus mensajes guardados</a:t>
            </a:r>
            <a:r>
              <a:rPr kumimoji="0" sz="650" b="0" i="0" u="none" strike="noStrike" kern="1200" cap="none" spc="-5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Gadugi"/>
                <a:ea typeface="+mn-ea"/>
                <a:cs typeface="Gadugi"/>
              </a:rPr>
              <a:t>.</a:t>
            </a:r>
            <a:endParaRPr kumimoji="0" lang="es-ES" sz="650" b="0" i="0" u="none" strike="noStrike" kern="1200" cap="none" spc="-5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Gadugi"/>
              <a:ea typeface="+mn-ea"/>
              <a:cs typeface="Gadugi"/>
            </a:endParaRPr>
          </a:p>
          <a:p>
            <a:pPr marL="100330" marR="20955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dugi"/>
              <a:ea typeface="+mn-ea"/>
              <a:cs typeface="Gadugi"/>
            </a:endParaRPr>
          </a:p>
        </p:txBody>
      </p:sp>
      <p:sp>
        <p:nvSpPr>
          <p:cNvPr id="71" name="object 37">
            <a:extLst>
              <a:ext uri="{FF2B5EF4-FFF2-40B4-BE49-F238E27FC236}">
                <a16:creationId xmlns:a16="http://schemas.microsoft.com/office/drawing/2014/main" id="{D6957725-F28A-488F-A950-CCCD8A9E09D1}"/>
              </a:ext>
            </a:extLst>
          </p:cNvPr>
          <p:cNvSpPr/>
          <p:nvPr/>
        </p:nvSpPr>
        <p:spPr>
          <a:xfrm>
            <a:off x="3904199" y="4106875"/>
            <a:ext cx="1074420" cy="27940"/>
          </a:xfrm>
          <a:custGeom>
            <a:avLst/>
            <a:gdLst/>
            <a:ahLst/>
            <a:cxnLst/>
            <a:rect l="l" t="t" r="r" b="b"/>
            <a:pathLst>
              <a:path w="1074420" h="27939">
                <a:moveTo>
                  <a:pt x="1074420" y="27432"/>
                </a:moveTo>
                <a:lnTo>
                  <a:pt x="0" y="27432"/>
                </a:lnTo>
                <a:lnTo>
                  <a:pt x="0" y="0"/>
                </a:lnTo>
                <a:lnTo>
                  <a:pt x="1074420" y="0"/>
                </a:lnTo>
                <a:lnTo>
                  <a:pt x="1074420" y="27432"/>
                </a:lnTo>
                <a:close/>
              </a:path>
            </a:pathLst>
          </a:custGeom>
          <a:solidFill>
            <a:srgbClr val="6264A7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2" name="object 37">
            <a:extLst>
              <a:ext uri="{FF2B5EF4-FFF2-40B4-BE49-F238E27FC236}">
                <a16:creationId xmlns:a16="http://schemas.microsoft.com/office/drawing/2014/main" id="{969C21AA-48E7-4CFC-BE11-A34813E83A6C}"/>
              </a:ext>
            </a:extLst>
          </p:cNvPr>
          <p:cNvSpPr/>
          <p:nvPr/>
        </p:nvSpPr>
        <p:spPr>
          <a:xfrm>
            <a:off x="4561428" y="4105274"/>
            <a:ext cx="1074420" cy="27940"/>
          </a:xfrm>
          <a:custGeom>
            <a:avLst/>
            <a:gdLst/>
            <a:ahLst/>
            <a:cxnLst/>
            <a:rect l="l" t="t" r="r" b="b"/>
            <a:pathLst>
              <a:path w="1074420" h="27939">
                <a:moveTo>
                  <a:pt x="1074420" y="27432"/>
                </a:moveTo>
                <a:lnTo>
                  <a:pt x="0" y="27432"/>
                </a:lnTo>
                <a:lnTo>
                  <a:pt x="0" y="0"/>
                </a:lnTo>
                <a:lnTo>
                  <a:pt x="1074420" y="0"/>
                </a:lnTo>
                <a:lnTo>
                  <a:pt x="1074420" y="27432"/>
                </a:lnTo>
                <a:close/>
              </a:path>
            </a:pathLst>
          </a:custGeom>
          <a:solidFill>
            <a:srgbClr val="6264A7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0EC98D0-973B-466A-83A8-DF09715DB73A}"/>
              </a:ext>
            </a:extLst>
          </p:cNvPr>
          <p:cNvGrpSpPr/>
          <p:nvPr/>
        </p:nvGrpSpPr>
        <p:grpSpPr>
          <a:xfrm>
            <a:off x="5605224" y="3112375"/>
            <a:ext cx="38339" cy="992899"/>
            <a:chOff x="4441409" y="2909316"/>
            <a:chExt cx="38339" cy="992899"/>
          </a:xfrm>
        </p:grpSpPr>
        <p:sp>
          <p:nvSpPr>
            <p:cNvPr id="74" name="object 40">
              <a:extLst>
                <a:ext uri="{FF2B5EF4-FFF2-40B4-BE49-F238E27FC236}">
                  <a16:creationId xmlns:a16="http://schemas.microsoft.com/office/drawing/2014/main" id="{9B7878D0-886F-4169-B09B-6F0A8262C777}"/>
                </a:ext>
              </a:extLst>
            </p:cNvPr>
            <p:cNvSpPr/>
            <p:nvPr/>
          </p:nvSpPr>
          <p:spPr>
            <a:xfrm>
              <a:off x="4443790" y="3296920"/>
              <a:ext cx="32384" cy="309880"/>
            </a:xfrm>
            <a:custGeom>
              <a:avLst/>
              <a:gdLst/>
              <a:ahLst/>
              <a:cxnLst/>
              <a:rect l="l" t="t" r="r" b="b"/>
              <a:pathLst>
                <a:path w="32385" h="309879">
                  <a:moveTo>
                    <a:pt x="28955" y="309371"/>
                  </a:moveTo>
                  <a:lnTo>
                    <a:pt x="0" y="309371"/>
                  </a:lnTo>
                  <a:lnTo>
                    <a:pt x="3048" y="0"/>
                  </a:lnTo>
                  <a:lnTo>
                    <a:pt x="32003" y="0"/>
                  </a:lnTo>
                  <a:lnTo>
                    <a:pt x="28955" y="309371"/>
                  </a:lnTo>
                  <a:close/>
                </a:path>
              </a:pathLst>
            </a:custGeom>
            <a:solidFill>
              <a:srgbClr val="6264A7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5" name="object 22">
              <a:extLst>
                <a:ext uri="{FF2B5EF4-FFF2-40B4-BE49-F238E27FC236}">
                  <a16:creationId xmlns:a16="http://schemas.microsoft.com/office/drawing/2014/main" id="{753F2270-DDE7-4302-B3D8-D96F63B34092}"/>
                </a:ext>
              </a:extLst>
            </p:cNvPr>
            <p:cNvSpPr/>
            <p:nvPr/>
          </p:nvSpPr>
          <p:spPr>
            <a:xfrm>
              <a:off x="4447364" y="2909316"/>
              <a:ext cx="32384" cy="289560"/>
            </a:xfrm>
            <a:custGeom>
              <a:avLst/>
              <a:gdLst/>
              <a:ahLst/>
              <a:cxnLst/>
              <a:rect l="l" t="t" r="r" b="b"/>
              <a:pathLst>
                <a:path w="32385" h="289560">
                  <a:moveTo>
                    <a:pt x="28955" y="289559"/>
                  </a:moveTo>
                  <a:lnTo>
                    <a:pt x="0" y="289559"/>
                  </a:lnTo>
                  <a:lnTo>
                    <a:pt x="3047" y="0"/>
                  </a:lnTo>
                  <a:lnTo>
                    <a:pt x="32003" y="0"/>
                  </a:lnTo>
                  <a:lnTo>
                    <a:pt x="28955" y="289559"/>
                  </a:lnTo>
                  <a:close/>
                </a:path>
              </a:pathLst>
            </a:custGeom>
            <a:solidFill>
              <a:srgbClr val="6264A7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6" name="object 40">
              <a:extLst>
                <a:ext uri="{FF2B5EF4-FFF2-40B4-BE49-F238E27FC236}">
                  <a16:creationId xmlns:a16="http://schemas.microsoft.com/office/drawing/2014/main" id="{D428CE57-0CF0-4B7B-81A7-94A6BEA96DF1}"/>
                </a:ext>
              </a:extLst>
            </p:cNvPr>
            <p:cNvSpPr/>
            <p:nvPr/>
          </p:nvSpPr>
          <p:spPr>
            <a:xfrm>
              <a:off x="4441409" y="3592335"/>
              <a:ext cx="32384" cy="309880"/>
            </a:xfrm>
            <a:custGeom>
              <a:avLst/>
              <a:gdLst/>
              <a:ahLst/>
              <a:cxnLst/>
              <a:rect l="l" t="t" r="r" b="b"/>
              <a:pathLst>
                <a:path w="32385" h="309879">
                  <a:moveTo>
                    <a:pt x="28955" y="309371"/>
                  </a:moveTo>
                  <a:lnTo>
                    <a:pt x="0" y="309371"/>
                  </a:lnTo>
                  <a:lnTo>
                    <a:pt x="3048" y="0"/>
                  </a:lnTo>
                  <a:lnTo>
                    <a:pt x="32003" y="0"/>
                  </a:lnTo>
                  <a:lnTo>
                    <a:pt x="28955" y="309371"/>
                  </a:lnTo>
                  <a:close/>
                </a:path>
              </a:pathLst>
            </a:custGeom>
            <a:solidFill>
              <a:srgbClr val="6264A7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7" name="object 40">
              <a:extLst>
                <a:ext uri="{FF2B5EF4-FFF2-40B4-BE49-F238E27FC236}">
                  <a16:creationId xmlns:a16="http://schemas.microsoft.com/office/drawing/2014/main" id="{8BE6BA11-7A16-493C-A111-A861DDC922B4}"/>
                </a:ext>
              </a:extLst>
            </p:cNvPr>
            <p:cNvSpPr/>
            <p:nvPr/>
          </p:nvSpPr>
          <p:spPr>
            <a:xfrm>
              <a:off x="4445281" y="3085725"/>
              <a:ext cx="32384" cy="309880"/>
            </a:xfrm>
            <a:custGeom>
              <a:avLst/>
              <a:gdLst/>
              <a:ahLst/>
              <a:cxnLst/>
              <a:rect l="l" t="t" r="r" b="b"/>
              <a:pathLst>
                <a:path w="32385" h="309879">
                  <a:moveTo>
                    <a:pt x="28955" y="309371"/>
                  </a:moveTo>
                  <a:lnTo>
                    <a:pt x="0" y="309371"/>
                  </a:lnTo>
                  <a:lnTo>
                    <a:pt x="3048" y="0"/>
                  </a:lnTo>
                  <a:lnTo>
                    <a:pt x="32003" y="0"/>
                  </a:lnTo>
                  <a:lnTo>
                    <a:pt x="28955" y="309371"/>
                  </a:lnTo>
                  <a:close/>
                </a:path>
              </a:pathLst>
            </a:custGeom>
            <a:solidFill>
              <a:srgbClr val="6264A7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8" name="object 40">
            <a:extLst>
              <a:ext uri="{FF2B5EF4-FFF2-40B4-BE49-F238E27FC236}">
                <a16:creationId xmlns:a16="http://schemas.microsoft.com/office/drawing/2014/main" id="{7082F532-F5AA-4E5B-B4AE-FDFBBFCA408F}"/>
              </a:ext>
            </a:extLst>
          </p:cNvPr>
          <p:cNvSpPr/>
          <p:nvPr/>
        </p:nvSpPr>
        <p:spPr>
          <a:xfrm>
            <a:off x="5606416" y="2819400"/>
            <a:ext cx="32384" cy="309880"/>
          </a:xfrm>
          <a:custGeom>
            <a:avLst/>
            <a:gdLst/>
            <a:ahLst/>
            <a:cxnLst/>
            <a:rect l="l" t="t" r="r" b="b"/>
            <a:pathLst>
              <a:path w="32385" h="309879">
                <a:moveTo>
                  <a:pt x="28955" y="309371"/>
                </a:moveTo>
                <a:lnTo>
                  <a:pt x="0" y="309371"/>
                </a:lnTo>
                <a:lnTo>
                  <a:pt x="3048" y="0"/>
                </a:lnTo>
                <a:lnTo>
                  <a:pt x="32003" y="0"/>
                </a:lnTo>
                <a:lnTo>
                  <a:pt x="28955" y="309371"/>
                </a:lnTo>
                <a:close/>
              </a:path>
            </a:pathLst>
          </a:custGeom>
          <a:solidFill>
            <a:srgbClr val="6264A7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31664" y="2234183"/>
            <a:ext cx="1452880" cy="748923"/>
          </a:xfrm>
          <a:prstGeom prst="rect">
            <a:avLst/>
          </a:prstGeom>
          <a:solidFill>
            <a:srgbClr val="E6E6E6"/>
          </a:solidFill>
        </p:spPr>
        <p:txBody>
          <a:bodyPr vert="horz" wrap="square" lIns="0" tIns="48260" rIns="0" bIns="0" rtlCol="0">
            <a:spAutoFit/>
          </a:bodyPr>
          <a:lstStyle/>
          <a:p>
            <a:pPr marL="120014" marR="0" lvl="0" indent="0" algn="l" defTabSz="914400" rtl="0" eaLnBrk="1" fontAlgn="auto" latinLnBrk="0" hangingPunct="1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5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/>
                <a:ea typeface="+mn-ea"/>
                <a:cs typeface="Gadugi"/>
              </a:rPr>
              <a:t>Consulte su historial de llamadas</a:t>
            </a:r>
            <a:endParaRPr kumimoji="0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dugi"/>
              <a:ea typeface="+mn-ea"/>
              <a:cs typeface="Gadugi"/>
            </a:endParaRPr>
          </a:p>
          <a:p>
            <a:pPr marL="120014" marR="107314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50" b="0" i="0" u="none" strike="noStrike" kern="1200" cap="none" spc="-5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Gadugi"/>
                <a:ea typeface="+mn-ea"/>
                <a:cs typeface="Gadugi"/>
              </a:rPr>
              <a:t>Acceda a las ultimas llamadas realizadas/recibidas y las perdidas</a:t>
            </a:r>
            <a:r>
              <a:rPr kumimoji="0" sz="650" b="0" i="0" u="none" strike="noStrike" kern="1200" cap="none" spc="-5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Gadugi"/>
                <a:ea typeface="+mn-ea"/>
                <a:cs typeface="Gadugi"/>
              </a:rPr>
              <a:t>.</a:t>
            </a:r>
            <a:endParaRPr kumimoji="0" lang="es-ES" sz="650" b="0" i="0" u="none" strike="noStrike" kern="1200" cap="none" spc="-5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Gadugi"/>
              <a:ea typeface="+mn-ea"/>
              <a:cs typeface="Gadugi"/>
            </a:endParaRPr>
          </a:p>
          <a:p>
            <a:pPr marL="120014" marR="107314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650" b="0" i="0" u="none" strike="noStrike" kern="1200" cap="none" spc="-5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Gadugi"/>
              <a:ea typeface="+mn-ea"/>
              <a:cs typeface="Gadugi"/>
            </a:endParaRPr>
          </a:p>
          <a:p>
            <a:pPr marL="120014" marR="107314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650" b="0" i="0" u="none" strike="noStrike" kern="1200" cap="none" spc="-5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Gadugi"/>
              <a:ea typeface="+mn-ea"/>
              <a:cs typeface="Gadugi"/>
            </a:endParaRPr>
          </a:p>
          <a:p>
            <a:pPr marL="120014" marR="107314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dugi"/>
              <a:ea typeface="+mn-ea"/>
              <a:cs typeface="Gadug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42532" y="2234183"/>
            <a:ext cx="1607820" cy="721351"/>
          </a:xfrm>
          <a:prstGeom prst="rect">
            <a:avLst/>
          </a:prstGeom>
          <a:solidFill>
            <a:srgbClr val="E6E6E6"/>
          </a:solidFill>
        </p:spPr>
        <p:txBody>
          <a:bodyPr vert="horz" wrap="square" lIns="0" tIns="43815" rIns="0" bIns="0" rtlCol="0">
            <a:spAutoFit/>
          </a:bodyPr>
          <a:lstStyle/>
          <a:p>
            <a:pPr marL="115570" marR="130175" lvl="0" indent="0" algn="l" defTabSz="914400" rtl="0" eaLnBrk="1" fontAlgn="auto" latinLnBrk="0" hangingPunct="1">
              <a:lnSpc>
                <a:spcPct val="100000"/>
              </a:lnSpc>
              <a:spcBef>
                <a:spcPts val="3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5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/>
                <a:ea typeface="+mn-ea"/>
                <a:cs typeface="Gadugi"/>
              </a:rPr>
              <a:t>Cree una nueva tarjeta de marcación rápida </a:t>
            </a:r>
            <a:r>
              <a:rPr kumimoji="0" sz="65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/>
                <a:ea typeface="+mn-ea"/>
                <a:cs typeface="Gadugi"/>
              </a:rPr>
              <a:t> </a:t>
            </a:r>
            <a:r>
              <a:rPr kumimoji="0" lang="es-ES" sz="650" b="0" i="0" u="none" strike="noStrike" kern="1200" cap="none" spc="-5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Gadugi"/>
                <a:ea typeface="+mn-ea"/>
                <a:cs typeface="Gadugi"/>
              </a:rPr>
              <a:t>Para aquellos contactos más frecuentes, cree una nueva tarjeta de marcación rápida</a:t>
            </a:r>
            <a:r>
              <a:rPr kumimoji="0" sz="650" b="0" i="0" u="none" strike="noStrike" kern="1200" cap="none" spc="-5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Gadugi"/>
                <a:ea typeface="+mn-ea"/>
                <a:cs typeface="Gadugi"/>
              </a:rPr>
              <a:t>.</a:t>
            </a:r>
            <a:endParaRPr kumimoji="0" lang="es-ES" sz="650" b="0" i="0" u="none" strike="noStrike" kern="1200" cap="none" spc="-5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Gadugi"/>
              <a:ea typeface="+mn-ea"/>
              <a:cs typeface="Gadugi"/>
            </a:endParaRPr>
          </a:p>
          <a:p>
            <a:pPr marL="115570" marR="130175" lvl="0" indent="0" algn="l" defTabSz="914400" rtl="0" eaLnBrk="1" fontAlgn="auto" latinLnBrk="0" hangingPunct="1">
              <a:lnSpc>
                <a:spcPct val="100000"/>
              </a:lnSpc>
              <a:spcBef>
                <a:spcPts val="3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650" b="0" i="0" u="none" strike="noStrike" kern="1200" cap="none" spc="-5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Gadugi"/>
              <a:ea typeface="+mn-ea"/>
              <a:cs typeface="Gadugi"/>
            </a:endParaRPr>
          </a:p>
          <a:p>
            <a:pPr marL="115570" marR="130175" lvl="0" indent="0" algn="l" defTabSz="914400" rtl="0" eaLnBrk="1" fontAlgn="auto" latinLnBrk="0" hangingPunct="1">
              <a:lnSpc>
                <a:spcPct val="100000"/>
              </a:lnSpc>
              <a:spcBef>
                <a:spcPts val="3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dugi"/>
              <a:ea typeface="+mn-ea"/>
              <a:cs typeface="Gadugi"/>
            </a:endParaRP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FE74E88E-6E44-4817-83E2-04C7567AAF43}"/>
              </a:ext>
            </a:extLst>
          </p:cNvPr>
          <p:cNvGrpSpPr/>
          <p:nvPr/>
        </p:nvGrpSpPr>
        <p:grpSpPr>
          <a:xfrm>
            <a:off x="8924305" y="2679700"/>
            <a:ext cx="38339" cy="992899"/>
            <a:chOff x="4441409" y="2909316"/>
            <a:chExt cx="38339" cy="992899"/>
          </a:xfrm>
        </p:grpSpPr>
        <p:sp>
          <p:nvSpPr>
            <p:cNvPr id="80" name="object 40">
              <a:extLst>
                <a:ext uri="{FF2B5EF4-FFF2-40B4-BE49-F238E27FC236}">
                  <a16:creationId xmlns:a16="http://schemas.microsoft.com/office/drawing/2014/main" id="{CD4164C2-0309-42EB-854C-9FFD3B9FC0E6}"/>
                </a:ext>
              </a:extLst>
            </p:cNvPr>
            <p:cNvSpPr/>
            <p:nvPr/>
          </p:nvSpPr>
          <p:spPr>
            <a:xfrm>
              <a:off x="4443790" y="3296920"/>
              <a:ext cx="32384" cy="309880"/>
            </a:xfrm>
            <a:custGeom>
              <a:avLst/>
              <a:gdLst/>
              <a:ahLst/>
              <a:cxnLst/>
              <a:rect l="l" t="t" r="r" b="b"/>
              <a:pathLst>
                <a:path w="32385" h="309879">
                  <a:moveTo>
                    <a:pt x="28955" y="309371"/>
                  </a:moveTo>
                  <a:lnTo>
                    <a:pt x="0" y="309371"/>
                  </a:lnTo>
                  <a:lnTo>
                    <a:pt x="3048" y="0"/>
                  </a:lnTo>
                  <a:lnTo>
                    <a:pt x="32003" y="0"/>
                  </a:lnTo>
                  <a:lnTo>
                    <a:pt x="28955" y="309371"/>
                  </a:lnTo>
                  <a:close/>
                </a:path>
              </a:pathLst>
            </a:custGeom>
            <a:solidFill>
              <a:srgbClr val="6264A7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1" name="object 22">
              <a:extLst>
                <a:ext uri="{FF2B5EF4-FFF2-40B4-BE49-F238E27FC236}">
                  <a16:creationId xmlns:a16="http://schemas.microsoft.com/office/drawing/2014/main" id="{2CD66606-76C6-4BDE-9843-8238D3414FB5}"/>
                </a:ext>
              </a:extLst>
            </p:cNvPr>
            <p:cNvSpPr/>
            <p:nvPr/>
          </p:nvSpPr>
          <p:spPr>
            <a:xfrm>
              <a:off x="4447364" y="2909316"/>
              <a:ext cx="32384" cy="289560"/>
            </a:xfrm>
            <a:custGeom>
              <a:avLst/>
              <a:gdLst/>
              <a:ahLst/>
              <a:cxnLst/>
              <a:rect l="l" t="t" r="r" b="b"/>
              <a:pathLst>
                <a:path w="32385" h="289560">
                  <a:moveTo>
                    <a:pt x="28955" y="289559"/>
                  </a:moveTo>
                  <a:lnTo>
                    <a:pt x="0" y="289559"/>
                  </a:lnTo>
                  <a:lnTo>
                    <a:pt x="3047" y="0"/>
                  </a:lnTo>
                  <a:lnTo>
                    <a:pt x="32003" y="0"/>
                  </a:lnTo>
                  <a:lnTo>
                    <a:pt x="28955" y="289559"/>
                  </a:lnTo>
                  <a:close/>
                </a:path>
              </a:pathLst>
            </a:custGeom>
            <a:solidFill>
              <a:srgbClr val="6264A7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2" name="object 40">
              <a:extLst>
                <a:ext uri="{FF2B5EF4-FFF2-40B4-BE49-F238E27FC236}">
                  <a16:creationId xmlns:a16="http://schemas.microsoft.com/office/drawing/2014/main" id="{AC5A3D11-3D7C-457E-8627-00BD353B8D8B}"/>
                </a:ext>
              </a:extLst>
            </p:cNvPr>
            <p:cNvSpPr/>
            <p:nvPr/>
          </p:nvSpPr>
          <p:spPr>
            <a:xfrm>
              <a:off x="4441409" y="3592335"/>
              <a:ext cx="32384" cy="309880"/>
            </a:xfrm>
            <a:custGeom>
              <a:avLst/>
              <a:gdLst/>
              <a:ahLst/>
              <a:cxnLst/>
              <a:rect l="l" t="t" r="r" b="b"/>
              <a:pathLst>
                <a:path w="32385" h="309879">
                  <a:moveTo>
                    <a:pt x="28955" y="309371"/>
                  </a:moveTo>
                  <a:lnTo>
                    <a:pt x="0" y="309371"/>
                  </a:lnTo>
                  <a:lnTo>
                    <a:pt x="3048" y="0"/>
                  </a:lnTo>
                  <a:lnTo>
                    <a:pt x="32003" y="0"/>
                  </a:lnTo>
                  <a:lnTo>
                    <a:pt x="28955" y="309371"/>
                  </a:lnTo>
                  <a:close/>
                </a:path>
              </a:pathLst>
            </a:custGeom>
            <a:solidFill>
              <a:srgbClr val="6264A7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3" name="object 40">
              <a:extLst>
                <a:ext uri="{FF2B5EF4-FFF2-40B4-BE49-F238E27FC236}">
                  <a16:creationId xmlns:a16="http://schemas.microsoft.com/office/drawing/2014/main" id="{A0537B56-1367-4BBB-A4BE-7B6E3394D31A}"/>
                </a:ext>
              </a:extLst>
            </p:cNvPr>
            <p:cNvSpPr/>
            <p:nvPr/>
          </p:nvSpPr>
          <p:spPr>
            <a:xfrm>
              <a:off x="4445281" y="3085725"/>
              <a:ext cx="32384" cy="309880"/>
            </a:xfrm>
            <a:custGeom>
              <a:avLst/>
              <a:gdLst/>
              <a:ahLst/>
              <a:cxnLst/>
              <a:rect l="l" t="t" r="r" b="b"/>
              <a:pathLst>
                <a:path w="32385" h="309879">
                  <a:moveTo>
                    <a:pt x="28955" y="309371"/>
                  </a:moveTo>
                  <a:lnTo>
                    <a:pt x="0" y="309371"/>
                  </a:lnTo>
                  <a:lnTo>
                    <a:pt x="3048" y="0"/>
                  </a:lnTo>
                  <a:lnTo>
                    <a:pt x="32003" y="0"/>
                  </a:lnTo>
                  <a:lnTo>
                    <a:pt x="28955" y="309371"/>
                  </a:lnTo>
                  <a:close/>
                </a:path>
              </a:pathLst>
            </a:custGeom>
            <a:solidFill>
              <a:srgbClr val="6264A7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308847" y="2234183"/>
            <a:ext cx="1503045" cy="671979"/>
          </a:xfrm>
          <a:prstGeom prst="rect">
            <a:avLst/>
          </a:prstGeom>
          <a:solidFill>
            <a:srgbClr val="E6E6E6"/>
          </a:solidFill>
        </p:spPr>
        <p:txBody>
          <a:bodyPr vert="horz" wrap="square" lIns="0" tIns="71120" rIns="0" bIns="0" rtlCol="0">
            <a:spAutoFit/>
          </a:bodyPr>
          <a:lstStyle/>
          <a:p>
            <a:pPr marL="123189" marR="142875" lvl="0" indent="0" algn="l" defTabSz="914400" rtl="0" eaLnBrk="1" fontAlgn="auto" latinLnBrk="0" hangingPunct="1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5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/>
                <a:ea typeface="+mn-ea"/>
                <a:cs typeface="Gadugi"/>
              </a:rPr>
              <a:t>Cree un grupo de contactos</a:t>
            </a:r>
            <a:endParaRPr kumimoji="0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dugi"/>
              <a:ea typeface="+mn-ea"/>
              <a:cs typeface="Gadugi"/>
            </a:endParaRPr>
          </a:p>
          <a:p>
            <a:pPr marL="123189" marR="23749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50" b="0" i="0" u="none" strike="noStrike" kern="1200" cap="none" spc="-5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Gadugi"/>
                <a:ea typeface="+mn-ea"/>
                <a:cs typeface="Gadugi"/>
              </a:rPr>
              <a:t>Agrupe a sus contactos en grupos para localizarlos fácilmente</a:t>
            </a:r>
            <a:r>
              <a:rPr kumimoji="0" sz="650" b="0" i="0" u="none" strike="noStrike" kern="1200" cap="none" spc="-5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Gadugi"/>
                <a:ea typeface="+mn-ea"/>
                <a:cs typeface="Gadugi"/>
              </a:rPr>
              <a:t>.</a:t>
            </a:r>
            <a:endParaRPr kumimoji="0" lang="es-ES" sz="650" b="0" i="0" u="none" strike="noStrike" kern="1200" cap="none" spc="-5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Gadugi"/>
              <a:ea typeface="+mn-ea"/>
              <a:cs typeface="Gadugi"/>
            </a:endParaRPr>
          </a:p>
          <a:p>
            <a:pPr marL="123189" marR="23749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650" b="0" i="0" u="none" strike="noStrike" kern="1200" cap="none" spc="-5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Gadugi"/>
              <a:ea typeface="+mn-ea"/>
              <a:cs typeface="Gadugi"/>
            </a:endParaRPr>
          </a:p>
          <a:p>
            <a:pPr marL="123189" marR="23749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650" b="0" i="0" u="none" strike="noStrike" kern="1200" cap="none" spc="-5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Gadugi"/>
              <a:ea typeface="+mn-ea"/>
              <a:cs typeface="Gadugi"/>
            </a:endParaRP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E09F8EDE-955E-4CD1-8112-3FAB499C5F58}"/>
              </a:ext>
            </a:extLst>
          </p:cNvPr>
          <p:cNvGrpSpPr/>
          <p:nvPr/>
        </p:nvGrpSpPr>
        <p:grpSpPr>
          <a:xfrm>
            <a:off x="6377066" y="5306823"/>
            <a:ext cx="38339" cy="992899"/>
            <a:chOff x="4441409" y="2909316"/>
            <a:chExt cx="38339" cy="992899"/>
          </a:xfrm>
        </p:grpSpPr>
        <p:sp>
          <p:nvSpPr>
            <p:cNvPr id="85" name="object 40">
              <a:extLst>
                <a:ext uri="{FF2B5EF4-FFF2-40B4-BE49-F238E27FC236}">
                  <a16:creationId xmlns:a16="http://schemas.microsoft.com/office/drawing/2014/main" id="{194C6BC5-08C1-4F16-9ED4-826EF981015A}"/>
                </a:ext>
              </a:extLst>
            </p:cNvPr>
            <p:cNvSpPr/>
            <p:nvPr/>
          </p:nvSpPr>
          <p:spPr>
            <a:xfrm>
              <a:off x="4443790" y="3296920"/>
              <a:ext cx="32384" cy="309880"/>
            </a:xfrm>
            <a:custGeom>
              <a:avLst/>
              <a:gdLst/>
              <a:ahLst/>
              <a:cxnLst/>
              <a:rect l="l" t="t" r="r" b="b"/>
              <a:pathLst>
                <a:path w="32385" h="309879">
                  <a:moveTo>
                    <a:pt x="28955" y="309371"/>
                  </a:moveTo>
                  <a:lnTo>
                    <a:pt x="0" y="309371"/>
                  </a:lnTo>
                  <a:lnTo>
                    <a:pt x="3048" y="0"/>
                  </a:lnTo>
                  <a:lnTo>
                    <a:pt x="32003" y="0"/>
                  </a:lnTo>
                  <a:lnTo>
                    <a:pt x="28955" y="309371"/>
                  </a:lnTo>
                  <a:close/>
                </a:path>
              </a:pathLst>
            </a:custGeom>
            <a:solidFill>
              <a:srgbClr val="6264A7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6" name="object 22">
              <a:extLst>
                <a:ext uri="{FF2B5EF4-FFF2-40B4-BE49-F238E27FC236}">
                  <a16:creationId xmlns:a16="http://schemas.microsoft.com/office/drawing/2014/main" id="{DC9FBFAE-6001-46C7-824F-2F4C84C22E41}"/>
                </a:ext>
              </a:extLst>
            </p:cNvPr>
            <p:cNvSpPr/>
            <p:nvPr/>
          </p:nvSpPr>
          <p:spPr>
            <a:xfrm>
              <a:off x="4447364" y="2909316"/>
              <a:ext cx="32384" cy="289560"/>
            </a:xfrm>
            <a:custGeom>
              <a:avLst/>
              <a:gdLst/>
              <a:ahLst/>
              <a:cxnLst/>
              <a:rect l="l" t="t" r="r" b="b"/>
              <a:pathLst>
                <a:path w="32385" h="289560">
                  <a:moveTo>
                    <a:pt x="28955" y="289559"/>
                  </a:moveTo>
                  <a:lnTo>
                    <a:pt x="0" y="289559"/>
                  </a:lnTo>
                  <a:lnTo>
                    <a:pt x="3047" y="0"/>
                  </a:lnTo>
                  <a:lnTo>
                    <a:pt x="32003" y="0"/>
                  </a:lnTo>
                  <a:lnTo>
                    <a:pt x="28955" y="289559"/>
                  </a:lnTo>
                  <a:close/>
                </a:path>
              </a:pathLst>
            </a:custGeom>
            <a:solidFill>
              <a:srgbClr val="6264A7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7" name="object 40">
              <a:extLst>
                <a:ext uri="{FF2B5EF4-FFF2-40B4-BE49-F238E27FC236}">
                  <a16:creationId xmlns:a16="http://schemas.microsoft.com/office/drawing/2014/main" id="{5329F912-3FF4-4989-B513-5E9AFF11C183}"/>
                </a:ext>
              </a:extLst>
            </p:cNvPr>
            <p:cNvSpPr/>
            <p:nvPr/>
          </p:nvSpPr>
          <p:spPr>
            <a:xfrm>
              <a:off x="4441409" y="3592335"/>
              <a:ext cx="32384" cy="309880"/>
            </a:xfrm>
            <a:custGeom>
              <a:avLst/>
              <a:gdLst/>
              <a:ahLst/>
              <a:cxnLst/>
              <a:rect l="l" t="t" r="r" b="b"/>
              <a:pathLst>
                <a:path w="32385" h="309879">
                  <a:moveTo>
                    <a:pt x="28955" y="309371"/>
                  </a:moveTo>
                  <a:lnTo>
                    <a:pt x="0" y="309371"/>
                  </a:lnTo>
                  <a:lnTo>
                    <a:pt x="3048" y="0"/>
                  </a:lnTo>
                  <a:lnTo>
                    <a:pt x="32003" y="0"/>
                  </a:lnTo>
                  <a:lnTo>
                    <a:pt x="28955" y="309371"/>
                  </a:lnTo>
                  <a:close/>
                </a:path>
              </a:pathLst>
            </a:custGeom>
            <a:solidFill>
              <a:srgbClr val="6264A7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8" name="object 40">
              <a:extLst>
                <a:ext uri="{FF2B5EF4-FFF2-40B4-BE49-F238E27FC236}">
                  <a16:creationId xmlns:a16="http://schemas.microsoft.com/office/drawing/2014/main" id="{9BFCB7CB-E12A-49BF-818C-378921788C23}"/>
                </a:ext>
              </a:extLst>
            </p:cNvPr>
            <p:cNvSpPr/>
            <p:nvPr/>
          </p:nvSpPr>
          <p:spPr>
            <a:xfrm>
              <a:off x="4445281" y="3085725"/>
              <a:ext cx="32384" cy="309880"/>
            </a:xfrm>
            <a:custGeom>
              <a:avLst/>
              <a:gdLst/>
              <a:ahLst/>
              <a:cxnLst/>
              <a:rect l="l" t="t" r="r" b="b"/>
              <a:pathLst>
                <a:path w="32385" h="309879">
                  <a:moveTo>
                    <a:pt x="28955" y="309371"/>
                  </a:moveTo>
                  <a:lnTo>
                    <a:pt x="0" y="309371"/>
                  </a:lnTo>
                  <a:lnTo>
                    <a:pt x="3048" y="0"/>
                  </a:lnTo>
                  <a:lnTo>
                    <a:pt x="32003" y="0"/>
                  </a:lnTo>
                  <a:lnTo>
                    <a:pt x="28955" y="309371"/>
                  </a:lnTo>
                  <a:close/>
                </a:path>
              </a:pathLst>
            </a:custGeom>
            <a:solidFill>
              <a:srgbClr val="6264A7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9" name="object 48">
            <a:extLst>
              <a:ext uri="{FF2B5EF4-FFF2-40B4-BE49-F238E27FC236}">
                <a16:creationId xmlns:a16="http://schemas.microsoft.com/office/drawing/2014/main" id="{6155A691-EE09-4C14-AA8A-D9891246BE6B}"/>
              </a:ext>
            </a:extLst>
          </p:cNvPr>
          <p:cNvSpPr/>
          <p:nvPr/>
        </p:nvSpPr>
        <p:spPr>
          <a:xfrm>
            <a:off x="6149340" y="6269991"/>
            <a:ext cx="247015" cy="29209"/>
          </a:xfrm>
          <a:custGeom>
            <a:avLst/>
            <a:gdLst/>
            <a:ahLst/>
            <a:cxnLst/>
            <a:rect l="l" t="t" r="r" b="b"/>
            <a:pathLst>
              <a:path w="247014" h="29209">
                <a:moveTo>
                  <a:pt x="0" y="28956"/>
                </a:moveTo>
                <a:lnTo>
                  <a:pt x="246887" y="28956"/>
                </a:lnTo>
                <a:lnTo>
                  <a:pt x="246887" y="0"/>
                </a:lnTo>
                <a:lnTo>
                  <a:pt x="0" y="0"/>
                </a:lnTo>
                <a:lnTo>
                  <a:pt x="0" y="28956"/>
                </a:lnTo>
                <a:close/>
              </a:path>
            </a:pathLst>
          </a:custGeom>
          <a:solidFill>
            <a:srgbClr val="6264A7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53100" y="5181600"/>
            <a:ext cx="1481455" cy="476412"/>
          </a:xfrm>
          <a:prstGeom prst="rect">
            <a:avLst/>
          </a:prstGeom>
          <a:solidFill>
            <a:srgbClr val="E6E6E6"/>
          </a:solidFill>
        </p:spPr>
        <p:txBody>
          <a:bodyPr vert="horz" wrap="square" lIns="0" tIns="75565" rIns="0" bIns="0" rtlCol="0">
            <a:spAutoFit/>
          </a:bodyPr>
          <a:lstStyle/>
          <a:p>
            <a:pPr marL="90805" marR="0" lvl="0" indent="0" algn="l" defTabSz="914400" rtl="0" eaLnBrk="1" fontAlgn="auto" latinLnBrk="0" hangingPunct="1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5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/>
                <a:ea typeface="+mn-ea"/>
                <a:cs typeface="Gadugi"/>
              </a:rPr>
              <a:t>Seleccione uno de sus contactos</a:t>
            </a:r>
            <a:endParaRPr kumimoji="0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dugi"/>
              <a:ea typeface="+mn-ea"/>
              <a:cs typeface="Gadugi"/>
            </a:endParaRPr>
          </a:p>
          <a:p>
            <a:pPr marL="90805" marR="24765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50" b="0" i="0" u="none" strike="noStrike" kern="1200" cap="none" spc="-5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Gadugi"/>
                <a:ea typeface="+mn-ea"/>
                <a:cs typeface="Gadugi"/>
              </a:rPr>
              <a:t>Seleccione el icono del teléfono para llamar a uno de sus contactos</a:t>
            </a:r>
            <a:r>
              <a:rPr kumimoji="0" sz="650" b="0" i="0" u="none" strike="noStrike" kern="1200" cap="none" spc="-5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Gadugi"/>
                <a:ea typeface="+mn-ea"/>
                <a:cs typeface="Gadugi"/>
              </a:rPr>
              <a:t>.</a:t>
            </a:r>
            <a:endParaRPr kumimoji="0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dugi"/>
              <a:ea typeface="+mn-ea"/>
              <a:cs typeface="Gadugi"/>
            </a:endParaRPr>
          </a:p>
        </p:txBody>
      </p:sp>
    </p:spTree>
    <p:extLst>
      <p:ext uri="{BB962C8B-B14F-4D97-AF65-F5344CB8AC3E}">
        <p14:creationId xmlns:p14="http://schemas.microsoft.com/office/powerpoint/2010/main" val="607079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5C6EFA2B-4907-4B55-A4C4-33FD201AE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400" y="5257800"/>
            <a:ext cx="3202325" cy="240715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7496855-E083-46FC-BB21-360CCC4BC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25" y="1161842"/>
            <a:ext cx="3076571" cy="228684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5012435" y="1149095"/>
            <a:ext cx="0" cy="6172200"/>
          </a:xfrm>
          <a:custGeom>
            <a:avLst/>
            <a:gdLst/>
            <a:ahLst/>
            <a:cxnLst/>
            <a:rect l="l" t="t" r="r" b="b"/>
            <a:pathLst>
              <a:path h="6172200">
                <a:moveTo>
                  <a:pt x="0" y="0"/>
                </a:moveTo>
                <a:lnTo>
                  <a:pt x="0" y="6172200"/>
                </a:lnTo>
              </a:path>
            </a:pathLst>
          </a:custGeom>
          <a:ln w="4572">
            <a:solidFill>
              <a:srgbClr val="505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162798" y="1044580"/>
            <a:ext cx="2542015" cy="10252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lang="es-ES" sz="2800" b="0" spc="-5" dirty="0">
                <a:solidFill>
                  <a:srgbClr val="6264A7"/>
                </a:solidFill>
                <a:latin typeface="Segoe UI Light"/>
                <a:cs typeface="Segoe UI Light"/>
              </a:rPr>
              <a:t>Crear un Grupo de Contactos</a:t>
            </a:r>
            <a:endParaRPr sz="2800" dirty="0">
              <a:latin typeface="Segoe UI Light"/>
              <a:cs typeface="Segoe UI Ligh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65630" algn="l"/>
              </a:tabLst>
            </a:pPr>
            <a:endParaRPr lang="es-ES" sz="900" spc="-10" dirty="0">
              <a:latin typeface="Gadug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0"/>
            <a:ext cx="10058400" cy="909955"/>
          </a:xfrm>
          <a:custGeom>
            <a:avLst/>
            <a:gdLst/>
            <a:ahLst/>
            <a:cxnLst/>
            <a:rect l="l" t="t" r="r" b="b"/>
            <a:pathLst>
              <a:path w="10058400" h="909955">
                <a:moveTo>
                  <a:pt x="10058400" y="909827"/>
                </a:moveTo>
                <a:lnTo>
                  <a:pt x="0" y="909827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909827"/>
                </a:lnTo>
                <a:close/>
              </a:path>
            </a:pathLst>
          </a:custGeom>
          <a:solidFill>
            <a:srgbClr val="6264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26674" y="141183"/>
            <a:ext cx="8383926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Microsoft</a:t>
            </a:r>
            <a:r>
              <a:rPr spc="-35" dirty="0"/>
              <a:t> </a:t>
            </a:r>
            <a:r>
              <a:rPr spc="-95" dirty="0"/>
              <a:t>Teams</a:t>
            </a:r>
            <a:r>
              <a:rPr lang="es-ES" spc="-95" dirty="0"/>
              <a:t> - Llamadas </a:t>
            </a:r>
            <a:endParaRPr spc="-95" dirty="0"/>
          </a:p>
        </p:txBody>
      </p:sp>
      <p:sp>
        <p:nvSpPr>
          <p:cNvPr id="10" name="object 10"/>
          <p:cNvSpPr txBox="1"/>
          <p:nvPr/>
        </p:nvSpPr>
        <p:spPr>
          <a:xfrm>
            <a:off x="2286005" y="1189728"/>
            <a:ext cx="4177699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606550">
              <a:lnSpc>
                <a:spcPct val="100000"/>
              </a:lnSpc>
              <a:spcBef>
                <a:spcPts val="95"/>
              </a:spcBef>
            </a:pPr>
            <a:r>
              <a:rPr lang="es-ES" sz="2800" b="0" spc="-10" dirty="0">
                <a:solidFill>
                  <a:srgbClr val="6264A7"/>
                </a:solidFill>
                <a:latin typeface="Segoe UI Light"/>
                <a:cs typeface="Segoe UI Light"/>
              </a:rPr>
              <a:t>Agregar una marcación rápida</a:t>
            </a:r>
            <a:endParaRPr sz="2800" dirty="0">
              <a:latin typeface="Segoe UI Light"/>
              <a:cs typeface="Segoe UI Light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806B252-16F3-42F6-8C53-12D5B09583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25" y="3411377"/>
            <a:ext cx="2073157" cy="114774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F0EF3A0-B69C-4019-AC33-B0C1FEF0D7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7800" y="3923259"/>
            <a:ext cx="2064698" cy="1147748"/>
          </a:xfrm>
          <a:prstGeom prst="rect">
            <a:avLst/>
          </a:prstGeom>
        </p:spPr>
      </p:pic>
      <p:pic>
        <p:nvPicPr>
          <p:cNvPr id="16" name="Content Placeholder 5">
            <a:extLst>
              <a:ext uri="{FF2B5EF4-FFF2-40B4-BE49-F238E27FC236}">
                <a16:creationId xmlns:a16="http://schemas.microsoft.com/office/drawing/2014/main" id="{B879DC59-245B-4192-9754-DA6FC61552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0159" y="4559125"/>
            <a:ext cx="2045119" cy="113101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2C9EF7C-6FA9-4600-A5C3-F54BFD1AFA8B}"/>
              </a:ext>
            </a:extLst>
          </p:cNvPr>
          <p:cNvSpPr/>
          <p:nvPr/>
        </p:nvSpPr>
        <p:spPr>
          <a:xfrm>
            <a:off x="3242918" y="2263754"/>
            <a:ext cx="152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545"/>
              </a:spcBef>
              <a:tabLst>
                <a:tab pos="1647825" algn="l"/>
                <a:tab pos="2419985" algn="l"/>
                <a:tab pos="2612390" algn="l"/>
              </a:tabLst>
            </a:pPr>
            <a:r>
              <a:rPr lang="es-ES" sz="900" spc="-10" dirty="0">
                <a:latin typeface="Gadugi"/>
              </a:rPr>
              <a:t>Configure su vista de Marcación Rápida con los contactos frecuentes. Para ello acceda a la vista de Marcación Rápida y siga los siguientes pasos: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B115BDD-89B9-4DB5-A2B3-2247909B9C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396" y="5453900"/>
            <a:ext cx="3960045" cy="1929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39BD4D-3826-45E5-9A7F-06CD5A72CD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05909" y="1124567"/>
            <a:ext cx="1729516" cy="215660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7BC2963-12AC-4522-9D80-61CDAD9074E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3200" y="2514600"/>
            <a:ext cx="3276595" cy="1412383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F135B46B-2276-4F2A-AEBF-558251309929}"/>
              </a:ext>
            </a:extLst>
          </p:cNvPr>
          <p:cNvSpPr/>
          <p:nvPr/>
        </p:nvSpPr>
        <p:spPr>
          <a:xfrm>
            <a:off x="6935425" y="1956463"/>
            <a:ext cx="305344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545"/>
              </a:spcBef>
              <a:tabLst>
                <a:tab pos="1647825" algn="l"/>
                <a:tab pos="2419985" algn="l"/>
                <a:tab pos="2612390" algn="l"/>
              </a:tabLst>
            </a:pPr>
            <a:r>
              <a:rPr lang="es-ES" sz="900" spc="-10" dirty="0">
                <a:latin typeface="Gadugi"/>
              </a:rPr>
              <a:t>Un grupo de Contactos le proporciona un contenedor para que Ud. organice sus contactos. Un mismo Contacto puede estar en más de un grupo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13CA124-DBF5-4ED6-8AB5-2F518E0B4A3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61549" y="3510803"/>
            <a:ext cx="2796851" cy="114870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A05B221-FE97-4A75-BE2F-2D135C6C886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41528" y="4038600"/>
            <a:ext cx="2550264" cy="108672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1F614F1-3042-4E33-9FA2-89AD12D974E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58292" y="4492198"/>
            <a:ext cx="2667000" cy="115956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0CFC946-29AA-4873-9BF9-E63753CFDD2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72273" y="5335600"/>
            <a:ext cx="2375401" cy="10242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6570" y="1084656"/>
            <a:ext cx="4269227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ES" sz="2800" b="0" spc="-5" dirty="0">
                <a:solidFill>
                  <a:srgbClr val="6264A7"/>
                </a:solidFill>
                <a:latin typeface="Segoe UI Light"/>
                <a:cs typeface="Segoe UI Light"/>
              </a:rPr>
              <a:t>Llame a un Número de Teléfono</a:t>
            </a:r>
            <a:endParaRPr sz="2800" dirty="0">
              <a:latin typeface="Segoe UI Light"/>
              <a:cs typeface="Segoe U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0382" y="2057400"/>
            <a:ext cx="4446905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65630" algn="l"/>
              </a:tabLst>
            </a:pPr>
            <a:r>
              <a:rPr lang="es-ES" sz="900" dirty="0">
                <a:latin typeface="Gadugi"/>
                <a:cs typeface="Gadugi"/>
              </a:rPr>
              <a:t>Presione la barra de Marcar un número</a:t>
            </a:r>
            <a:r>
              <a:rPr lang="es-ES" sz="900" spc="-10" dirty="0">
                <a:latin typeface="Gadugi"/>
                <a:cs typeface="Gadugi"/>
              </a:rPr>
              <a:t> y tendrá acceso a la ventana de marcación. Si es un número local no será necesario introducir el código de país. Puede llamar a un número móvil o a un numero Fijo. La persona recibe la llamada en su dispositivo.  </a:t>
            </a:r>
            <a:r>
              <a:rPr lang="es-ES" sz="900" spc="-10" dirty="0">
                <a:latin typeface="Gadugi"/>
              </a:rPr>
              <a:t> </a:t>
            </a:r>
            <a:endParaRPr sz="900" spc="-10" dirty="0">
              <a:latin typeface="Gadug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012435" y="1231391"/>
            <a:ext cx="0" cy="6172200"/>
          </a:xfrm>
          <a:custGeom>
            <a:avLst/>
            <a:gdLst/>
            <a:ahLst/>
            <a:cxnLst/>
            <a:rect l="l" t="t" r="r" b="b"/>
            <a:pathLst>
              <a:path h="6172200">
                <a:moveTo>
                  <a:pt x="0" y="0"/>
                </a:moveTo>
                <a:lnTo>
                  <a:pt x="0" y="6172200"/>
                </a:lnTo>
              </a:path>
            </a:pathLst>
          </a:custGeom>
          <a:ln w="4572">
            <a:solidFill>
              <a:srgbClr val="505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226780" y="1084656"/>
            <a:ext cx="4755418" cy="160236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798830">
              <a:lnSpc>
                <a:spcPct val="100000"/>
              </a:lnSpc>
              <a:spcBef>
                <a:spcPts val="95"/>
              </a:spcBef>
            </a:pPr>
            <a:r>
              <a:rPr lang="es-ES" sz="2800" spc="-5" dirty="0">
                <a:solidFill>
                  <a:srgbClr val="6264A7"/>
                </a:solidFill>
                <a:latin typeface="Segoe UI Light"/>
                <a:cs typeface="Segoe UI Light"/>
              </a:rPr>
              <a:t>Su experiencia en Teams</a:t>
            </a:r>
            <a:endParaRPr lang="es-ES" sz="2800" dirty="0">
              <a:latin typeface="Segoe UI Light"/>
              <a:cs typeface="Segoe UI Ligh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65630" algn="l"/>
              </a:tabLst>
            </a:pPr>
            <a:endParaRPr lang="es-ES" sz="900" dirty="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65630" algn="l"/>
              </a:tabLst>
            </a:pPr>
            <a:r>
              <a:rPr lang="es-ES" sz="900" dirty="0">
                <a:latin typeface="Gadugi"/>
                <a:cs typeface="Gadugi"/>
              </a:rPr>
              <a:t>Ud. Tiene asignado un número de teléfono para recibir las llamadas que se realicen desde un dispositivo telefónico a su cuenta de Teams. El número 913 91 97 10 es el numero que el usuario de este ejemplo tiene asignado. Vaya a su ventana de marcación para conocer cual él el numero que Ud. tiene asignado.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65630" algn="l"/>
              </a:tabLst>
            </a:pPr>
            <a:endParaRPr lang="es-ES" sz="900" dirty="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65630" algn="l"/>
              </a:tabLst>
            </a:pPr>
            <a:r>
              <a:rPr lang="es-ES" sz="900" spc="-10" dirty="0">
                <a:latin typeface="Gadugi"/>
              </a:rPr>
              <a:t>Aquí vemos como se recibe una llamada telefónica en su aplicación de Teams, y contesta la llamada desde Teams. </a:t>
            </a:r>
          </a:p>
        </p:txBody>
      </p:sp>
      <p:sp>
        <p:nvSpPr>
          <p:cNvPr id="11" name="object 11"/>
          <p:cNvSpPr/>
          <p:nvPr/>
        </p:nvSpPr>
        <p:spPr>
          <a:xfrm>
            <a:off x="0" y="0"/>
            <a:ext cx="10058400" cy="914400"/>
          </a:xfrm>
          <a:custGeom>
            <a:avLst/>
            <a:gdLst/>
            <a:ahLst/>
            <a:cxnLst/>
            <a:rect l="l" t="t" r="r" b="b"/>
            <a:pathLst>
              <a:path w="10058400" h="914400">
                <a:moveTo>
                  <a:pt x="10058400" y="914400"/>
                </a:moveTo>
                <a:lnTo>
                  <a:pt x="0" y="9144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914400"/>
                </a:lnTo>
                <a:close/>
              </a:path>
            </a:pathLst>
          </a:custGeom>
          <a:solidFill>
            <a:srgbClr val="6264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26674" y="145891"/>
            <a:ext cx="7774326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Microsoft</a:t>
            </a:r>
            <a:r>
              <a:rPr spc="-35" dirty="0"/>
              <a:t> </a:t>
            </a:r>
            <a:r>
              <a:rPr spc="-95" dirty="0"/>
              <a:t>Teams</a:t>
            </a:r>
            <a:r>
              <a:rPr lang="es-ES" spc="-95" dirty="0"/>
              <a:t> - Llamadas </a:t>
            </a:r>
            <a:endParaRPr spc="-95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FF4092C-7590-4767-B0EA-B9BB92577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637" y="2802168"/>
            <a:ext cx="2872923" cy="122718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209A487-2B92-4886-BEBF-153F0A09C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5488" y="4162865"/>
            <a:ext cx="3272603" cy="322072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EA0FA200-A33F-4442-8F2F-E65A866C57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4912" y="2939440"/>
            <a:ext cx="2895600" cy="158764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B3235AD-CD6C-4557-8B60-7B93DF0BB5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7338" y="4802590"/>
            <a:ext cx="2808154" cy="2581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FEFF88D-2BEC-4CCA-A37F-505C2D00D9ED}"/>
              </a:ext>
            </a:extLst>
          </p:cNvPr>
          <p:cNvSpPr/>
          <p:nvPr/>
        </p:nvSpPr>
        <p:spPr>
          <a:xfrm>
            <a:off x="2667000" y="4267200"/>
            <a:ext cx="12192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12435" y="1149095"/>
            <a:ext cx="0" cy="6172200"/>
          </a:xfrm>
          <a:custGeom>
            <a:avLst/>
            <a:gdLst/>
            <a:ahLst/>
            <a:cxnLst/>
            <a:rect l="l" t="t" r="r" b="b"/>
            <a:pathLst>
              <a:path h="6172200">
                <a:moveTo>
                  <a:pt x="0" y="0"/>
                </a:moveTo>
                <a:lnTo>
                  <a:pt x="0" y="6172200"/>
                </a:lnTo>
              </a:path>
            </a:pathLst>
          </a:custGeom>
          <a:ln w="4572">
            <a:solidFill>
              <a:srgbClr val="505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0" y="0"/>
            <a:ext cx="10058400" cy="909955"/>
          </a:xfrm>
          <a:custGeom>
            <a:avLst/>
            <a:gdLst/>
            <a:ahLst/>
            <a:cxnLst/>
            <a:rect l="l" t="t" r="r" b="b"/>
            <a:pathLst>
              <a:path w="10058400" h="909955">
                <a:moveTo>
                  <a:pt x="10058400" y="909827"/>
                </a:moveTo>
                <a:lnTo>
                  <a:pt x="0" y="909827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909827"/>
                </a:lnTo>
                <a:close/>
              </a:path>
            </a:pathLst>
          </a:custGeom>
          <a:solidFill>
            <a:srgbClr val="6264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26674" y="141183"/>
            <a:ext cx="8231523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Microsoft</a:t>
            </a:r>
            <a:r>
              <a:rPr spc="-35" dirty="0"/>
              <a:t> </a:t>
            </a:r>
            <a:r>
              <a:rPr spc="-95" dirty="0"/>
              <a:t>Teams</a:t>
            </a:r>
            <a:r>
              <a:rPr lang="es-ES" spc="-95" dirty="0"/>
              <a:t> - Llamadas </a:t>
            </a:r>
            <a:endParaRPr spc="-95" dirty="0"/>
          </a:p>
        </p:txBody>
      </p:sp>
      <p:sp>
        <p:nvSpPr>
          <p:cNvPr id="10" name="object 10"/>
          <p:cNvSpPr txBox="1"/>
          <p:nvPr/>
        </p:nvSpPr>
        <p:spPr>
          <a:xfrm>
            <a:off x="5334000" y="1174470"/>
            <a:ext cx="4130040" cy="126380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ES" sz="2800" b="0" spc="-5" dirty="0">
                <a:solidFill>
                  <a:srgbClr val="6264A7"/>
                </a:solidFill>
                <a:latin typeface="Segoe UI Light"/>
                <a:cs typeface="Segoe UI Light"/>
              </a:rPr>
              <a:t>Ver el historial de llamadas</a:t>
            </a:r>
            <a:endParaRPr sz="2800" dirty="0">
              <a:latin typeface="Segoe UI Light"/>
              <a:cs typeface="Segoe UI Light"/>
            </a:endParaRPr>
          </a:p>
          <a:p>
            <a:pPr marL="12700" marR="5080">
              <a:lnSpc>
                <a:spcPct val="100000"/>
              </a:lnSpc>
              <a:spcBef>
                <a:spcPts val="545"/>
              </a:spcBef>
              <a:tabLst>
                <a:tab pos="1647825" algn="l"/>
                <a:tab pos="2419985" algn="l"/>
                <a:tab pos="2612390" algn="l"/>
              </a:tabLst>
            </a:pPr>
            <a:r>
              <a:rPr lang="es-ES" sz="900" dirty="0">
                <a:latin typeface="Gadugi"/>
                <a:cs typeface="Gadugi"/>
              </a:rPr>
              <a:t>Acceda a la vista de Historial de Llamadas </a:t>
            </a:r>
            <a:r>
              <a:rPr lang="es-ES" sz="900" spc="-10" dirty="0">
                <a:latin typeface="Gadugi"/>
              </a:rPr>
              <a:t>para visualizar la lista de llamadas entrantes y/o salientes, recibidas y/o realizadas desde su aplicación de Teams. </a:t>
            </a:r>
          </a:p>
          <a:p>
            <a:pPr marL="12700" marR="5080">
              <a:lnSpc>
                <a:spcPct val="100000"/>
              </a:lnSpc>
              <a:spcBef>
                <a:spcPts val="545"/>
              </a:spcBef>
              <a:tabLst>
                <a:tab pos="1647825" algn="l"/>
                <a:tab pos="2419985" algn="l"/>
                <a:tab pos="2612390" algn="l"/>
              </a:tabLst>
            </a:pPr>
            <a:r>
              <a:rPr lang="es-ES" sz="900" spc="-10" dirty="0">
                <a:latin typeface="Gadugi"/>
                <a:cs typeface="Gadugi"/>
              </a:rPr>
              <a:t>Se mostrarán en este historial tanto aquellas llamadas que se hayan realizado entre personas usando la función de llamadas de la propia aplicación de Teams, o las que procedan o se hayan realizado a un dispositivo telefónico. </a:t>
            </a:r>
            <a:endParaRPr lang="es-ES" sz="900" dirty="0">
              <a:latin typeface="Gadugi"/>
              <a:cs typeface="Gadugi"/>
            </a:endParaRPr>
          </a:p>
        </p:txBody>
      </p:sp>
      <p:sp>
        <p:nvSpPr>
          <p:cNvPr id="22" name="object 11">
            <a:extLst>
              <a:ext uri="{FF2B5EF4-FFF2-40B4-BE49-F238E27FC236}">
                <a16:creationId xmlns:a16="http://schemas.microsoft.com/office/drawing/2014/main" id="{CA1153C5-16B4-469F-B82E-E194B5D31665}"/>
              </a:ext>
            </a:extLst>
          </p:cNvPr>
          <p:cNvSpPr txBox="1"/>
          <p:nvPr/>
        </p:nvSpPr>
        <p:spPr>
          <a:xfrm>
            <a:off x="381000" y="1174470"/>
            <a:ext cx="4396105" cy="7841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ES" sz="2800" b="0" spc="5" dirty="0">
                <a:solidFill>
                  <a:srgbClr val="6264A7"/>
                </a:solidFill>
                <a:latin typeface="Segoe UI Light"/>
                <a:cs typeface="Segoe UI Light"/>
              </a:rPr>
              <a:t>Visualice todos sus contactos</a:t>
            </a:r>
            <a:endParaRPr sz="2800" dirty="0">
              <a:latin typeface="Segoe UI Light"/>
              <a:cs typeface="Segoe UI Light"/>
            </a:endParaRPr>
          </a:p>
          <a:p>
            <a:pPr marL="12700" marR="5080">
              <a:lnSpc>
                <a:spcPct val="100000"/>
              </a:lnSpc>
              <a:spcBef>
                <a:spcPts val="545"/>
              </a:spcBef>
              <a:tabLst>
                <a:tab pos="1647825" algn="l"/>
                <a:tab pos="2419985" algn="l"/>
                <a:tab pos="2612390" algn="l"/>
              </a:tabLst>
            </a:pPr>
            <a:r>
              <a:rPr lang="es-ES" sz="900" dirty="0">
                <a:latin typeface="Gadugi"/>
                <a:cs typeface="Gadugi"/>
              </a:rPr>
              <a:t>Acceda a la vista de Contactos </a:t>
            </a:r>
            <a:r>
              <a:rPr lang="es-ES" sz="900" spc="-10" dirty="0">
                <a:latin typeface="Gadugi"/>
              </a:rPr>
              <a:t>para visualizar todos los contactos que tiene configurados, y agregue los contactos que sean relevantes para UD</a:t>
            </a:r>
            <a:endParaRPr lang="es-ES" sz="900" dirty="0">
              <a:latin typeface="Gadugi"/>
              <a:cs typeface="Gadug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FF5E0E-7C81-438C-AB9C-F00DD5E58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700" y="2927020"/>
            <a:ext cx="4108376" cy="2057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D302DE-7539-420C-8750-314168050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3452" y="2946070"/>
            <a:ext cx="4105988" cy="20682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7748CAC-10C6-414A-9393-87A3F681D3E8}"/>
              </a:ext>
            </a:extLst>
          </p:cNvPr>
          <p:cNvSpPr/>
          <p:nvPr/>
        </p:nvSpPr>
        <p:spPr>
          <a:xfrm>
            <a:off x="623886" y="3276600"/>
            <a:ext cx="900114" cy="1389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15748B-4FF9-443E-B328-5AF834885420}"/>
              </a:ext>
            </a:extLst>
          </p:cNvPr>
          <p:cNvSpPr/>
          <p:nvPr/>
        </p:nvSpPr>
        <p:spPr>
          <a:xfrm>
            <a:off x="3976686" y="3195638"/>
            <a:ext cx="533400" cy="2151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73366F-4D2A-41F9-8FEF-32B6E9D2DEC3}"/>
              </a:ext>
            </a:extLst>
          </p:cNvPr>
          <p:cNvSpPr/>
          <p:nvPr/>
        </p:nvSpPr>
        <p:spPr>
          <a:xfrm>
            <a:off x="5570537" y="3394069"/>
            <a:ext cx="900114" cy="1389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32818C63CE54D439B42EC74C61157FE" ma:contentTypeVersion="3" ma:contentTypeDescription="Crear nuevo documento." ma:contentTypeScope="" ma:versionID="c5a206be431b1be13dec1241fa393594">
  <xsd:schema xmlns:xsd="http://www.w3.org/2001/XMLSchema" xmlns:xs="http://www.w3.org/2001/XMLSchema" xmlns:p="http://schemas.microsoft.com/office/2006/metadata/properties" xmlns:ns2="9b8059df-6b05-48aa-841f-cb80de20a8d0" targetNamespace="http://schemas.microsoft.com/office/2006/metadata/properties" ma:root="true" ma:fieldsID="574eeb3673dfba1b8d0b8f6ff69914bd" ns2:_="">
    <xsd:import namespace="9b8059df-6b05-48aa-841f-cb80de20a8d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8059df-6b05-48aa-841f-cb80de20a8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23D5903-6D01-4BE6-897D-BCC42AC455E4}"/>
</file>

<file path=customXml/itemProps2.xml><?xml version="1.0" encoding="utf-8"?>
<ds:datastoreItem xmlns:ds="http://schemas.openxmlformats.org/officeDocument/2006/customXml" ds:itemID="{84A72D3F-51CB-485C-BA2C-44C010619B4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9B98ED-038C-41E9-9FDE-BA60A801D63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d1ff812d-06ed-4f86-a136-4ff592f9c03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</TotalTime>
  <Words>544</Words>
  <Application>Microsoft Office PowerPoint</Application>
  <PresentationFormat>Custom</PresentationFormat>
  <Paragraphs>42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Calibri</vt:lpstr>
      <vt:lpstr>Segoe UI Light</vt:lpstr>
      <vt:lpstr>Gadugi</vt:lpstr>
      <vt:lpstr>Times New Roman</vt:lpstr>
      <vt:lpstr>Arial</vt:lpstr>
      <vt:lpstr>Office Theme</vt:lpstr>
      <vt:lpstr>Microsoft Teams - Llamadas </vt:lpstr>
      <vt:lpstr>Microsoft Teams - Llamadas </vt:lpstr>
      <vt:lpstr>Microsoft Teams - Llamadas </vt:lpstr>
      <vt:lpstr>Microsoft Teams - Llamadas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Teams QS.pptx</dc:title>
  <dc:creator>v-yuhlu</dc:creator>
  <cp:lastModifiedBy>Nancy Poppi</cp:lastModifiedBy>
  <cp:revision>1</cp:revision>
  <dcterms:created xsi:type="dcterms:W3CDTF">2020-01-23T01:37:55Z</dcterms:created>
  <dcterms:modified xsi:type="dcterms:W3CDTF">2020-04-02T09:52:52Z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2018-10-26T00:00:00Z</vt:filetime>
  </property>
  <property fmtid="{D5CDD505-2E9C-101B-9397-08002B2CF9AE}" pid="3" name="LastSaved">
    <vt:filetime>2020-01-23T00:00:00Z</vt:filetime>
  </property>
  <property fmtid="{D5CDD505-2E9C-101B-9397-08002B2CF9AE}" pid="4" name="MSIP_Label_f42aa342-8706-4288-bd11-ebb85995028c_Enabled">
    <vt:lpwstr>True</vt:lpwstr>
  </property>
  <property fmtid="{D5CDD505-2E9C-101B-9397-08002B2CF9AE}" pid="5" name="MSIP_Label_f42aa342-8706-4288-bd11-ebb85995028c_SiteId">
    <vt:lpwstr>72f988bf-86f1-41af-91ab-2d7cd011db47</vt:lpwstr>
  </property>
  <property fmtid="{D5CDD505-2E9C-101B-9397-08002B2CF9AE}" pid="6" name="MSIP_Label_f42aa342-8706-4288-bd11-ebb85995028c_Owner">
    <vt:lpwstr>napoppi@microsoft.com</vt:lpwstr>
  </property>
  <property fmtid="{D5CDD505-2E9C-101B-9397-08002B2CF9AE}" pid="7" name="MSIP_Label_f42aa342-8706-4288-bd11-ebb85995028c_SetDate">
    <vt:lpwstr>2020-02-22T17:03:13.6513766Z</vt:lpwstr>
  </property>
  <property fmtid="{D5CDD505-2E9C-101B-9397-08002B2CF9AE}" pid="8" name="MSIP_Label_f42aa342-8706-4288-bd11-ebb85995028c_Name">
    <vt:lpwstr>General</vt:lpwstr>
  </property>
  <property fmtid="{D5CDD505-2E9C-101B-9397-08002B2CF9AE}" pid="9" name="MSIP_Label_f42aa342-8706-4288-bd11-ebb85995028c_Application">
    <vt:lpwstr>Microsoft Azure Information Protection</vt:lpwstr>
  </property>
  <property fmtid="{D5CDD505-2E9C-101B-9397-08002B2CF9AE}" pid="10" name="MSIP_Label_f42aa342-8706-4288-bd11-ebb85995028c_ActionId">
    <vt:lpwstr>828b6f44-2d14-43c2-951e-56f66d760c86</vt:lpwstr>
  </property>
  <property fmtid="{D5CDD505-2E9C-101B-9397-08002B2CF9AE}" pid="11" name="MSIP_Label_f42aa342-8706-4288-bd11-ebb85995028c_Extended_MSFT_Method">
    <vt:lpwstr>Automatic</vt:lpwstr>
  </property>
  <property fmtid="{D5CDD505-2E9C-101B-9397-08002B2CF9AE}" pid="12" name="Sensitivity">
    <vt:lpwstr>General</vt:lpwstr>
  </property>
  <property fmtid="{D5CDD505-2E9C-101B-9397-08002B2CF9AE}" pid="13" name="ContentTypeId">
    <vt:lpwstr>0x010100732818C63CE54D439B42EC74C61157FE</vt:lpwstr>
  </property>
</Properties>
</file>