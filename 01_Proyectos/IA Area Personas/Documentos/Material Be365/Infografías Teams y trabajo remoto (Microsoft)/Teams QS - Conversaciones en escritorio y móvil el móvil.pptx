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sldIdLst>
    <p:sldId id="271" r:id="rId5"/>
    <p:sldId id="272" r:id="rId6"/>
    <p:sldId id="266" r:id="rId7"/>
    <p:sldId id="267" r:id="rId8"/>
    <p:sldId id="268" r:id="rId9"/>
    <p:sldId id="269" r:id="rId10"/>
  </p:sldIdLst>
  <p:sldSz cx="13817600" cy="7772400"/>
  <p:notesSz cx="10058400" cy="7772400"/>
  <p:embeddedFontLs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Gadugi" panose="020B0502040204020203" pitchFamily="34" charset="0"/>
      <p:regular r:id="rId15"/>
      <p:bold r:id="rId16"/>
    </p:embeddedFont>
    <p:embeddedFont>
      <p:font typeface="Segoe UI" panose="020B0502040204020203" pitchFamily="34" charset="0"/>
      <p:regular r:id="rId17"/>
      <p:bold r:id="rId18"/>
      <p:italic r:id="rId19"/>
      <p:boldItalic r:id="rId20"/>
    </p:embeddedFont>
  </p:embeddedFont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96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264A7"/>
    <a:srgbClr val="2E2D2D"/>
    <a:srgbClr val="313030"/>
    <a:srgbClr val="3334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55A7E9-95EC-4B16-B3BF-0703BA6C4916}" v="72" dt="2020-03-17T18:15:21.222"/>
    <p1510:client id="{A1670F40-E5E4-49AF-9D30-6AEAACFC0D4D}" v="3" dt="2020-03-18T08:29:15.496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778" autoAdjust="0"/>
    <p:restoredTop sz="96041" autoAdjust="0"/>
  </p:normalViewPr>
  <p:slideViewPr>
    <p:cSldViewPr>
      <p:cViewPr varScale="1">
        <p:scale>
          <a:sx n="81" d="100"/>
          <a:sy n="81" d="100"/>
        </p:scale>
        <p:origin x="48" y="81"/>
      </p:cViewPr>
      <p:guideLst>
        <p:guide orient="horz" pos="2880"/>
        <p:guide pos="296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font" Target="fonts/font1.fntdata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font" Target="fonts/font5.fntdata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font" Target="fonts/font9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4.fntdata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3817600" cy="914400"/>
          </a:xfrm>
          <a:custGeom>
            <a:avLst/>
            <a:gdLst/>
            <a:ahLst/>
            <a:cxnLst/>
            <a:rect l="l" t="t" r="r" b="b"/>
            <a:pathLst>
              <a:path w="10058400" h="914400">
                <a:moveTo>
                  <a:pt x="10058400" y="914400"/>
                </a:moveTo>
                <a:lnTo>
                  <a:pt x="0" y="9144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914400"/>
                </a:lnTo>
                <a:close/>
              </a:path>
            </a:pathLst>
          </a:custGeom>
          <a:solidFill>
            <a:srgbClr val="6264A7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11391" y="147378"/>
            <a:ext cx="13194818" cy="635000"/>
          </a:xfrm>
          <a:prstGeom prst="rect">
            <a:avLst/>
          </a:prstGeom>
        </p:spPr>
        <p:txBody>
          <a:bodyPr lIns="0" tIns="0" rIns="0" bIns="0"/>
          <a:lstStyle>
            <a:lvl1pPr>
              <a:defRPr sz="4000" b="0" i="0">
                <a:solidFill>
                  <a:schemeClr val="bg1"/>
                </a:solidFill>
                <a:latin typeface="Gadugi"/>
                <a:cs typeface="Gadugi"/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>
        <a:defRPr>
          <a:latin typeface="Segoe UI" panose="020B0502040204020203" pitchFamily="34" charset="0"/>
          <a:ea typeface="+mj-ea"/>
          <a:cs typeface="Segoe UI" panose="020B0502040204020203" pitchFamily="34" charset="0"/>
        </a:defRPr>
      </a:lvl1pPr>
    </p:titleStyle>
    <p:bodyStyle>
      <a:lvl1pPr marL="0">
        <a:defRPr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DB3F57D-41DC-461A-B6CB-42C08B02BC3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86155" y="2173581"/>
            <a:ext cx="8940489" cy="502412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" name="object 2"/>
          <p:cNvSpPr txBox="1"/>
          <p:nvPr/>
        </p:nvSpPr>
        <p:spPr>
          <a:xfrm>
            <a:off x="311391" y="979897"/>
            <a:ext cx="11474209" cy="870110"/>
          </a:xfrm>
          <a:prstGeom prst="rect">
            <a:avLst/>
          </a:prstGeom>
        </p:spPr>
        <p:txBody>
          <a:bodyPr vert="horz" wrap="square" lIns="0" tIns="158115" rIns="0" bIns="0" rtlCol="0">
            <a:spAutoFit/>
          </a:bodyPr>
          <a:lstStyle/>
          <a:p>
            <a:pPr marL="12700">
              <a:spcBef>
                <a:spcPts val="1245"/>
              </a:spcBef>
            </a:pPr>
            <a:r>
              <a:rPr lang="en-US" sz="2800" spc="-5">
                <a:solidFill>
                  <a:srgbClr val="6264A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Mueve la conversación a Teams</a:t>
            </a:r>
          </a:p>
          <a:p>
            <a:pPr marL="12700">
              <a:spcBef>
                <a:spcPts val="525"/>
              </a:spcBef>
            </a:pPr>
            <a:r>
              <a:rPr lang="es-ES" sz="1400" spc="-10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Ni un hilo de correo electrónico más para mantener una conversación</a:t>
            </a:r>
            <a:endParaRPr lang="es-ES" sz="14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11391" y="147378"/>
            <a:ext cx="13194818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lang="es-ES" sz="3600" spc="-10">
                <a:latin typeface="Segoe UI" panose="020B0502040204020203" pitchFamily="34" charset="0"/>
                <a:cs typeface="Segoe UI" panose="020B0502040204020203" pitchFamily="34" charset="0"/>
              </a:rPr>
              <a:t>Microsoft</a:t>
            </a:r>
            <a:r>
              <a:rPr lang="es-ES" sz="3600" spc="-35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s-ES" sz="3600" spc="-95">
                <a:latin typeface="Segoe UI" panose="020B0502040204020203" pitchFamily="34" charset="0"/>
                <a:cs typeface="Segoe UI" panose="020B0502040204020203" pitchFamily="34" charset="0"/>
              </a:rPr>
              <a:t>Teams – conversaciones</a:t>
            </a:r>
            <a:endParaRPr sz="3600" spc="-95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4D3EA663-228D-4BFA-911E-96F13E3FBD9E}"/>
              </a:ext>
            </a:extLst>
          </p:cNvPr>
          <p:cNvCxnSpPr>
            <a:cxnSpLocks/>
          </p:cNvCxnSpPr>
          <p:nvPr/>
        </p:nvCxnSpPr>
        <p:spPr>
          <a:xfrm flipH="1">
            <a:off x="6575004" y="5784481"/>
            <a:ext cx="5439196" cy="0"/>
          </a:xfrm>
          <a:prstGeom prst="line">
            <a:avLst/>
          </a:prstGeom>
          <a:ln w="38100">
            <a:solidFill>
              <a:srgbClr val="6264A7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A1FDA119-A496-4FCE-8BAA-A6606D161B9B}"/>
              </a:ext>
            </a:extLst>
          </p:cNvPr>
          <p:cNvCxnSpPr>
            <a:cxnSpLocks/>
          </p:cNvCxnSpPr>
          <p:nvPr/>
        </p:nvCxnSpPr>
        <p:spPr>
          <a:xfrm>
            <a:off x="5286483" y="2514600"/>
            <a:ext cx="1469917" cy="0"/>
          </a:xfrm>
          <a:prstGeom prst="line">
            <a:avLst/>
          </a:prstGeom>
          <a:ln w="38100">
            <a:solidFill>
              <a:srgbClr val="6264A7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6EC0547-BB6C-42B1-AB8B-1382FE0DF5AA}"/>
              </a:ext>
            </a:extLst>
          </p:cNvPr>
          <p:cNvCxnSpPr>
            <a:cxnSpLocks/>
          </p:cNvCxnSpPr>
          <p:nvPr/>
        </p:nvCxnSpPr>
        <p:spPr>
          <a:xfrm>
            <a:off x="1651000" y="3276600"/>
            <a:ext cx="733004" cy="0"/>
          </a:xfrm>
          <a:prstGeom prst="line">
            <a:avLst/>
          </a:prstGeom>
          <a:ln w="38100">
            <a:solidFill>
              <a:srgbClr val="6264A7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bject 4">
            <a:extLst>
              <a:ext uri="{FF2B5EF4-FFF2-40B4-BE49-F238E27FC236}">
                <a16:creationId xmlns:a16="http://schemas.microsoft.com/office/drawing/2014/main" id="{345D6627-4884-423C-BF89-745FE7676378}"/>
              </a:ext>
            </a:extLst>
          </p:cNvPr>
          <p:cNvSpPr/>
          <p:nvPr/>
        </p:nvSpPr>
        <p:spPr>
          <a:xfrm>
            <a:off x="12395200" y="183446"/>
            <a:ext cx="1331975" cy="59893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251F80D-4E93-43FB-B598-2E07FD151E68}"/>
              </a:ext>
            </a:extLst>
          </p:cNvPr>
          <p:cNvCxnSpPr>
            <a:cxnSpLocks/>
          </p:cNvCxnSpPr>
          <p:nvPr/>
        </p:nvCxnSpPr>
        <p:spPr>
          <a:xfrm flipV="1">
            <a:off x="1669895" y="2819400"/>
            <a:ext cx="0" cy="457200"/>
          </a:xfrm>
          <a:prstGeom prst="line">
            <a:avLst/>
          </a:prstGeom>
          <a:ln w="38100">
            <a:solidFill>
              <a:srgbClr val="6264A7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BAA9A9C-060D-4C44-B6BF-8CD69C9AE9CD}"/>
              </a:ext>
            </a:extLst>
          </p:cNvPr>
          <p:cNvCxnSpPr>
            <a:cxnSpLocks/>
          </p:cNvCxnSpPr>
          <p:nvPr/>
        </p:nvCxnSpPr>
        <p:spPr>
          <a:xfrm>
            <a:off x="1879600" y="2971800"/>
            <a:ext cx="4695404" cy="0"/>
          </a:xfrm>
          <a:prstGeom prst="line">
            <a:avLst/>
          </a:prstGeom>
          <a:ln w="38100">
            <a:solidFill>
              <a:srgbClr val="6264A7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bject 13">
            <a:extLst>
              <a:ext uri="{FF2B5EF4-FFF2-40B4-BE49-F238E27FC236}">
                <a16:creationId xmlns:a16="http://schemas.microsoft.com/office/drawing/2014/main" id="{0E14605E-EDE9-4F5F-AC4F-1D07EB5A9C09}"/>
              </a:ext>
            </a:extLst>
          </p:cNvPr>
          <p:cNvSpPr txBox="1"/>
          <p:nvPr/>
        </p:nvSpPr>
        <p:spPr>
          <a:xfrm>
            <a:off x="106316" y="2356682"/>
            <a:ext cx="1909233" cy="767518"/>
          </a:xfrm>
          <a:custGeom>
            <a:avLst/>
            <a:gdLst>
              <a:gd name="connsiteX0" fmla="*/ 0 w 1263650"/>
              <a:gd name="connsiteY0" fmla="*/ 0 h 782907"/>
              <a:gd name="connsiteX1" fmla="*/ 1263650 w 1263650"/>
              <a:gd name="connsiteY1" fmla="*/ 0 h 782907"/>
              <a:gd name="connsiteX2" fmla="*/ 1263650 w 1263650"/>
              <a:gd name="connsiteY2" fmla="*/ 782907 h 782907"/>
              <a:gd name="connsiteX3" fmla="*/ 0 w 1263650"/>
              <a:gd name="connsiteY3" fmla="*/ 782907 h 782907"/>
              <a:gd name="connsiteX4" fmla="*/ 0 w 1263650"/>
              <a:gd name="connsiteY4" fmla="*/ 0 h 782907"/>
              <a:gd name="connsiteX0" fmla="*/ 0 w 1266828"/>
              <a:gd name="connsiteY0" fmla="*/ 0 h 782907"/>
              <a:gd name="connsiteX1" fmla="*/ 1263650 w 1266828"/>
              <a:gd name="connsiteY1" fmla="*/ 0 h 782907"/>
              <a:gd name="connsiteX2" fmla="*/ 1266828 w 1266828"/>
              <a:gd name="connsiteY2" fmla="*/ 188254 h 782907"/>
              <a:gd name="connsiteX3" fmla="*/ 1263650 w 1266828"/>
              <a:gd name="connsiteY3" fmla="*/ 782907 h 782907"/>
              <a:gd name="connsiteX4" fmla="*/ 0 w 1266828"/>
              <a:gd name="connsiteY4" fmla="*/ 782907 h 782907"/>
              <a:gd name="connsiteX5" fmla="*/ 0 w 1266828"/>
              <a:gd name="connsiteY5" fmla="*/ 0 h 782907"/>
              <a:gd name="connsiteX0" fmla="*/ 3172 w 1270000"/>
              <a:gd name="connsiteY0" fmla="*/ 0 h 782907"/>
              <a:gd name="connsiteX1" fmla="*/ 1266822 w 1270000"/>
              <a:gd name="connsiteY1" fmla="*/ 0 h 782907"/>
              <a:gd name="connsiteX2" fmla="*/ 1270000 w 1270000"/>
              <a:gd name="connsiteY2" fmla="*/ 188254 h 782907"/>
              <a:gd name="connsiteX3" fmla="*/ 1266822 w 1270000"/>
              <a:gd name="connsiteY3" fmla="*/ 782907 h 782907"/>
              <a:gd name="connsiteX4" fmla="*/ 3172 w 1270000"/>
              <a:gd name="connsiteY4" fmla="*/ 782907 h 782907"/>
              <a:gd name="connsiteX5" fmla="*/ 0 w 1270000"/>
              <a:gd name="connsiteY5" fmla="*/ 509987 h 782907"/>
              <a:gd name="connsiteX6" fmla="*/ 3172 w 1270000"/>
              <a:gd name="connsiteY6" fmla="*/ 0 h 782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70000" h="782907">
                <a:moveTo>
                  <a:pt x="3172" y="0"/>
                </a:moveTo>
                <a:lnTo>
                  <a:pt x="1266822" y="0"/>
                </a:lnTo>
                <a:cubicBezTo>
                  <a:pt x="1267881" y="62751"/>
                  <a:pt x="1268941" y="125503"/>
                  <a:pt x="1270000" y="188254"/>
                </a:cubicBezTo>
                <a:cubicBezTo>
                  <a:pt x="1268941" y="386472"/>
                  <a:pt x="1267881" y="584689"/>
                  <a:pt x="1266822" y="782907"/>
                </a:cubicBezTo>
                <a:lnTo>
                  <a:pt x="3172" y="782907"/>
                </a:lnTo>
                <a:cubicBezTo>
                  <a:pt x="2115" y="691934"/>
                  <a:pt x="1057" y="600960"/>
                  <a:pt x="0" y="509987"/>
                </a:cubicBezTo>
                <a:cubicBezTo>
                  <a:pt x="1057" y="339991"/>
                  <a:pt x="2115" y="169996"/>
                  <a:pt x="3172" y="0"/>
                </a:cubicBezTo>
                <a:close/>
              </a:path>
            </a:pathLst>
          </a:custGeom>
          <a:solidFill>
            <a:srgbClr val="E6E6E6"/>
          </a:solidFill>
        </p:spPr>
        <p:txBody>
          <a:bodyPr vert="horz" wrap="square" lIns="0" tIns="43815" rIns="0" bIns="0" rtlCol="0">
            <a:spAutoFit/>
          </a:bodyPr>
          <a:lstStyle/>
          <a:p>
            <a:pPr marL="109220" marR="140335">
              <a:spcBef>
                <a:spcPts val="345"/>
              </a:spcBef>
            </a:pPr>
            <a:r>
              <a:rPr lang="es-ES" sz="900" b="1" spc="-5">
                <a:latin typeface="Segoe UI" panose="020B0502040204020203" pitchFamily="34" charset="0"/>
                <a:cs typeface="Segoe UI" panose="020B0502040204020203" pitchFamily="34" charset="0"/>
              </a:rPr>
              <a:t>Tipos de conversaciones</a:t>
            </a:r>
          </a:p>
          <a:p>
            <a:pPr marL="109220" marR="140335">
              <a:spcBef>
                <a:spcPts val="345"/>
              </a:spcBef>
            </a:pPr>
            <a:r>
              <a:rPr lang="es-ES" sz="900" spc="-5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Teams tiene dos tipos de conversaciones: el muro de canal (posts) y el chat entre personas</a:t>
            </a:r>
          </a:p>
          <a:p>
            <a:pPr marL="109220" marR="140335">
              <a:spcBef>
                <a:spcPts val="345"/>
              </a:spcBef>
            </a:pPr>
            <a:endParaRPr lang="es-ES" sz="600" spc="-5">
              <a:solidFill>
                <a:srgbClr val="50505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9ACD990-5F8C-420D-BF9B-74198716537D}"/>
              </a:ext>
            </a:extLst>
          </p:cNvPr>
          <p:cNvCxnSpPr>
            <a:cxnSpLocks/>
          </p:cNvCxnSpPr>
          <p:nvPr/>
        </p:nvCxnSpPr>
        <p:spPr>
          <a:xfrm flipV="1">
            <a:off x="12408972" y="4669417"/>
            <a:ext cx="0" cy="2036183"/>
          </a:xfrm>
          <a:prstGeom prst="line">
            <a:avLst/>
          </a:prstGeom>
          <a:ln w="38100">
            <a:solidFill>
              <a:srgbClr val="6264A7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bject 13">
            <a:extLst>
              <a:ext uri="{FF2B5EF4-FFF2-40B4-BE49-F238E27FC236}">
                <a16:creationId xmlns:a16="http://schemas.microsoft.com/office/drawing/2014/main" id="{9922486C-5543-494C-B9FC-8D0D684C049B}"/>
              </a:ext>
            </a:extLst>
          </p:cNvPr>
          <p:cNvSpPr txBox="1"/>
          <p:nvPr/>
        </p:nvSpPr>
        <p:spPr>
          <a:xfrm>
            <a:off x="11785600" y="5356305"/>
            <a:ext cx="1912808" cy="906017"/>
          </a:xfrm>
          <a:custGeom>
            <a:avLst/>
            <a:gdLst>
              <a:gd name="connsiteX0" fmla="*/ 0 w 1263650"/>
              <a:gd name="connsiteY0" fmla="*/ 0 h 782907"/>
              <a:gd name="connsiteX1" fmla="*/ 1263650 w 1263650"/>
              <a:gd name="connsiteY1" fmla="*/ 0 h 782907"/>
              <a:gd name="connsiteX2" fmla="*/ 1263650 w 1263650"/>
              <a:gd name="connsiteY2" fmla="*/ 782907 h 782907"/>
              <a:gd name="connsiteX3" fmla="*/ 0 w 1263650"/>
              <a:gd name="connsiteY3" fmla="*/ 782907 h 782907"/>
              <a:gd name="connsiteX4" fmla="*/ 0 w 1263650"/>
              <a:gd name="connsiteY4" fmla="*/ 0 h 782907"/>
              <a:gd name="connsiteX0" fmla="*/ 0 w 1266828"/>
              <a:gd name="connsiteY0" fmla="*/ 0 h 782907"/>
              <a:gd name="connsiteX1" fmla="*/ 1263650 w 1266828"/>
              <a:gd name="connsiteY1" fmla="*/ 0 h 782907"/>
              <a:gd name="connsiteX2" fmla="*/ 1266828 w 1266828"/>
              <a:gd name="connsiteY2" fmla="*/ 188254 h 782907"/>
              <a:gd name="connsiteX3" fmla="*/ 1263650 w 1266828"/>
              <a:gd name="connsiteY3" fmla="*/ 782907 h 782907"/>
              <a:gd name="connsiteX4" fmla="*/ 0 w 1266828"/>
              <a:gd name="connsiteY4" fmla="*/ 782907 h 782907"/>
              <a:gd name="connsiteX5" fmla="*/ 0 w 1266828"/>
              <a:gd name="connsiteY5" fmla="*/ 0 h 782907"/>
              <a:gd name="connsiteX0" fmla="*/ 3172 w 1270000"/>
              <a:gd name="connsiteY0" fmla="*/ 0 h 782907"/>
              <a:gd name="connsiteX1" fmla="*/ 1266822 w 1270000"/>
              <a:gd name="connsiteY1" fmla="*/ 0 h 782907"/>
              <a:gd name="connsiteX2" fmla="*/ 1270000 w 1270000"/>
              <a:gd name="connsiteY2" fmla="*/ 188254 h 782907"/>
              <a:gd name="connsiteX3" fmla="*/ 1266822 w 1270000"/>
              <a:gd name="connsiteY3" fmla="*/ 782907 h 782907"/>
              <a:gd name="connsiteX4" fmla="*/ 3172 w 1270000"/>
              <a:gd name="connsiteY4" fmla="*/ 782907 h 782907"/>
              <a:gd name="connsiteX5" fmla="*/ 0 w 1270000"/>
              <a:gd name="connsiteY5" fmla="*/ 509987 h 782907"/>
              <a:gd name="connsiteX6" fmla="*/ 3172 w 1270000"/>
              <a:gd name="connsiteY6" fmla="*/ 0 h 782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70000" h="782907">
                <a:moveTo>
                  <a:pt x="3172" y="0"/>
                </a:moveTo>
                <a:lnTo>
                  <a:pt x="1266822" y="0"/>
                </a:lnTo>
                <a:cubicBezTo>
                  <a:pt x="1267881" y="62751"/>
                  <a:pt x="1268941" y="125503"/>
                  <a:pt x="1270000" y="188254"/>
                </a:cubicBezTo>
                <a:cubicBezTo>
                  <a:pt x="1268941" y="386472"/>
                  <a:pt x="1267881" y="584689"/>
                  <a:pt x="1266822" y="782907"/>
                </a:cubicBezTo>
                <a:lnTo>
                  <a:pt x="3172" y="782907"/>
                </a:lnTo>
                <a:cubicBezTo>
                  <a:pt x="2115" y="691934"/>
                  <a:pt x="1057" y="600960"/>
                  <a:pt x="0" y="509987"/>
                </a:cubicBezTo>
                <a:cubicBezTo>
                  <a:pt x="1057" y="339991"/>
                  <a:pt x="2115" y="169996"/>
                  <a:pt x="3172" y="0"/>
                </a:cubicBezTo>
                <a:close/>
              </a:path>
            </a:pathLst>
          </a:custGeom>
          <a:solidFill>
            <a:srgbClr val="E6E6E6"/>
          </a:solidFill>
        </p:spPr>
        <p:txBody>
          <a:bodyPr vert="horz" wrap="square" lIns="0" tIns="43815" rIns="0" bIns="0" rtlCol="0">
            <a:spAutoFit/>
          </a:bodyPr>
          <a:lstStyle/>
          <a:p>
            <a:pPr marL="109220" marR="140335">
              <a:spcBef>
                <a:spcPts val="345"/>
              </a:spcBef>
            </a:pPr>
            <a:r>
              <a:rPr lang="es-ES" sz="900" b="1" spc="-5">
                <a:latin typeface="Segoe UI" panose="020B0502040204020203" pitchFamily="34" charset="0"/>
                <a:cs typeface="Segoe UI" panose="020B0502040204020203" pitchFamily="34" charset="0"/>
              </a:rPr>
              <a:t>Buena práctica	</a:t>
            </a:r>
          </a:p>
          <a:p>
            <a:pPr marL="109220" marR="140335">
              <a:spcBef>
                <a:spcPts val="345"/>
              </a:spcBef>
            </a:pPr>
            <a:r>
              <a:rPr lang="es-ES" sz="900" spc="-5">
                <a:solidFill>
                  <a:srgbClr val="505050"/>
                </a:solidFill>
                <a:latin typeface="Gadugi"/>
                <a:cs typeface="Gadugi"/>
              </a:rPr>
              <a:t>Es fácil equivocarse e iniciar un hilo nuevo cuando en realidad se está respondiendo a alguien. Ojo, ¡usa el botón de responder!</a:t>
            </a:r>
          </a:p>
          <a:p>
            <a:pPr marL="109220" marR="140335">
              <a:spcBef>
                <a:spcPts val="345"/>
              </a:spcBef>
            </a:pPr>
            <a:endParaRPr lang="es-ES" sz="600" spc="-5">
              <a:solidFill>
                <a:srgbClr val="50505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3" name="object 13">
            <a:extLst>
              <a:ext uri="{FF2B5EF4-FFF2-40B4-BE49-F238E27FC236}">
                <a16:creationId xmlns:a16="http://schemas.microsoft.com/office/drawing/2014/main" id="{7CFB04DE-818F-4189-9FD7-7700F57F397E}"/>
              </a:ext>
            </a:extLst>
          </p:cNvPr>
          <p:cNvSpPr txBox="1"/>
          <p:nvPr/>
        </p:nvSpPr>
        <p:spPr>
          <a:xfrm>
            <a:off x="11531445" y="3759301"/>
            <a:ext cx="1912808" cy="1044517"/>
          </a:xfrm>
          <a:custGeom>
            <a:avLst/>
            <a:gdLst>
              <a:gd name="connsiteX0" fmla="*/ 0 w 1263650"/>
              <a:gd name="connsiteY0" fmla="*/ 0 h 782907"/>
              <a:gd name="connsiteX1" fmla="*/ 1263650 w 1263650"/>
              <a:gd name="connsiteY1" fmla="*/ 0 h 782907"/>
              <a:gd name="connsiteX2" fmla="*/ 1263650 w 1263650"/>
              <a:gd name="connsiteY2" fmla="*/ 782907 h 782907"/>
              <a:gd name="connsiteX3" fmla="*/ 0 w 1263650"/>
              <a:gd name="connsiteY3" fmla="*/ 782907 h 782907"/>
              <a:gd name="connsiteX4" fmla="*/ 0 w 1263650"/>
              <a:gd name="connsiteY4" fmla="*/ 0 h 782907"/>
              <a:gd name="connsiteX0" fmla="*/ 0 w 1266828"/>
              <a:gd name="connsiteY0" fmla="*/ 0 h 782907"/>
              <a:gd name="connsiteX1" fmla="*/ 1263650 w 1266828"/>
              <a:gd name="connsiteY1" fmla="*/ 0 h 782907"/>
              <a:gd name="connsiteX2" fmla="*/ 1266828 w 1266828"/>
              <a:gd name="connsiteY2" fmla="*/ 188254 h 782907"/>
              <a:gd name="connsiteX3" fmla="*/ 1263650 w 1266828"/>
              <a:gd name="connsiteY3" fmla="*/ 782907 h 782907"/>
              <a:gd name="connsiteX4" fmla="*/ 0 w 1266828"/>
              <a:gd name="connsiteY4" fmla="*/ 782907 h 782907"/>
              <a:gd name="connsiteX5" fmla="*/ 0 w 1266828"/>
              <a:gd name="connsiteY5" fmla="*/ 0 h 782907"/>
              <a:gd name="connsiteX0" fmla="*/ 3172 w 1270000"/>
              <a:gd name="connsiteY0" fmla="*/ 0 h 782907"/>
              <a:gd name="connsiteX1" fmla="*/ 1266822 w 1270000"/>
              <a:gd name="connsiteY1" fmla="*/ 0 h 782907"/>
              <a:gd name="connsiteX2" fmla="*/ 1270000 w 1270000"/>
              <a:gd name="connsiteY2" fmla="*/ 188254 h 782907"/>
              <a:gd name="connsiteX3" fmla="*/ 1266822 w 1270000"/>
              <a:gd name="connsiteY3" fmla="*/ 782907 h 782907"/>
              <a:gd name="connsiteX4" fmla="*/ 3172 w 1270000"/>
              <a:gd name="connsiteY4" fmla="*/ 782907 h 782907"/>
              <a:gd name="connsiteX5" fmla="*/ 0 w 1270000"/>
              <a:gd name="connsiteY5" fmla="*/ 509987 h 782907"/>
              <a:gd name="connsiteX6" fmla="*/ 3172 w 1270000"/>
              <a:gd name="connsiteY6" fmla="*/ 0 h 782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70000" h="782907">
                <a:moveTo>
                  <a:pt x="3172" y="0"/>
                </a:moveTo>
                <a:lnTo>
                  <a:pt x="1266822" y="0"/>
                </a:lnTo>
                <a:cubicBezTo>
                  <a:pt x="1267881" y="62751"/>
                  <a:pt x="1268941" y="125503"/>
                  <a:pt x="1270000" y="188254"/>
                </a:cubicBezTo>
                <a:cubicBezTo>
                  <a:pt x="1268941" y="386472"/>
                  <a:pt x="1267881" y="584689"/>
                  <a:pt x="1266822" y="782907"/>
                </a:cubicBezTo>
                <a:lnTo>
                  <a:pt x="3172" y="782907"/>
                </a:lnTo>
                <a:cubicBezTo>
                  <a:pt x="2115" y="691934"/>
                  <a:pt x="1057" y="600960"/>
                  <a:pt x="0" y="509987"/>
                </a:cubicBezTo>
                <a:cubicBezTo>
                  <a:pt x="1057" y="339991"/>
                  <a:pt x="2115" y="169996"/>
                  <a:pt x="3172" y="0"/>
                </a:cubicBezTo>
                <a:close/>
              </a:path>
            </a:pathLst>
          </a:custGeom>
          <a:solidFill>
            <a:srgbClr val="E6E6E6"/>
          </a:solidFill>
        </p:spPr>
        <p:txBody>
          <a:bodyPr vert="horz" wrap="square" lIns="0" tIns="43815" rIns="0" bIns="0" rtlCol="0">
            <a:spAutoFit/>
          </a:bodyPr>
          <a:lstStyle/>
          <a:p>
            <a:pPr marL="109220" marR="140335">
              <a:spcBef>
                <a:spcPts val="345"/>
              </a:spcBef>
            </a:pPr>
            <a:r>
              <a:rPr lang="es-ES" sz="900" b="1" spc="-5">
                <a:latin typeface="Segoe UI" panose="020B0502040204020203" pitchFamily="34" charset="0"/>
                <a:cs typeface="Segoe UI" panose="020B0502040204020203" pitchFamily="34" charset="0"/>
              </a:rPr>
              <a:t>Responder vs. Nueva conversación</a:t>
            </a:r>
          </a:p>
          <a:p>
            <a:pPr marL="109220" marR="140335">
              <a:spcBef>
                <a:spcPts val="345"/>
              </a:spcBef>
            </a:pPr>
            <a:r>
              <a:rPr lang="es-ES" sz="900" spc="-5">
                <a:solidFill>
                  <a:srgbClr val="505050"/>
                </a:solidFill>
                <a:latin typeface="Gadugi"/>
                <a:cs typeface="Gadugi"/>
              </a:rPr>
              <a:t>La conversación a nivel de de canal es jerárquica. Se puede responder a un mensaje anterior o crear uno nuevo.</a:t>
            </a:r>
          </a:p>
          <a:p>
            <a:pPr marL="109220" marR="140335">
              <a:spcBef>
                <a:spcPts val="345"/>
              </a:spcBef>
            </a:pPr>
            <a:endParaRPr lang="es-ES" sz="600" spc="-5">
              <a:solidFill>
                <a:srgbClr val="50505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CBC592E-BA9F-445D-A9FF-54EA7F5B3E44}"/>
              </a:ext>
            </a:extLst>
          </p:cNvPr>
          <p:cNvCxnSpPr>
            <a:cxnSpLocks/>
          </p:cNvCxnSpPr>
          <p:nvPr/>
        </p:nvCxnSpPr>
        <p:spPr>
          <a:xfrm flipH="1">
            <a:off x="9042401" y="6705600"/>
            <a:ext cx="3386137" cy="0"/>
          </a:xfrm>
          <a:prstGeom prst="line">
            <a:avLst/>
          </a:prstGeom>
          <a:ln w="38100">
            <a:solidFill>
              <a:srgbClr val="6264A7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2314FF6-A899-448E-858F-3E323B772887}"/>
              </a:ext>
            </a:extLst>
          </p:cNvPr>
          <p:cNvCxnSpPr>
            <a:cxnSpLocks/>
          </p:cNvCxnSpPr>
          <p:nvPr/>
        </p:nvCxnSpPr>
        <p:spPr>
          <a:xfrm flipV="1">
            <a:off x="10185400" y="1850007"/>
            <a:ext cx="0" cy="2645794"/>
          </a:xfrm>
          <a:prstGeom prst="line">
            <a:avLst/>
          </a:prstGeom>
          <a:ln w="38100">
            <a:solidFill>
              <a:srgbClr val="6264A7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A2DC7C9E-DCEF-40CD-ADE8-4FC29BDCBBDB}"/>
              </a:ext>
            </a:extLst>
          </p:cNvPr>
          <p:cNvCxnSpPr>
            <a:cxnSpLocks/>
          </p:cNvCxnSpPr>
          <p:nvPr/>
        </p:nvCxnSpPr>
        <p:spPr>
          <a:xfrm flipV="1">
            <a:off x="12319000" y="1801303"/>
            <a:ext cx="0" cy="713297"/>
          </a:xfrm>
          <a:prstGeom prst="line">
            <a:avLst/>
          </a:prstGeom>
          <a:ln w="38100">
            <a:solidFill>
              <a:srgbClr val="6264A7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bject 13">
            <a:extLst>
              <a:ext uri="{FF2B5EF4-FFF2-40B4-BE49-F238E27FC236}">
                <a16:creationId xmlns:a16="http://schemas.microsoft.com/office/drawing/2014/main" id="{BF46A92E-683E-498A-9186-B8FF02A11BE3}"/>
              </a:ext>
            </a:extLst>
          </p:cNvPr>
          <p:cNvSpPr txBox="1"/>
          <p:nvPr/>
        </p:nvSpPr>
        <p:spPr>
          <a:xfrm>
            <a:off x="11701593" y="2278183"/>
            <a:ext cx="1912808" cy="906017"/>
          </a:xfrm>
          <a:custGeom>
            <a:avLst/>
            <a:gdLst>
              <a:gd name="connsiteX0" fmla="*/ 0 w 1263650"/>
              <a:gd name="connsiteY0" fmla="*/ 0 h 782907"/>
              <a:gd name="connsiteX1" fmla="*/ 1263650 w 1263650"/>
              <a:gd name="connsiteY1" fmla="*/ 0 h 782907"/>
              <a:gd name="connsiteX2" fmla="*/ 1263650 w 1263650"/>
              <a:gd name="connsiteY2" fmla="*/ 782907 h 782907"/>
              <a:gd name="connsiteX3" fmla="*/ 0 w 1263650"/>
              <a:gd name="connsiteY3" fmla="*/ 782907 h 782907"/>
              <a:gd name="connsiteX4" fmla="*/ 0 w 1263650"/>
              <a:gd name="connsiteY4" fmla="*/ 0 h 782907"/>
              <a:gd name="connsiteX0" fmla="*/ 0 w 1266828"/>
              <a:gd name="connsiteY0" fmla="*/ 0 h 782907"/>
              <a:gd name="connsiteX1" fmla="*/ 1263650 w 1266828"/>
              <a:gd name="connsiteY1" fmla="*/ 0 h 782907"/>
              <a:gd name="connsiteX2" fmla="*/ 1266828 w 1266828"/>
              <a:gd name="connsiteY2" fmla="*/ 188254 h 782907"/>
              <a:gd name="connsiteX3" fmla="*/ 1263650 w 1266828"/>
              <a:gd name="connsiteY3" fmla="*/ 782907 h 782907"/>
              <a:gd name="connsiteX4" fmla="*/ 0 w 1266828"/>
              <a:gd name="connsiteY4" fmla="*/ 782907 h 782907"/>
              <a:gd name="connsiteX5" fmla="*/ 0 w 1266828"/>
              <a:gd name="connsiteY5" fmla="*/ 0 h 782907"/>
              <a:gd name="connsiteX0" fmla="*/ 3172 w 1270000"/>
              <a:gd name="connsiteY0" fmla="*/ 0 h 782907"/>
              <a:gd name="connsiteX1" fmla="*/ 1266822 w 1270000"/>
              <a:gd name="connsiteY1" fmla="*/ 0 h 782907"/>
              <a:gd name="connsiteX2" fmla="*/ 1270000 w 1270000"/>
              <a:gd name="connsiteY2" fmla="*/ 188254 h 782907"/>
              <a:gd name="connsiteX3" fmla="*/ 1266822 w 1270000"/>
              <a:gd name="connsiteY3" fmla="*/ 782907 h 782907"/>
              <a:gd name="connsiteX4" fmla="*/ 3172 w 1270000"/>
              <a:gd name="connsiteY4" fmla="*/ 782907 h 782907"/>
              <a:gd name="connsiteX5" fmla="*/ 0 w 1270000"/>
              <a:gd name="connsiteY5" fmla="*/ 509987 h 782907"/>
              <a:gd name="connsiteX6" fmla="*/ 3172 w 1270000"/>
              <a:gd name="connsiteY6" fmla="*/ 0 h 782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70000" h="782907">
                <a:moveTo>
                  <a:pt x="3172" y="0"/>
                </a:moveTo>
                <a:lnTo>
                  <a:pt x="1266822" y="0"/>
                </a:lnTo>
                <a:cubicBezTo>
                  <a:pt x="1267881" y="62751"/>
                  <a:pt x="1268941" y="125503"/>
                  <a:pt x="1270000" y="188254"/>
                </a:cubicBezTo>
                <a:cubicBezTo>
                  <a:pt x="1268941" y="386472"/>
                  <a:pt x="1267881" y="584689"/>
                  <a:pt x="1266822" y="782907"/>
                </a:cubicBezTo>
                <a:lnTo>
                  <a:pt x="3172" y="782907"/>
                </a:lnTo>
                <a:cubicBezTo>
                  <a:pt x="2115" y="691934"/>
                  <a:pt x="1057" y="600960"/>
                  <a:pt x="0" y="509987"/>
                </a:cubicBezTo>
                <a:cubicBezTo>
                  <a:pt x="1057" y="339991"/>
                  <a:pt x="2115" y="169996"/>
                  <a:pt x="3172" y="0"/>
                </a:cubicBezTo>
                <a:close/>
              </a:path>
            </a:pathLst>
          </a:custGeom>
          <a:solidFill>
            <a:srgbClr val="E6E6E6"/>
          </a:solidFill>
        </p:spPr>
        <p:txBody>
          <a:bodyPr vert="horz" wrap="square" lIns="0" tIns="43815" rIns="0" bIns="0" rtlCol="0">
            <a:spAutoFit/>
          </a:bodyPr>
          <a:lstStyle/>
          <a:p>
            <a:pPr marL="109220" marR="140335">
              <a:spcBef>
                <a:spcPts val="345"/>
              </a:spcBef>
            </a:pPr>
            <a:r>
              <a:rPr lang="es-ES" sz="900" b="1" spc="-5">
                <a:latin typeface="Segoe UI" panose="020B0502040204020203" pitchFamily="34" charset="0"/>
                <a:cs typeface="Segoe UI" panose="020B0502040204020203" pitchFamily="34" charset="0"/>
              </a:rPr>
              <a:t>Truco pro</a:t>
            </a:r>
          </a:p>
          <a:p>
            <a:pPr marL="109220" marR="140335">
              <a:spcBef>
                <a:spcPts val="345"/>
              </a:spcBef>
            </a:pPr>
            <a:r>
              <a:rPr lang="es-ES" sz="900" spc="-5">
                <a:solidFill>
                  <a:srgbClr val="505050"/>
                </a:solidFill>
                <a:latin typeface="Gadugi"/>
                <a:cs typeface="Gadugi"/>
              </a:rPr>
              <a:t>En lugar de responder con texto a todo, se puede marcar un mensaje con un emoticono de </a:t>
            </a:r>
            <a:r>
              <a:rPr lang="es-ES" sz="900" i="1" spc="-5">
                <a:solidFill>
                  <a:srgbClr val="505050"/>
                </a:solidFill>
                <a:latin typeface="Gadugi"/>
                <a:cs typeface="Gadugi"/>
              </a:rPr>
              <a:t>Ok </a:t>
            </a:r>
            <a:r>
              <a:rPr lang="es-ES" sz="900" spc="-5">
                <a:solidFill>
                  <a:srgbClr val="505050"/>
                </a:solidFill>
                <a:latin typeface="Gadugi"/>
                <a:cs typeface="Gadugi"/>
              </a:rPr>
              <a:t>o </a:t>
            </a:r>
            <a:r>
              <a:rPr lang="es-ES" sz="900" i="1" spc="-5">
                <a:solidFill>
                  <a:srgbClr val="505050"/>
                </a:solidFill>
                <a:latin typeface="Gadugi"/>
                <a:cs typeface="Gadugi"/>
              </a:rPr>
              <a:t>Me gusta</a:t>
            </a:r>
          </a:p>
          <a:p>
            <a:pPr marL="109220" marR="140335">
              <a:spcBef>
                <a:spcPts val="345"/>
              </a:spcBef>
            </a:pPr>
            <a:endParaRPr lang="es-ES" sz="600" spc="-5">
              <a:solidFill>
                <a:srgbClr val="50505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DD3DF811-89D1-45AB-9614-E2788DF207C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3654" r="9324" b="85837"/>
          <a:stretch/>
        </p:blipFill>
        <p:spPr>
          <a:xfrm>
            <a:off x="9855044" y="1487778"/>
            <a:ext cx="2743200" cy="46416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096932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1391" y="979897"/>
            <a:ext cx="11474209" cy="590546"/>
          </a:xfrm>
          <a:prstGeom prst="rect">
            <a:avLst/>
          </a:prstGeom>
        </p:spPr>
        <p:txBody>
          <a:bodyPr vert="horz" wrap="square" lIns="0" tIns="158115" rIns="0" bIns="0" rtlCol="0">
            <a:spAutoFit/>
          </a:bodyPr>
          <a:lstStyle/>
          <a:p>
            <a:pPr marL="12700">
              <a:spcBef>
                <a:spcPts val="1245"/>
              </a:spcBef>
            </a:pPr>
            <a:r>
              <a:rPr lang="en-US" sz="2800" spc="-5">
                <a:solidFill>
                  <a:srgbClr val="6264A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Opciones avanzadas de chat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11391" y="147378"/>
            <a:ext cx="13194818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lang="es-ES" sz="3600" spc="-10">
                <a:latin typeface="Segoe UI" panose="020B0502040204020203" pitchFamily="34" charset="0"/>
                <a:cs typeface="Segoe UI" panose="020B0502040204020203" pitchFamily="34" charset="0"/>
              </a:rPr>
              <a:t>Microsoft</a:t>
            </a:r>
            <a:r>
              <a:rPr lang="es-ES" sz="3600" spc="-35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s-ES" sz="3600" spc="-95">
                <a:latin typeface="Segoe UI" panose="020B0502040204020203" pitchFamily="34" charset="0"/>
                <a:cs typeface="Segoe UI" panose="020B0502040204020203" pitchFamily="34" charset="0"/>
              </a:rPr>
              <a:t>Teams – conversaciones</a:t>
            </a:r>
            <a:endParaRPr sz="3600" spc="-95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4" name="object 4">
            <a:extLst>
              <a:ext uri="{FF2B5EF4-FFF2-40B4-BE49-F238E27FC236}">
                <a16:creationId xmlns:a16="http://schemas.microsoft.com/office/drawing/2014/main" id="{345D6627-4884-423C-BF89-745FE7676378}"/>
              </a:ext>
            </a:extLst>
          </p:cNvPr>
          <p:cNvSpPr/>
          <p:nvPr/>
        </p:nvSpPr>
        <p:spPr>
          <a:xfrm>
            <a:off x="12395200" y="183446"/>
            <a:ext cx="1331975" cy="5989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A480696-5231-4639-A86E-26A1FC3C86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200" y="2116345"/>
            <a:ext cx="5615577" cy="428778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BAA9A9C-060D-4C44-B6BF-8CD69C9AE9CD}"/>
              </a:ext>
            </a:extLst>
          </p:cNvPr>
          <p:cNvCxnSpPr>
            <a:cxnSpLocks/>
          </p:cNvCxnSpPr>
          <p:nvPr/>
        </p:nvCxnSpPr>
        <p:spPr>
          <a:xfrm flipV="1">
            <a:off x="2565400" y="6404129"/>
            <a:ext cx="0" cy="559342"/>
          </a:xfrm>
          <a:prstGeom prst="line">
            <a:avLst/>
          </a:prstGeom>
          <a:ln w="38100">
            <a:solidFill>
              <a:srgbClr val="6264A7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9ACD990-5F8C-420D-BF9B-74198716537D}"/>
              </a:ext>
            </a:extLst>
          </p:cNvPr>
          <p:cNvCxnSpPr>
            <a:cxnSpLocks/>
          </p:cNvCxnSpPr>
          <p:nvPr/>
        </p:nvCxnSpPr>
        <p:spPr>
          <a:xfrm flipV="1">
            <a:off x="20320768" y="4669417"/>
            <a:ext cx="0" cy="2036183"/>
          </a:xfrm>
          <a:prstGeom prst="line">
            <a:avLst/>
          </a:prstGeom>
          <a:ln w="38100">
            <a:solidFill>
              <a:srgbClr val="6264A7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bject 13">
            <a:extLst>
              <a:ext uri="{FF2B5EF4-FFF2-40B4-BE49-F238E27FC236}">
                <a16:creationId xmlns:a16="http://schemas.microsoft.com/office/drawing/2014/main" id="{9922486C-5543-494C-B9FC-8D0D684C049B}"/>
              </a:ext>
            </a:extLst>
          </p:cNvPr>
          <p:cNvSpPr txBox="1"/>
          <p:nvPr/>
        </p:nvSpPr>
        <p:spPr>
          <a:xfrm>
            <a:off x="19697396" y="5356305"/>
            <a:ext cx="1912808" cy="906017"/>
          </a:xfrm>
          <a:custGeom>
            <a:avLst/>
            <a:gdLst>
              <a:gd name="connsiteX0" fmla="*/ 0 w 1263650"/>
              <a:gd name="connsiteY0" fmla="*/ 0 h 782907"/>
              <a:gd name="connsiteX1" fmla="*/ 1263650 w 1263650"/>
              <a:gd name="connsiteY1" fmla="*/ 0 h 782907"/>
              <a:gd name="connsiteX2" fmla="*/ 1263650 w 1263650"/>
              <a:gd name="connsiteY2" fmla="*/ 782907 h 782907"/>
              <a:gd name="connsiteX3" fmla="*/ 0 w 1263650"/>
              <a:gd name="connsiteY3" fmla="*/ 782907 h 782907"/>
              <a:gd name="connsiteX4" fmla="*/ 0 w 1263650"/>
              <a:gd name="connsiteY4" fmla="*/ 0 h 782907"/>
              <a:gd name="connsiteX0" fmla="*/ 0 w 1266828"/>
              <a:gd name="connsiteY0" fmla="*/ 0 h 782907"/>
              <a:gd name="connsiteX1" fmla="*/ 1263650 w 1266828"/>
              <a:gd name="connsiteY1" fmla="*/ 0 h 782907"/>
              <a:gd name="connsiteX2" fmla="*/ 1266828 w 1266828"/>
              <a:gd name="connsiteY2" fmla="*/ 188254 h 782907"/>
              <a:gd name="connsiteX3" fmla="*/ 1263650 w 1266828"/>
              <a:gd name="connsiteY3" fmla="*/ 782907 h 782907"/>
              <a:gd name="connsiteX4" fmla="*/ 0 w 1266828"/>
              <a:gd name="connsiteY4" fmla="*/ 782907 h 782907"/>
              <a:gd name="connsiteX5" fmla="*/ 0 w 1266828"/>
              <a:gd name="connsiteY5" fmla="*/ 0 h 782907"/>
              <a:gd name="connsiteX0" fmla="*/ 3172 w 1270000"/>
              <a:gd name="connsiteY0" fmla="*/ 0 h 782907"/>
              <a:gd name="connsiteX1" fmla="*/ 1266822 w 1270000"/>
              <a:gd name="connsiteY1" fmla="*/ 0 h 782907"/>
              <a:gd name="connsiteX2" fmla="*/ 1270000 w 1270000"/>
              <a:gd name="connsiteY2" fmla="*/ 188254 h 782907"/>
              <a:gd name="connsiteX3" fmla="*/ 1266822 w 1270000"/>
              <a:gd name="connsiteY3" fmla="*/ 782907 h 782907"/>
              <a:gd name="connsiteX4" fmla="*/ 3172 w 1270000"/>
              <a:gd name="connsiteY4" fmla="*/ 782907 h 782907"/>
              <a:gd name="connsiteX5" fmla="*/ 0 w 1270000"/>
              <a:gd name="connsiteY5" fmla="*/ 509987 h 782907"/>
              <a:gd name="connsiteX6" fmla="*/ 3172 w 1270000"/>
              <a:gd name="connsiteY6" fmla="*/ 0 h 782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70000" h="782907">
                <a:moveTo>
                  <a:pt x="3172" y="0"/>
                </a:moveTo>
                <a:lnTo>
                  <a:pt x="1266822" y="0"/>
                </a:lnTo>
                <a:cubicBezTo>
                  <a:pt x="1267881" y="62751"/>
                  <a:pt x="1268941" y="125503"/>
                  <a:pt x="1270000" y="188254"/>
                </a:cubicBezTo>
                <a:cubicBezTo>
                  <a:pt x="1268941" y="386472"/>
                  <a:pt x="1267881" y="584689"/>
                  <a:pt x="1266822" y="782907"/>
                </a:cubicBezTo>
                <a:lnTo>
                  <a:pt x="3172" y="782907"/>
                </a:lnTo>
                <a:cubicBezTo>
                  <a:pt x="2115" y="691934"/>
                  <a:pt x="1057" y="600960"/>
                  <a:pt x="0" y="509987"/>
                </a:cubicBezTo>
                <a:cubicBezTo>
                  <a:pt x="1057" y="339991"/>
                  <a:pt x="2115" y="169996"/>
                  <a:pt x="3172" y="0"/>
                </a:cubicBezTo>
                <a:close/>
              </a:path>
            </a:pathLst>
          </a:custGeom>
          <a:solidFill>
            <a:srgbClr val="E6E6E6"/>
          </a:solidFill>
        </p:spPr>
        <p:txBody>
          <a:bodyPr vert="horz" wrap="square" lIns="0" tIns="43815" rIns="0" bIns="0" rtlCol="0">
            <a:spAutoFit/>
          </a:bodyPr>
          <a:lstStyle/>
          <a:p>
            <a:pPr marL="109220" marR="140335">
              <a:spcBef>
                <a:spcPts val="345"/>
              </a:spcBef>
            </a:pPr>
            <a:r>
              <a:rPr lang="es-ES" sz="900" b="1" spc="-5">
                <a:latin typeface="Segoe UI" panose="020B0502040204020203" pitchFamily="34" charset="0"/>
                <a:cs typeface="Segoe UI" panose="020B0502040204020203" pitchFamily="34" charset="0"/>
              </a:rPr>
              <a:t>Buena práctica	</a:t>
            </a:r>
          </a:p>
          <a:p>
            <a:pPr marL="109220" marR="140335">
              <a:spcBef>
                <a:spcPts val="345"/>
              </a:spcBef>
            </a:pPr>
            <a:r>
              <a:rPr lang="es-ES" sz="900" spc="-5">
                <a:solidFill>
                  <a:srgbClr val="505050"/>
                </a:solidFill>
                <a:latin typeface="Gadugi"/>
                <a:cs typeface="Gadugi"/>
              </a:rPr>
              <a:t>Es fácil equivocarse e iniciar un hilo nuevo cuando en realidad se está respondiendo a alguien. Ojo, ¡usa el botón de responder!</a:t>
            </a:r>
          </a:p>
          <a:p>
            <a:pPr marL="109220" marR="140335">
              <a:spcBef>
                <a:spcPts val="345"/>
              </a:spcBef>
            </a:pPr>
            <a:endParaRPr lang="es-ES" sz="600" spc="-5">
              <a:solidFill>
                <a:srgbClr val="50505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3" name="object 13">
            <a:extLst>
              <a:ext uri="{FF2B5EF4-FFF2-40B4-BE49-F238E27FC236}">
                <a16:creationId xmlns:a16="http://schemas.microsoft.com/office/drawing/2014/main" id="{7CFB04DE-818F-4189-9FD7-7700F57F397E}"/>
              </a:ext>
            </a:extLst>
          </p:cNvPr>
          <p:cNvSpPr txBox="1"/>
          <p:nvPr/>
        </p:nvSpPr>
        <p:spPr>
          <a:xfrm>
            <a:off x="19443241" y="3759301"/>
            <a:ext cx="1912808" cy="1044517"/>
          </a:xfrm>
          <a:custGeom>
            <a:avLst/>
            <a:gdLst>
              <a:gd name="connsiteX0" fmla="*/ 0 w 1263650"/>
              <a:gd name="connsiteY0" fmla="*/ 0 h 782907"/>
              <a:gd name="connsiteX1" fmla="*/ 1263650 w 1263650"/>
              <a:gd name="connsiteY1" fmla="*/ 0 h 782907"/>
              <a:gd name="connsiteX2" fmla="*/ 1263650 w 1263650"/>
              <a:gd name="connsiteY2" fmla="*/ 782907 h 782907"/>
              <a:gd name="connsiteX3" fmla="*/ 0 w 1263650"/>
              <a:gd name="connsiteY3" fmla="*/ 782907 h 782907"/>
              <a:gd name="connsiteX4" fmla="*/ 0 w 1263650"/>
              <a:gd name="connsiteY4" fmla="*/ 0 h 782907"/>
              <a:gd name="connsiteX0" fmla="*/ 0 w 1266828"/>
              <a:gd name="connsiteY0" fmla="*/ 0 h 782907"/>
              <a:gd name="connsiteX1" fmla="*/ 1263650 w 1266828"/>
              <a:gd name="connsiteY1" fmla="*/ 0 h 782907"/>
              <a:gd name="connsiteX2" fmla="*/ 1266828 w 1266828"/>
              <a:gd name="connsiteY2" fmla="*/ 188254 h 782907"/>
              <a:gd name="connsiteX3" fmla="*/ 1263650 w 1266828"/>
              <a:gd name="connsiteY3" fmla="*/ 782907 h 782907"/>
              <a:gd name="connsiteX4" fmla="*/ 0 w 1266828"/>
              <a:gd name="connsiteY4" fmla="*/ 782907 h 782907"/>
              <a:gd name="connsiteX5" fmla="*/ 0 w 1266828"/>
              <a:gd name="connsiteY5" fmla="*/ 0 h 782907"/>
              <a:gd name="connsiteX0" fmla="*/ 3172 w 1270000"/>
              <a:gd name="connsiteY0" fmla="*/ 0 h 782907"/>
              <a:gd name="connsiteX1" fmla="*/ 1266822 w 1270000"/>
              <a:gd name="connsiteY1" fmla="*/ 0 h 782907"/>
              <a:gd name="connsiteX2" fmla="*/ 1270000 w 1270000"/>
              <a:gd name="connsiteY2" fmla="*/ 188254 h 782907"/>
              <a:gd name="connsiteX3" fmla="*/ 1266822 w 1270000"/>
              <a:gd name="connsiteY3" fmla="*/ 782907 h 782907"/>
              <a:gd name="connsiteX4" fmla="*/ 3172 w 1270000"/>
              <a:gd name="connsiteY4" fmla="*/ 782907 h 782907"/>
              <a:gd name="connsiteX5" fmla="*/ 0 w 1270000"/>
              <a:gd name="connsiteY5" fmla="*/ 509987 h 782907"/>
              <a:gd name="connsiteX6" fmla="*/ 3172 w 1270000"/>
              <a:gd name="connsiteY6" fmla="*/ 0 h 782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70000" h="782907">
                <a:moveTo>
                  <a:pt x="3172" y="0"/>
                </a:moveTo>
                <a:lnTo>
                  <a:pt x="1266822" y="0"/>
                </a:lnTo>
                <a:cubicBezTo>
                  <a:pt x="1267881" y="62751"/>
                  <a:pt x="1268941" y="125503"/>
                  <a:pt x="1270000" y="188254"/>
                </a:cubicBezTo>
                <a:cubicBezTo>
                  <a:pt x="1268941" y="386472"/>
                  <a:pt x="1267881" y="584689"/>
                  <a:pt x="1266822" y="782907"/>
                </a:cubicBezTo>
                <a:lnTo>
                  <a:pt x="3172" y="782907"/>
                </a:lnTo>
                <a:cubicBezTo>
                  <a:pt x="2115" y="691934"/>
                  <a:pt x="1057" y="600960"/>
                  <a:pt x="0" y="509987"/>
                </a:cubicBezTo>
                <a:cubicBezTo>
                  <a:pt x="1057" y="339991"/>
                  <a:pt x="2115" y="169996"/>
                  <a:pt x="3172" y="0"/>
                </a:cubicBezTo>
                <a:close/>
              </a:path>
            </a:pathLst>
          </a:custGeom>
          <a:solidFill>
            <a:srgbClr val="E6E6E6"/>
          </a:solidFill>
        </p:spPr>
        <p:txBody>
          <a:bodyPr vert="horz" wrap="square" lIns="0" tIns="43815" rIns="0" bIns="0" rtlCol="0">
            <a:spAutoFit/>
          </a:bodyPr>
          <a:lstStyle/>
          <a:p>
            <a:pPr marL="109220" marR="140335">
              <a:spcBef>
                <a:spcPts val="345"/>
              </a:spcBef>
            </a:pPr>
            <a:r>
              <a:rPr lang="es-ES" sz="900" b="1" spc="-5">
                <a:latin typeface="Segoe UI" panose="020B0502040204020203" pitchFamily="34" charset="0"/>
                <a:cs typeface="Segoe UI" panose="020B0502040204020203" pitchFamily="34" charset="0"/>
              </a:rPr>
              <a:t>Responder vs. Nueva conversación</a:t>
            </a:r>
          </a:p>
          <a:p>
            <a:pPr marL="109220" marR="140335">
              <a:spcBef>
                <a:spcPts val="345"/>
              </a:spcBef>
            </a:pPr>
            <a:r>
              <a:rPr lang="es-ES" sz="900" spc="-5">
                <a:solidFill>
                  <a:srgbClr val="505050"/>
                </a:solidFill>
                <a:latin typeface="Gadugi"/>
                <a:cs typeface="Gadugi"/>
              </a:rPr>
              <a:t>La conversación a nivel de de canal es jerárquica. Se puede responder a un mensaje anterior o crear uno nuevo.</a:t>
            </a:r>
          </a:p>
          <a:p>
            <a:pPr marL="109220" marR="140335">
              <a:spcBef>
                <a:spcPts val="345"/>
              </a:spcBef>
            </a:pPr>
            <a:endParaRPr lang="es-ES" sz="600" spc="-5">
              <a:solidFill>
                <a:srgbClr val="50505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CBC592E-BA9F-445D-A9FF-54EA7F5B3E44}"/>
              </a:ext>
            </a:extLst>
          </p:cNvPr>
          <p:cNvCxnSpPr>
            <a:cxnSpLocks/>
          </p:cNvCxnSpPr>
          <p:nvPr/>
        </p:nvCxnSpPr>
        <p:spPr>
          <a:xfrm flipH="1">
            <a:off x="16954197" y="6705600"/>
            <a:ext cx="3386137" cy="0"/>
          </a:xfrm>
          <a:prstGeom prst="line">
            <a:avLst/>
          </a:prstGeom>
          <a:ln w="38100">
            <a:solidFill>
              <a:srgbClr val="6264A7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4D3EA663-228D-4BFA-911E-96F13E3FBD9E}"/>
              </a:ext>
            </a:extLst>
          </p:cNvPr>
          <p:cNvCxnSpPr>
            <a:cxnSpLocks/>
          </p:cNvCxnSpPr>
          <p:nvPr/>
        </p:nvCxnSpPr>
        <p:spPr>
          <a:xfrm flipH="1">
            <a:off x="3631834" y="6269549"/>
            <a:ext cx="3868552" cy="0"/>
          </a:xfrm>
          <a:prstGeom prst="line">
            <a:avLst/>
          </a:prstGeom>
          <a:ln w="38100">
            <a:solidFill>
              <a:srgbClr val="6264A7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bject 13">
            <a:extLst>
              <a:ext uri="{FF2B5EF4-FFF2-40B4-BE49-F238E27FC236}">
                <a16:creationId xmlns:a16="http://schemas.microsoft.com/office/drawing/2014/main" id="{0E14605E-EDE9-4F5F-AC4F-1D07EB5A9C09}"/>
              </a:ext>
            </a:extLst>
          </p:cNvPr>
          <p:cNvSpPr txBox="1"/>
          <p:nvPr/>
        </p:nvSpPr>
        <p:spPr>
          <a:xfrm>
            <a:off x="6679531" y="5627063"/>
            <a:ext cx="1909233" cy="906017"/>
          </a:xfrm>
          <a:custGeom>
            <a:avLst/>
            <a:gdLst>
              <a:gd name="connsiteX0" fmla="*/ 0 w 1263650"/>
              <a:gd name="connsiteY0" fmla="*/ 0 h 782907"/>
              <a:gd name="connsiteX1" fmla="*/ 1263650 w 1263650"/>
              <a:gd name="connsiteY1" fmla="*/ 0 h 782907"/>
              <a:gd name="connsiteX2" fmla="*/ 1263650 w 1263650"/>
              <a:gd name="connsiteY2" fmla="*/ 782907 h 782907"/>
              <a:gd name="connsiteX3" fmla="*/ 0 w 1263650"/>
              <a:gd name="connsiteY3" fmla="*/ 782907 h 782907"/>
              <a:gd name="connsiteX4" fmla="*/ 0 w 1263650"/>
              <a:gd name="connsiteY4" fmla="*/ 0 h 782907"/>
              <a:gd name="connsiteX0" fmla="*/ 0 w 1266828"/>
              <a:gd name="connsiteY0" fmla="*/ 0 h 782907"/>
              <a:gd name="connsiteX1" fmla="*/ 1263650 w 1266828"/>
              <a:gd name="connsiteY1" fmla="*/ 0 h 782907"/>
              <a:gd name="connsiteX2" fmla="*/ 1266828 w 1266828"/>
              <a:gd name="connsiteY2" fmla="*/ 188254 h 782907"/>
              <a:gd name="connsiteX3" fmla="*/ 1263650 w 1266828"/>
              <a:gd name="connsiteY3" fmla="*/ 782907 h 782907"/>
              <a:gd name="connsiteX4" fmla="*/ 0 w 1266828"/>
              <a:gd name="connsiteY4" fmla="*/ 782907 h 782907"/>
              <a:gd name="connsiteX5" fmla="*/ 0 w 1266828"/>
              <a:gd name="connsiteY5" fmla="*/ 0 h 782907"/>
              <a:gd name="connsiteX0" fmla="*/ 3172 w 1270000"/>
              <a:gd name="connsiteY0" fmla="*/ 0 h 782907"/>
              <a:gd name="connsiteX1" fmla="*/ 1266822 w 1270000"/>
              <a:gd name="connsiteY1" fmla="*/ 0 h 782907"/>
              <a:gd name="connsiteX2" fmla="*/ 1270000 w 1270000"/>
              <a:gd name="connsiteY2" fmla="*/ 188254 h 782907"/>
              <a:gd name="connsiteX3" fmla="*/ 1266822 w 1270000"/>
              <a:gd name="connsiteY3" fmla="*/ 782907 h 782907"/>
              <a:gd name="connsiteX4" fmla="*/ 3172 w 1270000"/>
              <a:gd name="connsiteY4" fmla="*/ 782907 h 782907"/>
              <a:gd name="connsiteX5" fmla="*/ 0 w 1270000"/>
              <a:gd name="connsiteY5" fmla="*/ 509987 h 782907"/>
              <a:gd name="connsiteX6" fmla="*/ 3172 w 1270000"/>
              <a:gd name="connsiteY6" fmla="*/ 0 h 782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70000" h="782907">
                <a:moveTo>
                  <a:pt x="3172" y="0"/>
                </a:moveTo>
                <a:lnTo>
                  <a:pt x="1266822" y="0"/>
                </a:lnTo>
                <a:cubicBezTo>
                  <a:pt x="1267881" y="62751"/>
                  <a:pt x="1268941" y="125503"/>
                  <a:pt x="1270000" y="188254"/>
                </a:cubicBezTo>
                <a:cubicBezTo>
                  <a:pt x="1268941" y="386472"/>
                  <a:pt x="1267881" y="584689"/>
                  <a:pt x="1266822" y="782907"/>
                </a:cubicBezTo>
                <a:lnTo>
                  <a:pt x="3172" y="782907"/>
                </a:lnTo>
                <a:cubicBezTo>
                  <a:pt x="2115" y="691934"/>
                  <a:pt x="1057" y="600960"/>
                  <a:pt x="0" y="509987"/>
                </a:cubicBezTo>
                <a:cubicBezTo>
                  <a:pt x="1057" y="339991"/>
                  <a:pt x="2115" y="169996"/>
                  <a:pt x="3172" y="0"/>
                </a:cubicBezTo>
                <a:close/>
              </a:path>
            </a:pathLst>
          </a:custGeom>
          <a:solidFill>
            <a:srgbClr val="E6E6E6"/>
          </a:solidFill>
        </p:spPr>
        <p:txBody>
          <a:bodyPr vert="horz" wrap="square" lIns="0" tIns="43815" rIns="0" bIns="0" rtlCol="0">
            <a:spAutoFit/>
          </a:bodyPr>
          <a:lstStyle/>
          <a:p>
            <a:pPr marL="109220" marR="140335">
              <a:spcBef>
                <a:spcPts val="345"/>
              </a:spcBef>
            </a:pPr>
            <a:r>
              <a:rPr lang="es-ES" sz="900" b="1" spc="-5">
                <a:latin typeface="Segoe UI" panose="020B0502040204020203" pitchFamily="34" charset="0"/>
                <a:cs typeface="Segoe UI" panose="020B0502040204020203" pitchFamily="34" charset="0"/>
              </a:rPr>
              <a:t>Aplicaciones</a:t>
            </a:r>
          </a:p>
          <a:p>
            <a:pPr marL="109220" marR="140335">
              <a:spcBef>
                <a:spcPts val="345"/>
              </a:spcBef>
            </a:pPr>
            <a:r>
              <a:rPr lang="es-ES" sz="900" spc="-5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 el botón […] podemos acceder al catálogo de aplicaciones. Hay decenas de apps listas para utilizar</a:t>
            </a:r>
          </a:p>
          <a:p>
            <a:pPr marL="109220" marR="140335">
              <a:spcBef>
                <a:spcPts val="345"/>
              </a:spcBef>
            </a:pPr>
            <a:endParaRPr lang="es-ES" sz="600" spc="-5">
              <a:solidFill>
                <a:srgbClr val="50505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6" name="object 13">
            <a:extLst>
              <a:ext uri="{FF2B5EF4-FFF2-40B4-BE49-F238E27FC236}">
                <a16:creationId xmlns:a16="http://schemas.microsoft.com/office/drawing/2014/main" id="{93FB8435-4783-4C15-9D18-4C2F10DD2D2F}"/>
              </a:ext>
            </a:extLst>
          </p:cNvPr>
          <p:cNvSpPr txBox="1"/>
          <p:nvPr/>
        </p:nvSpPr>
        <p:spPr>
          <a:xfrm>
            <a:off x="2184400" y="6579712"/>
            <a:ext cx="2666999" cy="629018"/>
          </a:xfrm>
          <a:custGeom>
            <a:avLst/>
            <a:gdLst>
              <a:gd name="connsiteX0" fmla="*/ 0 w 1263650"/>
              <a:gd name="connsiteY0" fmla="*/ 0 h 782907"/>
              <a:gd name="connsiteX1" fmla="*/ 1263650 w 1263650"/>
              <a:gd name="connsiteY1" fmla="*/ 0 h 782907"/>
              <a:gd name="connsiteX2" fmla="*/ 1263650 w 1263650"/>
              <a:gd name="connsiteY2" fmla="*/ 782907 h 782907"/>
              <a:gd name="connsiteX3" fmla="*/ 0 w 1263650"/>
              <a:gd name="connsiteY3" fmla="*/ 782907 h 782907"/>
              <a:gd name="connsiteX4" fmla="*/ 0 w 1263650"/>
              <a:gd name="connsiteY4" fmla="*/ 0 h 782907"/>
              <a:gd name="connsiteX0" fmla="*/ 0 w 1266828"/>
              <a:gd name="connsiteY0" fmla="*/ 0 h 782907"/>
              <a:gd name="connsiteX1" fmla="*/ 1263650 w 1266828"/>
              <a:gd name="connsiteY1" fmla="*/ 0 h 782907"/>
              <a:gd name="connsiteX2" fmla="*/ 1266828 w 1266828"/>
              <a:gd name="connsiteY2" fmla="*/ 188254 h 782907"/>
              <a:gd name="connsiteX3" fmla="*/ 1263650 w 1266828"/>
              <a:gd name="connsiteY3" fmla="*/ 782907 h 782907"/>
              <a:gd name="connsiteX4" fmla="*/ 0 w 1266828"/>
              <a:gd name="connsiteY4" fmla="*/ 782907 h 782907"/>
              <a:gd name="connsiteX5" fmla="*/ 0 w 1266828"/>
              <a:gd name="connsiteY5" fmla="*/ 0 h 782907"/>
              <a:gd name="connsiteX0" fmla="*/ 3172 w 1270000"/>
              <a:gd name="connsiteY0" fmla="*/ 0 h 782907"/>
              <a:gd name="connsiteX1" fmla="*/ 1266822 w 1270000"/>
              <a:gd name="connsiteY1" fmla="*/ 0 h 782907"/>
              <a:gd name="connsiteX2" fmla="*/ 1270000 w 1270000"/>
              <a:gd name="connsiteY2" fmla="*/ 188254 h 782907"/>
              <a:gd name="connsiteX3" fmla="*/ 1266822 w 1270000"/>
              <a:gd name="connsiteY3" fmla="*/ 782907 h 782907"/>
              <a:gd name="connsiteX4" fmla="*/ 3172 w 1270000"/>
              <a:gd name="connsiteY4" fmla="*/ 782907 h 782907"/>
              <a:gd name="connsiteX5" fmla="*/ 0 w 1270000"/>
              <a:gd name="connsiteY5" fmla="*/ 509987 h 782907"/>
              <a:gd name="connsiteX6" fmla="*/ 3172 w 1270000"/>
              <a:gd name="connsiteY6" fmla="*/ 0 h 782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70000" h="782907">
                <a:moveTo>
                  <a:pt x="3172" y="0"/>
                </a:moveTo>
                <a:lnTo>
                  <a:pt x="1266822" y="0"/>
                </a:lnTo>
                <a:cubicBezTo>
                  <a:pt x="1267881" y="62751"/>
                  <a:pt x="1268941" y="125503"/>
                  <a:pt x="1270000" y="188254"/>
                </a:cubicBezTo>
                <a:cubicBezTo>
                  <a:pt x="1268941" y="386472"/>
                  <a:pt x="1267881" y="584689"/>
                  <a:pt x="1266822" y="782907"/>
                </a:cubicBezTo>
                <a:lnTo>
                  <a:pt x="3172" y="782907"/>
                </a:lnTo>
                <a:cubicBezTo>
                  <a:pt x="2115" y="691934"/>
                  <a:pt x="1057" y="600960"/>
                  <a:pt x="0" y="509987"/>
                </a:cubicBezTo>
                <a:cubicBezTo>
                  <a:pt x="1057" y="339991"/>
                  <a:pt x="2115" y="169996"/>
                  <a:pt x="3172" y="0"/>
                </a:cubicBezTo>
                <a:close/>
              </a:path>
            </a:pathLst>
          </a:custGeom>
          <a:solidFill>
            <a:srgbClr val="E6E6E6"/>
          </a:solidFill>
        </p:spPr>
        <p:txBody>
          <a:bodyPr vert="horz" wrap="square" lIns="0" tIns="43815" rIns="0" bIns="0" rtlCol="0">
            <a:spAutoFit/>
          </a:bodyPr>
          <a:lstStyle/>
          <a:p>
            <a:pPr marL="109220" marR="140335">
              <a:spcBef>
                <a:spcPts val="345"/>
              </a:spcBef>
            </a:pPr>
            <a:r>
              <a:rPr lang="es-ES" sz="900" b="1" spc="-5">
                <a:latin typeface="Segoe UI" panose="020B0502040204020203" pitchFamily="34" charset="0"/>
                <a:cs typeface="Segoe UI" panose="020B0502040204020203" pitchFamily="34" charset="0"/>
              </a:rPr>
              <a:t>Funcionalidades</a:t>
            </a:r>
          </a:p>
          <a:p>
            <a:pPr marL="109220" marR="140335">
              <a:spcBef>
                <a:spcPts val="345"/>
              </a:spcBef>
            </a:pPr>
            <a:r>
              <a:rPr lang="es-ES" sz="900" spc="-5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La barra de herramientas tiene, además de las características típicas, las aplicaciones instaladas.</a:t>
            </a:r>
          </a:p>
          <a:p>
            <a:pPr marL="109220" marR="140335">
              <a:spcBef>
                <a:spcPts val="345"/>
              </a:spcBef>
            </a:pPr>
            <a:endParaRPr lang="es-ES" sz="600" spc="-5">
              <a:solidFill>
                <a:srgbClr val="50505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5D44A67-B8A4-4280-9025-059608913478}"/>
              </a:ext>
            </a:extLst>
          </p:cNvPr>
          <p:cNvCxnSpPr>
            <a:cxnSpLocks/>
          </p:cNvCxnSpPr>
          <p:nvPr/>
        </p:nvCxnSpPr>
        <p:spPr>
          <a:xfrm flipV="1">
            <a:off x="1410781" y="6400800"/>
            <a:ext cx="0" cy="1020721"/>
          </a:xfrm>
          <a:prstGeom prst="line">
            <a:avLst/>
          </a:prstGeom>
          <a:ln w="38100">
            <a:solidFill>
              <a:srgbClr val="6264A7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BE1352C-9A75-45F9-B2EE-ECFA9A8D7F3C}"/>
              </a:ext>
            </a:extLst>
          </p:cNvPr>
          <p:cNvCxnSpPr>
            <a:cxnSpLocks/>
          </p:cNvCxnSpPr>
          <p:nvPr/>
        </p:nvCxnSpPr>
        <p:spPr>
          <a:xfrm flipH="1">
            <a:off x="1394907" y="7404404"/>
            <a:ext cx="7495093" cy="0"/>
          </a:xfrm>
          <a:prstGeom prst="line">
            <a:avLst/>
          </a:prstGeom>
          <a:ln w="38100">
            <a:solidFill>
              <a:srgbClr val="6264A7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252D9A4-536A-42B0-BFD0-8B5747A4F9A8}"/>
              </a:ext>
            </a:extLst>
          </p:cNvPr>
          <p:cNvCxnSpPr>
            <a:cxnSpLocks/>
          </p:cNvCxnSpPr>
          <p:nvPr/>
        </p:nvCxnSpPr>
        <p:spPr>
          <a:xfrm>
            <a:off x="10120804" y="4953000"/>
            <a:ext cx="0" cy="1958160"/>
          </a:xfrm>
          <a:prstGeom prst="line">
            <a:avLst/>
          </a:prstGeom>
          <a:ln w="38100">
            <a:solidFill>
              <a:srgbClr val="6264A7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bject 13">
            <a:extLst>
              <a:ext uri="{FF2B5EF4-FFF2-40B4-BE49-F238E27FC236}">
                <a16:creationId xmlns:a16="http://schemas.microsoft.com/office/drawing/2014/main" id="{E7A3BE97-7B67-4F1E-AB4A-30327D252030}"/>
              </a:ext>
            </a:extLst>
          </p:cNvPr>
          <p:cNvSpPr txBox="1"/>
          <p:nvPr/>
        </p:nvSpPr>
        <p:spPr>
          <a:xfrm>
            <a:off x="8787305" y="6755721"/>
            <a:ext cx="2666999" cy="906017"/>
          </a:xfrm>
          <a:custGeom>
            <a:avLst/>
            <a:gdLst>
              <a:gd name="connsiteX0" fmla="*/ 0 w 1263650"/>
              <a:gd name="connsiteY0" fmla="*/ 0 h 782907"/>
              <a:gd name="connsiteX1" fmla="*/ 1263650 w 1263650"/>
              <a:gd name="connsiteY1" fmla="*/ 0 h 782907"/>
              <a:gd name="connsiteX2" fmla="*/ 1263650 w 1263650"/>
              <a:gd name="connsiteY2" fmla="*/ 782907 h 782907"/>
              <a:gd name="connsiteX3" fmla="*/ 0 w 1263650"/>
              <a:gd name="connsiteY3" fmla="*/ 782907 h 782907"/>
              <a:gd name="connsiteX4" fmla="*/ 0 w 1263650"/>
              <a:gd name="connsiteY4" fmla="*/ 0 h 782907"/>
              <a:gd name="connsiteX0" fmla="*/ 0 w 1266828"/>
              <a:gd name="connsiteY0" fmla="*/ 0 h 782907"/>
              <a:gd name="connsiteX1" fmla="*/ 1263650 w 1266828"/>
              <a:gd name="connsiteY1" fmla="*/ 0 h 782907"/>
              <a:gd name="connsiteX2" fmla="*/ 1266828 w 1266828"/>
              <a:gd name="connsiteY2" fmla="*/ 188254 h 782907"/>
              <a:gd name="connsiteX3" fmla="*/ 1263650 w 1266828"/>
              <a:gd name="connsiteY3" fmla="*/ 782907 h 782907"/>
              <a:gd name="connsiteX4" fmla="*/ 0 w 1266828"/>
              <a:gd name="connsiteY4" fmla="*/ 782907 h 782907"/>
              <a:gd name="connsiteX5" fmla="*/ 0 w 1266828"/>
              <a:gd name="connsiteY5" fmla="*/ 0 h 782907"/>
              <a:gd name="connsiteX0" fmla="*/ 3172 w 1270000"/>
              <a:gd name="connsiteY0" fmla="*/ 0 h 782907"/>
              <a:gd name="connsiteX1" fmla="*/ 1266822 w 1270000"/>
              <a:gd name="connsiteY1" fmla="*/ 0 h 782907"/>
              <a:gd name="connsiteX2" fmla="*/ 1270000 w 1270000"/>
              <a:gd name="connsiteY2" fmla="*/ 188254 h 782907"/>
              <a:gd name="connsiteX3" fmla="*/ 1266822 w 1270000"/>
              <a:gd name="connsiteY3" fmla="*/ 782907 h 782907"/>
              <a:gd name="connsiteX4" fmla="*/ 3172 w 1270000"/>
              <a:gd name="connsiteY4" fmla="*/ 782907 h 782907"/>
              <a:gd name="connsiteX5" fmla="*/ 0 w 1270000"/>
              <a:gd name="connsiteY5" fmla="*/ 509987 h 782907"/>
              <a:gd name="connsiteX6" fmla="*/ 3172 w 1270000"/>
              <a:gd name="connsiteY6" fmla="*/ 0 h 782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70000" h="782907">
                <a:moveTo>
                  <a:pt x="3172" y="0"/>
                </a:moveTo>
                <a:lnTo>
                  <a:pt x="1266822" y="0"/>
                </a:lnTo>
                <a:cubicBezTo>
                  <a:pt x="1267881" y="62751"/>
                  <a:pt x="1268941" y="125503"/>
                  <a:pt x="1270000" y="188254"/>
                </a:cubicBezTo>
                <a:cubicBezTo>
                  <a:pt x="1268941" y="386472"/>
                  <a:pt x="1267881" y="584689"/>
                  <a:pt x="1266822" y="782907"/>
                </a:cubicBezTo>
                <a:lnTo>
                  <a:pt x="3172" y="782907"/>
                </a:lnTo>
                <a:cubicBezTo>
                  <a:pt x="2115" y="691934"/>
                  <a:pt x="1057" y="600960"/>
                  <a:pt x="0" y="509987"/>
                </a:cubicBezTo>
                <a:cubicBezTo>
                  <a:pt x="1057" y="339991"/>
                  <a:pt x="2115" y="169996"/>
                  <a:pt x="3172" y="0"/>
                </a:cubicBezTo>
                <a:close/>
              </a:path>
            </a:pathLst>
          </a:custGeom>
          <a:solidFill>
            <a:srgbClr val="E6E6E6"/>
          </a:solidFill>
        </p:spPr>
        <p:txBody>
          <a:bodyPr vert="horz" wrap="square" lIns="0" tIns="43815" rIns="0" bIns="0" rtlCol="0">
            <a:spAutoFit/>
          </a:bodyPr>
          <a:lstStyle/>
          <a:p>
            <a:pPr marL="109220" marR="140335">
              <a:spcBef>
                <a:spcPts val="345"/>
              </a:spcBef>
            </a:pPr>
            <a:r>
              <a:rPr lang="es-ES" sz="900" b="1" spc="-5">
                <a:latin typeface="Segoe UI" panose="020B0502040204020203" pitchFamily="34" charset="0"/>
                <a:cs typeface="Segoe UI" panose="020B0502040204020203" pitchFamily="34" charset="0"/>
              </a:rPr>
              <a:t>Formato avanzado</a:t>
            </a:r>
          </a:p>
          <a:p>
            <a:pPr marL="109220" marR="140335">
              <a:spcBef>
                <a:spcPts val="345"/>
              </a:spcBef>
            </a:pPr>
            <a:r>
              <a:rPr lang="es-ES" sz="900" spc="-5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Además de simplemente escribir unas palabras, con el botón de Formato se puede lanzar en cualquier momento un mensaje con formato rico.</a:t>
            </a:r>
          </a:p>
          <a:p>
            <a:pPr marL="109220" marR="140335">
              <a:spcBef>
                <a:spcPts val="345"/>
              </a:spcBef>
            </a:pPr>
            <a:endParaRPr lang="es-ES" sz="600" spc="-5">
              <a:solidFill>
                <a:srgbClr val="50505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8" name="object 13">
            <a:extLst>
              <a:ext uri="{FF2B5EF4-FFF2-40B4-BE49-F238E27FC236}">
                <a16:creationId xmlns:a16="http://schemas.microsoft.com/office/drawing/2014/main" id="{299CF19B-EA51-4875-978E-ABA60AAF588A}"/>
              </a:ext>
            </a:extLst>
          </p:cNvPr>
          <p:cNvSpPr txBox="1"/>
          <p:nvPr/>
        </p:nvSpPr>
        <p:spPr>
          <a:xfrm>
            <a:off x="9404896" y="5312553"/>
            <a:ext cx="3875364" cy="767518"/>
          </a:xfrm>
          <a:custGeom>
            <a:avLst/>
            <a:gdLst>
              <a:gd name="connsiteX0" fmla="*/ 0 w 1263650"/>
              <a:gd name="connsiteY0" fmla="*/ 0 h 782907"/>
              <a:gd name="connsiteX1" fmla="*/ 1263650 w 1263650"/>
              <a:gd name="connsiteY1" fmla="*/ 0 h 782907"/>
              <a:gd name="connsiteX2" fmla="*/ 1263650 w 1263650"/>
              <a:gd name="connsiteY2" fmla="*/ 782907 h 782907"/>
              <a:gd name="connsiteX3" fmla="*/ 0 w 1263650"/>
              <a:gd name="connsiteY3" fmla="*/ 782907 h 782907"/>
              <a:gd name="connsiteX4" fmla="*/ 0 w 1263650"/>
              <a:gd name="connsiteY4" fmla="*/ 0 h 782907"/>
              <a:gd name="connsiteX0" fmla="*/ 0 w 1266828"/>
              <a:gd name="connsiteY0" fmla="*/ 0 h 782907"/>
              <a:gd name="connsiteX1" fmla="*/ 1263650 w 1266828"/>
              <a:gd name="connsiteY1" fmla="*/ 0 h 782907"/>
              <a:gd name="connsiteX2" fmla="*/ 1266828 w 1266828"/>
              <a:gd name="connsiteY2" fmla="*/ 188254 h 782907"/>
              <a:gd name="connsiteX3" fmla="*/ 1263650 w 1266828"/>
              <a:gd name="connsiteY3" fmla="*/ 782907 h 782907"/>
              <a:gd name="connsiteX4" fmla="*/ 0 w 1266828"/>
              <a:gd name="connsiteY4" fmla="*/ 782907 h 782907"/>
              <a:gd name="connsiteX5" fmla="*/ 0 w 1266828"/>
              <a:gd name="connsiteY5" fmla="*/ 0 h 782907"/>
              <a:gd name="connsiteX0" fmla="*/ 3172 w 1270000"/>
              <a:gd name="connsiteY0" fmla="*/ 0 h 782907"/>
              <a:gd name="connsiteX1" fmla="*/ 1266822 w 1270000"/>
              <a:gd name="connsiteY1" fmla="*/ 0 h 782907"/>
              <a:gd name="connsiteX2" fmla="*/ 1270000 w 1270000"/>
              <a:gd name="connsiteY2" fmla="*/ 188254 h 782907"/>
              <a:gd name="connsiteX3" fmla="*/ 1266822 w 1270000"/>
              <a:gd name="connsiteY3" fmla="*/ 782907 h 782907"/>
              <a:gd name="connsiteX4" fmla="*/ 3172 w 1270000"/>
              <a:gd name="connsiteY4" fmla="*/ 782907 h 782907"/>
              <a:gd name="connsiteX5" fmla="*/ 0 w 1270000"/>
              <a:gd name="connsiteY5" fmla="*/ 509987 h 782907"/>
              <a:gd name="connsiteX6" fmla="*/ 3172 w 1270000"/>
              <a:gd name="connsiteY6" fmla="*/ 0 h 782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70000" h="782907">
                <a:moveTo>
                  <a:pt x="3172" y="0"/>
                </a:moveTo>
                <a:lnTo>
                  <a:pt x="1266822" y="0"/>
                </a:lnTo>
                <a:cubicBezTo>
                  <a:pt x="1267881" y="62751"/>
                  <a:pt x="1268941" y="125503"/>
                  <a:pt x="1270000" y="188254"/>
                </a:cubicBezTo>
                <a:cubicBezTo>
                  <a:pt x="1268941" y="386472"/>
                  <a:pt x="1267881" y="584689"/>
                  <a:pt x="1266822" y="782907"/>
                </a:cubicBezTo>
                <a:lnTo>
                  <a:pt x="3172" y="782907"/>
                </a:lnTo>
                <a:cubicBezTo>
                  <a:pt x="2115" y="691934"/>
                  <a:pt x="1057" y="600960"/>
                  <a:pt x="0" y="509987"/>
                </a:cubicBezTo>
                <a:cubicBezTo>
                  <a:pt x="1057" y="339991"/>
                  <a:pt x="2115" y="169996"/>
                  <a:pt x="3172" y="0"/>
                </a:cubicBezTo>
                <a:close/>
              </a:path>
            </a:pathLst>
          </a:custGeom>
          <a:solidFill>
            <a:srgbClr val="E6E6E6"/>
          </a:solidFill>
        </p:spPr>
        <p:txBody>
          <a:bodyPr vert="horz" wrap="square" lIns="0" tIns="43815" rIns="0" bIns="0" rtlCol="0">
            <a:spAutoFit/>
          </a:bodyPr>
          <a:lstStyle/>
          <a:p>
            <a:pPr marL="109220" marR="140335">
              <a:spcBef>
                <a:spcPts val="345"/>
              </a:spcBef>
            </a:pPr>
            <a:r>
              <a:rPr lang="es-ES" sz="900" b="1" spc="-5">
                <a:latin typeface="Segoe UI" panose="020B0502040204020203" pitchFamily="34" charset="0"/>
                <a:cs typeface="Segoe UI" panose="020B0502040204020203" pitchFamily="34" charset="0"/>
              </a:rPr>
              <a:t>Truco pro</a:t>
            </a:r>
          </a:p>
          <a:p>
            <a:pPr marL="109220" marR="140335">
              <a:spcBef>
                <a:spcPts val="345"/>
              </a:spcBef>
            </a:pPr>
            <a:r>
              <a:rPr lang="es-ES" sz="900" spc="-5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 botón de formato avanzado es útil para escribir mensajes largo, más allá de unas palabras porque pulsando la tecla </a:t>
            </a:r>
            <a:r>
              <a:rPr lang="es-ES" sz="900" b="1" spc="-5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Enter </a:t>
            </a:r>
            <a:r>
              <a:rPr lang="es-ES" sz="900" spc="-5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 la ventana de formato no se envía el mensaje, sino que se inserta una línea nueva</a:t>
            </a:r>
          </a:p>
          <a:p>
            <a:pPr marL="109220" marR="140335">
              <a:spcBef>
                <a:spcPts val="345"/>
              </a:spcBef>
            </a:pPr>
            <a:endParaRPr lang="es-ES" sz="600" spc="-5">
              <a:solidFill>
                <a:srgbClr val="50505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9CFBAA5-332C-47F4-8D23-BDA6602F0C1E}"/>
              </a:ext>
            </a:extLst>
          </p:cNvPr>
          <p:cNvCxnSpPr>
            <a:cxnSpLocks/>
          </p:cNvCxnSpPr>
          <p:nvPr/>
        </p:nvCxnSpPr>
        <p:spPr>
          <a:xfrm>
            <a:off x="8204200" y="2209800"/>
            <a:ext cx="0" cy="609600"/>
          </a:xfrm>
          <a:prstGeom prst="line">
            <a:avLst/>
          </a:prstGeom>
          <a:ln w="38100">
            <a:solidFill>
              <a:srgbClr val="6264A7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D8ECA1B4-29AA-4F91-B3A8-8979A2061E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8853" y="2679772"/>
            <a:ext cx="5287386" cy="233054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39" name="object 13">
            <a:extLst>
              <a:ext uri="{FF2B5EF4-FFF2-40B4-BE49-F238E27FC236}">
                <a16:creationId xmlns:a16="http://schemas.microsoft.com/office/drawing/2014/main" id="{5CC473EB-307C-493D-B9FF-A52C12CA72E0}"/>
              </a:ext>
            </a:extLst>
          </p:cNvPr>
          <p:cNvSpPr txBox="1"/>
          <p:nvPr/>
        </p:nvSpPr>
        <p:spPr>
          <a:xfrm>
            <a:off x="6679531" y="1399808"/>
            <a:ext cx="3505869" cy="906017"/>
          </a:xfrm>
          <a:custGeom>
            <a:avLst/>
            <a:gdLst>
              <a:gd name="connsiteX0" fmla="*/ 0 w 1263650"/>
              <a:gd name="connsiteY0" fmla="*/ 0 h 782907"/>
              <a:gd name="connsiteX1" fmla="*/ 1263650 w 1263650"/>
              <a:gd name="connsiteY1" fmla="*/ 0 h 782907"/>
              <a:gd name="connsiteX2" fmla="*/ 1263650 w 1263650"/>
              <a:gd name="connsiteY2" fmla="*/ 782907 h 782907"/>
              <a:gd name="connsiteX3" fmla="*/ 0 w 1263650"/>
              <a:gd name="connsiteY3" fmla="*/ 782907 h 782907"/>
              <a:gd name="connsiteX4" fmla="*/ 0 w 1263650"/>
              <a:gd name="connsiteY4" fmla="*/ 0 h 782907"/>
              <a:gd name="connsiteX0" fmla="*/ 0 w 1266828"/>
              <a:gd name="connsiteY0" fmla="*/ 0 h 782907"/>
              <a:gd name="connsiteX1" fmla="*/ 1263650 w 1266828"/>
              <a:gd name="connsiteY1" fmla="*/ 0 h 782907"/>
              <a:gd name="connsiteX2" fmla="*/ 1266828 w 1266828"/>
              <a:gd name="connsiteY2" fmla="*/ 188254 h 782907"/>
              <a:gd name="connsiteX3" fmla="*/ 1263650 w 1266828"/>
              <a:gd name="connsiteY3" fmla="*/ 782907 h 782907"/>
              <a:gd name="connsiteX4" fmla="*/ 0 w 1266828"/>
              <a:gd name="connsiteY4" fmla="*/ 782907 h 782907"/>
              <a:gd name="connsiteX5" fmla="*/ 0 w 1266828"/>
              <a:gd name="connsiteY5" fmla="*/ 0 h 782907"/>
              <a:gd name="connsiteX0" fmla="*/ 3172 w 1270000"/>
              <a:gd name="connsiteY0" fmla="*/ 0 h 782907"/>
              <a:gd name="connsiteX1" fmla="*/ 1266822 w 1270000"/>
              <a:gd name="connsiteY1" fmla="*/ 0 h 782907"/>
              <a:gd name="connsiteX2" fmla="*/ 1270000 w 1270000"/>
              <a:gd name="connsiteY2" fmla="*/ 188254 h 782907"/>
              <a:gd name="connsiteX3" fmla="*/ 1266822 w 1270000"/>
              <a:gd name="connsiteY3" fmla="*/ 782907 h 782907"/>
              <a:gd name="connsiteX4" fmla="*/ 3172 w 1270000"/>
              <a:gd name="connsiteY4" fmla="*/ 782907 h 782907"/>
              <a:gd name="connsiteX5" fmla="*/ 0 w 1270000"/>
              <a:gd name="connsiteY5" fmla="*/ 509987 h 782907"/>
              <a:gd name="connsiteX6" fmla="*/ 3172 w 1270000"/>
              <a:gd name="connsiteY6" fmla="*/ 0 h 782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70000" h="782907">
                <a:moveTo>
                  <a:pt x="3172" y="0"/>
                </a:moveTo>
                <a:lnTo>
                  <a:pt x="1266822" y="0"/>
                </a:lnTo>
                <a:cubicBezTo>
                  <a:pt x="1267881" y="62751"/>
                  <a:pt x="1268941" y="125503"/>
                  <a:pt x="1270000" y="188254"/>
                </a:cubicBezTo>
                <a:cubicBezTo>
                  <a:pt x="1268941" y="386472"/>
                  <a:pt x="1267881" y="584689"/>
                  <a:pt x="1266822" y="782907"/>
                </a:cubicBezTo>
                <a:lnTo>
                  <a:pt x="3172" y="782907"/>
                </a:lnTo>
                <a:cubicBezTo>
                  <a:pt x="2115" y="691934"/>
                  <a:pt x="1057" y="600960"/>
                  <a:pt x="0" y="509987"/>
                </a:cubicBezTo>
                <a:cubicBezTo>
                  <a:pt x="1057" y="339991"/>
                  <a:pt x="2115" y="169996"/>
                  <a:pt x="3172" y="0"/>
                </a:cubicBezTo>
                <a:close/>
              </a:path>
            </a:pathLst>
          </a:custGeom>
          <a:solidFill>
            <a:srgbClr val="E6E6E6"/>
          </a:solidFill>
        </p:spPr>
        <p:txBody>
          <a:bodyPr vert="horz" wrap="square" lIns="0" tIns="43815" rIns="0" bIns="0" rtlCol="0">
            <a:spAutoFit/>
          </a:bodyPr>
          <a:lstStyle/>
          <a:p>
            <a:pPr marL="109220" marR="140335">
              <a:spcBef>
                <a:spcPts val="345"/>
              </a:spcBef>
            </a:pPr>
            <a:r>
              <a:rPr lang="es-ES" sz="900" b="1" spc="-5">
                <a:latin typeface="Segoe UI" panose="020B0502040204020203" pitchFamily="34" charset="0"/>
                <a:cs typeface="Segoe UI" panose="020B0502040204020203" pitchFamily="34" charset="0"/>
              </a:rPr>
              <a:t>Opciones avanzadas</a:t>
            </a:r>
          </a:p>
          <a:p>
            <a:pPr marL="109220" marR="140335">
              <a:spcBef>
                <a:spcPts val="345"/>
              </a:spcBef>
            </a:pPr>
            <a:r>
              <a:rPr lang="es-ES" sz="900" spc="-5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La ventana de formato no sólo tiene opciones para el texto, sino que añade funciones avanzadas de publicación, tales como quién puede responder, publicar el mismo mensaje en diversos canales, etc.</a:t>
            </a:r>
          </a:p>
          <a:p>
            <a:pPr marL="109220" marR="140335">
              <a:spcBef>
                <a:spcPts val="345"/>
              </a:spcBef>
            </a:pPr>
            <a:endParaRPr lang="es-ES" sz="600" spc="-5">
              <a:solidFill>
                <a:srgbClr val="50505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15365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screenshot of a cell phone&#10;&#10;Description automatically generated">
            <a:extLst>
              <a:ext uri="{FF2B5EF4-FFF2-40B4-BE49-F238E27FC236}">
                <a16:creationId xmlns:a16="http://schemas.microsoft.com/office/drawing/2014/main" id="{DA4FD034-8418-4D53-BFFA-7D505147FA4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3749" y="2128134"/>
            <a:ext cx="7078205" cy="530865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4808B5F-2391-4C64-902E-66B3F55F342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0103" y="2176979"/>
            <a:ext cx="2372698" cy="513614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" name="object 2"/>
          <p:cNvSpPr txBox="1"/>
          <p:nvPr/>
        </p:nvSpPr>
        <p:spPr>
          <a:xfrm>
            <a:off x="311391" y="979897"/>
            <a:ext cx="11474209" cy="870110"/>
          </a:xfrm>
          <a:prstGeom prst="rect">
            <a:avLst/>
          </a:prstGeom>
        </p:spPr>
        <p:txBody>
          <a:bodyPr vert="horz" wrap="square" lIns="0" tIns="158115" rIns="0" bIns="0" rtlCol="0">
            <a:spAutoFit/>
          </a:bodyPr>
          <a:lstStyle/>
          <a:p>
            <a:pPr marL="12700">
              <a:spcBef>
                <a:spcPts val="1245"/>
              </a:spcBef>
            </a:pPr>
            <a:r>
              <a:rPr lang="es-ES" sz="2800" spc="-5">
                <a:solidFill>
                  <a:srgbClr val="6264A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Vista de conversación en el móvil</a:t>
            </a:r>
            <a:endParaRPr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2700">
              <a:spcBef>
                <a:spcPts val="525"/>
              </a:spcBef>
            </a:pPr>
            <a:r>
              <a:rPr lang="en-US" sz="1400" spc="-10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Mueve las conversaciones fuera del email, y lejos de aplicaciones no seguras</a:t>
            </a:r>
            <a:endParaRPr sz="14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11391" y="147378"/>
            <a:ext cx="13194818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lang="es-ES" sz="3600" spc="-10">
                <a:latin typeface="Segoe UI" panose="020B0502040204020203" pitchFamily="34" charset="0"/>
                <a:cs typeface="Segoe UI" panose="020B0502040204020203" pitchFamily="34" charset="0"/>
              </a:rPr>
              <a:t>Microsoft</a:t>
            </a:r>
            <a:r>
              <a:rPr lang="es-ES" sz="3600" spc="-35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s-ES" sz="3600" spc="-95">
                <a:latin typeface="Segoe UI" panose="020B0502040204020203" pitchFamily="34" charset="0"/>
                <a:cs typeface="Segoe UI" panose="020B0502040204020203" pitchFamily="34" charset="0"/>
              </a:rPr>
              <a:t>Teams – conversaciones en el móvil o la tableta</a:t>
            </a:r>
            <a:endParaRPr sz="3600" spc="-95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3" name="object 13">
            <a:extLst>
              <a:ext uri="{FF2B5EF4-FFF2-40B4-BE49-F238E27FC236}">
                <a16:creationId xmlns:a16="http://schemas.microsoft.com/office/drawing/2014/main" id="{7CFB04DE-818F-4189-9FD7-7700F57F397E}"/>
              </a:ext>
            </a:extLst>
          </p:cNvPr>
          <p:cNvSpPr txBox="1"/>
          <p:nvPr/>
        </p:nvSpPr>
        <p:spPr>
          <a:xfrm>
            <a:off x="4274278" y="4676732"/>
            <a:ext cx="1912808" cy="767518"/>
          </a:xfrm>
          <a:custGeom>
            <a:avLst/>
            <a:gdLst>
              <a:gd name="connsiteX0" fmla="*/ 0 w 1263650"/>
              <a:gd name="connsiteY0" fmla="*/ 0 h 782907"/>
              <a:gd name="connsiteX1" fmla="*/ 1263650 w 1263650"/>
              <a:gd name="connsiteY1" fmla="*/ 0 h 782907"/>
              <a:gd name="connsiteX2" fmla="*/ 1263650 w 1263650"/>
              <a:gd name="connsiteY2" fmla="*/ 782907 h 782907"/>
              <a:gd name="connsiteX3" fmla="*/ 0 w 1263650"/>
              <a:gd name="connsiteY3" fmla="*/ 782907 h 782907"/>
              <a:gd name="connsiteX4" fmla="*/ 0 w 1263650"/>
              <a:gd name="connsiteY4" fmla="*/ 0 h 782907"/>
              <a:gd name="connsiteX0" fmla="*/ 0 w 1266828"/>
              <a:gd name="connsiteY0" fmla="*/ 0 h 782907"/>
              <a:gd name="connsiteX1" fmla="*/ 1263650 w 1266828"/>
              <a:gd name="connsiteY1" fmla="*/ 0 h 782907"/>
              <a:gd name="connsiteX2" fmla="*/ 1266828 w 1266828"/>
              <a:gd name="connsiteY2" fmla="*/ 188254 h 782907"/>
              <a:gd name="connsiteX3" fmla="*/ 1263650 w 1266828"/>
              <a:gd name="connsiteY3" fmla="*/ 782907 h 782907"/>
              <a:gd name="connsiteX4" fmla="*/ 0 w 1266828"/>
              <a:gd name="connsiteY4" fmla="*/ 782907 h 782907"/>
              <a:gd name="connsiteX5" fmla="*/ 0 w 1266828"/>
              <a:gd name="connsiteY5" fmla="*/ 0 h 782907"/>
              <a:gd name="connsiteX0" fmla="*/ 3172 w 1270000"/>
              <a:gd name="connsiteY0" fmla="*/ 0 h 782907"/>
              <a:gd name="connsiteX1" fmla="*/ 1266822 w 1270000"/>
              <a:gd name="connsiteY1" fmla="*/ 0 h 782907"/>
              <a:gd name="connsiteX2" fmla="*/ 1270000 w 1270000"/>
              <a:gd name="connsiteY2" fmla="*/ 188254 h 782907"/>
              <a:gd name="connsiteX3" fmla="*/ 1266822 w 1270000"/>
              <a:gd name="connsiteY3" fmla="*/ 782907 h 782907"/>
              <a:gd name="connsiteX4" fmla="*/ 3172 w 1270000"/>
              <a:gd name="connsiteY4" fmla="*/ 782907 h 782907"/>
              <a:gd name="connsiteX5" fmla="*/ 0 w 1270000"/>
              <a:gd name="connsiteY5" fmla="*/ 509987 h 782907"/>
              <a:gd name="connsiteX6" fmla="*/ 3172 w 1270000"/>
              <a:gd name="connsiteY6" fmla="*/ 0 h 782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70000" h="782907">
                <a:moveTo>
                  <a:pt x="3172" y="0"/>
                </a:moveTo>
                <a:lnTo>
                  <a:pt x="1266822" y="0"/>
                </a:lnTo>
                <a:cubicBezTo>
                  <a:pt x="1267881" y="62751"/>
                  <a:pt x="1268941" y="125503"/>
                  <a:pt x="1270000" y="188254"/>
                </a:cubicBezTo>
                <a:cubicBezTo>
                  <a:pt x="1268941" y="386472"/>
                  <a:pt x="1267881" y="584689"/>
                  <a:pt x="1266822" y="782907"/>
                </a:cubicBezTo>
                <a:lnTo>
                  <a:pt x="3172" y="782907"/>
                </a:lnTo>
                <a:cubicBezTo>
                  <a:pt x="2115" y="691934"/>
                  <a:pt x="1057" y="600960"/>
                  <a:pt x="0" y="509987"/>
                </a:cubicBezTo>
                <a:cubicBezTo>
                  <a:pt x="1057" y="339991"/>
                  <a:pt x="2115" y="169996"/>
                  <a:pt x="3172" y="0"/>
                </a:cubicBezTo>
                <a:close/>
              </a:path>
            </a:pathLst>
          </a:custGeom>
          <a:solidFill>
            <a:srgbClr val="E6E6E6"/>
          </a:solidFill>
        </p:spPr>
        <p:txBody>
          <a:bodyPr vert="horz" wrap="square" lIns="0" tIns="43815" rIns="0" bIns="0" rtlCol="0">
            <a:spAutoFit/>
          </a:bodyPr>
          <a:lstStyle/>
          <a:p>
            <a:pPr marL="109220" marR="140335">
              <a:spcBef>
                <a:spcPts val="345"/>
              </a:spcBef>
            </a:pPr>
            <a:r>
              <a:rPr lang="es-ES" sz="900" b="1" spc="-5">
                <a:latin typeface="Segoe UI" panose="020B0502040204020203" pitchFamily="34" charset="0"/>
                <a:cs typeface="Segoe UI" panose="020B0502040204020203" pitchFamily="34" charset="0"/>
              </a:rPr>
              <a:t>Chat persistente</a:t>
            </a:r>
          </a:p>
          <a:p>
            <a:pPr marL="109220" marR="140335">
              <a:spcBef>
                <a:spcPts val="345"/>
              </a:spcBef>
            </a:pPr>
            <a:r>
              <a:rPr lang="es-ES" sz="900" spc="-5">
                <a:solidFill>
                  <a:srgbClr val="505050"/>
                </a:solidFill>
                <a:latin typeface="Gadugi"/>
                <a:cs typeface="Gadugi"/>
              </a:rPr>
              <a:t>Funcionalidad típica de chat, pero con capacidades de colaboración avanzadas</a:t>
            </a:r>
          </a:p>
          <a:p>
            <a:pPr marL="109220" marR="140335">
              <a:spcBef>
                <a:spcPts val="345"/>
              </a:spcBef>
            </a:pPr>
            <a:endParaRPr lang="es-ES" sz="600" spc="-5">
              <a:solidFill>
                <a:srgbClr val="50505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4D3EA663-228D-4BFA-911E-96F13E3FBD9E}"/>
              </a:ext>
            </a:extLst>
          </p:cNvPr>
          <p:cNvCxnSpPr>
            <a:cxnSpLocks/>
          </p:cNvCxnSpPr>
          <p:nvPr/>
        </p:nvCxnSpPr>
        <p:spPr>
          <a:xfrm>
            <a:off x="5286483" y="7162800"/>
            <a:ext cx="1413456" cy="0"/>
          </a:xfrm>
          <a:prstGeom prst="line">
            <a:avLst/>
          </a:prstGeom>
          <a:ln w="38100">
            <a:solidFill>
              <a:srgbClr val="6264A7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A1FDA119-A496-4FCE-8BAA-A6606D161B9B}"/>
              </a:ext>
            </a:extLst>
          </p:cNvPr>
          <p:cNvCxnSpPr>
            <a:cxnSpLocks/>
          </p:cNvCxnSpPr>
          <p:nvPr/>
        </p:nvCxnSpPr>
        <p:spPr>
          <a:xfrm>
            <a:off x="5286483" y="2514600"/>
            <a:ext cx="1469917" cy="0"/>
          </a:xfrm>
          <a:prstGeom prst="line">
            <a:avLst/>
          </a:prstGeom>
          <a:ln w="38100">
            <a:solidFill>
              <a:srgbClr val="6264A7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06161C17-4730-4F56-899C-B83E142D42B1}"/>
              </a:ext>
            </a:extLst>
          </p:cNvPr>
          <p:cNvCxnSpPr>
            <a:cxnSpLocks/>
          </p:cNvCxnSpPr>
          <p:nvPr/>
        </p:nvCxnSpPr>
        <p:spPr>
          <a:xfrm rot="10800000">
            <a:off x="2564513" y="4594750"/>
            <a:ext cx="1709765" cy="437425"/>
          </a:xfrm>
          <a:prstGeom prst="bentConnector3">
            <a:avLst>
              <a:gd name="adj1" fmla="val 50000"/>
            </a:avLst>
          </a:prstGeom>
          <a:ln w="38100">
            <a:solidFill>
              <a:srgbClr val="6264A7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nector: Elbow 86">
            <a:extLst>
              <a:ext uri="{FF2B5EF4-FFF2-40B4-BE49-F238E27FC236}">
                <a16:creationId xmlns:a16="http://schemas.microsoft.com/office/drawing/2014/main" id="{C8DCCE59-52B3-4901-A5B1-71CF1E855AB7}"/>
              </a:ext>
            </a:extLst>
          </p:cNvPr>
          <p:cNvCxnSpPr>
            <a:cxnSpLocks/>
          </p:cNvCxnSpPr>
          <p:nvPr/>
        </p:nvCxnSpPr>
        <p:spPr>
          <a:xfrm flipV="1">
            <a:off x="6187086" y="5143857"/>
            <a:ext cx="2474314" cy="1"/>
          </a:xfrm>
          <a:prstGeom prst="bentConnector3">
            <a:avLst>
              <a:gd name="adj1" fmla="val 50000"/>
            </a:avLst>
          </a:prstGeom>
          <a:ln w="38100">
            <a:solidFill>
              <a:srgbClr val="6264A7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object 13">
            <a:extLst>
              <a:ext uri="{FF2B5EF4-FFF2-40B4-BE49-F238E27FC236}">
                <a16:creationId xmlns:a16="http://schemas.microsoft.com/office/drawing/2014/main" id="{FBFA279C-6ED0-4073-97B0-FF64147AAB2D}"/>
              </a:ext>
            </a:extLst>
          </p:cNvPr>
          <p:cNvSpPr txBox="1"/>
          <p:nvPr/>
        </p:nvSpPr>
        <p:spPr>
          <a:xfrm>
            <a:off x="3676733" y="6463111"/>
            <a:ext cx="1709766" cy="906017"/>
          </a:xfrm>
          <a:custGeom>
            <a:avLst/>
            <a:gdLst>
              <a:gd name="connsiteX0" fmla="*/ 0 w 1263650"/>
              <a:gd name="connsiteY0" fmla="*/ 0 h 782907"/>
              <a:gd name="connsiteX1" fmla="*/ 1263650 w 1263650"/>
              <a:gd name="connsiteY1" fmla="*/ 0 h 782907"/>
              <a:gd name="connsiteX2" fmla="*/ 1263650 w 1263650"/>
              <a:gd name="connsiteY2" fmla="*/ 782907 h 782907"/>
              <a:gd name="connsiteX3" fmla="*/ 0 w 1263650"/>
              <a:gd name="connsiteY3" fmla="*/ 782907 h 782907"/>
              <a:gd name="connsiteX4" fmla="*/ 0 w 1263650"/>
              <a:gd name="connsiteY4" fmla="*/ 0 h 782907"/>
              <a:gd name="connsiteX0" fmla="*/ 0 w 1266828"/>
              <a:gd name="connsiteY0" fmla="*/ 0 h 782907"/>
              <a:gd name="connsiteX1" fmla="*/ 1263650 w 1266828"/>
              <a:gd name="connsiteY1" fmla="*/ 0 h 782907"/>
              <a:gd name="connsiteX2" fmla="*/ 1266828 w 1266828"/>
              <a:gd name="connsiteY2" fmla="*/ 188254 h 782907"/>
              <a:gd name="connsiteX3" fmla="*/ 1263650 w 1266828"/>
              <a:gd name="connsiteY3" fmla="*/ 782907 h 782907"/>
              <a:gd name="connsiteX4" fmla="*/ 0 w 1266828"/>
              <a:gd name="connsiteY4" fmla="*/ 782907 h 782907"/>
              <a:gd name="connsiteX5" fmla="*/ 0 w 1266828"/>
              <a:gd name="connsiteY5" fmla="*/ 0 h 782907"/>
              <a:gd name="connsiteX0" fmla="*/ 3172 w 1270000"/>
              <a:gd name="connsiteY0" fmla="*/ 0 h 782907"/>
              <a:gd name="connsiteX1" fmla="*/ 1266822 w 1270000"/>
              <a:gd name="connsiteY1" fmla="*/ 0 h 782907"/>
              <a:gd name="connsiteX2" fmla="*/ 1270000 w 1270000"/>
              <a:gd name="connsiteY2" fmla="*/ 188254 h 782907"/>
              <a:gd name="connsiteX3" fmla="*/ 1266822 w 1270000"/>
              <a:gd name="connsiteY3" fmla="*/ 782907 h 782907"/>
              <a:gd name="connsiteX4" fmla="*/ 3172 w 1270000"/>
              <a:gd name="connsiteY4" fmla="*/ 782907 h 782907"/>
              <a:gd name="connsiteX5" fmla="*/ 0 w 1270000"/>
              <a:gd name="connsiteY5" fmla="*/ 509987 h 782907"/>
              <a:gd name="connsiteX6" fmla="*/ 3172 w 1270000"/>
              <a:gd name="connsiteY6" fmla="*/ 0 h 782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70000" h="782907">
                <a:moveTo>
                  <a:pt x="3172" y="0"/>
                </a:moveTo>
                <a:lnTo>
                  <a:pt x="1266822" y="0"/>
                </a:lnTo>
                <a:cubicBezTo>
                  <a:pt x="1267881" y="62751"/>
                  <a:pt x="1268941" y="125503"/>
                  <a:pt x="1270000" y="188254"/>
                </a:cubicBezTo>
                <a:cubicBezTo>
                  <a:pt x="1268941" y="386472"/>
                  <a:pt x="1267881" y="584689"/>
                  <a:pt x="1266822" y="782907"/>
                </a:cubicBezTo>
                <a:lnTo>
                  <a:pt x="3172" y="782907"/>
                </a:lnTo>
                <a:cubicBezTo>
                  <a:pt x="2115" y="691934"/>
                  <a:pt x="1057" y="600960"/>
                  <a:pt x="0" y="509987"/>
                </a:cubicBezTo>
                <a:cubicBezTo>
                  <a:pt x="1057" y="339991"/>
                  <a:pt x="2115" y="169996"/>
                  <a:pt x="3172" y="0"/>
                </a:cubicBezTo>
                <a:close/>
              </a:path>
            </a:pathLst>
          </a:custGeom>
          <a:solidFill>
            <a:srgbClr val="E6E6E6"/>
          </a:solidFill>
        </p:spPr>
        <p:txBody>
          <a:bodyPr vert="horz" wrap="square" lIns="0" tIns="43815" rIns="0" bIns="0" rtlCol="0">
            <a:spAutoFit/>
          </a:bodyPr>
          <a:lstStyle/>
          <a:p>
            <a:pPr marL="109220" marR="140335">
              <a:spcBef>
                <a:spcPts val="345"/>
              </a:spcBef>
            </a:pPr>
            <a:r>
              <a:rPr lang="es-ES" sz="900" b="1" spc="-5">
                <a:latin typeface="Segoe UI" panose="020B0502040204020203" pitchFamily="34" charset="0"/>
                <a:cs typeface="Segoe UI" panose="020B0502040204020203" pitchFamily="34" charset="0"/>
              </a:rPr>
              <a:t>Barra de herramientas</a:t>
            </a:r>
          </a:p>
          <a:p>
            <a:pPr marL="109220" marR="140335">
              <a:spcBef>
                <a:spcPts val="345"/>
              </a:spcBef>
            </a:pPr>
            <a:r>
              <a:rPr lang="es-ES" sz="900" spc="-5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Por motivos de usabilidad, la barra de herramientas sólo aparece en la versión de tableta</a:t>
            </a:r>
          </a:p>
          <a:p>
            <a:pPr marL="109220" marR="140335">
              <a:spcBef>
                <a:spcPts val="345"/>
              </a:spcBef>
            </a:pPr>
            <a:endParaRPr lang="es-ES" sz="600" spc="-5">
              <a:solidFill>
                <a:srgbClr val="50505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6EC0547-BB6C-42B1-AB8B-1382FE0DF5AA}"/>
              </a:ext>
            </a:extLst>
          </p:cNvPr>
          <p:cNvCxnSpPr>
            <a:cxnSpLocks/>
          </p:cNvCxnSpPr>
          <p:nvPr/>
        </p:nvCxnSpPr>
        <p:spPr>
          <a:xfrm flipH="1">
            <a:off x="2564512" y="2667000"/>
            <a:ext cx="1980947" cy="0"/>
          </a:xfrm>
          <a:prstGeom prst="line">
            <a:avLst/>
          </a:prstGeom>
          <a:ln w="38100">
            <a:solidFill>
              <a:srgbClr val="6264A7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bject 13">
            <a:extLst>
              <a:ext uri="{FF2B5EF4-FFF2-40B4-BE49-F238E27FC236}">
                <a16:creationId xmlns:a16="http://schemas.microsoft.com/office/drawing/2014/main" id="{0E14605E-EDE9-4F5F-AC4F-1D07EB5A9C09}"/>
              </a:ext>
            </a:extLst>
          </p:cNvPr>
          <p:cNvSpPr txBox="1"/>
          <p:nvPr/>
        </p:nvSpPr>
        <p:spPr>
          <a:xfrm>
            <a:off x="3967703" y="2130841"/>
            <a:ext cx="1909233" cy="767518"/>
          </a:xfrm>
          <a:custGeom>
            <a:avLst/>
            <a:gdLst>
              <a:gd name="connsiteX0" fmla="*/ 0 w 1263650"/>
              <a:gd name="connsiteY0" fmla="*/ 0 h 782907"/>
              <a:gd name="connsiteX1" fmla="*/ 1263650 w 1263650"/>
              <a:gd name="connsiteY1" fmla="*/ 0 h 782907"/>
              <a:gd name="connsiteX2" fmla="*/ 1263650 w 1263650"/>
              <a:gd name="connsiteY2" fmla="*/ 782907 h 782907"/>
              <a:gd name="connsiteX3" fmla="*/ 0 w 1263650"/>
              <a:gd name="connsiteY3" fmla="*/ 782907 h 782907"/>
              <a:gd name="connsiteX4" fmla="*/ 0 w 1263650"/>
              <a:gd name="connsiteY4" fmla="*/ 0 h 782907"/>
              <a:gd name="connsiteX0" fmla="*/ 0 w 1266828"/>
              <a:gd name="connsiteY0" fmla="*/ 0 h 782907"/>
              <a:gd name="connsiteX1" fmla="*/ 1263650 w 1266828"/>
              <a:gd name="connsiteY1" fmla="*/ 0 h 782907"/>
              <a:gd name="connsiteX2" fmla="*/ 1266828 w 1266828"/>
              <a:gd name="connsiteY2" fmla="*/ 188254 h 782907"/>
              <a:gd name="connsiteX3" fmla="*/ 1263650 w 1266828"/>
              <a:gd name="connsiteY3" fmla="*/ 782907 h 782907"/>
              <a:gd name="connsiteX4" fmla="*/ 0 w 1266828"/>
              <a:gd name="connsiteY4" fmla="*/ 782907 h 782907"/>
              <a:gd name="connsiteX5" fmla="*/ 0 w 1266828"/>
              <a:gd name="connsiteY5" fmla="*/ 0 h 782907"/>
              <a:gd name="connsiteX0" fmla="*/ 3172 w 1270000"/>
              <a:gd name="connsiteY0" fmla="*/ 0 h 782907"/>
              <a:gd name="connsiteX1" fmla="*/ 1266822 w 1270000"/>
              <a:gd name="connsiteY1" fmla="*/ 0 h 782907"/>
              <a:gd name="connsiteX2" fmla="*/ 1270000 w 1270000"/>
              <a:gd name="connsiteY2" fmla="*/ 188254 h 782907"/>
              <a:gd name="connsiteX3" fmla="*/ 1266822 w 1270000"/>
              <a:gd name="connsiteY3" fmla="*/ 782907 h 782907"/>
              <a:gd name="connsiteX4" fmla="*/ 3172 w 1270000"/>
              <a:gd name="connsiteY4" fmla="*/ 782907 h 782907"/>
              <a:gd name="connsiteX5" fmla="*/ 0 w 1270000"/>
              <a:gd name="connsiteY5" fmla="*/ 509987 h 782907"/>
              <a:gd name="connsiteX6" fmla="*/ 3172 w 1270000"/>
              <a:gd name="connsiteY6" fmla="*/ 0 h 782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70000" h="782907">
                <a:moveTo>
                  <a:pt x="3172" y="0"/>
                </a:moveTo>
                <a:lnTo>
                  <a:pt x="1266822" y="0"/>
                </a:lnTo>
                <a:cubicBezTo>
                  <a:pt x="1267881" y="62751"/>
                  <a:pt x="1268941" y="125503"/>
                  <a:pt x="1270000" y="188254"/>
                </a:cubicBezTo>
                <a:cubicBezTo>
                  <a:pt x="1268941" y="386472"/>
                  <a:pt x="1267881" y="584689"/>
                  <a:pt x="1266822" y="782907"/>
                </a:cubicBezTo>
                <a:lnTo>
                  <a:pt x="3172" y="782907"/>
                </a:lnTo>
                <a:cubicBezTo>
                  <a:pt x="2115" y="691934"/>
                  <a:pt x="1057" y="600960"/>
                  <a:pt x="0" y="509987"/>
                </a:cubicBezTo>
                <a:cubicBezTo>
                  <a:pt x="1057" y="339991"/>
                  <a:pt x="2115" y="169996"/>
                  <a:pt x="3172" y="0"/>
                </a:cubicBezTo>
                <a:close/>
              </a:path>
            </a:pathLst>
          </a:custGeom>
          <a:solidFill>
            <a:srgbClr val="E6E6E6"/>
          </a:solidFill>
        </p:spPr>
        <p:txBody>
          <a:bodyPr vert="horz" wrap="square" lIns="0" tIns="43815" rIns="0" bIns="0" rtlCol="0">
            <a:spAutoFit/>
          </a:bodyPr>
          <a:lstStyle/>
          <a:p>
            <a:pPr marL="109220" marR="140335">
              <a:spcBef>
                <a:spcPts val="345"/>
              </a:spcBef>
            </a:pPr>
            <a:r>
              <a:rPr lang="es-ES" sz="900" b="1" spc="-5">
                <a:latin typeface="Segoe UI" panose="020B0502040204020203" pitchFamily="34" charset="0"/>
                <a:cs typeface="Segoe UI" panose="020B0502040204020203" pitchFamily="34" charset="0"/>
              </a:rPr>
              <a:t>Ventana de chat</a:t>
            </a:r>
          </a:p>
          <a:p>
            <a:pPr marL="109220" marR="140335">
              <a:spcBef>
                <a:spcPts val="345"/>
              </a:spcBef>
            </a:pPr>
            <a:r>
              <a:rPr lang="es-ES" sz="900" spc="-5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La interfaz está adaptada a cada dispositivo, pero tienen la misma funcionalidad</a:t>
            </a:r>
          </a:p>
          <a:p>
            <a:pPr marL="109220" marR="140335">
              <a:spcBef>
                <a:spcPts val="345"/>
              </a:spcBef>
            </a:pPr>
            <a:endParaRPr lang="es-ES" sz="600" spc="-5">
              <a:solidFill>
                <a:srgbClr val="50505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4" name="object 4">
            <a:extLst>
              <a:ext uri="{FF2B5EF4-FFF2-40B4-BE49-F238E27FC236}">
                <a16:creationId xmlns:a16="http://schemas.microsoft.com/office/drawing/2014/main" id="{345D6627-4884-423C-BF89-745FE7676378}"/>
              </a:ext>
            </a:extLst>
          </p:cNvPr>
          <p:cNvSpPr/>
          <p:nvPr/>
        </p:nvSpPr>
        <p:spPr>
          <a:xfrm>
            <a:off x="12395200" y="183446"/>
            <a:ext cx="1331975" cy="59893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6235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4808B5F-2391-4C64-902E-66B3F55F342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0103" y="2176980"/>
            <a:ext cx="2372698" cy="513614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" name="object 2"/>
          <p:cNvSpPr txBox="1"/>
          <p:nvPr/>
        </p:nvSpPr>
        <p:spPr>
          <a:xfrm>
            <a:off x="311391" y="979897"/>
            <a:ext cx="11474209" cy="590546"/>
          </a:xfrm>
          <a:prstGeom prst="rect">
            <a:avLst/>
          </a:prstGeom>
        </p:spPr>
        <p:txBody>
          <a:bodyPr vert="horz" wrap="square" lIns="0" tIns="158115" rIns="0" bIns="0" rtlCol="0">
            <a:spAutoFit/>
          </a:bodyPr>
          <a:lstStyle/>
          <a:p>
            <a:pPr marL="12700">
              <a:spcBef>
                <a:spcPts val="1245"/>
              </a:spcBef>
            </a:pPr>
            <a:r>
              <a:rPr lang="es-ES" sz="2800" spc="-5">
                <a:solidFill>
                  <a:srgbClr val="6264A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Notificaciones y opciones comunes</a:t>
            </a:r>
            <a:endParaRPr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11391" y="147378"/>
            <a:ext cx="13194818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lang="es-ES" sz="3600" spc="-10">
                <a:latin typeface="Segoe UI" panose="020B0502040204020203" pitchFamily="34" charset="0"/>
                <a:cs typeface="Segoe UI" panose="020B0502040204020203" pitchFamily="34" charset="0"/>
              </a:rPr>
              <a:t>Microsoft</a:t>
            </a:r>
            <a:r>
              <a:rPr lang="es-ES" sz="3600" spc="-35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s-ES" sz="3600" spc="-95">
                <a:latin typeface="Segoe UI" panose="020B0502040204020203" pitchFamily="34" charset="0"/>
                <a:cs typeface="Segoe UI" panose="020B0502040204020203" pitchFamily="34" charset="0"/>
              </a:rPr>
              <a:t>Teams – conversaciones en el móvil o la tableta</a:t>
            </a:r>
            <a:endParaRPr sz="3600" spc="-95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06161C17-4730-4F56-899C-B83E142D42B1}"/>
              </a:ext>
            </a:extLst>
          </p:cNvPr>
          <p:cNvCxnSpPr>
            <a:cxnSpLocks/>
            <a:stCxn id="42" idx="5"/>
          </p:cNvCxnSpPr>
          <p:nvPr/>
        </p:nvCxnSpPr>
        <p:spPr>
          <a:xfrm flipH="1">
            <a:off x="1498601" y="2811241"/>
            <a:ext cx="2362200" cy="4104878"/>
          </a:xfrm>
          <a:prstGeom prst="bentConnector4">
            <a:avLst>
              <a:gd name="adj1" fmla="val 21865"/>
              <a:gd name="adj2" fmla="val 99606"/>
            </a:avLst>
          </a:prstGeom>
          <a:ln w="38100">
            <a:solidFill>
              <a:srgbClr val="6264A7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bject 4">
            <a:extLst>
              <a:ext uri="{FF2B5EF4-FFF2-40B4-BE49-F238E27FC236}">
                <a16:creationId xmlns:a16="http://schemas.microsoft.com/office/drawing/2014/main" id="{2D809F87-A553-433E-9D8D-FE9B8FB3B98B}"/>
              </a:ext>
            </a:extLst>
          </p:cNvPr>
          <p:cNvSpPr/>
          <p:nvPr/>
        </p:nvSpPr>
        <p:spPr>
          <a:xfrm>
            <a:off x="12395200" y="183446"/>
            <a:ext cx="1331975" cy="59893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6EC0547-BB6C-42B1-AB8B-1382FE0DF5AA}"/>
              </a:ext>
            </a:extLst>
          </p:cNvPr>
          <p:cNvCxnSpPr>
            <a:cxnSpLocks/>
          </p:cNvCxnSpPr>
          <p:nvPr/>
        </p:nvCxnSpPr>
        <p:spPr>
          <a:xfrm flipH="1">
            <a:off x="2413000" y="2362200"/>
            <a:ext cx="2132460" cy="0"/>
          </a:xfrm>
          <a:prstGeom prst="line">
            <a:avLst/>
          </a:prstGeom>
          <a:ln w="38100">
            <a:solidFill>
              <a:srgbClr val="6264A7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bject 13">
            <a:extLst>
              <a:ext uri="{FF2B5EF4-FFF2-40B4-BE49-F238E27FC236}">
                <a16:creationId xmlns:a16="http://schemas.microsoft.com/office/drawing/2014/main" id="{0E14605E-EDE9-4F5F-AC4F-1D07EB5A9C09}"/>
              </a:ext>
            </a:extLst>
          </p:cNvPr>
          <p:cNvSpPr txBox="1"/>
          <p:nvPr/>
        </p:nvSpPr>
        <p:spPr>
          <a:xfrm>
            <a:off x="3860801" y="2130841"/>
            <a:ext cx="2016136" cy="1044517"/>
          </a:xfrm>
          <a:custGeom>
            <a:avLst/>
            <a:gdLst>
              <a:gd name="connsiteX0" fmla="*/ 0 w 1263650"/>
              <a:gd name="connsiteY0" fmla="*/ 0 h 782907"/>
              <a:gd name="connsiteX1" fmla="*/ 1263650 w 1263650"/>
              <a:gd name="connsiteY1" fmla="*/ 0 h 782907"/>
              <a:gd name="connsiteX2" fmla="*/ 1263650 w 1263650"/>
              <a:gd name="connsiteY2" fmla="*/ 782907 h 782907"/>
              <a:gd name="connsiteX3" fmla="*/ 0 w 1263650"/>
              <a:gd name="connsiteY3" fmla="*/ 782907 h 782907"/>
              <a:gd name="connsiteX4" fmla="*/ 0 w 1263650"/>
              <a:gd name="connsiteY4" fmla="*/ 0 h 782907"/>
              <a:gd name="connsiteX0" fmla="*/ 0 w 1266828"/>
              <a:gd name="connsiteY0" fmla="*/ 0 h 782907"/>
              <a:gd name="connsiteX1" fmla="*/ 1263650 w 1266828"/>
              <a:gd name="connsiteY1" fmla="*/ 0 h 782907"/>
              <a:gd name="connsiteX2" fmla="*/ 1266828 w 1266828"/>
              <a:gd name="connsiteY2" fmla="*/ 188254 h 782907"/>
              <a:gd name="connsiteX3" fmla="*/ 1263650 w 1266828"/>
              <a:gd name="connsiteY3" fmla="*/ 782907 h 782907"/>
              <a:gd name="connsiteX4" fmla="*/ 0 w 1266828"/>
              <a:gd name="connsiteY4" fmla="*/ 782907 h 782907"/>
              <a:gd name="connsiteX5" fmla="*/ 0 w 1266828"/>
              <a:gd name="connsiteY5" fmla="*/ 0 h 782907"/>
              <a:gd name="connsiteX0" fmla="*/ 3172 w 1270000"/>
              <a:gd name="connsiteY0" fmla="*/ 0 h 782907"/>
              <a:gd name="connsiteX1" fmla="*/ 1266822 w 1270000"/>
              <a:gd name="connsiteY1" fmla="*/ 0 h 782907"/>
              <a:gd name="connsiteX2" fmla="*/ 1270000 w 1270000"/>
              <a:gd name="connsiteY2" fmla="*/ 188254 h 782907"/>
              <a:gd name="connsiteX3" fmla="*/ 1266822 w 1270000"/>
              <a:gd name="connsiteY3" fmla="*/ 782907 h 782907"/>
              <a:gd name="connsiteX4" fmla="*/ 3172 w 1270000"/>
              <a:gd name="connsiteY4" fmla="*/ 782907 h 782907"/>
              <a:gd name="connsiteX5" fmla="*/ 0 w 1270000"/>
              <a:gd name="connsiteY5" fmla="*/ 509987 h 782907"/>
              <a:gd name="connsiteX6" fmla="*/ 3172 w 1270000"/>
              <a:gd name="connsiteY6" fmla="*/ 0 h 782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70000" h="782907">
                <a:moveTo>
                  <a:pt x="3172" y="0"/>
                </a:moveTo>
                <a:lnTo>
                  <a:pt x="1266822" y="0"/>
                </a:lnTo>
                <a:cubicBezTo>
                  <a:pt x="1267881" y="62751"/>
                  <a:pt x="1268941" y="125503"/>
                  <a:pt x="1270000" y="188254"/>
                </a:cubicBezTo>
                <a:cubicBezTo>
                  <a:pt x="1268941" y="386472"/>
                  <a:pt x="1267881" y="584689"/>
                  <a:pt x="1266822" y="782907"/>
                </a:cubicBezTo>
                <a:lnTo>
                  <a:pt x="3172" y="782907"/>
                </a:lnTo>
                <a:cubicBezTo>
                  <a:pt x="2115" y="691934"/>
                  <a:pt x="1057" y="600960"/>
                  <a:pt x="0" y="509987"/>
                </a:cubicBezTo>
                <a:cubicBezTo>
                  <a:pt x="1057" y="339991"/>
                  <a:pt x="2115" y="169996"/>
                  <a:pt x="3172" y="0"/>
                </a:cubicBezTo>
                <a:close/>
              </a:path>
            </a:pathLst>
          </a:custGeom>
          <a:solidFill>
            <a:srgbClr val="E6E6E6"/>
          </a:solidFill>
        </p:spPr>
        <p:txBody>
          <a:bodyPr vert="horz" wrap="square" lIns="0" tIns="43815" rIns="0" bIns="0" rtlCol="0">
            <a:spAutoFit/>
          </a:bodyPr>
          <a:lstStyle/>
          <a:p>
            <a:pPr marL="109220" marR="140335">
              <a:spcBef>
                <a:spcPts val="345"/>
              </a:spcBef>
            </a:pPr>
            <a:r>
              <a:rPr lang="es-ES" sz="900" b="1" spc="-5">
                <a:latin typeface="Segoe UI" panose="020B0502040204020203" pitchFamily="34" charset="0"/>
                <a:cs typeface="Segoe UI" panose="020B0502040204020203" pitchFamily="34" charset="0"/>
              </a:rPr>
              <a:t>Notificaciones dentro de la app</a:t>
            </a:r>
          </a:p>
          <a:p>
            <a:pPr marL="109220" marR="140335">
              <a:spcBef>
                <a:spcPts val="345"/>
              </a:spcBef>
            </a:pPr>
            <a:r>
              <a:rPr lang="es-ES" sz="900" spc="-5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Cuando se recibe un mensaje de chat, se muestra una notificación estándar en la parte superior, y además aparece un indicador en la barra de herramientas</a:t>
            </a:r>
          </a:p>
          <a:p>
            <a:pPr marL="109220" marR="140335">
              <a:spcBef>
                <a:spcPts val="345"/>
              </a:spcBef>
            </a:pPr>
            <a:endParaRPr lang="es-ES" sz="600" spc="-5">
              <a:solidFill>
                <a:srgbClr val="50505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F382926F-4945-4E60-8AFA-DB2C5843449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41102" y="2130841"/>
            <a:ext cx="2372697" cy="513614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5" name="Picture 24" descr="A screenshot of a cell phone&#10;&#10;Description automatically generated">
            <a:extLst>
              <a:ext uri="{FF2B5EF4-FFF2-40B4-BE49-F238E27FC236}">
                <a16:creationId xmlns:a16="http://schemas.microsoft.com/office/drawing/2014/main" id="{C7DA1A5F-A088-4007-A9B8-C88B21FCF861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173"/>
          <a:stretch/>
        </p:blipFill>
        <p:spPr>
          <a:xfrm>
            <a:off x="9531697" y="4967332"/>
            <a:ext cx="2471849" cy="2345794"/>
          </a:xfrm>
          <a:prstGeom prst="round2SameRect">
            <a:avLst>
              <a:gd name="adj1" fmla="val 4737"/>
              <a:gd name="adj2" fmla="val 0"/>
            </a:avLst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776DCDB-87C8-47E4-BAFA-CFF328A9D697}"/>
              </a:ext>
            </a:extLst>
          </p:cNvPr>
          <p:cNvCxnSpPr>
            <a:cxnSpLocks/>
          </p:cNvCxnSpPr>
          <p:nvPr/>
        </p:nvCxnSpPr>
        <p:spPr>
          <a:xfrm>
            <a:off x="8661400" y="6248400"/>
            <a:ext cx="870297" cy="0"/>
          </a:xfrm>
          <a:prstGeom prst="line">
            <a:avLst/>
          </a:prstGeom>
          <a:ln w="38100">
            <a:solidFill>
              <a:srgbClr val="6264A7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A29A2EB-7841-4D6B-93E6-848E8136339F}"/>
              </a:ext>
            </a:extLst>
          </p:cNvPr>
          <p:cNvCxnSpPr>
            <a:cxnSpLocks/>
          </p:cNvCxnSpPr>
          <p:nvPr/>
        </p:nvCxnSpPr>
        <p:spPr>
          <a:xfrm>
            <a:off x="9956800" y="3581400"/>
            <a:ext cx="0" cy="1385932"/>
          </a:xfrm>
          <a:prstGeom prst="line">
            <a:avLst/>
          </a:prstGeom>
          <a:ln w="38100">
            <a:solidFill>
              <a:srgbClr val="6264A7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object 13">
            <a:extLst>
              <a:ext uri="{FF2B5EF4-FFF2-40B4-BE49-F238E27FC236}">
                <a16:creationId xmlns:a16="http://schemas.microsoft.com/office/drawing/2014/main" id="{7CFB04DE-818F-4189-9FD7-7700F57F397E}"/>
              </a:ext>
            </a:extLst>
          </p:cNvPr>
          <p:cNvSpPr txBox="1"/>
          <p:nvPr/>
        </p:nvSpPr>
        <p:spPr>
          <a:xfrm>
            <a:off x="9531697" y="2894771"/>
            <a:ext cx="1912808" cy="767518"/>
          </a:xfrm>
          <a:custGeom>
            <a:avLst/>
            <a:gdLst>
              <a:gd name="connsiteX0" fmla="*/ 0 w 1263650"/>
              <a:gd name="connsiteY0" fmla="*/ 0 h 782907"/>
              <a:gd name="connsiteX1" fmla="*/ 1263650 w 1263650"/>
              <a:gd name="connsiteY1" fmla="*/ 0 h 782907"/>
              <a:gd name="connsiteX2" fmla="*/ 1263650 w 1263650"/>
              <a:gd name="connsiteY2" fmla="*/ 782907 h 782907"/>
              <a:gd name="connsiteX3" fmla="*/ 0 w 1263650"/>
              <a:gd name="connsiteY3" fmla="*/ 782907 h 782907"/>
              <a:gd name="connsiteX4" fmla="*/ 0 w 1263650"/>
              <a:gd name="connsiteY4" fmla="*/ 0 h 782907"/>
              <a:gd name="connsiteX0" fmla="*/ 0 w 1266828"/>
              <a:gd name="connsiteY0" fmla="*/ 0 h 782907"/>
              <a:gd name="connsiteX1" fmla="*/ 1263650 w 1266828"/>
              <a:gd name="connsiteY1" fmla="*/ 0 h 782907"/>
              <a:gd name="connsiteX2" fmla="*/ 1266828 w 1266828"/>
              <a:gd name="connsiteY2" fmla="*/ 188254 h 782907"/>
              <a:gd name="connsiteX3" fmla="*/ 1263650 w 1266828"/>
              <a:gd name="connsiteY3" fmla="*/ 782907 h 782907"/>
              <a:gd name="connsiteX4" fmla="*/ 0 w 1266828"/>
              <a:gd name="connsiteY4" fmla="*/ 782907 h 782907"/>
              <a:gd name="connsiteX5" fmla="*/ 0 w 1266828"/>
              <a:gd name="connsiteY5" fmla="*/ 0 h 782907"/>
              <a:gd name="connsiteX0" fmla="*/ 3172 w 1270000"/>
              <a:gd name="connsiteY0" fmla="*/ 0 h 782907"/>
              <a:gd name="connsiteX1" fmla="*/ 1266822 w 1270000"/>
              <a:gd name="connsiteY1" fmla="*/ 0 h 782907"/>
              <a:gd name="connsiteX2" fmla="*/ 1270000 w 1270000"/>
              <a:gd name="connsiteY2" fmla="*/ 188254 h 782907"/>
              <a:gd name="connsiteX3" fmla="*/ 1266822 w 1270000"/>
              <a:gd name="connsiteY3" fmla="*/ 782907 h 782907"/>
              <a:gd name="connsiteX4" fmla="*/ 3172 w 1270000"/>
              <a:gd name="connsiteY4" fmla="*/ 782907 h 782907"/>
              <a:gd name="connsiteX5" fmla="*/ 0 w 1270000"/>
              <a:gd name="connsiteY5" fmla="*/ 509987 h 782907"/>
              <a:gd name="connsiteX6" fmla="*/ 3172 w 1270000"/>
              <a:gd name="connsiteY6" fmla="*/ 0 h 782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70000" h="782907">
                <a:moveTo>
                  <a:pt x="3172" y="0"/>
                </a:moveTo>
                <a:lnTo>
                  <a:pt x="1266822" y="0"/>
                </a:lnTo>
                <a:cubicBezTo>
                  <a:pt x="1267881" y="62751"/>
                  <a:pt x="1268941" y="125503"/>
                  <a:pt x="1270000" y="188254"/>
                </a:cubicBezTo>
                <a:cubicBezTo>
                  <a:pt x="1268941" y="386472"/>
                  <a:pt x="1267881" y="584689"/>
                  <a:pt x="1266822" y="782907"/>
                </a:cubicBezTo>
                <a:lnTo>
                  <a:pt x="3172" y="782907"/>
                </a:lnTo>
                <a:cubicBezTo>
                  <a:pt x="2115" y="691934"/>
                  <a:pt x="1057" y="600960"/>
                  <a:pt x="0" y="509987"/>
                </a:cubicBezTo>
                <a:cubicBezTo>
                  <a:pt x="1057" y="339991"/>
                  <a:pt x="2115" y="169996"/>
                  <a:pt x="3172" y="0"/>
                </a:cubicBezTo>
                <a:close/>
              </a:path>
            </a:pathLst>
          </a:custGeom>
          <a:solidFill>
            <a:srgbClr val="E6E6E6"/>
          </a:solidFill>
        </p:spPr>
        <p:txBody>
          <a:bodyPr vert="horz" wrap="square" lIns="0" tIns="43815" rIns="0" bIns="0" rtlCol="0">
            <a:spAutoFit/>
          </a:bodyPr>
          <a:lstStyle/>
          <a:p>
            <a:pPr marL="109220" marR="140335">
              <a:spcBef>
                <a:spcPts val="345"/>
              </a:spcBef>
            </a:pPr>
            <a:r>
              <a:rPr lang="es-ES" sz="900" b="1" spc="-5">
                <a:latin typeface="Segoe UI" panose="020B0502040204020203" pitchFamily="34" charset="0"/>
                <a:cs typeface="Segoe UI" panose="020B0502040204020203" pitchFamily="34" charset="0"/>
              </a:rPr>
              <a:t>Opciones de mensaje</a:t>
            </a:r>
          </a:p>
          <a:p>
            <a:pPr marL="109220" marR="140335">
              <a:spcBef>
                <a:spcPts val="345"/>
              </a:spcBef>
            </a:pPr>
            <a:r>
              <a:rPr lang="es-ES" sz="900" spc="-5">
                <a:solidFill>
                  <a:srgbClr val="505050"/>
                </a:solidFill>
                <a:latin typeface="Gadugi"/>
                <a:cs typeface="Gadugi"/>
              </a:rPr>
              <a:t>Manteniendo pulsado sobre un mensaje aparecen las opciones típicas de respuesta</a:t>
            </a:r>
          </a:p>
          <a:p>
            <a:pPr marL="109220" marR="140335">
              <a:spcBef>
                <a:spcPts val="345"/>
              </a:spcBef>
            </a:pPr>
            <a:endParaRPr lang="es-ES" sz="600" spc="-5">
              <a:solidFill>
                <a:srgbClr val="50505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9820E514-AE7A-4620-B951-2CE9C39AC5B7}"/>
              </a:ext>
            </a:extLst>
          </p:cNvPr>
          <p:cNvCxnSpPr>
            <a:cxnSpLocks/>
          </p:cNvCxnSpPr>
          <p:nvPr/>
        </p:nvCxnSpPr>
        <p:spPr>
          <a:xfrm flipH="1">
            <a:off x="11897360" y="5181600"/>
            <a:ext cx="685800" cy="0"/>
          </a:xfrm>
          <a:prstGeom prst="line">
            <a:avLst/>
          </a:prstGeom>
          <a:ln w="38100">
            <a:solidFill>
              <a:srgbClr val="6264A7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18A42D3C-C330-44A4-B65D-378AA85D99DC}"/>
              </a:ext>
            </a:extLst>
          </p:cNvPr>
          <p:cNvCxnSpPr>
            <a:cxnSpLocks/>
          </p:cNvCxnSpPr>
          <p:nvPr/>
        </p:nvCxnSpPr>
        <p:spPr>
          <a:xfrm flipV="1">
            <a:off x="12565063" y="4343400"/>
            <a:ext cx="0" cy="854076"/>
          </a:xfrm>
          <a:prstGeom prst="line">
            <a:avLst/>
          </a:prstGeom>
          <a:ln w="38100">
            <a:solidFill>
              <a:srgbClr val="6264A7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bject 13">
            <a:extLst>
              <a:ext uri="{FF2B5EF4-FFF2-40B4-BE49-F238E27FC236}">
                <a16:creationId xmlns:a16="http://schemas.microsoft.com/office/drawing/2014/main" id="{437642CC-A837-426C-8955-CB31B46441ED}"/>
              </a:ext>
            </a:extLst>
          </p:cNvPr>
          <p:cNvSpPr txBox="1"/>
          <p:nvPr/>
        </p:nvSpPr>
        <p:spPr>
          <a:xfrm>
            <a:off x="11701590" y="3515545"/>
            <a:ext cx="1912808" cy="906017"/>
          </a:xfrm>
          <a:custGeom>
            <a:avLst/>
            <a:gdLst>
              <a:gd name="connsiteX0" fmla="*/ 0 w 1263650"/>
              <a:gd name="connsiteY0" fmla="*/ 0 h 782907"/>
              <a:gd name="connsiteX1" fmla="*/ 1263650 w 1263650"/>
              <a:gd name="connsiteY1" fmla="*/ 0 h 782907"/>
              <a:gd name="connsiteX2" fmla="*/ 1263650 w 1263650"/>
              <a:gd name="connsiteY2" fmla="*/ 782907 h 782907"/>
              <a:gd name="connsiteX3" fmla="*/ 0 w 1263650"/>
              <a:gd name="connsiteY3" fmla="*/ 782907 h 782907"/>
              <a:gd name="connsiteX4" fmla="*/ 0 w 1263650"/>
              <a:gd name="connsiteY4" fmla="*/ 0 h 782907"/>
              <a:gd name="connsiteX0" fmla="*/ 0 w 1266828"/>
              <a:gd name="connsiteY0" fmla="*/ 0 h 782907"/>
              <a:gd name="connsiteX1" fmla="*/ 1263650 w 1266828"/>
              <a:gd name="connsiteY1" fmla="*/ 0 h 782907"/>
              <a:gd name="connsiteX2" fmla="*/ 1266828 w 1266828"/>
              <a:gd name="connsiteY2" fmla="*/ 188254 h 782907"/>
              <a:gd name="connsiteX3" fmla="*/ 1263650 w 1266828"/>
              <a:gd name="connsiteY3" fmla="*/ 782907 h 782907"/>
              <a:gd name="connsiteX4" fmla="*/ 0 w 1266828"/>
              <a:gd name="connsiteY4" fmla="*/ 782907 h 782907"/>
              <a:gd name="connsiteX5" fmla="*/ 0 w 1266828"/>
              <a:gd name="connsiteY5" fmla="*/ 0 h 782907"/>
              <a:gd name="connsiteX0" fmla="*/ 3172 w 1270000"/>
              <a:gd name="connsiteY0" fmla="*/ 0 h 782907"/>
              <a:gd name="connsiteX1" fmla="*/ 1266822 w 1270000"/>
              <a:gd name="connsiteY1" fmla="*/ 0 h 782907"/>
              <a:gd name="connsiteX2" fmla="*/ 1270000 w 1270000"/>
              <a:gd name="connsiteY2" fmla="*/ 188254 h 782907"/>
              <a:gd name="connsiteX3" fmla="*/ 1266822 w 1270000"/>
              <a:gd name="connsiteY3" fmla="*/ 782907 h 782907"/>
              <a:gd name="connsiteX4" fmla="*/ 3172 w 1270000"/>
              <a:gd name="connsiteY4" fmla="*/ 782907 h 782907"/>
              <a:gd name="connsiteX5" fmla="*/ 0 w 1270000"/>
              <a:gd name="connsiteY5" fmla="*/ 509987 h 782907"/>
              <a:gd name="connsiteX6" fmla="*/ 3172 w 1270000"/>
              <a:gd name="connsiteY6" fmla="*/ 0 h 782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70000" h="782907">
                <a:moveTo>
                  <a:pt x="3172" y="0"/>
                </a:moveTo>
                <a:lnTo>
                  <a:pt x="1266822" y="0"/>
                </a:lnTo>
                <a:cubicBezTo>
                  <a:pt x="1267881" y="62751"/>
                  <a:pt x="1268941" y="125503"/>
                  <a:pt x="1270000" y="188254"/>
                </a:cubicBezTo>
                <a:cubicBezTo>
                  <a:pt x="1268941" y="386472"/>
                  <a:pt x="1267881" y="584689"/>
                  <a:pt x="1266822" y="782907"/>
                </a:cubicBezTo>
                <a:lnTo>
                  <a:pt x="3172" y="782907"/>
                </a:lnTo>
                <a:cubicBezTo>
                  <a:pt x="2115" y="691934"/>
                  <a:pt x="1057" y="600960"/>
                  <a:pt x="0" y="509987"/>
                </a:cubicBezTo>
                <a:cubicBezTo>
                  <a:pt x="1057" y="339991"/>
                  <a:pt x="2115" y="169996"/>
                  <a:pt x="3172" y="0"/>
                </a:cubicBezTo>
                <a:close/>
              </a:path>
            </a:pathLst>
          </a:custGeom>
          <a:solidFill>
            <a:srgbClr val="E6E6E6"/>
          </a:solidFill>
        </p:spPr>
        <p:txBody>
          <a:bodyPr vert="horz" wrap="square" lIns="0" tIns="43815" rIns="0" bIns="0" rtlCol="0">
            <a:spAutoFit/>
          </a:bodyPr>
          <a:lstStyle/>
          <a:p>
            <a:pPr marL="109220" marR="140335">
              <a:spcBef>
                <a:spcPts val="345"/>
              </a:spcBef>
            </a:pPr>
            <a:r>
              <a:rPr lang="es-ES" sz="900" b="1" spc="-5">
                <a:latin typeface="Segoe UI" panose="020B0502040204020203" pitchFamily="34" charset="0"/>
                <a:cs typeface="Segoe UI" panose="020B0502040204020203" pitchFamily="34" charset="0"/>
              </a:rPr>
              <a:t>Truco pro</a:t>
            </a:r>
          </a:p>
          <a:p>
            <a:pPr marL="109220" marR="140335">
              <a:spcBef>
                <a:spcPts val="345"/>
              </a:spcBef>
            </a:pPr>
            <a:r>
              <a:rPr lang="es-ES" sz="900" spc="-5">
                <a:solidFill>
                  <a:srgbClr val="505050"/>
                </a:solidFill>
                <a:latin typeface="Gadugi"/>
                <a:cs typeface="Gadugi"/>
              </a:rPr>
              <a:t>En lugar de responder con texto a todo, se puede marcar un mensaje con un emoticono de </a:t>
            </a:r>
            <a:r>
              <a:rPr lang="es-ES" sz="900" i="1" spc="-5">
                <a:solidFill>
                  <a:srgbClr val="505050"/>
                </a:solidFill>
                <a:latin typeface="Gadugi"/>
                <a:cs typeface="Gadugi"/>
              </a:rPr>
              <a:t>Ok </a:t>
            </a:r>
            <a:r>
              <a:rPr lang="es-ES" sz="900" spc="-5">
                <a:solidFill>
                  <a:srgbClr val="505050"/>
                </a:solidFill>
                <a:latin typeface="Gadugi"/>
                <a:cs typeface="Gadugi"/>
              </a:rPr>
              <a:t>o </a:t>
            </a:r>
            <a:r>
              <a:rPr lang="es-ES" sz="900" i="1" spc="-5">
                <a:solidFill>
                  <a:srgbClr val="505050"/>
                </a:solidFill>
                <a:latin typeface="Gadugi"/>
                <a:cs typeface="Gadugi"/>
              </a:rPr>
              <a:t>Me gusta</a:t>
            </a:r>
          </a:p>
          <a:p>
            <a:pPr marL="109220" marR="140335">
              <a:spcBef>
                <a:spcPts val="345"/>
              </a:spcBef>
            </a:pPr>
            <a:endParaRPr lang="es-ES" sz="600" spc="-5">
              <a:solidFill>
                <a:srgbClr val="50505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8595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1391" y="979897"/>
            <a:ext cx="11474209" cy="590546"/>
          </a:xfrm>
          <a:prstGeom prst="rect">
            <a:avLst/>
          </a:prstGeom>
        </p:spPr>
        <p:txBody>
          <a:bodyPr vert="horz" wrap="square" lIns="0" tIns="158115" rIns="0" bIns="0" rtlCol="0">
            <a:spAutoFit/>
          </a:bodyPr>
          <a:lstStyle/>
          <a:p>
            <a:pPr marL="12700">
              <a:spcBef>
                <a:spcPts val="1245"/>
              </a:spcBef>
            </a:pPr>
            <a:r>
              <a:rPr lang="en-US" sz="2800" spc="-5">
                <a:solidFill>
                  <a:srgbClr val="6264A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Documentos enlazados y aplicaciones de chat</a:t>
            </a:r>
            <a:endParaRPr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11391" y="147378"/>
            <a:ext cx="13194818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lang="es-ES" sz="3600" spc="-10">
                <a:latin typeface="Segoe UI" panose="020B0502040204020203" pitchFamily="34" charset="0"/>
                <a:cs typeface="Segoe UI" panose="020B0502040204020203" pitchFamily="34" charset="0"/>
              </a:rPr>
              <a:t>Microsoft</a:t>
            </a:r>
            <a:r>
              <a:rPr lang="es-ES" sz="3600" spc="-35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s-ES" sz="3600" spc="-95">
                <a:latin typeface="Segoe UI" panose="020B0502040204020203" pitchFamily="34" charset="0"/>
                <a:cs typeface="Segoe UI" panose="020B0502040204020203" pitchFamily="34" charset="0"/>
              </a:rPr>
              <a:t>Teams – conversaciones en el móvil o la tableta</a:t>
            </a:r>
            <a:endParaRPr sz="3600" spc="-95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2D809F87-A553-433E-9D8D-FE9B8FB3B98B}"/>
              </a:ext>
            </a:extLst>
          </p:cNvPr>
          <p:cNvSpPr/>
          <p:nvPr/>
        </p:nvSpPr>
        <p:spPr>
          <a:xfrm>
            <a:off x="12395200" y="183446"/>
            <a:ext cx="1331975" cy="5989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F382926F-4945-4E60-8AFA-DB2C5843449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8000" y="2016164"/>
            <a:ext cx="2372697" cy="513614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7DA1A5F-A088-4007-A9B8-C88B21FCF86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65523" y="4492818"/>
            <a:ext cx="2471849" cy="1640905"/>
          </a:xfrm>
          <a:prstGeom prst="round2SameRect">
            <a:avLst>
              <a:gd name="adj1" fmla="val 4737"/>
              <a:gd name="adj2" fmla="val 0"/>
            </a:avLst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776DCDB-87C8-47E4-BAFA-CFF328A9D697}"/>
              </a:ext>
            </a:extLst>
          </p:cNvPr>
          <p:cNvCxnSpPr>
            <a:cxnSpLocks/>
          </p:cNvCxnSpPr>
          <p:nvPr/>
        </p:nvCxnSpPr>
        <p:spPr>
          <a:xfrm>
            <a:off x="2445548" y="5447923"/>
            <a:ext cx="1319975" cy="0"/>
          </a:xfrm>
          <a:prstGeom prst="line">
            <a:avLst/>
          </a:prstGeom>
          <a:ln w="38100">
            <a:solidFill>
              <a:srgbClr val="6264A7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A29A2EB-7841-4D6B-93E6-848E8136339F}"/>
              </a:ext>
            </a:extLst>
          </p:cNvPr>
          <p:cNvCxnSpPr>
            <a:cxnSpLocks/>
          </p:cNvCxnSpPr>
          <p:nvPr/>
        </p:nvCxnSpPr>
        <p:spPr>
          <a:xfrm flipV="1">
            <a:off x="4023698" y="6019800"/>
            <a:ext cx="0" cy="762001"/>
          </a:xfrm>
          <a:prstGeom prst="line">
            <a:avLst/>
          </a:prstGeom>
          <a:ln w="38100">
            <a:solidFill>
              <a:srgbClr val="6264A7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object 13">
            <a:extLst>
              <a:ext uri="{FF2B5EF4-FFF2-40B4-BE49-F238E27FC236}">
                <a16:creationId xmlns:a16="http://schemas.microsoft.com/office/drawing/2014/main" id="{7CFB04DE-818F-4189-9FD7-7700F57F397E}"/>
              </a:ext>
            </a:extLst>
          </p:cNvPr>
          <p:cNvSpPr txBox="1"/>
          <p:nvPr/>
        </p:nvSpPr>
        <p:spPr>
          <a:xfrm>
            <a:off x="3765523" y="6705069"/>
            <a:ext cx="1912808" cy="767518"/>
          </a:xfrm>
          <a:custGeom>
            <a:avLst/>
            <a:gdLst>
              <a:gd name="connsiteX0" fmla="*/ 0 w 1263650"/>
              <a:gd name="connsiteY0" fmla="*/ 0 h 782907"/>
              <a:gd name="connsiteX1" fmla="*/ 1263650 w 1263650"/>
              <a:gd name="connsiteY1" fmla="*/ 0 h 782907"/>
              <a:gd name="connsiteX2" fmla="*/ 1263650 w 1263650"/>
              <a:gd name="connsiteY2" fmla="*/ 782907 h 782907"/>
              <a:gd name="connsiteX3" fmla="*/ 0 w 1263650"/>
              <a:gd name="connsiteY3" fmla="*/ 782907 h 782907"/>
              <a:gd name="connsiteX4" fmla="*/ 0 w 1263650"/>
              <a:gd name="connsiteY4" fmla="*/ 0 h 782907"/>
              <a:gd name="connsiteX0" fmla="*/ 0 w 1266828"/>
              <a:gd name="connsiteY0" fmla="*/ 0 h 782907"/>
              <a:gd name="connsiteX1" fmla="*/ 1263650 w 1266828"/>
              <a:gd name="connsiteY1" fmla="*/ 0 h 782907"/>
              <a:gd name="connsiteX2" fmla="*/ 1266828 w 1266828"/>
              <a:gd name="connsiteY2" fmla="*/ 188254 h 782907"/>
              <a:gd name="connsiteX3" fmla="*/ 1263650 w 1266828"/>
              <a:gd name="connsiteY3" fmla="*/ 782907 h 782907"/>
              <a:gd name="connsiteX4" fmla="*/ 0 w 1266828"/>
              <a:gd name="connsiteY4" fmla="*/ 782907 h 782907"/>
              <a:gd name="connsiteX5" fmla="*/ 0 w 1266828"/>
              <a:gd name="connsiteY5" fmla="*/ 0 h 782907"/>
              <a:gd name="connsiteX0" fmla="*/ 3172 w 1270000"/>
              <a:gd name="connsiteY0" fmla="*/ 0 h 782907"/>
              <a:gd name="connsiteX1" fmla="*/ 1266822 w 1270000"/>
              <a:gd name="connsiteY1" fmla="*/ 0 h 782907"/>
              <a:gd name="connsiteX2" fmla="*/ 1270000 w 1270000"/>
              <a:gd name="connsiteY2" fmla="*/ 188254 h 782907"/>
              <a:gd name="connsiteX3" fmla="*/ 1266822 w 1270000"/>
              <a:gd name="connsiteY3" fmla="*/ 782907 h 782907"/>
              <a:gd name="connsiteX4" fmla="*/ 3172 w 1270000"/>
              <a:gd name="connsiteY4" fmla="*/ 782907 h 782907"/>
              <a:gd name="connsiteX5" fmla="*/ 0 w 1270000"/>
              <a:gd name="connsiteY5" fmla="*/ 509987 h 782907"/>
              <a:gd name="connsiteX6" fmla="*/ 3172 w 1270000"/>
              <a:gd name="connsiteY6" fmla="*/ 0 h 782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70000" h="782907">
                <a:moveTo>
                  <a:pt x="3172" y="0"/>
                </a:moveTo>
                <a:lnTo>
                  <a:pt x="1266822" y="0"/>
                </a:lnTo>
                <a:cubicBezTo>
                  <a:pt x="1267881" y="62751"/>
                  <a:pt x="1268941" y="125503"/>
                  <a:pt x="1270000" y="188254"/>
                </a:cubicBezTo>
                <a:cubicBezTo>
                  <a:pt x="1268941" y="386472"/>
                  <a:pt x="1267881" y="584689"/>
                  <a:pt x="1266822" y="782907"/>
                </a:cubicBezTo>
                <a:lnTo>
                  <a:pt x="3172" y="782907"/>
                </a:lnTo>
                <a:cubicBezTo>
                  <a:pt x="2115" y="691934"/>
                  <a:pt x="1057" y="600960"/>
                  <a:pt x="0" y="509987"/>
                </a:cubicBezTo>
                <a:cubicBezTo>
                  <a:pt x="1057" y="339991"/>
                  <a:pt x="2115" y="169996"/>
                  <a:pt x="3172" y="0"/>
                </a:cubicBezTo>
                <a:close/>
              </a:path>
            </a:pathLst>
          </a:custGeom>
          <a:solidFill>
            <a:srgbClr val="E6E6E6"/>
          </a:solidFill>
        </p:spPr>
        <p:txBody>
          <a:bodyPr vert="horz" wrap="square" lIns="0" tIns="43815" rIns="0" bIns="0" rtlCol="0">
            <a:spAutoFit/>
          </a:bodyPr>
          <a:lstStyle/>
          <a:p>
            <a:pPr marL="109220" marR="140335">
              <a:spcBef>
                <a:spcPts val="345"/>
              </a:spcBef>
            </a:pPr>
            <a:r>
              <a:rPr lang="es-ES" sz="900" b="1" spc="-5">
                <a:latin typeface="Segoe UI" panose="020B0502040204020203" pitchFamily="34" charset="0"/>
                <a:cs typeface="Segoe UI" panose="020B0502040204020203" pitchFamily="34" charset="0"/>
              </a:rPr>
              <a:t>Opciones de documento</a:t>
            </a:r>
          </a:p>
          <a:p>
            <a:pPr marL="109220" marR="140335">
              <a:spcBef>
                <a:spcPts val="345"/>
              </a:spcBef>
            </a:pPr>
            <a:r>
              <a:rPr lang="es-ES" sz="900" spc="-5">
                <a:solidFill>
                  <a:srgbClr val="505050"/>
                </a:solidFill>
                <a:latin typeface="Gadugi"/>
                <a:cs typeface="Gadugi"/>
              </a:rPr>
              <a:t>Manteniendo pulsado sobre un documento adjunto aparecen las opciones para abrir o copiar</a:t>
            </a:r>
          </a:p>
          <a:p>
            <a:pPr marL="109220" marR="140335">
              <a:spcBef>
                <a:spcPts val="345"/>
              </a:spcBef>
            </a:pPr>
            <a:endParaRPr lang="es-ES" sz="600" spc="-5">
              <a:solidFill>
                <a:srgbClr val="50505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BA8BAE1-B948-4767-AEDA-7EF34241E942}"/>
              </a:ext>
            </a:extLst>
          </p:cNvPr>
          <p:cNvCxnSpPr>
            <a:cxnSpLocks/>
          </p:cNvCxnSpPr>
          <p:nvPr/>
        </p:nvCxnSpPr>
        <p:spPr>
          <a:xfrm flipH="1">
            <a:off x="3156760" y="3295650"/>
            <a:ext cx="323040" cy="0"/>
          </a:xfrm>
          <a:prstGeom prst="line">
            <a:avLst/>
          </a:prstGeom>
          <a:ln w="38100">
            <a:solidFill>
              <a:srgbClr val="6264A7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03316E0E-1EA4-4695-9D34-F92BF3FDF619}"/>
              </a:ext>
            </a:extLst>
          </p:cNvPr>
          <p:cNvCxnSpPr>
            <a:cxnSpLocks/>
          </p:cNvCxnSpPr>
          <p:nvPr/>
        </p:nvCxnSpPr>
        <p:spPr>
          <a:xfrm>
            <a:off x="3175000" y="3276600"/>
            <a:ext cx="0" cy="2171323"/>
          </a:xfrm>
          <a:prstGeom prst="line">
            <a:avLst/>
          </a:prstGeom>
          <a:ln w="38100">
            <a:solidFill>
              <a:srgbClr val="6264A7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bject 13">
            <a:extLst>
              <a:ext uri="{FF2B5EF4-FFF2-40B4-BE49-F238E27FC236}">
                <a16:creationId xmlns:a16="http://schemas.microsoft.com/office/drawing/2014/main" id="{0E14605E-EDE9-4F5F-AC4F-1D07EB5A9C09}"/>
              </a:ext>
            </a:extLst>
          </p:cNvPr>
          <p:cNvSpPr txBox="1"/>
          <p:nvPr/>
        </p:nvSpPr>
        <p:spPr>
          <a:xfrm>
            <a:off x="3421978" y="2015136"/>
            <a:ext cx="2471848" cy="1813958"/>
          </a:xfrm>
          <a:custGeom>
            <a:avLst/>
            <a:gdLst>
              <a:gd name="connsiteX0" fmla="*/ 0 w 1263650"/>
              <a:gd name="connsiteY0" fmla="*/ 0 h 782907"/>
              <a:gd name="connsiteX1" fmla="*/ 1263650 w 1263650"/>
              <a:gd name="connsiteY1" fmla="*/ 0 h 782907"/>
              <a:gd name="connsiteX2" fmla="*/ 1263650 w 1263650"/>
              <a:gd name="connsiteY2" fmla="*/ 782907 h 782907"/>
              <a:gd name="connsiteX3" fmla="*/ 0 w 1263650"/>
              <a:gd name="connsiteY3" fmla="*/ 782907 h 782907"/>
              <a:gd name="connsiteX4" fmla="*/ 0 w 1263650"/>
              <a:gd name="connsiteY4" fmla="*/ 0 h 782907"/>
              <a:gd name="connsiteX0" fmla="*/ 0 w 1266828"/>
              <a:gd name="connsiteY0" fmla="*/ 0 h 782907"/>
              <a:gd name="connsiteX1" fmla="*/ 1263650 w 1266828"/>
              <a:gd name="connsiteY1" fmla="*/ 0 h 782907"/>
              <a:gd name="connsiteX2" fmla="*/ 1266828 w 1266828"/>
              <a:gd name="connsiteY2" fmla="*/ 188254 h 782907"/>
              <a:gd name="connsiteX3" fmla="*/ 1263650 w 1266828"/>
              <a:gd name="connsiteY3" fmla="*/ 782907 h 782907"/>
              <a:gd name="connsiteX4" fmla="*/ 0 w 1266828"/>
              <a:gd name="connsiteY4" fmla="*/ 782907 h 782907"/>
              <a:gd name="connsiteX5" fmla="*/ 0 w 1266828"/>
              <a:gd name="connsiteY5" fmla="*/ 0 h 782907"/>
              <a:gd name="connsiteX0" fmla="*/ 3172 w 1270000"/>
              <a:gd name="connsiteY0" fmla="*/ 0 h 782907"/>
              <a:gd name="connsiteX1" fmla="*/ 1266822 w 1270000"/>
              <a:gd name="connsiteY1" fmla="*/ 0 h 782907"/>
              <a:gd name="connsiteX2" fmla="*/ 1270000 w 1270000"/>
              <a:gd name="connsiteY2" fmla="*/ 188254 h 782907"/>
              <a:gd name="connsiteX3" fmla="*/ 1266822 w 1270000"/>
              <a:gd name="connsiteY3" fmla="*/ 782907 h 782907"/>
              <a:gd name="connsiteX4" fmla="*/ 3172 w 1270000"/>
              <a:gd name="connsiteY4" fmla="*/ 782907 h 782907"/>
              <a:gd name="connsiteX5" fmla="*/ 0 w 1270000"/>
              <a:gd name="connsiteY5" fmla="*/ 509987 h 782907"/>
              <a:gd name="connsiteX6" fmla="*/ 3172 w 1270000"/>
              <a:gd name="connsiteY6" fmla="*/ 0 h 782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70000" h="782907">
                <a:moveTo>
                  <a:pt x="3172" y="0"/>
                </a:moveTo>
                <a:lnTo>
                  <a:pt x="1266822" y="0"/>
                </a:lnTo>
                <a:cubicBezTo>
                  <a:pt x="1267881" y="62751"/>
                  <a:pt x="1268941" y="125503"/>
                  <a:pt x="1270000" y="188254"/>
                </a:cubicBezTo>
                <a:cubicBezTo>
                  <a:pt x="1268941" y="386472"/>
                  <a:pt x="1267881" y="584689"/>
                  <a:pt x="1266822" y="782907"/>
                </a:cubicBezTo>
                <a:lnTo>
                  <a:pt x="3172" y="782907"/>
                </a:lnTo>
                <a:cubicBezTo>
                  <a:pt x="2115" y="691934"/>
                  <a:pt x="1057" y="600960"/>
                  <a:pt x="0" y="509987"/>
                </a:cubicBezTo>
                <a:cubicBezTo>
                  <a:pt x="1057" y="339991"/>
                  <a:pt x="2115" y="169996"/>
                  <a:pt x="3172" y="0"/>
                </a:cubicBezTo>
                <a:close/>
              </a:path>
            </a:pathLst>
          </a:custGeom>
          <a:solidFill>
            <a:srgbClr val="E6E6E6"/>
          </a:solidFill>
        </p:spPr>
        <p:txBody>
          <a:bodyPr vert="horz" wrap="square" lIns="0" tIns="43815" rIns="0" bIns="0" rtlCol="0">
            <a:spAutoFit/>
          </a:bodyPr>
          <a:lstStyle/>
          <a:p>
            <a:pPr marL="109220" marR="140335">
              <a:spcBef>
                <a:spcPts val="345"/>
              </a:spcBef>
            </a:pPr>
            <a:r>
              <a:rPr lang="es-ES" sz="900" b="1" spc="-5">
                <a:latin typeface="Segoe UI" panose="020B0502040204020203" pitchFamily="34" charset="0"/>
                <a:cs typeface="Segoe UI" panose="020B0502040204020203" pitchFamily="34" charset="0"/>
              </a:rPr>
              <a:t>Documentos enlazados</a:t>
            </a:r>
          </a:p>
          <a:p>
            <a:pPr marL="109220" marR="140335">
              <a:spcBef>
                <a:spcPts val="345"/>
              </a:spcBef>
            </a:pPr>
            <a:r>
              <a:rPr lang="es-ES" sz="900" spc="-5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Cuando se adjunta un documento en un chat de Teams, el documento siempre se almacena en Office 365 (OneDrive o SharePoint).</a:t>
            </a:r>
          </a:p>
          <a:p>
            <a:pPr marL="109220" marR="140335">
              <a:spcBef>
                <a:spcPts val="345"/>
              </a:spcBef>
            </a:pPr>
            <a:r>
              <a:rPr lang="es-ES" sz="900" spc="-5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Si el documento estaba originalmente en Office 365, se comparte con los participantes del chat.</a:t>
            </a:r>
          </a:p>
          <a:p>
            <a:pPr marL="109220" marR="140335">
              <a:spcBef>
                <a:spcPts val="345"/>
              </a:spcBef>
            </a:pPr>
            <a:r>
              <a:rPr lang="es-ES" sz="900" spc="-5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Si el documento estaba en el dispositivo móvil, se sube automátivamente a OneDrive y se comparte con los participantes.</a:t>
            </a:r>
          </a:p>
          <a:p>
            <a:pPr marL="109220" marR="140335">
              <a:spcBef>
                <a:spcPts val="345"/>
              </a:spcBef>
            </a:pPr>
            <a:endParaRPr lang="es-ES" sz="600" spc="-5">
              <a:solidFill>
                <a:srgbClr val="50505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63AF4FA4-AD8B-4ED5-9658-124DFA4345D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95000" y="1980645"/>
            <a:ext cx="2372697" cy="513614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C70B33A5-A058-4F3A-A681-93EBC4E8BF3D}"/>
              </a:ext>
            </a:extLst>
          </p:cNvPr>
          <p:cNvCxnSpPr>
            <a:cxnSpLocks/>
          </p:cNvCxnSpPr>
          <p:nvPr/>
        </p:nvCxnSpPr>
        <p:spPr>
          <a:xfrm flipV="1">
            <a:off x="9310814" y="6829927"/>
            <a:ext cx="1600200" cy="1"/>
          </a:xfrm>
          <a:prstGeom prst="line">
            <a:avLst/>
          </a:prstGeom>
          <a:ln w="38100">
            <a:solidFill>
              <a:srgbClr val="6264A7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object 13">
            <a:extLst>
              <a:ext uri="{FF2B5EF4-FFF2-40B4-BE49-F238E27FC236}">
                <a16:creationId xmlns:a16="http://schemas.microsoft.com/office/drawing/2014/main" id="{E429251B-FB3F-4A47-AC88-4E89C03A3651}"/>
              </a:ext>
            </a:extLst>
          </p:cNvPr>
          <p:cNvSpPr txBox="1"/>
          <p:nvPr/>
        </p:nvSpPr>
        <p:spPr>
          <a:xfrm>
            <a:off x="7691594" y="6705069"/>
            <a:ext cx="1912808" cy="767518"/>
          </a:xfrm>
          <a:custGeom>
            <a:avLst/>
            <a:gdLst>
              <a:gd name="connsiteX0" fmla="*/ 0 w 1263650"/>
              <a:gd name="connsiteY0" fmla="*/ 0 h 782907"/>
              <a:gd name="connsiteX1" fmla="*/ 1263650 w 1263650"/>
              <a:gd name="connsiteY1" fmla="*/ 0 h 782907"/>
              <a:gd name="connsiteX2" fmla="*/ 1263650 w 1263650"/>
              <a:gd name="connsiteY2" fmla="*/ 782907 h 782907"/>
              <a:gd name="connsiteX3" fmla="*/ 0 w 1263650"/>
              <a:gd name="connsiteY3" fmla="*/ 782907 h 782907"/>
              <a:gd name="connsiteX4" fmla="*/ 0 w 1263650"/>
              <a:gd name="connsiteY4" fmla="*/ 0 h 782907"/>
              <a:gd name="connsiteX0" fmla="*/ 0 w 1266828"/>
              <a:gd name="connsiteY0" fmla="*/ 0 h 782907"/>
              <a:gd name="connsiteX1" fmla="*/ 1263650 w 1266828"/>
              <a:gd name="connsiteY1" fmla="*/ 0 h 782907"/>
              <a:gd name="connsiteX2" fmla="*/ 1266828 w 1266828"/>
              <a:gd name="connsiteY2" fmla="*/ 188254 h 782907"/>
              <a:gd name="connsiteX3" fmla="*/ 1263650 w 1266828"/>
              <a:gd name="connsiteY3" fmla="*/ 782907 h 782907"/>
              <a:gd name="connsiteX4" fmla="*/ 0 w 1266828"/>
              <a:gd name="connsiteY4" fmla="*/ 782907 h 782907"/>
              <a:gd name="connsiteX5" fmla="*/ 0 w 1266828"/>
              <a:gd name="connsiteY5" fmla="*/ 0 h 782907"/>
              <a:gd name="connsiteX0" fmla="*/ 3172 w 1270000"/>
              <a:gd name="connsiteY0" fmla="*/ 0 h 782907"/>
              <a:gd name="connsiteX1" fmla="*/ 1266822 w 1270000"/>
              <a:gd name="connsiteY1" fmla="*/ 0 h 782907"/>
              <a:gd name="connsiteX2" fmla="*/ 1270000 w 1270000"/>
              <a:gd name="connsiteY2" fmla="*/ 188254 h 782907"/>
              <a:gd name="connsiteX3" fmla="*/ 1266822 w 1270000"/>
              <a:gd name="connsiteY3" fmla="*/ 782907 h 782907"/>
              <a:gd name="connsiteX4" fmla="*/ 3172 w 1270000"/>
              <a:gd name="connsiteY4" fmla="*/ 782907 h 782907"/>
              <a:gd name="connsiteX5" fmla="*/ 0 w 1270000"/>
              <a:gd name="connsiteY5" fmla="*/ 509987 h 782907"/>
              <a:gd name="connsiteX6" fmla="*/ 3172 w 1270000"/>
              <a:gd name="connsiteY6" fmla="*/ 0 h 782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70000" h="782907">
                <a:moveTo>
                  <a:pt x="3172" y="0"/>
                </a:moveTo>
                <a:lnTo>
                  <a:pt x="1266822" y="0"/>
                </a:lnTo>
                <a:cubicBezTo>
                  <a:pt x="1267881" y="62751"/>
                  <a:pt x="1268941" y="125503"/>
                  <a:pt x="1270000" y="188254"/>
                </a:cubicBezTo>
                <a:cubicBezTo>
                  <a:pt x="1268941" y="386472"/>
                  <a:pt x="1267881" y="584689"/>
                  <a:pt x="1266822" y="782907"/>
                </a:cubicBezTo>
                <a:lnTo>
                  <a:pt x="3172" y="782907"/>
                </a:lnTo>
                <a:cubicBezTo>
                  <a:pt x="2115" y="691934"/>
                  <a:pt x="1057" y="600960"/>
                  <a:pt x="0" y="509987"/>
                </a:cubicBezTo>
                <a:cubicBezTo>
                  <a:pt x="1057" y="339991"/>
                  <a:pt x="2115" y="169996"/>
                  <a:pt x="3172" y="0"/>
                </a:cubicBezTo>
                <a:close/>
              </a:path>
            </a:pathLst>
          </a:custGeom>
          <a:solidFill>
            <a:srgbClr val="E6E6E6"/>
          </a:solidFill>
        </p:spPr>
        <p:txBody>
          <a:bodyPr vert="horz" wrap="square" lIns="0" tIns="43815" rIns="0" bIns="0" rtlCol="0">
            <a:spAutoFit/>
          </a:bodyPr>
          <a:lstStyle/>
          <a:p>
            <a:pPr marL="109220" marR="140335">
              <a:spcBef>
                <a:spcPts val="345"/>
              </a:spcBef>
            </a:pPr>
            <a:r>
              <a:rPr lang="es-ES" sz="900" b="1" spc="-5">
                <a:latin typeface="Segoe UI" panose="020B0502040204020203" pitchFamily="34" charset="0"/>
                <a:cs typeface="Segoe UI" panose="020B0502040204020203" pitchFamily="34" charset="0"/>
              </a:rPr>
              <a:t>Barra de herramientas de chat</a:t>
            </a:r>
          </a:p>
          <a:p>
            <a:pPr marL="109220" marR="140335">
              <a:spcBef>
                <a:spcPts val="345"/>
              </a:spcBef>
            </a:pPr>
            <a:r>
              <a:rPr lang="es-ES" sz="900" spc="-5">
                <a:solidFill>
                  <a:srgbClr val="505050"/>
                </a:solidFill>
                <a:latin typeface="Gadugi"/>
                <a:cs typeface="Gadugi"/>
              </a:rPr>
              <a:t>Con las opciones comunes de adjuntar, etiquetar y dar formato al texto</a:t>
            </a:r>
          </a:p>
          <a:p>
            <a:pPr marL="109220" marR="140335">
              <a:spcBef>
                <a:spcPts val="345"/>
              </a:spcBef>
            </a:pPr>
            <a:endParaRPr lang="es-ES" sz="600" spc="-5">
              <a:solidFill>
                <a:srgbClr val="50505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E59D9E36-1C29-4244-9BF1-E7846A1F1FE7}"/>
              </a:ext>
            </a:extLst>
          </p:cNvPr>
          <p:cNvCxnSpPr>
            <a:cxnSpLocks/>
          </p:cNvCxnSpPr>
          <p:nvPr/>
        </p:nvCxnSpPr>
        <p:spPr>
          <a:xfrm>
            <a:off x="12384214" y="6370638"/>
            <a:ext cx="0" cy="279398"/>
          </a:xfrm>
          <a:prstGeom prst="line">
            <a:avLst/>
          </a:prstGeom>
          <a:ln w="38100">
            <a:solidFill>
              <a:srgbClr val="6264A7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84451F68-2317-4BE7-A680-0D6224F1773F}"/>
              </a:ext>
            </a:extLst>
          </p:cNvPr>
          <p:cNvCxnSpPr>
            <a:cxnSpLocks/>
          </p:cNvCxnSpPr>
          <p:nvPr/>
        </p:nvCxnSpPr>
        <p:spPr>
          <a:xfrm>
            <a:off x="8320214" y="6388415"/>
            <a:ext cx="4081463" cy="0"/>
          </a:xfrm>
          <a:prstGeom prst="line">
            <a:avLst/>
          </a:prstGeom>
          <a:ln w="38100">
            <a:solidFill>
              <a:srgbClr val="6264A7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FD000861-4419-48E5-9233-9E7553D0B249}"/>
              </a:ext>
            </a:extLst>
          </p:cNvPr>
          <p:cNvCxnSpPr>
            <a:cxnSpLocks/>
          </p:cNvCxnSpPr>
          <p:nvPr/>
        </p:nvCxnSpPr>
        <p:spPr>
          <a:xfrm flipV="1">
            <a:off x="8244014" y="4267200"/>
            <a:ext cx="0" cy="768352"/>
          </a:xfrm>
          <a:prstGeom prst="line">
            <a:avLst/>
          </a:prstGeom>
          <a:ln w="38100">
            <a:solidFill>
              <a:srgbClr val="6264A7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object 13">
            <a:extLst>
              <a:ext uri="{FF2B5EF4-FFF2-40B4-BE49-F238E27FC236}">
                <a16:creationId xmlns:a16="http://schemas.microsoft.com/office/drawing/2014/main" id="{95EA9A6B-7E7D-418E-B9C3-B8884D1EC92C}"/>
              </a:ext>
            </a:extLst>
          </p:cNvPr>
          <p:cNvSpPr txBox="1"/>
          <p:nvPr/>
        </p:nvSpPr>
        <p:spPr>
          <a:xfrm>
            <a:off x="7873400" y="3581868"/>
            <a:ext cx="1912808" cy="906017"/>
          </a:xfrm>
          <a:custGeom>
            <a:avLst/>
            <a:gdLst>
              <a:gd name="connsiteX0" fmla="*/ 0 w 1263650"/>
              <a:gd name="connsiteY0" fmla="*/ 0 h 782907"/>
              <a:gd name="connsiteX1" fmla="*/ 1263650 w 1263650"/>
              <a:gd name="connsiteY1" fmla="*/ 0 h 782907"/>
              <a:gd name="connsiteX2" fmla="*/ 1263650 w 1263650"/>
              <a:gd name="connsiteY2" fmla="*/ 782907 h 782907"/>
              <a:gd name="connsiteX3" fmla="*/ 0 w 1263650"/>
              <a:gd name="connsiteY3" fmla="*/ 782907 h 782907"/>
              <a:gd name="connsiteX4" fmla="*/ 0 w 1263650"/>
              <a:gd name="connsiteY4" fmla="*/ 0 h 782907"/>
              <a:gd name="connsiteX0" fmla="*/ 0 w 1266828"/>
              <a:gd name="connsiteY0" fmla="*/ 0 h 782907"/>
              <a:gd name="connsiteX1" fmla="*/ 1263650 w 1266828"/>
              <a:gd name="connsiteY1" fmla="*/ 0 h 782907"/>
              <a:gd name="connsiteX2" fmla="*/ 1266828 w 1266828"/>
              <a:gd name="connsiteY2" fmla="*/ 188254 h 782907"/>
              <a:gd name="connsiteX3" fmla="*/ 1263650 w 1266828"/>
              <a:gd name="connsiteY3" fmla="*/ 782907 h 782907"/>
              <a:gd name="connsiteX4" fmla="*/ 0 w 1266828"/>
              <a:gd name="connsiteY4" fmla="*/ 782907 h 782907"/>
              <a:gd name="connsiteX5" fmla="*/ 0 w 1266828"/>
              <a:gd name="connsiteY5" fmla="*/ 0 h 782907"/>
              <a:gd name="connsiteX0" fmla="*/ 3172 w 1270000"/>
              <a:gd name="connsiteY0" fmla="*/ 0 h 782907"/>
              <a:gd name="connsiteX1" fmla="*/ 1266822 w 1270000"/>
              <a:gd name="connsiteY1" fmla="*/ 0 h 782907"/>
              <a:gd name="connsiteX2" fmla="*/ 1270000 w 1270000"/>
              <a:gd name="connsiteY2" fmla="*/ 188254 h 782907"/>
              <a:gd name="connsiteX3" fmla="*/ 1266822 w 1270000"/>
              <a:gd name="connsiteY3" fmla="*/ 782907 h 782907"/>
              <a:gd name="connsiteX4" fmla="*/ 3172 w 1270000"/>
              <a:gd name="connsiteY4" fmla="*/ 782907 h 782907"/>
              <a:gd name="connsiteX5" fmla="*/ 0 w 1270000"/>
              <a:gd name="connsiteY5" fmla="*/ 509987 h 782907"/>
              <a:gd name="connsiteX6" fmla="*/ 3172 w 1270000"/>
              <a:gd name="connsiteY6" fmla="*/ 0 h 782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70000" h="782907">
                <a:moveTo>
                  <a:pt x="3172" y="0"/>
                </a:moveTo>
                <a:lnTo>
                  <a:pt x="1266822" y="0"/>
                </a:lnTo>
                <a:cubicBezTo>
                  <a:pt x="1267881" y="62751"/>
                  <a:pt x="1268941" y="125503"/>
                  <a:pt x="1270000" y="188254"/>
                </a:cubicBezTo>
                <a:cubicBezTo>
                  <a:pt x="1268941" y="386472"/>
                  <a:pt x="1267881" y="584689"/>
                  <a:pt x="1266822" y="782907"/>
                </a:cubicBezTo>
                <a:lnTo>
                  <a:pt x="3172" y="782907"/>
                </a:lnTo>
                <a:cubicBezTo>
                  <a:pt x="2115" y="691934"/>
                  <a:pt x="1057" y="600960"/>
                  <a:pt x="0" y="509987"/>
                </a:cubicBezTo>
                <a:cubicBezTo>
                  <a:pt x="1057" y="339991"/>
                  <a:pt x="2115" y="169996"/>
                  <a:pt x="3172" y="0"/>
                </a:cubicBezTo>
                <a:close/>
              </a:path>
            </a:pathLst>
          </a:custGeom>
          <a:solidFill>
            <a:srgbClr val="E6E6E6"/>
          </a:solidFill>
        </p:spPr>
        <p:txBody>
          <a:bodyPr vert="horz" wrap="square" lIns="0" tIns="43815" rIns="0" bIns="0" rtlCol="0">
            <a:spAutoFit/>
          </a:bodyPr>
          <a:lstStyle/>
          <a:p>
            <a:pPr marL="109220" marR="140335">
              <a:spcBef>
                <a:spcPts val="345"/>
              </a:spcBef>
            </a:pPr>
            <a:r>
              <a:rPr lang="es-ES" sz="900" b="1" spc="-5">
                <a:latin typeface="Segoe UI" panose="020B0502040204020203" pitchFamily="34" charset="0"/>
                <a:cs typeface="Segoe UI" panose="020B0502040204020203" pitchFamily="34" charset="0"/>
              </a:rPr>
              <a:t>Aplicaciones</a:t>
            </a:r>
          </a:p>
          <a:p>
            <a:pPr marL="109220" marR="140335">
              <a:spcBef>
                <a:spcPts val="345"/>
              </a:spcBef>
            </a:pPr>
            <a:r>
              <a:rPr lang="es-ES" sz="900" spc="-5">
                <a:solidFill>
                  <a:srgbClr val="505050"/>
                </a:solidFill>
                <a:latin typeface="Gadugi"/>
                <a:cs typeface="Gadugi"/>
              </a:rPr>
              <a:t>Utilizando la opción de […] se puede acceder a funcionalidades especiales y aplicaciones, como por ejemplo, compartir ubicación</a:t>
            </a:r>
          </a:p>
          <a:p>
            <a:pPr marL="109220" marR="140335">
              <a:spcBef>
                <a:spcPts val="345"/>
              </a:spcBef>
            </a:pPr>
            <a:endParaRPr lang="es-ES" sz="600" spc="-5">
              <a:solidFill>
                <a:srgbClr val="50505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576936-62D1-4AA9-A3A6-2E59FE428F6B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86951" y="4960206"/>
            <a:ext cx="2500504" cy="921238"/>
          </a:xfrm>
          <a:prstGeom prst="round2SameRect">
            <a:avLst>
              <a:gd name="adj1" fmla="val 9219"/>
              <a:gd name="adj2" fmla="val 0"/>
            </a:avLst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7AF9571C-3F1F-4BE2-9DA6-C69D642F8530}"/>
              </a:ext>
            </a:extLst>
          </p:cNvPr>
          <p:cNvCxnSpPr>
            <a:cxnSpLocks/>
          </p:cNvCxnSpPr>
          <p:nvPr/>
        </p:nvCxnSpPr>
        <p:spPr>
          <a:xfrm>
            <a:off x="8736132" y="5485789"/>
            <a:ext cx="2617909" cy="1"/>
          </a:xfrm>
          <a:prstGeom prst="line">
            <a:avLst/>
          </a:prstGeom>
          <a:ln w="38100">
            <a:solidFill>
              <a:srgbClr val="6264A7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AE3EB55A-4899-4CF0-8A5D-C8AD611BB2B1}"/>
              </a:ext>
            </a:extLst>
          </p:cNvPr>
          <p:cNvCxnSpPr>
            <a:cxnSpLocks/>
          </p:cNvCxnSpPr>
          <p:nvPr/>
        </p:nvCxnSpPr>
        <p:spPr>
          <a:xfrm flipV="1">
            <a:off x="8320214" y="5638800"/>
            <a:ext cx="0" cy="768352"/>
          </a:xfrm>
          <a:prstGeom prst="line">
            <a:avLst/>
          </a:prstGeom>
          <a:ln w="38100">
            <a:solidFill>
              <a:srgbClr val="6264A7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38837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1391" y="979897"/>
            <a:ext cx="11474209" cy="870110"/>
          </a:xfrm>
          <a:prstGeom prst="rect">
            <a:avLst/>
          </a:prstGeom>
        </p:spPr>
        <p:txBody>
          <a:bodyPr vert="horz" wrap="square" lIns="0" tIns="158115" rIns="0" bIns="0" rtlCol="0">
            <a:spAutoFit/>
          </a:bodyPr>
          <a:lstStyle/>
          <a:p>
            <a:pPr marL="12700">
              <a:spcBef>
                <a:spcPts val="1245"/>
              </a:spcBef>
            </a:pPr>
            <a:r>
              <a:rPr lang="en-US" sz="2800" spc="-5">
                <a:solidFill>
                  <a:srgbClr val="6264A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Conversación de grupo</a:t>
            </a:r>
            <a:endParaRPr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2700">
              <a:spcBef>
                <a:spcPts val="525"/>
              </a:spcBef>
            </a:pPr>
            <a:r>
              <a:rPr lang="en-US" sz="1400" spc="-10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Además de chats uno a uno, se pueden establecer conversaciones de grupo seguras y persistentes</a:t>
            </a:r>
            <a:endParaRPr sz="14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11391" y="147378"/>
            <a:ext cx="13194818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lang="es-ES" sz="3600" spc="-10">
                <a:latin typeface="Segoe UI" panose="020B0502040204020203" pitchFamily="34" charset="0"/>
                <a:cs typeface="Segoe UI" panose="020B0502040204020203" pitchFamily="34" charset="0"/>
              </a:rPr>
              <a:t>Microsoft</a:t>
            </a:r>
            <a:r>
              <a:rPr lang="es-ES" sz="3600" spc="-35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s-ES" sz="3600" spc="-95">
                <a:latin typeface="Segoe UI" panose="020B0502040204020203" pitchFamily="34" charset="0"/>
                <a:cs typeface="Segoe UI" panose="020B0502040204020203" pitchFamily="34" charset="0"/>
              </a:rPr>
              <a:t>Teams – conversaciones en el móvil o la tableta</a:t>
            </a:r>
            <a:endParaRPr sz="3600" spc="-95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2D809F87-A553-433E-9D8D-FE9B8FB3B98B}"/>
              </a:ext>
            </a:extLst>
          </p:cNvPr>
          <p:cNvSpPr/>
          <p:nvPr/>
        </p:nvSpPr>
        <p:spPr>
          <a:xfrm>
            <a:off x="12395200" y="183446"/>
            <a:ext cx="1331975" cy="5989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2D8E120-3F58-445D-9032-761CB6EAB0B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4200" y="2960773"/>
            <a:ext cx="5849755" cy="438731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ED2775C-5EFD-49FD-B5F1-50C1DCB4470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44846" y="2438400"/>
            <a:ext cx="2156998" cy="466922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AAB3918-0DFA-40AD-8734-9BCD367A475E}"/>
              </a:ext>
            </a:extLst>
          </p:cNvPr>
          <p:cNvCxnSpPr>
            <a:cxnSpLocks/>
          </p:cNvCxnSpPr>
          <p:nvPr/>
        </p:nvCxnSpPr>
        <p:spPr>
          <a:xfrm>
            <a:off x="8682796" y="6134981"/>
            <a:ext cx="1618021" cy="0"/>
          </a:xfrm>
          <a:prstGeom prst="line">
            <a:avLst/>
          </a:prstGeom>
          <a:ln w="38100">
            <a:solidFill>
              <a:srgbClr val="6264A7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7EFFE1B-8F82-41FC-87F5-F07981E4894C}"/>
              </a:ext>
            </a:extLst>
          </p:cNvPr>
          <p:cNvCxnSpPr>
            <a:cxnSpLocks/>
          </p:cNvCxnSpPr>
          <p:nvPr/>
        </p:nvCxnSpPr>
        <p:spPr>
          <a:xfrm flipH="1">
            <a:off x="2226733" y="2557964"/>
            <a:ext cx="1" cy="547186"/>
          </a:xfrm>
          <a:prstGeom prst="line">
            <a:avLst/>
          </a:prstGeom>
          <a:ln w="38100">
            <a:solidFill>
              <a:srgbClr val="6264A7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bject 13">
            <a:extLst>
              <a:ext uri="{FF2B5EF4-FFF2-40B4-BE49-F238E27FC236}">
                <a16:creationId xmlns:a16="http://schemas.microsoft.com/office/drawing/2014/main" id="{3A95FA3D-CF83-4207-8F15-7B604DA97FB6}"/>
              </a:ext>
            </a:extLst>
          </p:cNvPr>
          <p:cNvSpPr txBox="1"/>
          <p:nvPr/>
        </p:nvSpPr>
        <p:spPr>
          <a:xfrm>
            <a:off x="919634" y="1961896"/>
            <a:ext cx="1909233" cy="767518"/>
          </a:xfrm>
          <a:custGeom>
            <a:avLst/>
            <a:gdLst>
              <a:gd name="connsiteX0" fmla="*/ 0 w 1263650"/>
              <a:gd name="connsiteY0" fmla="*/ 0 h 782907"/>
              <a:gd name="connsiteX1" fmla="*/ 1263650 w 1263650"/>
              <a:gd name="connsiteY1" fmla="*/ 0 h 782907"/>
              <a:gd name="connsiteX2" fmla="*/ 1263650 w 1263650"/>
              <a:gd name="connsiteY2" fmla="*/ 782907 h 782907"/>
              <a:gd name="connsiteX3" fmla="*/ 0 w 1263650"/>
              <a:gd name="connsiteY3" fmla="*/ 782907 h 782907"/>
              <a:gd name="connsiteX4" fmla="*/ 0 w 1263650"/>
              <a:gd name="connsiteY4" fmla="*/ 0 h 782907"/>
              <a:gd name="connsiteX0" fmla="*/ 0 w 1266828"/>
              <a:gd name="connsiteY0" fmla="*/ 0 h 782907"/>
              <a:gd name="connsiteX1" fmla="*/ 1263650 w 1266828"/>
              <a:gd name="connsiteY1" fmla="*/ 0 h 782907"/>
              <a:gd name="connsiteX2" fmla="*/ 1266828 w 1266828"/>
              <a:gd name="connsiteY2" fmla="*/ 188254 h 782907"/>
              <a:gd name="connsiteX3" fmla="*/ 1263650 w 1266828"/>
              <a:gd name="connsiteY3" fmla="*/ 782907 h 782907"/>
              <a:gd name="connsiteX4" fmla="*/ 0 w 1266828"/>
              <a:gd name="connsiteY4" fmla="*/ 782907 h 782907"/>
              <a:gd name="connsiteX5" fmla="*/ 0 w 1266828"/>
              <a:gd name="connsiteY5" fmla="*/ 0 h 782907"/>
              <a:gd name="connsiteX0" fmla="*/ 3172 w 1270000"/>
              <a:gd name="connsiteY0" fmla="*/ 0 h 782907"/>
              <a:gd name="connsiteX1" fmla="*/ 1266822 w 1270000"/>
              <a:gd name="connsiteY1" fmla="*/ 0 h 782907"/>
              <a:gd name="connsiteX2" fmla="*/ 1270000 w 1270000"/>
              <a:gd name="connsiteY2" fmla="*/ 188254 h 782907"/>
              <a:gd name="connsiteX3" fmla="*/ 1266822 w 1270000"/>
              <a:gd name="connsiteY3" fmla="*/ 782907 h 782907"/>
              <a:gd name="connsiteX4" fmla="*/ 3172 w 1270000"/>
              <a:gd name="connsiteY4" fmla="*/ 782907 h 782907"/>
              <a:gd name="connsiteX5" fmla="*/ 0 w 1270000"/>
              <a:gd name="connsiteY5" fmla="*/ 509987 h 782907"/>
              <a:gd name="connsiteX6" fmla="*/ 3172 w 1270000"/>
              <a:gd name="connsiteY6" fmla="*/ 0 h 782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70000" h="782907">
                <a:moveTo>
                  <a:pt x="3172" y="0"/>
                </a:moveTo>
                <a:lnTo>
                  <a:pt x="1266822" y="0"/>
                </a:lnTo>
                <a:cubicBezTo>
                  <a:pt x="1267881" y="62751"/>
                  <a:pt x="1268941" y="125503"/>
                  <a:pt x="1270000" y="188254"/>
                </a:cubicBezTo>
                <a:cubicBezTo>
                  <a:pt x="1268941" y="386472"/>
                  <a:pt x="1267881" y="584689"/>
                  <a:pt x="1266822" y="782907"/>
                </a:cubicBezTo>
                <a:lnTo>
                  <a:pt x="3172" y="782907"/>
                </a:lnTo>
                <a:cubicBezTo>
                  <a:pt x="2115" y="691934"/>
                  <a:pt x="1057" y="600960"/>
                  <a:pt x="0" y="509987"/>
                </a:cubicBezTo>
                <a:cubicBezTo>
                  <a:pt x="1057" y="339991"/>
                  <a:pt x="2115" y="169996"/>
                  <a:pt x="3172" y="0"/>
                </a:cubicBezTo>
                <a:close/>
              </a:path>
            </a:pathLst>
          </a:custGeom>
          <a:solidFill>
            <a:srgbClr val="E6E6E6"/>
          </a:solidFill>
        </p:spPr>
        <p:txBody>
          <a:bodyPr vert="horz" wrap="square" lIns="0" tIns="43815" rIns="0" bIns="0" rtlCol="0">
            <a:spAutoFit/>
          </a:bodyPr>
          <a:lstStyle/>
          <a:p>
            <a:pPr marL="109220" marR="140335">
              <a:spcBef>
                <a:spcPts val="345"/>
              </a:spcBef>
            </a:pPr>
            <a:r>
              <a:rPr lang="es-ES" sz="900" b="1" spc="-5">
                <a:latin typeface="Segoe UI" panose="020B0502040204020203" pitchFamily="34" charset="0"/>
                <a:cs typeface="Segoe UI" panose="020B0502040204020203" pitchFamily="34" charset="0"/>
              </a:rPr>
              <a:t>Nuevo chat</a:t>
            </a:r>
          </a:p>
          <a:p>
            <a:pPr marL="109220" marR="140335">
              <a:spcBef>
                <a:spcPts val="345"/>
              </a:spcBef>
            </a:pPr>
            <a:r>
              <a:rPr lang="es-ES" sz="900" spc="-5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 el botón de crear un nuevo chat se pueden añadir varias personas</a:t>
            </a:r>
          </a:p>
          <a:p>
            <a:pPr marL="109220" marR="140335">
              <a:spcBef>
                <a:spcPts val="345"/>
              </a:spcBef>
            </a:pPr>
            <a:endParaRPr lang="es-ES" sz="600" spc="-5">
              <a:solidFill>
                <a:srgbClr val="50505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FA72DFF-F341-4CAF-91E3-6461259CD548}"/>
              </a:ext>
            </a:extLst>
          </p:cNvPr>
          <p:cNvCxnSpPr>
            <a:cxnSpLocks/>
          </p:cNvCxnSpPr>
          <p:nvPr/>
        </p:nvCxnSpPr>
        <p:spPr>
          <a:xfrm>
            <a:off x="4528896" y="2631573"/>
            <a:ext cx="1" cy="487114"/>
          </a:xfrm>
          <a:prstGeom prst="line">
            <a:avLst/>
          </a:prstGeom>
          <a:ln w="38100">
            <a:solidFill>
              <a:srgbClr val="6264A7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52ACE226-06C6-4F72-A016-F4FDD9602FFE}"/>
              </a:ext>
            </a:extLst>
          </p:cNvPr>
          <p:cNvCxnSpPr>
            <a:cxnSpLocks/>
          </p:cNvCxnSpPr>
          <p:nvPr/>
        </p:nvCxnSpPr>
        <p:spPr>
          <a:xfrm>
            <a:off x="4528896" y="2650101"/>
            <a:ext cx="2532304" cy="0"/>
          </a:xfrm>
          <a:prstGeom prst="line">
            <a:avLst/>
          </a:prstGeom>
          <a:ln w="38100">
            <a:solidFill>
              <a:srgbClr val="6264A7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bject 13">
            <a:extLst>
              <a:ext uri="{FF2B5EF4-FFF2-40B4-BE49-F238E27FC236}">
                <a16:creationId xmlns:a16="http://schemas.microsoft.com/office/drawing/2014/main" id="{765C7880-78C5-43C5-BB4A-8968C98CE784}"/>
              </a:ext>
            </a:extLst>
          </p:cNvPr>
          <p:cNvSpPr txBox="1"/>
          <p:nvPr/>
        </p:nvSpPr>
        <p:spPr>
          <a:xfrm>
            <a:off x="6773563" y="2345655"/>
            <a:ext cx="1909233" cy="906017"/>
          </a:xfrm>
          <a:custGeom>
            <a:avLst/>
            <a:gdLst>
              <a:gd name="connsiteX0" fmla="*/ 0 w 1263650"/>
              <a:gd name="connsiteY0" fmla="*/ 0 h 782907"/>
              <a:gd name="connsiteX1" fmla="*/ 1263650 w 1263650"/>
              <a:gd name="connsiteY1" fmla="*/ 0 h 782907"/>
              <a:gd name="connsiteX2" fmla="*/ 1263650 w 1263650"/>
              <a:gd name="connsiteY2" fmla="*/ 782907 h 782907"/>
              <a:gd name="connsiteX3" fmla="*/ 0 w 1263650"/>
              <a:gd name="connsiteY3" fmla="*/ 782907 h 782907"/>
              <a:gd name="connsiteX4" fmla="*/ 0 w 1263650"/>
              <a:gd name="connsiteY4" fmla="*/ 0 h 782907"/>
              <a:gd name="connsiteX0" fmla="*/ 0 w 1266828"/>
              <a:gd name="connsiteY0" fmla="*/ 0 h 782907"/>
              <a:gd name="connsiteX1" fmla="*/ 1263650 w 1266828"/>
              <a:gd name="connsiteY1" fmla="*/ 0 h 782907"/>
              <a:gd name="connsiteX2" fmla="*/ 1266828 w 1266828"/>
              <a:gd name="connsiteY2" fmla="*/ 188254 h 782907"/>
              <a:gd name="connsiteX3" fmla="*/ 1263650 w 1266828"/>
              <a:gd name="connsiteY3" fmla="*/ 782907 h 782907"/>
              <a:gd name="connsiteX4" fmla="*/ 0 w 1266828"/>
              <a:gd name="connsiteY4" fmla="*/ 782907 h 782907"/>
              <a:gd name="connsiteX5" fmla="*/ 0 w 1266828"/>
              <a:gd name="connsiteY5" fmla="*/ 0 h 782907"/>
              <a:gd name="connsiteX0" fmla="*/ 3172 w 1270000"/>
              <a:gd name="connsiteY0" fmla="*/ 0 h 782907"/>
              <a:gd name="connsiteX1" fmla="*/ 1266822 w 1270000"/>
              <a:gd name="connsiteY1" fmla="*/ 0 h 782907"/>
              <a:gd name="connsiteX2" fmla="*/ 1270000 w 1270000"/>
              <a:gd name="connsiteY2" fmla="*/ 188254 h 782907"/>
              <a:gd name="connsiteX3" fmla="*/ 1266822 w 1270000"/>
              <a:gd name="connsiteY3" fmla="*/ 782907 h 782907"/>
              <a:gd name="connsiteX4" fmla="*/ 3172 w 1270000"/>
              <a:gd name="connsiteY4" fmla="*/ 782907 h 782907"/>
              <a:gd name="connsiteX5" fmla="*/ 0 w 1270000"/>
              <a:gd name="connsiteY5" fmla="*/ 509987 h 782907"/>
              <a:gd name="connsiteX6" fmla="*/ 3172 w 1270000"/>
              <a:gd name="connsiteY6" fmla="*/ 0 h 782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70000" h="782907">
                <a:moveTo>
                  <a:pt x="3172" y="0"/>
                </a:moveTo>
                <a:lnTo>
                  <a:pt x="1266822" y="0"/>
                </a:lnTo>
                <a:cubicBezTo>
                  <a:pt x="1267881" y="62751"/>
                  <a:pt x="1268941" y="125503"/>
                  <a:pt x="1270000" y="188254"/>
                </a:cubicBezTo>
                <a:cubicBezTo>
                  <a:pt x="1268941" y="386472"/>
                  <a:pt x="1267881" y="584689"/>
                  <a:pt x="1266822" y="782907"/>
                </a:cubicBezTo>
                <a:lnTo>
                  <a:pt x="3172" y="782907"/>
                </a:lnTo>
                <a:cubicBezTo>
                  <a:pt x="2115" y="691934"/>
                  <a:pt x="1057" y="600960"/>
                  <a:pt x="0" y="509987"/>
                </a:cubicBezTo>
                <a:cubicBezTo>
                  <a:pt x="1057" y="339991"/>
                  <a:pt x="2115" y="169996"/>
                  <a:pt x="3172" y="0"/>
                </a:cubicBezTo>
                <a:close/>
              </a:path>
            </a:pathLst>
          </a:custGeom>
          <a:solidFill>
            <a:srgbClr val="E6E6E6"/>
          </a:solidFill>
        </p:spPr>
        <p:txBody>
          <a:bodyPr vert="horz" wrap="square" lIns="0" tIns="43815" rIns="0" bIns="0" rtlCol="0">
            <a:spAutoFit/>
          </a:bodyPr>
          <a:lstStyle/>
          <a:p>
            <a:pPr marL="109220" marR="140335">
              <a:spcBef>
                <a:spcPts val="345"/>
              </a:spcBef>
            </a:pPr>
            <a:r>
              <a:rPr lang="es-ES" sz="900" b="1" spc="-5">
                <a:latin typeface="Segoe UI" panose="020B0502040204020203" pitchFamily="34" charset="0"/>
                <a:cs typeface="Segoe UI" panose="020B0502040204020203" pitchFamily="34" charset="0"/>
              </a:rPr>
              <a:t>Título del grupo</a:t>
            </a:r>
          </a:p>
          <a:p>
            <a:pPr marL="109220" marR="140335">
              <a:spcBef>
                <a:spcPts val="345"/>
              </a:spcBef>
            </a:pPr>
            <a:r>
              <a:rPr lang="es-ES" sz="900" spc="-5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 chat de grupo tiene nombre. Esto ayuda a organizarse, dado que los chats de grupo son persistentes en el tiempo.</a:t>
            </a:r>
          </a:p>
          <a:p>
            <a:pPr marL="109220" marR="140335">
              <a:spcBef>
                <a:spcPts val="345"/>
              </a:spcBef>
            </a:pPr>
            <a:endParaRPr lang="es-ES" sz="600" spc="-5">
              <a:solidFill>
                <a:srgbClr val="50505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C0E0CAA2-0B27-4090-A4E5-40C3EA3B514A}"/>
              </a:ext>
            </a:extLst>
          </p:cNvPr>
          <p:cNvCxnSpPr>
            <a:cxnSpLocks/>
          </p:cNvCxnSpPr>
          <p:nvPr/>
        </p:nvCxnSpPr>
        <p:spPr>
          <a:xfrm>
            <a:off x="8695814" y="5105400"/>
            <a:ext cx="0" cy="1047750"/>
          </a:xfrm>
          <a:prstGeom prst="line">
            <a:avLst/>
          </a:prstGeom>
          <a:ln w="38100">
            <a:solidFill>
              <a:srgbClr val="6264A7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object 13">
            <a:extLst>
              <a:ext uri="{FF2B5EF4-FFF2-40B4-BE49-F238E27FC236}">
                <a16:creationId xmlns:a16="http://schemas.microsoft.com/office/drawing/2014/main" id="{1E0CD5F3-8374-4844-8E34-4D5F1942D429}"/>
              </a:ext>
            </a:extLst>
          </p:cNvPr>
          <p:cNvSpPr txBox="1"/>
          <p:nvPr/>
        </p:nvSpPr>
        <p:spPr>
          <a:xfrm>
            <a:off x="7666567" y="4254382"/>
            <a:ext cx="1909233" cy="906017"/>
          </a:xfrm>
          <a:custGeom>
            <a:avLst/>
            <a:gdLst>
              <a:gd name="connsiteX0" fmla="*/ 0 w 1263650"/>
              <a:gd name="connsiteY0" fmla="*/ 0 h 782907"/>
              <a:gd name="connsiteX1" fmla="*/ 1263650 w 1263650"/>
              <a:gd name="connsiteY1" fmla="*/ 0 h 782907"/>
              <a:gd name="connsiteX2" fmla="*/ 1263650 w 1263650"/>
              <a:gd name="connsiteY2" fmla="*/ 782907 h 782907"/>
              <a:gd name="connsiteX3" fmla="*/ 0 w 1263650"/>
              <a:gd name="connsiteY3" fmla="*/ 782907 h 782907"/>
              <a:gd name="connsiteX4" fmla="*/ 0 w 1263650"/>
              <a:gd name="connsiteY4" fmla="*/ 0 h 782907"/>
              <a:gd name="connsiteX0" fmla="*/ 0 w 1266828"/>
              <a:gd name="connsiteY0" fmla="*/ 0 h 782907"/>
              <a:gd name="connsiteX1" fmla="*/ 1263650 w 1266828"/>
              <a:gd name="connsiteY1" fmla="*/ 0 h 782907"/>
              <a:gd name="connsiteX2" fmla="*/ 1266828 w 1266828"/>
              <a:gd name="connsiteY2" fmla="*/ 188254 h 782907"/>
              <a:gd name="connsiteX3" fmla="*/ 1263650 w 1266828"/>
              <a:gd name="connsiteY3" fmla="*/ 782907 h 782907"/>
              <a:gd name="connsiteX4" fmla="*/ 0 w 1266828"/>
              <a:gd name="connsiteY4" fmla="*/ 782907 h 782907"/>
              <a:gd name="connsiteX5" fmla="*/ 0 w 1266828"/>
              <a:gd name="connsiteY5" fmla="*/ 0 h 782907"/>
              <a:gd name="connsiteX0" fmla="*/ 3172 w 1270000"/>
              <a:gd name="connsiteY0" fmla="*/ 0 h 782907"/>
              <a:gd name="connsiteX1" fmla="*/ 1266822 w 1270000"/>
              <a:gd name="connsiteY1" fmla="*/ 0 h 782907"/>
              <a:gd name="connsiteX2" fmla="*/ 1270000 w 1270000"/>
              <a:gd name="connsiteY2" fmla="*/ 188254 h 782907"/>
              <a:gd name="connsiteX3" fmla="*/ 1266822 w 1270000"/>
              <a:gd name="connsiteY3" fmla="*/ 782907 h 782907"/>
              <a:gd name="connsiteX4" fmla="*/ 3172 w 1270000"/>
              <a:gd name="connsiteY4" fmla="*/ 782907 h 782907"/>
              <a:gd name="connsiteX5" fmla="*/ 0 w 1270000"/>
              <a:gd name="connsiteY5" fmla="*/ 509987 h 782907"/>
              <a:gd name="connsiteX6" fmla="*/ 3172 w 1270000"/>
              <a:gd name="connsiteY6" fmla="*/ 0 h 782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70000" h="782907">
                <a:moveTo>
                  <a:pt x="3172" y="0"/>
                </a:moveTo>
                <a:lnTo>
                  <a:pt x="1266822" y="0"/>
                </a:lnTo>
                <a:cubicBezTo>
                  <a:pt x="1267881" y="62751"/>
                  <a:pt x="1268941" y="125503"/>
                  <a:pt x="1270000" y="188254"/>
                </a:cubicBezTo>
                <a:cubicBezTo>
                  <a:pt x="1268941" y="386472"/>
                  <a:pt x="1267881" y="584689"/>
                  <a:pt x="1266822" y="782907"/>
                </a:cubicBezTo>
                <a:lnTo>
                  <a:pt x="3172" y="782907"/>
                </a:lnTo>
                <a:cubicBezTo>
                  <a:pt x="2115" y="691934"/>
                  <a:pt x="1057" y="600960"/>
                  <a:pt x="0" y="509987"/>
                </a:cubicBezTo>
                <a:cubicBezTo>
                  <a:pt x="1057" y="339991"/>
                  <a:pt x="2115" y="169996"/>
                  <a:pt x="3172" y="0"/>
                </a:cubicBezTo>
                <a:close/>
              </a:path>
            </a:pathLst>
          </a:custGeom>
          <a:solidFill>
            <a:srgbClr val="E6E6E6"/>
          </a:solidFill>
        </p:spPr>
        <p:txBody>
          <a:bodyPr vert="horz" wrap="square" lIns="0" tIns="43815" rIns="0" bIns="0" rtlCol="0">
            <a:spAutoFit/>
          </a:bodyPr>
          <a:lstStyle/>
          <a:p>
            <a:pPr marL="109220" marR="140335">
              <a:spcBef>
                <a:spcPts val="345"/>
              </a:spcBef>
            </a:pPr>
            <a:r>
              <a:rPr lang="es-ES" sz="900" b="1" spc="-5">
                <a:latin typeface="Segoe UI" panose="020B0502040204020203" pitchFamily="34" charset="0"/>
                <a:cs typeface="Segoe UI" panose="020B0502040204020203" pitchFamily="34" charset="0"/>
              </a:rPr>
              <a:t>Título del grupo</a:t>
            </a:r>
          </a:p>
          <a:p>
            <a:pPr marL="109220" marR="140335">
              <a:spcBef>
                <a:spcPts val="345"/>
              </a:spcBef>
            </a:pPr>
            <a:r>
              <a:rPr lang="es-ES" sz="900" spc="-5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 chat de grupo tiene nombre. Esto ayuda a organizarse, dado que los chats de grupo son persistentes en el tiempo.</a:t>
            </a:r>
          </a:p>
          <a:p>
            <a:pPr marL="109220" marR="140335">
              <a:spcBef>
                <a:spcPts val="345"/>
              </a:spcBef>
            </a:pPr>
            <a:endParaRPr lang="es-ES" sz="600" spc="-5">
              <a:solidFill>
                <a:srgbClr val="50505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38005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32818C63CE54D439B42EC74C61157FE" ma:contentTypeVersion="3" ma:contentTypeDescription="Crear nuevo documento." ma:contentTypeScope="" ma:versionID="c5a206be431b1be13dec1241fa393594">
  <xsd:schema xmlns:xsd="http://www.w3.org/2001/XMLSchema" xmlns:xs="http://www.w3.org/2001/XMLSchema" xmlns:p="http://schemas.microsoft.com/office/2006/metadata/properties" xmlns:ns2="9b8059df-6b05-48aa-841f-cb80de20a8d0" targetNamespace="http://schemas.microsoft.com/office/2006/metadata/properties" ma:root="true" ma:fieldsID="574eeb3673dfba1b8d0b8f6ff69914bd" ns2:_="">
    <xsd:import namespace="9b8059df-6b05-48aa-841f-cb80de20a8d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8059df-6b05-48aa-841f-cb80de20a8d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2488221-A30C-41A6-9BFC-E0FC0F39241C}">
  <ds:schemaRefs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schemas.microsoft.com/sharepoint/v3"/>
    <ds:schemaRef ds:uri="http://purl.org/dc/dcmitype/"/>
    <ds:schemaRef ds:uri="782081ad-726c-4084-aec0-bfd39afbe0b3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8202a283-0d88-4453-a9e1-991690cead84"/>
  </ds:schemaRefs>
</ds:datastoreItem>
</file>

<file path=customXml/itemProps2.xml><?xml version="1.0" encoding="utf-8"?>
<ds:datastoreItem xmlns:ds="http://schemas.openxmlformats.org/officeDocument/2006/customXml" ds:itemID="{81FA6BDF-AC9C-4C47-A8CD-00CB43E90D2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ECD1BA0-1DD7-4507-9204-E48CBC6E06BC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1464</TotalTime>
  <Words>723</Words>
  <Application>Microsoft Office PowerPoint</Application>
  <PresentationFormat>Custom</PresentationFormat>
  <Paragraphs>65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Calibri</vt:lpstr>
      <vt:lpstr>Gadugi</vt:lpstr>
      <vt:lpstr>Segoe UI</vt:lpstr>
      <vt:lpstr>Office Theme</vt:lpstr>
      <vt:lpstr>Microsoft Teams – conversaciones</vt:lpstr>
      <vt:lpstr>Microsoft Teams – conversaciones</vt:lpstr>
      <vt:lpstr>Microsoft Teams – conversaciones en el móvil o la tableta</vt:lpstr>
      <vt:lpstr>Microsoft Teams – conversaciones en el móvil o la tableta</vt:lpstr>
      <vt:lpstr>Microsoft Teams – conversaciones en el móvil o la tableta</vt:lpstr>
      <vt:lpstr>Microsoft Teams – conversaciones en el móvil o la tableta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Teams QS.pptx</dc:title>
  <dc:creator>v-yuhlu</dc:creator>
  <cp:lastModifiedBy>Sofia Virgos</cp:lastModifiedBy>
  <cp:revision>10</cp:revision>
  <cp:lastPrinted>2020-03-16T14:41:14Z</cp:lastPrinted>
  <dcterms:created xsi:type="dcterms:W3CDTF">2019-11-28T23:06:00Z</dcterms:created>
  <dcterms:modified xsi:type="dcterms:W3CDTF">2020-03-18T08:29:16Z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2018-10-26T00:00:00Z</vt:filetime>
  </property>
  <property fmtid="{D5CDD505-2E9C-101B-9397-08002B2CF9AE}" pid="3" name="LastSaved">
    <vt:filetime>2019-11-28T00:00:00Z</vt:filetime>
  </property>
  <property fmtid="{D5CDD505-2E9C-101B-9397-08002B2CF9AE}" pid="4" name="ContentTypeId">
    <vt:lpwstr>0x010100732818C63CE54D439B42EC74C61157FE</vt:lpwstr>
  </property>
  <property fmtid="{D5CDD505-2E9C-101B-9397-08002B2CF9AE}" pid="5" name="Order">
    <vt:r8>83200</vt:r8>
  </property>
  <property fmtid="{D5CDD505-2E9C-101B-9397-08002B2CF9AE}" pid="6" name="xd_Signature">
    <vt:bool>false</vt:bool>
  </property>
  <property fmtid="{D5CDD505-2E9C-101B-9397-08002B2CF9AE}" pid="7" name="xd_ProgID">
    <vt:lpwstr/>
  </property>
  <property fmtid="{D5CDD505-2E9C-101B-9397-08002B2CF9AE}" pid="8" name="_SourceUrl">
    <vt:lpwstr/>
  </property>
  <property fmtid="{D5CDD505-2E9C-101B-9397-08002B2CF9AE}" pid="9" name="_SharedFileIndex">
    <vt:lpwstr/>
  </property>
  <property fmtid="{D5CDD505-2E9C-101B-9397-08002B2CF9AE}" pid="10" name="ComplianceAssetId">
    <vt:lpwstr/>
  </property>
  <property fmtid="{D5CDD505-2E9C-101B-9397-08002B2CF9AE}" pid="11" name="TemplateUrl">
    <vt:lpwstr/>
  </property>
</Properties>
</file>